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3987107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19425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60899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DABBC3-456B-482A-A086-8A9960AF0B4B}"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258152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DABBC3-456B-482A-A086-8A9960AF0B4B}" type="datetimeFigureOut">
              <a:rPr lang="en-GB" smtClean="0"/>
              <a:t>20/11/2025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308313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362198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4165925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2241172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DABBC3-456B-482A-A086-8A9960AF0B4B}"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3642308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DABBC3-456B-482A-A086-8A9960AF0B4B}"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160046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2984689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42528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25570874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39143096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11806303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842681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DABBC3-456B-482A-A086-8A9960AF0B4B}"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B56305B-22FB-4590-9483-5172E605D627}" type="slidenum">
              <a:rPr lang="en-GB" smtClean="0"/>
              <a:t>‹#›</a:t>
            </a:fld>
            <a:endParaRPr lang="en-GB"/>
          </a:p>
        </p:txBody>
      </p:sp>
    </p:spTree>
    <p:extLst>
      <p:ext uri="{BB962C8B-B14F-4D97-AF65-F5344CB8AC3E}">
        <p14:creationId xmlns:p14="http://schemas.microsoft.com/office/powerpoint/2010/main" val="2696389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8DABBC3-456B-482A-A086-8A9960AF0B4B}" type="datetimeFigureOut">
              <a:rPr lang="en-GB" smtClean="0"/>
              <a:t>20/11/2025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B56305B-22FB-4590-9483-5172E605D627}" type="slidenum">
              <a:rPr lang="en-GB" smtClean="0"/>
              <a:t>‹#›</a:t>
            </a:fld>
            <a:endParaRPr lang="en-GB"/>
          </a:p>
        </p:txBody>
      </p:sp>
    </p:spTree>
    <p:extLst>
      <p:ext uri="{BB962C8B-B14F-4D97-AF65-F5344CB8AC3E}">
        <p14:creationId xmlns:p14="http://schemas.microsoft.com/office/powerpoint/2010/main" val="2035763897"/>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00F46-DA09-D9FD-1182-4442188E737A}"/>
              </a:ext>
            </a:extLst>
          </p:cNvPr>
          <p:cNvSpPr>
            <a:spLocks noGrp="1"/>
          </p:cNvSpPr>
          <p:nvPr>
            <p:ph type="ctrTitle"/>
          </p:nvPr>
        </p:nvSpPr>
        <p:spPr/>
        <p:txBody>
          <a:bodyPr/>
          <a:lstStyle/>
          <a:p>
            <a:r>
              <a:rPr lang="en-GB" sz="7200" b="1" dirty="0">
                <a:solidFill>
                  <a:schemeClr val="tx2"/>
                </a:solidFill>
              </a:rPr>
              <a:t>Community Development </a:t>
            </a:r>
            <a:br>
              <a:rPr lang="en-GB" sz="7200" b="1" dirty="0">
                <a:solidFill>
                  <a:schemeClr val="tx2"/>
                </a:solidFill>
              </a:rPr>
            </a:br>
            <a:r>
              <a:rPr lang="en-GB" sz="7200" b="1" dirty="0">
                <a:solidFill>
                  <a:schemeClr val="tx2"/>
                </a:solidFill>
              </a:rPr>
              <a:t>Storyboard</a:t>
            </a:r>
            <a:endParaRPr lang="en-GB" dirty="0"/>
          </a:p>
        </p:txBody>
      </p:sp>
      <p:sp>
        <p:nvSpPr>
          <p:cNvPr id="3" name="Subtitle 2">
            <a:extLst>
              <a:ext uri="{FF2B5EF4-FFF2-40B4-BE49-F238E27FC236}">
                <a16:creationId xmlns:a16="http://schemas.microsoft.com/office/drawing/2014/main" id="{7F3622EA-13CA-5E46-B1FE-5126356243A8}"/>
              </a:ext>
            </a:extLst>
          </p:cNvPr>
          <p:cNvSpPr>
            <a:spLocks noGrp="1"/>
          </p:cNvSpPr>
          <p:nvPr>
            <p:ph type="subTitle" idx="1"/>
          </p:nvPr>
        </p:nvSpPr>
        <p:spPr/>
        <p:txBody>
          <a:bodyPr/>
          <a:lstStyle/>
          <a:p>
            <a:r>
              <a:rPr lang="en-GB" dirty="0"/>
              <a:t>Maximising  independence service</a:t>
            </a:r>
          </a:p>
        </p:txBody>
      </p:sp>
    </p:spTree>
    <p:extLst>
      <p:ext uri="{BB962C8B-B14F-4D97-AF65-F5344CB8AC3E}">
        <p14:creationId xmlns:p14="http://schemas.microsoft.com/office/powerpoint/2010/main" val="3648217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225D0-D197-C2BF-57FA-21E17B092D89}"/>
              </a:ext>
            </a:extLst>
          </p:cNvPr>
          <p:cNvSpPr>
            <a:spLocks noGrp="1"/>
          </p:cNvSpPr>
          <p:nvPr>
            <p:ph type="title"/>
          </p:nvPr>
        </p:nvSpPr>
        <p:spPr/>
        <p:txBody>
          <a:bodyPr/>
          <a:lstStyle/>
          <a:p>
            <a:r>
              <a:rPr lang="en-GB" dirty="0"/>
              <a:t>Our Approach</a:t>
            </a:r>
          </a:p>
        </p:txBody>
      </p:sp>
      <p:sp>
        <p:nvSpPr>
          <p:cNvPr id="3" name="Content Placeholder 2">
            <a:extLst>
              <a:ext uri="{FF2B5EF4-FFF2-40B4-BE49-F238E27FC236}">
                <a16:creationId xmlns:a16="http://schemas.microsoft.com/office/drawing/2014/main" id="{BC53DD2E-44A6-260A-06FA-EC4BE0CF193A}"/>
              </a:ext>
            </a:extLst>
          </p:cNvPr>
          <p:cNvSpPr>
            <a:spLocks noGrp="1"/>
          </p:cNvSpPr>
          <p:nvPr>
            <p:ph idx="1"/>
          </p:nvPr>
        </p:nvSpPr>
        <p:spPr/>
        <p:txBody>
          <a:bodyPr>
            <a:normAutofit/>
          </a:bodyPr>
          <a:lstStyle/>
          <a:p>
            <a:r>
              <a:rPr lang="en-GB" dirty="0"/>
              <a:t>Our practice is focused on strength-based, community asset building and  co-production principles.</a:t>
            </a:r>
          </a:p>
          <a:p>
            <a:r>
              <a:rPr lang="en-GB" dirty="0"/>
              <a:t>Our service is available to adults of all ages experiencing social disadvantage and heath inequalities</a:t>
            </a:r>
          </a:p>
          <a:p>
            <a:r>
              <a:rPr lang="en-GB" dirty="0"/>
              <a:t>Our offer targets people with different health conditions that impact on their daily lives e.g. mental health, Autism, Dementia, physical disabilities and people who are socially isolated. We also welcome carers and volunteers.</a:t>
            </a:r>
          </a:p>
          <a:p>
            <a:r>
              <a:rPr lang="en-GB" dirty="0"/>
              <a:t>We collaborate with PIW’s, CCO’s, SW’s, Other Agencies, Networks e.g. Faith groups, CIC’s, Leisure Industry, District Councils, social housing settings,  Supported living, individuals, Community venues (e.g. leisure, Faith based, Charities, etc.).</a:t>
            </a:r>
          </a:p>
          <a:p>
            <a:endParaRPr lang="en-GB" dirty="0"/>
          </a:p>
        </p:txBody>
      </p:sp>
    </p:spTree>
    <p:extLst>
      <p:ext uri="{BB962C8B-B14F-4D97-AF65-F5344CB8AC3E}">
        <p14:creationId xmlns:p14="http://schemas.microsoft.com/office/powerpoint/2010/main" val="742566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948A-3415-5A1E-196F-9AB44000E6C0}"/>
              </a:ext>
            </a:extLst>
          </p:cNvPr>
          <p:cNvSpPr>
            <a:spLocks noGrp="1"/>
          </p:cNvSpPr>
          <p:nvPr>
            <p:ph type="title"/>
          </p:nvPr>
        </p:nvSpPr>
        <p:spPr/>
        <p:txBody>
          <a:bodyPr/>
          <a:lstStyle/>
          <a:p>
            <a:r>
              <a:rPr lang="en-GB" dirty="0"/>
              <a:t>Our Plan</a:t>
            </a:r>
          </a:p>
        </p:txBody>
      </p:sp>
      <p:sp>
        <p:nvSpPr>
          <p:cNvPr id="3" name="Content Placeholder 2">
            <a:extLst>
              <a:ext uri="{FF2B5EF4-FFF2-40B4-BE49-F238E27FC236}">
                <a16:creationId xmlns:a16="http://schemas.microsoft.com/office/drawing/2014/main" id="{87889F91-2478-2AA5-CCD6-DC6C076829F6}"/>
              </a:ext>
            </a:extLst>
          </p:cNvPr>
          <p:cNvSpPr>
            <a:spLocks noGrp="1"/>
          </p:cNvSpPr>
          <p:nvPr>
            <p:ph idx="1"/>
          </p:nvPr>
        </p:nvSpPr>
        <p:spPr/>
        <p:txBody>
          <a:bodyPr>
            <a:normAutofit fontScale="85000" lnSpcReduction="10000"/>
          </a:bodyPr>
          <a:lstStyle/>
          <a:p>
            <a:r>
              <a:rPr lang="en-GB" dirty="0"/>
              <a:t>To build capacity by linking in new agencies who can co-develop new self-sustainable groups</a:t>
            </a:r>
          </a:p>
          <a:p>
            <a:r>
              <a:rPr lang="en-GB" dirty="0"/>
              <a:t>Continue to attract a Younger Adults cohort </a:t>
            </a:r>
          </a:p>
          <a:p>
            <a:r>
              <a:rPr lang="en-GB" dirty="0"/>
              <a:t>Develop new relationships with supported living providers who can feed in new members to groups or provide opportunities to develop ‘in-house’ groups</a:t>
            </a:r>
          </a:p>
          <a:p>
            <a:r>
              <a:rPr lang="en-GB" dirty="0"/>
              <a:t>To achieve self-sustaining status for community allotments in the North (Retford, Worksop, Ollerton) and five other groups</a:t>
            </a:r>
          </a:p>
          <a:p>
            <a:r>
              <a:rPr lang="en-GB" dirty="0"/>
              <a:t>Maintain network of groups and ensure sustainability of North network regarding impact of 0.5 FE staff reduction re: semi-retirement development worker</a:t>
            </a:r>
          </a:p>
          <a:p>
            <a:r>
              <a:rPr lang="en-GB" dirty="0"/>
              <a:t>Expand network by a further 15 new groups </a:t>
            </a:r>
          </a:p>
          <a:p>
            <a:r>
              <a:rPr lang="en-GB" dirty="0"/>
              <a:t>Broaden portfolio of groups re: range of activities</a:t>
            </a:r>
          </a:p>
          <a:p>
            <a:r>
              <a:rPr lang="en-GB" dirty="0"/>
              <a:t>Enable 12 groups to become self-sustaining county wide</a:t>
            </a:r>
          </a:p>
          <a:p>
            <a:pPr marL="0" indent="0">
              <a:buNone/>
            </a:pPr>
            <a:r>
              <a:rPr lang="en-GB" dirty="0"/>
              <a:t> </a:t>
            </a:r>
          </a:p>
          <a:p>
            <a:endParaRPr lang="en-GB" dirty="0"/>
          </a:p>
          <a:p>
            <a:endParaRPr lang="en-GB" dirty="0"/>
          </a:p>
        </p:txBody>
      </p:sp>
    </p:spTree>
    <p:extLst>
      <p:ext uri="{BB962C8B-B14F-4D97-AF65-F5344CB8AC3E}">
        <p14:creationId xmlns:p14="http://schemas.microsoft.com/office/powerpoint/2010/main" val="343959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44B7-0415-EE41-67D0-E405DF1EFBB9}"/>
              </a:ext>
            </a:extLst>
          </p:cNvPr>
          <p:cNvSpPr>
            <a:spLocks noGrp="1"/>
          </p:cNvSpPr>
          <p:nvPr>
            <p:ph type="title"/>
          </p:nvPr>
        </p:nvSpPr>
        <p:spPr/>
        <p:txBody>
          <a:bodyPr/>
          <a:lstStyle/>
          <a:p>
            <a:r>
              <a:rPr lang="en-GB" dirty="0"/>
              <a:t>Our Impact</a:t>
            </a:r>
          </a:p>
        </p:txBody>
      </p:sp>
      <p:sp>
        <p:nvSpPr>
          <p:cNvPr id="3" name="Content Placeholder 2">
            <a:extLst>
              <a:ext uri="{FF2B5EF4-FFF2-40B4-BE49-F238E27FC236}">
                <a16:creationId xmlns:a16="http://schemas.microsoft.com/office/drawing/2014/main" id="{B2C85577-2815-8642-2139-8EC9245A8898}"/>
              </a:ext>
            </a:extLst>
          </p:cNvPr>
          <p:cNvSpPr>
            <a:spLocks noGrp="1"/>
          </p:cNvSpPr>
          <p:nvPr>
            <p:ph idx="1"/>
          </p:nvPr>
        </p:nvSpPr>
        <p:spPr/>
        <p:txBody>
          <a:bodyPr>
            <a:normAutofit fontScale="70000" lnSpcReduction="20000"/>
          </a:bodyPr>
          <a:lstStyle/>
          <a:p>
            <a:r>
              <a:rPr lang="en-GB" dirty="0"/>
              <a:t>The wellbeing groups have a direct impact on Nottinghamshire’s residents who are experiencing loneliness and isolation, providing opportunities to make new friends, learn about the 5 Ways to Wellbeing</a:t>
            </a:r>
            <a:r>
              <a:rPr lang="en-GB"/>
              <a:t>, learn new skills </a:t>
            </a:r>
            <a:r>
              <a:rPr lang="en-GB" dirty="0"/>
              <a:t>and feel connected to the community (see recent case study)</a:t>
            </a:r>
          </a:p>
          <a:p>
            <a:r>
              <a:rPr lang="en-GB" dirty="0"/>
              <a:t>Members gain peer support and opportunity to share their skills, experiences and ideas</a:t>
            </a:r>
          </a:p>
          <a:p>
            <a:r>
              <a:rPr lang="en-US" dirty="0"/>
              <a:t>We record stages of group development across the county working towards attaining self-directed status</a:t>
            </a:r>
          </a:p>
          <a:p>
            <a:r>
              <a:rPr lang="en-US" dirty="0"/>
              <a:t>Monthly report monitors over 50 groups in network and details of new group development opportunities and stages of group development</a:t>
            </a:r>
          </a:p>
          <a:p>
            <a:r>
              <a:rPr lang="en-US" dirty="0"/>
              <a:t>Over 50 countywide community settings, majority free venues</a:t>
            </a:r>
          </a:p>
          <a:p>
            <a:r>
              <a:rPr lang="en-US" dirty="0"/>
              <a:t>Groups range in size from 4-30 members</a:t>
            </a:r>
          </a:p>
          <a:p>
            <a:r>
              <a:rPr lang="en-US" dirty="0"/>
              <a:t>Some groups achieved constitutional status with own bank account and committee</a:t>
            </a:r>
          </a:p>
          <a:p>
            <a:r>
              <a:rPr lang="en-US" dirty="0"/>
              <a:t>We support groups to attract funding from £250-£2K bids</a:t>
            </a:r>
          </a:p>
          <a:p>
            <a:r>
              <a:rPr lang="en-US" dirty="0"/>
              <a:t>Group membership reflect cultural diversity, for example, Pool group has 9 members (4 from Asian and Afro—Caribbean community), and membership reflects range in health status e.g. Autistic Spectrum, Down Syndrome, Bi-polar, Depression, LD, PD, Personality Disorder    </a:t>
            </a:r>
          </a:p>
          <a:p>
            <a:pPr marL="0" indent="0">
              <a:buNone/>
            </a:pPr>
            <a:endParaRPr lang="en-US" dirty="0"/>
          </a:p>
          <a:p>
            <a:endParaRPr lang="en-GB" dirty="0"/>
          </a:p>
          <a:p>
            <a:endParaRPr lang="en-GB" dirty="0"/>
          </a:p>
          <a:p>
            <a:endParaRPr lang="en-GB" dirty="0"/>
          </a:p>
        </p:txBody>
      </p:sp>
    </p:spTree>
    <p:extLst>
      <p:ext uri="{BB962C8B-B14F-4D97-AF65-F5344CB8AC3E}">
        <p14:creationId xmlns:p14="http://schemas.microsoft.com/office/powerpoint/2010/main" val="39704577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Metadata/LabelInfo.xml><?xml version="1.0" encoding="utf-8"?>
<clbl:labelList xmlns:clbl="http://schemas.microsoft.com/office/2020/mipLabelMetadata">
  <clbl:label id="{8fd7c08e-9c24-436d-a6ad-a8ecb8394d49}" enabled="1" method="Standard" siteId="{6e5a37bb-a961-4e4f-baae-2798a2245f30}" removed="0"/>
</clbl:labelList>
</file>

<file path=docProps/app.xml><?xml version="1.0" encoding="utf-8"?>
<Properties xmlns="http://schemas.openxmlformats.org/officeDocument/2006/extended-properties" xmlns:vt="http://schemas.openxmlformats.org/officeDocument/2006/docPropsVTypes">
  <Template>Ion</Template>
  <TotalTime>1521</TotalTime>
  <Words>435</Words>
  <Application>Microsoft Office PowerPoint</Application>
  <PresentationFormat>Widescreen</PresentationFormat>
  <Paragraphs>29</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Century Gothic</vt:lpstr>
      <vt:lpstr>Wingdings 3</vt:lpstr>
      <vt:lpstr>Ion</vt:lpstr>
      <vt:lpstr>Community Development  Storyboard</vt:lpstr>
      <vt:lpstr>Our Approach</vt:lpstr>
      <vt:lpstr>Our Plan</vt:lpstr>
      <vt:lpstr>Our Impact</vt:lpstr>
    </vt:vector>
  </TitlesOfParts>
  <Company>NCC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Sample</dc:creator>
  <cp:lastModifiedBy>David Rew</cp:lastModifiedBy>
  <cp:revision>2</cp:revision>
  <dcterms:created xsi:type="dcterms:W3CDTF">2025-06-02T08:42:25Z</dcterms:created>
  <dcterms:modified xsi:type="dcterms:W3CDTF">2025-11-20T22:38:02Z</dcterms:modified>
</cp:coreProperties>
</file>