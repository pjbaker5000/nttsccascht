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4"/>
  </p:notesMasterIdLst>
  <p:sldIdLst>
    <p:sldId id="259" r:id="rId2"/>
    <p:sldId id="265" r:id="rId3"/>
    <p:sldId id="266" r:id="rId4"/>
    <p:sldId id="260" r:id="rId5"/>
    <p:sldId id="270" r:id="rId6"/>
    <p:sldId id="263" r:id="rId7"/>
    <p:sldId id="267" r:id="rId8"/>
    <p:sldId id="271" r:id="rId9"/>
    <p:sldId id="261" r:id="rId10"/>
    <p:sldId id="268" r:id="rId11"/>
    <p:sldId id="264" r:id="rId12"/>
    <p:sldId id="269" r:id="rId13"/>
  </p:sldIdLst>
  <p:sldSz cx="9144000" cy="6858000" type="screen4x3"/>
  <p:notesSz cx="6797675" cy="9926638"/>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15" autoAdjust="0"/>
  </p:normalViewPr>
  <p:slideViewPr>
    <p:cSldViewPr snapToGrid="0">
      <p:cViewPr varScale="1">
        <p:scale>
          <a:sx n="75" d="100"/>
          <a:sy n="75" d="100"/>
        </p:scale>
        <p:origin x="85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88A68102-4B63-4397-9EF6-BF1DDE498893}" type="datetimeFigureOut">
              <a:rPr lang="en-GB" smtClean="0"/>
              <a:t>26/10/2023</a:t>
            </a:fld>
            <a:endParaRPr lang="en-GB"/>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531530A3-7897-473C-B43E-06BBB681B83D}" type="slidenum">
              <a:rPr lang="en-GB" smtClean="0"/>
              <a:t>‹#›</a:t>
            </a:fld>
            <a:endParaRPr lang="en-GB"/>
          </a:p>
        </p:txBody>
      </p:sp>
    </p:spTree>
    <p:extLst>
      <p:ext uri="{BB962C8B-B14F-4D97-AF65-F5344CB8AC3E}">
        <p14:creationId xmlns:p14="http://schemas.microsoft.com/office/powerpoint/2010/main" val="3704704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DP PA processes - </a:t>
            </a:r>
            <a:r>
              <a:rPr lang="en-GB" sz="1200" dirty="0"/>
              <a:t>such as recruiting a PA, completing the DP Calculator and order forms are difficult or confusing feedback on processes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1</a:t>
            </a:r>
            <a:r>
              <a:rPr lang="en-GB" sz="1200" baseline="30000" dirty="0"/>
              <a:t>st</a:t>
            </a:r>
            <a:r>
              <a:rPr lang="en-GB" sz="1200" dirty="0"/>
              <a:t> option - for care but some operational team workers see the DP PA processes as a barrier to commissioning when there is a lack of knowledge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endParaRPr lang="en-GB" dirty="0"/>
          </a:p>
        </p:txBody>
      </p:sp>
      <p:sp>
        <p:nvSpPr>
          <p:cNvPr id="4" name="Slide Number Placeholder 3"/>
          <p:cNvSpPr>
            <a:spLocks noGrp="1"/>
          </p:cNvSpPr>
          <p:nvPr>
            <p:ph type="sldNum" sz="quarter" idx="5"/>
          </p:nvPr>
        </p:nvSpPr>
        <p:spPr/>
        <p:txBody>
          <a:bodyPr/>
          <a:lstStyle/>
          <a:p>
            <a:fld id="{531530A3-7897-473C-B43E-06BBB681B83D}" type="slidenum">
              <a:rPr lang="en-GB" smtClean="0"/>
              <a:t>3</a:t>
            </a:fld>
            <a:endParaRPr lang="en-GB"/>
          </a:p>
        </p:txBody>
      </p:sp>
    </p:spTree>
    <p:extLst>
      <p:ext uri="{BB962C8B-B14F-4D97-AF65-F5344CB8AC3E}">
        <p14:creationId xmlns:p14="http://schemas.microsoft.com/office/powerpoint/2010/main" val="2569646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example, DP Calculator, DPSS order form and DBS  </a:t>
            </a:r>
          </a:p>
        </p:txBody>
      </p:sp>
      <p:sp>
        <p:nvSpPr>
          <p:cNvPr id="4" name="Slide Number Placeholder 3"/>
          <p:cNvSpPr>
            <a:spLocks noGrp="1"/>
          </p:cNvSpPr>
          <p:nvPr>
            <p:ph type="sldNum" sz="quarter" idx="5"/>
          </p:nvPr>
        </p:nvSpPr>
        <p:spPr/>
        <p:txBody>
          <a:bodyPr/>
          <a:lstStyle/>
          <a:p>
            <a:fld id="{531530A3-7897-473C-B43E-06BBB681B83D}" type="slidenum">
              <a:rPr lang="en-GB" smtClean="0"/>
              <a:t>4</a:t>
            </a:fld>
            <a:endParaRPr lang="en-GB"/>
          </a:p>
        </p:txBody>
      </p:sp>
    </p:spTree>
    <p:extLst>
      <p:ext uri="{BB962C8B-B14F-4D97-AF65-F5344CB8AC3E}">
        <p14:creationId xmlns:p14="http://schemas.microsoft.com/office/powerpoint/2010/main" val="415702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Ask if this is clear or more information required around other services </a:t>
            </a:r>
          </a:p>
        </p:txBody>
      </p:sp>
      <p:sp>
        <p:nvSpPr>
          <p:cNvPr id="4" name="Slide Number Placeholder 3"/>
          <p:cNvSpPr>
            <a:spLocks noGrp="1"/>
          </p:cNvSpPr>
          <p:nvPr>
            <p:ph type="sldNum" sz="quarter" idx="5"/>
          </p:nvPr>
        </p:nvSpPr>
        <p:spPr/>
        <p:txBody>
          <a:bodyPr/>
          <a:lstStyle/>
          <a:p>
            <a:fld id="{531530A3-7897-473C-B43E-06BBB681B83D}" type="slidenum">
              <a:rPr lang="en-GB" smtClean="0"/>
              <a:t>8</a:t>
            </a:fld>
            <a:endParaRPr lang="en-GB"/>
          </a:p>
        </p:txBody>
      </p:sp>
    </p:spTree>
    <p:extLst>
      <p:ext uri="{BB962C8B-B14F-4D97-AF65-F5344CB8AC3E}">
        <p14:creationId xmlns:p14="http://schemas.microsoft.com/office/powerpoint/2010/main" val="9062001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1563688"/>
            <a:ext cx="7772400" cy="1470025"/>
          </a:xfrm>
        </p:spPr>
        <p:txBody>
          <a:bodyPr/>
          <a:lstStyle>
            <a:lvl1pPr>
              <a:defRPr sz="4800"/>
            </a:lvl1pPr>
          </a:lstStyle>
          <a:p>
            <a:pPr lvl="0"/>
            <a:r>
              <a:rPr lang="en-US" altLang="en-US" noProof="0"/>
              <a:t>Click to edit Master title style</a:t>
            </a:r>
            <a:endParaRPr lang="en-GB" altLang="en-US" noProof="0"/>
          </a:p>
        </p:txBody>
      </p:sp>
      <p:sp>
        <p:nvSpPr>
          <p:cNvPr id="11267" name="Rectangle 3"/>
          <p:cNvSpPr>
            <a:spLocks noGrp="1" noChangeArrowheads="1"/>
          </p:cNvSpPr>
          <p:nvPr>
            <p:ph type="subTitle" idx="1"/>
          </p:nvPr>
        </p:nvSpPr>
        <p:spPr>
          <a:xfrm>
            <a:off x="1371600" y="3319463"/>
            <a:ext cx="6400800" cy="1752600"/>
          </a:xfrm>
        </p:spPr>
        <p:txBody>
          <a:bodyPr/>
          <a:lstStyle>
            <a:lvl1pPr marL="0" indent="0" algn="ctr">
              <a:buFontTx/>
              <a:buNone/>
              <a:defRPr/>
            </a:lvl1pPr>
          </a:lstStyle>
          <a:p>
            <a:pPr lvl="0"/>
            <a:r>
              <a:rPr lang="en-US" altLang="en-US" noProof="0"/>
              <a:t>Click to edit Master subtitle style</a:t>
            </a:r>
            <a:endParaRPr lang="en-GB" altLang="en-US" noProof="0"/>
          </a:p>
        </p:txBody>
      </p:sp>
      <p:pic>
        <p:nvPicPr>
          <p:cNvPr id="5" name="Picture 14" descr="PowerPoint Banner Small"/>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3330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25875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343025"/>
            <a:ext cx="40386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343025"/>
            <a:ext cx="4038600" cy="432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33810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43218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32528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075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21989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44110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29415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3959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395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46186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bwMode="auto">
          <a:xfrm>
            <a:off x="457200" y="1343025"/>
            <a:ext cx="8229600" cy="432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Text here (level one)</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51" name="Rectangle 1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pic>
        <p:nvPicPr>
          <p:cNvPr id="10254" name="Picture 14" descr="PowerPoint Banner Small"/>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905500"/>
            <a:ext cx="9144000" cy="9525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1" fontAlgn="base" hangingPunct="1">
        <a:spcBef>
          <a:spcPct val="0"/>
        </a:spcBef>
        <a:spcAft>
          <a:spcPct val="0"/>
        </a:spcAft>
        <a:defRPr sz="3600" kern="1200">
          <a:solidFill>
            <a:schemeClr val="tx1"/>
          </a:solidFill>
          <a:latin typeface="+mj-lt"/>
          <a:ea typeface="+mj-ea"/>
          <a:cs typeface="+mj-cs"/>
        </a:defRPr>
      </a:lvl1pPr>
      <a:lvl2pPr algn="ctr" rtl="0" eaLnBrk="1" fontAlgn="base" hangingPunct="1">
        <a:spcBef>
          <a:spcPct val="0"/>
        </a:spcBef>
        <a:spcAft>
          <a:spcPct val="0"/>
        </a:spcAft>
        <a:defRPr sz="3600">
          <a:solidFill>
            <a:schemeClr val="tx1"/>
          </a:solidFill>
          <a:latin typeface="Arial Black" panose="020B0A04020102020204" pitchFamily="34" charset="0"/>
        </a:defRPr>
      </a:lvl2pPr>
      <a:lvl3pPr algn="ctr" rtl="0" eaLnBrk="1" fontAlgn="base" hangingPunct="1">
        <a:spcBef>
          <a:spcPct val="0"/>
        </a:spcBef>
        <a:spcAft>
          <a:spcPct val="0"/>
        </a:spcAft>
        <a:defRPr sz="3600">
          <a:solidFill>
            <a:schemeClr val="tx1"/>
          </a:solidFill>
          <a:latin typeface="Arial Black" panose="020B0A04020102020204" pitchFamily="34" charset="0"/>
        </a:defRPr>
      </a:lvl3pPr>
      <a:lvl4pPr algn="ctr" rtl="0" eaLnBrk="1" fontAlgn="base" hangingPunct="1">
        <a:spcBef>
          <a:spcPct val="0"/>
        </a:spcBef>
        <a:spcAft>
          <a:spcPct val="0"/>
        </a:spcAft>
        <a:defRPr sz="3600">
          <a:solidFill>
            <a:schemeClr val="tx1"/>
          </a:solidFill>
          <a:latin typeface="Arial Black" panose="020B0A04020102020204" pitchFamily="34" charset="0"/>
        </a:defRPr>
      </a:lvl4pPr>
      <a:lvl5pPr algn="ctr" rtl="0" eaLnBrk="1" fontAlgn="base" hangingPunct="1">
        <a:spcBef>
          <a:spcPct val="0"/>
        </a:spcBef>
        <a:spcAft>
          <a:spcPct val="0"/>
        </a:spcAft>
        <a:defRPr sz="3600">
          <a:solidFill>
            <a:schemeClr val="tx1"/>
          </a:solidFill>
          <a:latin typeface="Arial Black" panose="020B0A04020102020204" pitchFamily="34" charset="0"/>
        </a:defRPr>
      </a:lvl5pPr>
      <a:lvl6pPr marL="457200" algn="ctr" rtl="0" eaLnBrk="1" fontAlgn="base" hangingPunct="1">
        <a:spcBef>
          <a:spcPct val="0"/>
        </a:spcBef>
        <a:spcAft>
          <a:spcPct val="0"/>
        </a:spcAft>
        <a:defRPr sz="3600">
          <a:solidFill>
            <a:schemeClr val="tx1"/>
          </a:solidFill>
          <a:latin typeface="Arial Black" panose="020B0A04020102020204" pitchFamily="34" charset="0"/>
        </a:defRPr>
      </a:lvl6pPr>
      <a:lvl7pPr marL="914400" algn="ctr" rtl="0" eaLnBrk="1" fontAlgn="base" hangingPunct="1">
        <a:spcBef>
          <a:spcPct val="0"/>
        </a:spcBef>
        <a:spcAft>
          <a:spcPct val="0"/>
        </a:spcAft>
        <a:defRPr sz="3600">
          <a:solidFill>
            <a:schemeClr val="tx1"/>
          </a:solidFill>
          <a:latin typeface="Arial Black" panose="020B0A04020102020204" pitchFamily="34" charset="0"/>
        </a:defRPr>
      </a:lvl7pPr>
      <a:lvl8pPr marL="1371600" algn="ctr" rtl="0" eaLnBrk="1" fontAlgn="base" hangingPunct="1">
        <a:spcBef>
          <a:spcPct val="0"/>
        </a:spcBef>
        <a:spcAft>
          <a:spcPct val="0"/>
        </a:spcAft>
        <a:defRPr sz="3600">
          <a:solidFill>
            <a:schemeClr val="tx1"/>
          </a:solidFill>
          <a:latin typeface="Arial Black" panose="020B0A04020102020204" pitchFamily="34" charset="0"/>
        </a:defRPr>
      </a:lvl8pPr>
      <a:lvl9pPr marL="1828800" algn="ctr" rtl="0" eaLnBrk="1" fontAlgn="base" hangingPunct="1">
        <a:spcBef>
          <a:spcPct val="0"/>
        </a:spcBef>
        <a:spcAft>
          <a:spcPct val="0"/>
        </a:spcAft>
        <a:defRPr sz="3600">
          <a:solidFill>
            <a:schemeClr val="tx1"/>
          </a:solidFill>
          <a:latin typeface="Arial Black" panose="020B0A040201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DPPAcommissioningteam@nottscc.gov.uk" TargetMode="External"/><Relationship Id="rId2" Type="http://schemas.openxmlformats.org/officeDocument/2006/relationships/hyperlink" Target="mailto:DPEnquiries@nottscc.gov.uk" TargetMode="External"/><Relationship Id="rId1" Type="http://schemas.openxmlformats.org/officeDocument/2006/relationships/slideLayout" Target="../slideLayouts/slideLayout2.xml"/><Relationship Id="rId5" Type="http://schemas.openxmlformats.org/officeDocument/2006/relationships/hyperlink" Target="http://home.nottscc.gov.uk/working/departments/asch-1/services-commissioning-and-quality/a-z-of-services/direct-payments-support" TargetMode="External"/><Relationship Id="rId4" Type="http://schemas.openxmlformats.org/officeDocument/2006/relationships/hyperlink" Target="mailto:BSSO.Team@nottscc.gov.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ctrTitle"/>
          </p:nvPr>
        </p:nvSpPr>
        <p:spPr>
          <a:xfrm>
            <a:off x="685800" y="1152603"/>
            <a:ext cx="7772400" cy="2752646"/>
          </a:xfrm>
        </p:spPr>
        <p:txBody>
          <a:bodyPr/>
          <a:lstStyle/>
          <a:p>
            <a:r>
              <a:rPr lang="en-GB" altLang="en-US" dirty="0"/>
              <a:t>Direct Payment Personal Assistant Commissioning Team </a:t>
            </a:r>
          </a:p>
        </p:txBody>
      </p:sp>
      <p:sp>
        <p:nvSpPr>
          <p:cNvPr id="8197" name="Rectangle 5"/>
          <p:cNvSpPr>
            <a:spLocks noGrp="1" noChangeArrowheads="1"/>
          </p:cNvSpPr>
          <p:nvPr>
            <p:ph type="subTitle" idx="1"/>
          </p:nvPr>
        </p:nvSpPr>
        <p:spPr>
          <a:xfrm>
            <a:off x="1371600" y="5116107"/>
            <a:ext cx="6400800" cy="589290"/>
          </a:xfrm>
        </p:spPr>
        <p:txBody>
          <a:bodyPr/>
          <a:lstStyle/>
          <a:p>
            <a:r>
              <a:rPr lang="en-GB" altLang="en-US" dirty="0"/>
              <a:t>Natalie Moffat-Bailey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49CA-5C6A-4011-8F58-479CEAC362D2}"/>
              </a:ext>
            </a:extLst>
          </p:cNvPr>
          <p:cNvSpPr>
            <a:spLocks noGrp="1"/>
          </p:cNvSpPr>
          <p:nvPr>
            <p:ph type="title"/>
          </p:nvPr>
        </p:nvSpPr>
        <p:spPr>
          <a:xfrm>
            <a:off x="457200" y="0"/>
            <a:ext cx="8229600" cy="1005084"/>
          </a:xfrm>
        </p:spPr>
        <p:txBody>
          <a:bodyPr/>
          <a:lstStyle/>
          <a:p>
            <a:r>
              <a:rPr lang="en-GB" dirty="0"/>
              <a:t>Introduction to the team</a:t>
            </a:r>
          </a:p>
        </p:txBody>
      </p:sp>
      <p:sp>
        <p:nvSpPr>
          <p:cNvPr id="3" name="Content Placeholder 2">
            <a:extLst>
              <a:ext uri="{FF2B5EF4-FFF2-40B4-BE49-F238E27FC236}">
                <a16:creationId xmlns:a16="http://schemas.microsoft.com/office/drawing/2014/main" id="{3A9ED06D-5258-4414-8F9E-4080C25DCAEA}"/>
              </a:ext>
            </a:extLst>
          </p:cNvPr>
          <p:cNvSpPr>
            <a:spLocks noGrp="1"/>
          </p:cNvSpPr>
          <p:nvPr>
            <p:ph idx="1"/>
          </p:nvPr>
        </p:nvSpPr>
        <p:spPr/>
        <p:txBody>
          <a:bodyPr/>
          <a:lstStyle/>
          <a:p>
            <a:r>
              <a:rPr lang="en-GB" sz="2400" dirty="0"/>
              <a:t>Natalie Moffat-Bailey – Senior Commissioning officer Direct Payments strategic commissioning team </a:t>
            </a:r>
          </a:p>
          <a:p>
            <a:endParaRPr lang="en-GB" sz="2400" dirty="0"/>
          </a:p>
          <a:p>
            <a:r>
              <a:rPr lang="en-GB" sz="2400" dirty="0"/>
              <a:t>Catherine Choi - Commissioning Support Officer </a:t>
            </a:r>
          </a:p>
          <a:p>
            <a:r>
              <a:rPr lang="en-GB" sz="2400" dirty="0"/>
              <a:t>Dorin Marinescu – Commissioning Support Officer </a:t>
            </a:r>
          </a:p>
          <a:p>
            <a:r>
              <a:rPr lang="en-GB" sz="2400" dirty="0"/>
              <a:t>Neha Avasthy - Commissioning Support Officer </a:t>
            </a:r>
          </a:p>
          <a:p>
            <a:r>
              <a:rPr lang="en-GB" sz="2400" dirty="0"/>
              <a:t>Susan Breach– Commissioning Support Officer </a:t>
            </a:r>
          </a:p>
          <a:p>
            <a:endParaRPr lang="en-GB" sz="2400" dirty="0"/>
          </a:p>
          <a:p>
            <a:r>
              <a:rPr lang="en-GB" sz="2400" dirty="0"/>
              <a:t>Team e-mail address – DPPACommissioningteam@nottscc.gov.uk</a:t>
            </a:r>
          </a:p>
        </p:txBody>
      </p:sp>
    </p:spTree>
    <p:extLst>
      <p:ext uri="{BB962C8B-B14F-4D97-AF65-F5344CB8AC3E}">
        <p14:creationId xmlns:p14="http://schemas.microsoft.com/office/powerpoint/2010/main" val="3595285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98F6A-F1B9-4A3B-A802-B2219990D7C0}"/>
              </a:ext>
            </a:extLst>
          </p:cNvPr>
          <p:cNvSpPr>
            <a:spLocks noGrp="1"/>
          </p:cNvSpPr>
          <p:nvPr>
            <p:ph type="title"/>
          </p:nvPr>
        </p:nvSpPr>
        <p:spPr>
          <a:xfrm>
            <a:off x="457200" y="0"/>
            <a:ext cx="8229600" cy="876615"/>
          </a:xfrm>
        </p:spPr>
        <p:txBody>
          <a:bodyPr/>
          <a:lstStyle/>
          <a:p>
            <a:r>
              <a:rPr lang="en-GB" dirty="0"/>
              <a:t>Reasons for Change </a:t>
            </a:r>
          </a:p>
        </p:txBody>
      </p:sp>
      <p:sp>
        <p:nvSpPr>
          <p:cNvPr id="3" name="Content Placeholder 2">
            <a:extLst>
              <a:ext uri="{FF2B5EF4-FFF2-40B4-BE49-F238E27FC236}">
                <a16:creationId xmlns:a16="http://schemas.microsoft.com/office/drawing/2014/main" id="{B24BEF3F-829D-495A-83DF-17BDFC18C629}"/>
              </a:ext>
            </a:extLst>
          </p:cNvPr>
          <p:cNvSpPr>
            <a:spLocks noGrp="1"/>
          </p:cNvSpPr>
          <p:nvPr>
            <p:ph idx="1"/>
          </p:nvPr>
        </p:nvSpPr>
        <p:spPr>
          <a:xfrm>
            <a:off x="457200" y="944628"/>
            <a:ext cx="8229600" cy="4787305"/>
          </a:xfrm>
        </p:spPr>
        <p:txBody>
          <a:bodyPr/>
          <a:lstStyle/>
          <a:p>
            <a:r>
              <a:rPr lang="en-GB" sz="2400" dirty="0"/>
              <a:t>Improve DP PA processes </a:t>
            </a:r>
          </a:p>
          <a:p>
            <a:pPr marL="0" indent="0">
              <a:buNone/>
            </a:pPr>
            <a:endParaRPr lang="en-GB" sz="2400" dirty="0"/>
          </a:p>
          <a:p>
            <a:r>
              <a:rPr lang="en-GB" sz="2400" dirty="0"/>
              <a:t>PAs should be considered as the 1</a:t>
            </a:r>
            <a:r>
              <a:rPr lang="en-GB" sz="2400" baseline="30000" dirty="0"/>
              <a:t>st</a:t>
            </a:r>
            <a:r>
              <a:rPr lang="en-GB" sz="2400" dirty="0"/>
              <a:t> option </a:t>
            </a:r>
          </a:p>
          <a:p>
            <a:pPr marL="0" indent="0">
              <a:buNone/>
            </a:pPr>
            <a:endParaRPr lang="en-GB" sz="2400" dirty="0"/>
          </a:p>
          <a:p>
            <a:r>
              <a:rPr lang="en-GB" sz="2400" dirty="0"/>
              <a:t>SLT PA Target - 3 PA per Team per month is equal to 45 new PA packages</a:t>
            </a:r>
          </a:p>
          <a:p>
            <a:pPr marL="0" indent="0">
              <a:buNone/>
            </a:pPr>
            <a:endParaRPr lang="en-GB" sz="2400" dirty="0"/>
          </a:p>
          <a:p>
            <a:r>
              <a:rPr lang="en-GB" sz="2400" dirty="0"/>
              <a:t>Quality and consistency in data for accurate reporting </a:t>
            </a:r>
          </a:p>
          <a:p>
            <a:pPr marL="0" indent="0">
              <a:buNone/>
            </a:pPr>
            <a:endParaRPr lang="en-GB" sz="2400" dirty="0"/>
          </a:p>
          <a:p>
            <a:r>
              <a:rPr lang="en-GB" sz="2400" dirty="0"/>
              <a:t>Supports capacity in Home Based Care market</a:t>
            </a:r>
          </a:p>
        </p:txBody>
      </p:sp>
    </p:spTree>
    <p:extLst>
      <p:ext uri="{BB962C8B-B14F-4D97-AF65-F5344CB8AC3E}">
        <p14:creationId xmlns:p14="http://schemas.microsoft.com/office/powerpoint/2010/main" val="79582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0"/>
            <a:ext cx="8229600" cy="861501"/>
          </a:xfrm>
          <a:ln/>
        </p:spPr>
        <p:txBody>
          <a:bodyPr/>
          <a:lstStyle/>
          <a:p>
            <a:r>
              <a:rPr lang="en-US" altLang="en-US" dirty="0"/>
              <a:t>What is changing? </a:t>
            </a:r>
          </a:p>
        </p:txBody>
      </p:sp>
      <p:sp>
        <p:nvSpPr>
          <p:cNvPr id="27651" name="Rectangle 3"/>
          <p:cNvSpPr>
            <a:spLocks noGrp="1" noChangeArrowheads="1"/>
          </p:cNvSpPr>
          <p:nvPr>
            <p:ph type="body" idx="1"/>
          </p:nvPr>
        </p:nvSpPr>
        <p:spPr>
          <a:xfrm>
            <a:off x="457200" y="861501"/>
            <a:ext cx="8229600" cy="4950902"/>
          </a:xfrm>
        </p:spPr>
        <p:txBody>
          <a:bodyPr/>
          <a:lstStyle/>
          <a:p>
            <a:pPr marL="0" indent="0">
              <a:buNone/>
            </a:pPr>
            <a:r>
              <a:rPr lang="en-GB" altLang="en-US" dirty="0"/>
              <a:t>From April 2023 </a:t>
            </a:r>
          </a:p>
          <a:p>
            <a:pPr marL="0" indent="0">
              <a:buNone/>
            </a:pPr>
            <a:r>
              <a:rPr lang="en-GB" altLang="en-US" sz="2400" dirty="0"/>
              <a:t>DP PA team will complete commissioning processes for </a:t>
            </a:r>
            <a:r>
              <a:rPr lang="en-GB" altLang="en-US" sz="2400" b="1" dirty="0"/>
              <a:t>ALL </a:t>
            </a:r>
            <a:r>
              <a:rPr lang="en-GB" altLang="en-US" sz="2400" dirty="0"/>
              <a:t>DP requests for Personal Assistants (except planned short breaks) such as;</a:t>
            </a:r>
          </a:p>
          <a:p>
            <a:pPr marL="0" indent="0">
              <a:buNone/>
            </a:pPr>
            <a:endParaRPr lang="en-GB" altLang="en-US" sz="2400" dirty="0"/>
          </a:p>
          <a:p>
            <a:r>
              <a:rPr lang="en-GB" altLang="en-US" sz="2400" dirty="0"/>
              <a:t>DP Agreement for DP PA packages </a:t>
            </a:r>
          </a:p>
          <a:p>
            <a:r>
              <a:rPr lang="en-GB" altLang="en-US" sz="2400" dirty="0"/>
              <a:t>DP Calculator </a:t>
            </a:r>
          </a:p>
          <a:p>
            <a:r>
              <a:rPr lang="en-GB" altLang="en-US" sz="2400" dirty="0"/>
              <a:t>DPSS Order form </a:t>
            </a:r>
          </a:p>
          <a:p>
            <a:pPr marL="0" indent="0">
              <a:buNone/>
            </a:pPr>
            <a:endParaRPr lang="en-GB" altLang="en-US" sz="2400" dirty="0"/>
          </a:p>
          <a:p>
            <a:pPr marL="0" indent="0">
              <a:buNone/>
            </a:pPr>
            <a:endParaRPr lang="en-GB" altLang="en-US" sz="2400" dirty="0"/>
          </a:p>
          <a:p>
            <a:pPr marL="0" indent="0">
              <a:buNone/>
            </a:pPr>
            <a:r>
              <a:rPr lang="en-GB" altLang="en-US" sz="2400" dirty="0"/>
              <a:t>Which will free you up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8D71-1B11-47DF-987D-486CCE48D893}"/>
              </a:ext>
            </a:extLst>
          </p:cNvPr>
          <p:cNvSpPr>
            <a:spLocks noGrp="1"/>
          </p:cNvSpPr>
          <p:nvPr>
            <p:ph type="title"/>
          </p:nvPr>
        </p:nvSpPr>
        <p:spPr>
          <a:xfrm>
            <a:off x="457200" y="79514"/>
            <a:ext cx="8229600" cy="1263512"/>
          </a:xfrm>
        </p:spPr>
        <p:txBody>
          <a:bodyPr/>
          <a:lstStyle/>
          <a:p>
            <a:r>
              <a:rPr lang="en-GB" dirty="0"/>
              <a:t>Who can have a DP PA package?</a:t>
            </a:r>
          </a:p>
        </p:txBody>
      </p:sp>
      <p:sp>
        <p:nvSpPr>
          <p:cNvPr id="3" name="Content Placeholder 2">
            <a:extLst>
              <a:ext uri="{FF2B5EF4-FFF2-40B4-BE49-F238E27FC236}">
                <a16:creationId xmlns:a16="http://schemas.microsoft.com/office/drawing/2014/main" id="{1EBEF56C-6CC2-4C0D-AA06-6CBEC063DE6F}"/>
              </a:ext>
            </a:extLst>
          </p:cNvPr>
          <p:cNvSpPr>
            <a:spLocks noGrp="1"/>
          </p:cNvSpPr>
          <p:nvPr>
            <p:ph idx="1"/>
          </p:nvPr>
        </p:nvSpPr>
        <p:spPr>
          <a:xfrm>
            <a:off x="457200" y="1653871"/>
            <a:ext cx="8229600" cy="4016679"/>
          </a:xfrm>
        </p:spPr>
        <p:txBody>
          <a:bodyPr/>
          <a:lstStyle/>
          <a:p>
            <a:r>
              <a:rPr lang="en-GB" altLang="en-US" sz="2400" dirty="0"/>
              <a:t>Where a person has mental capacity or an authorised person supporting a DP PA package should be offered first as an option to the person to choose </a:t>
            </a:r>
          </a:p>
          <a:p>
            <a:endParaRPr lang="en-GB" altLang="en-US" sz="2400" dirty="0"/>
          </a:p>
          <a:p>
            <a:r>
              <a:rPr lang="en-GB" altLang="en-US" sz="2400" dirty="0"/>
              <a:t>Where no provider has been identified </a:t>
            </a:r>
          </a:p>
          <a:p>
            <a:pPr marL="0" indent="0">
              <a:buNone/>
            </a:pPr>
            <a:endParaRPr lang="en-GB" altLang="en-US" sz="2400" dirty="0"/>
          </a:p>
          <a:p>
            <a:r>
              <a:rPr lang="en-GB" sz="2400" dirty="0"/>
              <a:t>Incomplete HBC requests sent before 5</a:t>
            </a:r>
            <a:r>
              <a:rPr lang="en-GB" sz="2400" baseline="30000" dirty="0"/>
              <a:t>th</a:t>
            </a:r>
            <a:r>
              <a:rPr lang="en-GB" sz="2400" dirty="0"/>
              <a:t> Sept 2022, you will need to send a request to the DP PA after 3x unsuccessful attempts of finding HBC a provider </a:t>
            </a:r>
          </a:p>
          <a:p>
            <a:endParaRPr lang="en-GB" sz="2400" dirty="0"/>
          </a:p>
          <a:p>
            <a:pPr marL="0" indent="0">
              <a:buNone/>
            </a:pPr>
            <a:endParaRPr lang="en-GB" sz="2400" dirty="0"/>
          </a:p>
          <a:p>
            <a:endParaRPr lang="en-GB" dirty="0"/>
          </a:p>
        </p:txBody>
      </p:sp>
    </p:spTree>
    <p:extLst>
      <p:ext uri="{BB962C8B-B14F-4D97-AF65-F5344CB8AC3E}">
        <p14:creationId xmlns:p14="http://schemas.microsoft.com/office/powerpoint/2010/main" val="1439580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D04A8-FBB4-4034-97FE-3C0A94E4DCE6}"/>
              </a:ext>
            </a:extLst>
          </p:cNvPr>
          <p:cNvSpPr>
            <a:spLocks noGrp="1"/>
          </p:cNvSpPr>
          <p:nvPr>
            <p:ph type="title"/>
          </p:nvPr>
        </p:nvSpPr>
        <p:spPr/>
        <p:txBody>
          <a:bodyPr/>
          <a:lstStyle/>
          <a:p>
            <a:r>
              <a:rPr lang="en-GB" dirty="0"/>
              <a:t>Stage 1 – to request DP PA set up</a:t>
            </a:r>
          </a:p>
        </p:txBody>
      </p:sp>
      <p:sp>
        <p:nvSpPr>
          <p:cNvPr id="3" name="Content Placeholder 2">
            <a:extLst>
              <a:ext uri="{FF2B5EF4-FFF2-40B4-BE49-F238E27FC236}">
                <a16:creationId xmlns:a16="http://schemas.microsoft.com/office/drawing/2014/main" id="{0363BEF1-BC70-4FE1-950F-C3B2C22B66F0}"/>
              </a:ext>
            </a:extLst>
          </p:cNvPr>
          <p:cNvSpPr>
            <a:spLocks noGrp="1"/>
          </p:cNvSpPr>
          <p:nvPr>
            <p:ph idx="1"/>
          </p:nvPr>
        </p:nvSpPr>
        <p:spPr/>
        <p:txBody>
          <a:bodyPr/>
          <a:lstStyle/>
          <a:p>
            <a:pPr marL="0" indent="0">
              <a:buNone/>
            </a:pPr>
            <a:r>
              <a:rPr lang="en-GB" dirty="0"/>
              <a:t>Use the Request for Services form to send the request to the DP PA commissioning team</a:t>
            </a:r>
          </a:p>
          <a:p>
            <a:endParaRPr lang="en-GB" dirty="0"/>
          </a:p>
        </p:txBody>
      </p:sp>
      <p:pic>
        <p:nvPicPr>
          <p:cNvPr id="5" name="Picture 4">
            <a:extLst>
              <a:ext uri="{FF2B5EF4-FFF2-40B4-BE49-F238E27FC236}">
                <a16:creationId xmlns:a16="http://schemas.microsoft.com/office/drawing/2014/main" id="{6806CBEE-51DD-419E-9735-7CC07671B4FB}"/>
              </a:ext>
            </a:extLst>
          </p:cNvPr>
          <p:cNvPicPr>
            <a:picLocks noChangeAspect="1"/>
          </p:cNvPicPr>
          <p:nvPr/>
        </p:nvPicPr>
        <p:blipFill>
          <a:blip r:embed="rId2"/>
          <a:stretch>
            <a:fillRect/>
          </a:stretch>
        </p:blipFill>
        <p:spPr>
          <a:xfrm>
            <a:off x="352080" y="4638276"/>
            <a:ext cx="4361480" cy="1032274"/>
          </a:xfrm>
          <a:prstGeom prst="rect">
            <a:avLst/>
          </a:prstGeom>
        </p:spPr>
      </p:pic>
      <p:pic>
        <p:nvPicPr>
          <p:cNvPr id="6" name="Picture 5">
            <a:extLst>
              <a:ext uri="{FF2B5EF4-FFF2-40B4-BE49-F238E27FC236}">
                <a16:creationId xmlns:a16="http://schemas.microsoft.com/office/drawing/2014/main" id="{0861BD3F-927D-49A4-BE8D-7F3B78986CEE}"/>
              </a:ext>
            </a:extLst>
          </p:cNvPr>
          <p:cNvPicPr>
            <a:picLocks noChangeAspect="1"/>
          </p:cNvPicPr>
          <p:nvPr/>
        </p:nvPicPr>
        <p:blipFill>
          <a:blip r:embed="rId3"/>
          <a:stretch>
            <a:fillRect/>
          </a:stretch>
        </p:blipFill>
        <p:spPr>
          <a:xfrm>
            <a:off x="4767355" y="5276864"/>
            <a:ext cx="4130262" cy="458918"/>
          </a:xfrm>
          <a:prstGeom prst="rect">
            <a:avLst/>
          </a:prstGeom>
        </p:spPr>
      </p:pic>
      <p:pic>
        <p:nvPicPr>
          <p:cNvPr id="8" name="Picture 7">
            <a:extLst>
              <a:ext uri="{FF2B5EF4-FFF2-40B4-BE49-F238E27FC236}">
                <a16:creationId xmlns:a16="http://schemas.microsoft.com/office/drawing/2014/main" id="{1638FD7C-6E77-D3B3-9FF5-A7D4D48F5418}"/>
              </a:ext>
            </a:extLst>
          </p:cNvPr>
          <p:cNvPicPr>
            <a:picLocks noChangeAspect="1"/>
          </p:cNvPicPr>
          <p:nvPr/>
        </p:nvPicPr>
        <p:blipFill>
          <a:blip r:embed="rId4"/>
          <a:stretch>
            <a:fillRect/>
          </a:stretch>
        </p:blipFill>
        <p:spPr>
          <a:xfrm>
            <a:off x="1887008" y="2405194"/>
            <a:ext cx="5224992" cy="2277799"/>
          </a:xfrm>
          <a:prstGeom prst="rect">
            <a:avLst/>
          </a:prstGeom>
        </p:spPr>
      </p:pic>
    </p:spTree>
    <p:extLst>
      <p:ext uri="{BB962C8B-B14F-4D97-AF65-F5344CB8AC3E}">
        <p14:creationId xmlns:p14="http://schemas.microsoft.com/office/powerpoint/2010/main" val="1618729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1C0F-A8B8-49E4-A73E-F8D3B020FD25}"/>
              </a:ext>
            </a:extLst>
          </p:cNvPr>
          <p:cNvSpPr>
            <a:spLocks noGrp="1"/>
          </p:cNvSpPr>
          <p:nvPr>
            <p:ph type="title"/>
          </p:nvPr>
        </p:nvSpPr>
        <p:spPr>
          <a:xfrm>
            <a:off x="457200" y="0"/>
            <a:ext cx="8229600" cy="823716"/>
          </a:xfrm>
        </p:spPr>
        <p:txBody>
          <a:bodyPr/>
          <a:lstStyle/>
          <a:p>
            <a:r>
              <a:rPr lang="en-GB" dirty="0"/>
              <a:t>Stage 1 </a:t>
            </a:r>
          </a:p>
        </p:txBody>
      </p:sp>
      <p:sp>
        <p:nvSpPr>
          <p:cNvPr id="3" name="Content Placeholder 2">
            <a:extLst>
              <a:ext uri="{FF2B5EF4-FFF2-40B4-BE49-F238E27FC236}">
                <a16:creationId xmlns:a16="http://schemas.microsoft.com/office/drawing/2014/main" id="{02FD1330-93F9-49A8-AF1F-61E2ADEE266A}"/>
              </a:ext>
            </a:extLst>
          </p:cNvPr>
          <p:cNvSpPr>
            <a:spLocks noGrp="1"/>
          </p:cNvSpPr>
          <p:nvPr>
            <p:ph idx="1"/>
          </p:nvPr>
        </p:nvSpPr>
        <p:spPr>
          <a:xfrm>
            <a:off x="136026" y="723569"/>
            <a:ext cx="8902176" cy="5184249"/>
          </a:xfrm>
        </p:spPr>
        <p:txBody>
          <a:bodyPr/>
          <a:lstStyle/>
          <a:p>
            <a:pPr marL="0" indent="0">
              <a:buNone/>
            </a:pPr>
            <a:r>
              <a:rPr lang="en-GB" b="1" dirty="0"/>
              <a:t>What you need to do;</a:t>
            </a:r>
          </a:p>
          <a:p>
            <a:r>
              <a:rPr lang="en-GB" sz="2800" dirty="0"/>
              <a:t>Complete the Care and Support Plan section 1 – 4 </a:t>
            </a:r>
          </a:p>
          <a:p>
            <a:endParaRPr lang="en-GB" sz="2800" dirty="0"/>
          </a:p>
          <a:p>
            <a:r>
              <a:rPr lang="en-GB" sz="2800" dirty="0"/>
              <a:t>Identify anyone who could be paid as a PA </a:t>
            </a:r>
          </a:p>
          <a:p>
            <a:endParaRPr lang="en-GB" sz="2800" dirty="0"/>
          </a:p>
          <a:p>
            <a:r>
              <a:rPr lang="en-GB" sz="2800" dirty="0"/>
              <a:t>Complete the Request for Services – Direct Payment Personal Assistants </a:t>
            </a:r>
          </a:p>
          <a:p>
            <a:endParaRPr lang="en-GB" sz="2800" dirty="0"/>
          </a:p>
          <a:p>
            <a:r>
              <a:rPr lang="en-GB" sz="2800" dirty="0"/>
              <a:t>Send the request to the DP PA team </a:t>
            </a:r>
          </a:p>
          <a:p>
            <a:endParaRPr lang="en-GB" dirty="0"/>
          </a:p>
          <a:p>
            <a:pPr marL="0" indent="0">
              <a:buNone/>
            </a:pPr>
            <a:endParaRPr lang="en-GB" dirty="0"/>
          </a:p>
          <a:p>
            <a:endParaRPr lang="en-GB" dirty="0"/>
          </a:p>
        </p:txBody>
      </p:sp>
    </p:spTree>
    <p:extLst>
      <p:ext uri="{BB962C8B-B14F-4D97-AF65-F5344CB8AC3E}">
        <p14:creationId xmlns:p14="http://schemas.microsoft.com/office/powerpoint/2010/main" val="2226695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849-A44A-4640-AE04-3E55D6CDC113}"/>
              </a:ext>
            </a:extLst>
          </p:cNvPr>
          <p:cNvSpPr>
            <a:spLocks noGrp="1"/>
          </p:cNvSpPr>
          <p:nvPr>
            <p:ph type="title"/>
          </p:nvPr>
        </p:nvSpPr>
        <p:spPr>
          <a:xfrm>
            <a:off x="457200" y="95416"/>
            <a:ext cx="8229600" cy="1322222"/>
          </a:xfrm>
        </p:spPr>
        <p:txBody>
          <a:bodyPr/>
          <a:lstStyle/>
          <a:p>
            <a:r>
              <a:rPr lang="en-GB" dirty="0"/>
              <a:t>Stage 2 </a:t>
            </a:r>
          </a:p>
        </p:txBody>
      </p:sp>
      <p:sp>
        <p:nvSpPr>
          <p:cNvPr id="3" name="Content Placeholder 2">
            <a:extLst>
              <a:ext uri="{FF2B5EF4-FFF2-40B4-BE49-F238E27FC236}">
                <a16:creationId xmlns:a16="http://schemas.microsoft.com/office/drawing/2014/main" id="{88105695-E381-44B3-9B34-6D6EC1B0EED7}"/>
              </a:ext>
            </a:extLst>
          </p:cNvPr>
          <p:cNvSpPr>
            <a:spLocks noGrp="1"/>
          </p:cNvSpPr>
          <p:nvPr>
            <p:ph idx="1"/>
          </p:nvPr>
        </p:nvSpPr>
        <p:spPr>
          <a:xfrm>
            <a:off x="457200" y="1081377"/>
            <a:ext cx="8229600" cy="4589173"/>
          </a:xfrm>
        </p:spPr>
        <p:txBody>
          <a:bodyPr/>
          <a:lstStyle/>
          <a:p>
            <a:pPr marL="0" indent="0">
              <a:buNone/>
            </a:pPr>
            <a:r>
              <a:rPr lang="en-GB" dirty="0"/>
              <a:t>You will receive a notification once the DP PA process has been completed </a:t>
            </a:r>
          </a:p>
          <a:p>
            <a:pPr marL="0" indent="0">
              <a:buNone/>
            </a:pPr>
            <a:endParaRPr lang="en-GB" dirty="0"/>
          </a:p>
          <a:p>
            <a:pPr>
              <a:lnSpc>
                <a:spcPct val="107000"/>
              </a:lnSpc>
              <a:spcAft>
                <a:spcPts val="800"/>
              </a:spcAft>
            </a:pPr>
            <a:r>
              <a:rPr lang="en-GB" sz="2400" dirty="0">
                <a:effectLst/>
                <a:latin typeface="Calibri" panose="020F0502020204030204" pitchFamily="34" charset="0"/>
                <a:ea typeface="Calibri" panose="020F0502020204030204" pitchFamily="34" charset="0"/>
                <a:cs typeface="Times New Roman" panose="02020603050405020304" pitchFamily="18" charset="0"/>
              </a:rPr>
              <a:t>You can now complete any other services requests if you have not already done so </a:t>
            </a:r>
          </a:p>
          <a:p>
            <a:pPr>
              <a:lnSpc>
                <a:spcPct val="107000"/>
              </a:lnSpc>
              <a:spcAft>
                <a:spcPts val="800"/>
              </a:spcAft>
            </a:pP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2400" dirty="0">
                <a:effectLst/>
                <a:latin typeface="Calibri" panose="020F0502020204030204" pitchFamily="34" charset="0"/>
                <a:ea typeface="Calibri" panose="020F0502020204030204" pitchFamily="34" charset="0"/>
                <a:cs typeface="Times New Roman" panose="02020603050405020304" pitchFamily="18" charset="0"/>
              </a:rPr>
              <a:t>Once any other requests have been completed including manager approval you can send your step to SPT/DIT to be commissioned</a:t>
            </a:r>
          </a:p>
          <a:p>
            <a:pPr marL="0" indent="0">
              <a:buNone/>
            </a:pPr>
            <a:endParaRPr lang="en-GB" dirty="0"/>
          </a:p>
        </p:txBody>
      </p:sp>
    </p:spTree>
    <p:extLst>
      <p:ext uri="{BB962C8B-B14F-4D97-AF65-F5344CB8AC3E}">
        <p14:creationId xmlns:p14="http://schemas.microsoft.com/office/powerpoint/2010/main" val="2180590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0D16-2C69-4C00-AD5D-A45A5F39A43B}"/>
              </a:ext>
            </a:extLst>
          </p:cNvPr>
          <p:cNvSpPr>
            <a:spLocks noGrp="1"/>
          </p:cNvSpPr>
          <p:nvPr>
            <p:ph type="title"/>
          </p:nvPr>
        </p:nvSpPr>
        <p:spPr/>
        <p:txBody>
          <a:bodyPr/>
          <a:lstStyle/>
          <a:p>
            <a:r>
              <a:rPr lang="en-GB" dirty="0"/>
              <a:t>Initial 6 week review</a:t>
            </a:r>
          </a:p>
        </p:txBody>
      </p:sp>
      <p:sp>
        <p:nvSpPr>
          <p:cNvPr id="3" name="Content Placeholder 2">
            <a:extLst>
              <a:ext uri="{FF2B5EF4-FFF2-40B4-BE49-F238E27FC236}">
                <a16:creationId xmlns:a16="http://schemas.microsoft.com/office/drawing/2014/main" id="{D7DB2B32-1C44-4A2C-891A-3B38447A89E3}"/>
              </a:ext>
            </a:extLst>
          </p:cNvPr>
          <p:cNvSpPr>
            <a:spLocks noGrp="1"/>
          </p:cNvSpPr>
          <p:nvPr>
            <p:ph idx="1"/>
          </p:nvPr>
        </p:nvSpPr>
        <p:spPr>
          <a:xfrm>
            <a:off x="457200" y="1343025"/>
            <a:ext cx="8229600" cy="4532989"/>
          </a:xfrm>
        </p:spPr>
        <p:txBody>
          <a:bodyPr/>
          <a:lstStyle/>
          <a:p>
            <a:pPr marL="0" indent="0">
              <a:buNone/>
            </a:pPr>
            <a:r>
              <a:rPr lang="en-GB" sz="2800" dirty="0"/>
              <a:t>DP PA Team will undertake an initial phone review</a:t>
            </a:r>
          </a:p>
          <a:p>
            <a:pPr marL="0" indent="0">
              <a:buNone/>
            </a:pPr>
            <a:r>
              <a:rPr lang="en-GB" sz="2800" dirty="0"/>
              <a:t> </a:t>
            </a:r>
          </a:p>
          <a:p>
            <a:pPr marL="0" indent="0">
              <a:buNone/>
            </a:pPr>
            <a:r>
              <a:rPr lang="en-GB" sz="2800" dirty="0"/>
              <a:t>They will check the PA package is  working</a:t>
            </a:r>
          </a:p>
          <a:p>
            <a:pPr marL="0" indent="0">
              <a:buNone/>
            </a:pPr>
            <a:endParaRPr lang="en-GB" sz="2800" dirty="0"/>
          </a:p>
          <a:p>
            <a:pPr marL="0" indent="0">
              <a:buNone/>
            </a:pPr>
            <a:r>
              <a:rPr lang="en-GB" sz="2800" dirty="0"/>
              <a:t>Check if there are any questions from the PA or DP Recipient</a:t>
            </a:r>
          </a:p>
          <a:p>
            <a:pPr marL="0" indent="0">
              <a:buNone/>
            </a:pPr>
            <a:endParaRPr lang="en-GB" sz="2800" dirty="0"/>
          </a:p>
          <a:p>
            <a:pPr marL="0" indent="0">
              <a:buNone/>
            </a:pPr>
            <a:r>
              <a:rPr lang="en-GB" sz="2800" dirty="0"/>
              <a:t>If there are any issues this will be referred to the operational team as a duty task</a:t>
            </a:r>
          </a:p>
        </p:txBody>
      </p:sp>
    </p:spTree>
    <p:extLst>
      <p:ext uri="{BB962C8B-B14F-4D97-AF65-F5344CB8AC3E}">
        <p14:creationId xmlns:p14="http://schemas.microsoft.com/office/powerpoint/2010/main" val="145449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D13F-14C2-49B9-9A60-E52973352000}"/>
              </a:ext>
            </a:extLst>
          </p:cNvPr>
          <p:cNvSpPr>
            <a:spLocks noGrp="1"/>
          </p:cNvSpPr>
          <p:nvPr>
            <p:ph type="title"/>
          </p:nvPr>
        </p:nvSpPr>
        <p:spPr>
          <a:xfrm>
            <a:off x="457200" y="60456"/>
            <a:ext cx="8229600" cy="1012642"/>
          </a:xfrm>
        </p:spPr>
        <p:txBody>
          <a:bodyPr/>
          <a:lstStyle/>
          <a:p>
            <a:r>
              <a:rPr lang="en-GB" dirty="0"/>
              <a:t>Annual Review of a DP PA package</a:t>
            </a:r>
          </a:p>
        </p:txBody>
      </p:sp>
      <p:sp>
        <p:nvSpPr>
          <p:cNvPr id="3" name="Content Placeholder 2">
            <a:extLst>
              <a:ext uri="{FF2B5EF4-FFF2-40B4-BE49-F238E27FC236}">
                <a16:creationId xmlns:a16="http://schemas.microsoft.com/office/drawing/2014/main" id="{AE637291-6769-4F48-ACFD-7D22A613FF10}"/>
              </a:ext>
            </a:extLst>
          </p:cNvPr>
          <p:cNvSpPr>
            <a:spLocks noGrp="1"/>
          </p:cNvSpPr>
          <p:nvPr>
            <p:ph idx="1"/>
          </p:nvPr>
        </p:nvSpPr>
        <p:spPr>
          <a:xfrm>
            <a:off x="457200" y="1304014"/>
            <a:ext cx="8229600" cy="4605578"/>
          </a:xfrm>
        </p:spPr>
        <p:txBody>
          <a:bodyPr/>
          <a:lstStyle/>
          <a:p>
            <a:pPr marL="0" lvl="0" indent="0">
              <a:lnSpc>
                <a:spcPct val="107000"/>
              </a:lnSpc>
              <a:buNone/>
            </a:pPr>
            <a:r>
              <a:rPr lang="en-GB" sz="1600" b="1" dirty="0">
                <a:effectLst/>
                <a:latin typeface="Calibri" panose="020F0502020204030204" pitchFamily="34" charset="0"/>
                <a:ea typeface="Calibri" panose="020F0502020204030204" pitchFamily="34" charset="0"/>
                <a:cs typeface="Times New Roman" panose="02020603050405020304" pitchFamily="18" charset="0"/>
              </a:rPr>
              <a:t>The annual review will be completed by the operational social care teams, to ensure all the support in place is appropriate. Once </a:t>
            </a:r>
            <a:r>
              <a:rPr lang="en-GB" sz="1600" b="1" dirty="0">
                <a:latin typeface="Calibri" panose="020F0502020204030204" pitchFamily="34" charset="0"/>
                <a:ea typeface="Calibri" panose="020F0502020204030204" pitchFamily="34" charset="0"/>
                <a:cs typeface="Times New Roman" panose="02020603050405020304" pitchFamily="18" charset="0"/>
              </a:rPr>
              <a:t>y</a:t>
            </a:r>
            <a:r>
              <a:rPr lang="en-GB" sz="1600" b="1" dirty="0">
                <a:effectLst/>
                <a:latin typeface="Calibri" panose="020F0502020204030204" pitchFamily="34" charset="0"/>
                <a:ea typeface="Calibri" panose="020F0502020204030204" pitchFamily="34" charset="0"/>
                <a:cs typeface="Times New Roman" panose="02020603050405020304" pitchFamily="18" charset="0"/>
              </a:rPr>
              <a:t>ou have undertaken this any DP with a PA will need to then be sent to the DP PA commissioning team to check the following to ensure you complete the commissioning step correctly and it is not returned by the Service Placement Team </a:t>
            </a:r>
          </a:p>
          <a:p>
            <a:pPr marL="0" lvl="0" indent="0">
              <a:lnSpc>
                <a:spcPct val="107000"/>
              </a:lnSpc>
              <a:buNone/>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600" b="1" dirty="0">
                <a:effectLst/>
                <a:latin typeface="Calibri" panose="020F0502020204030204" pitchFamily="34" charset="0"/>
                <a:ea typeface="Calibri" panose="020F0502020204030204" pitchFamily="34" charset="0"/>
                <a:cs typeface="Times New Roman" panose="02020603050405020304" pitchFamily="18" charset="0"/>
              </a:rPr>
              <a:t>The DP PA Team will also complete all the PA checks, we have a legal responsibility to ensure the PA’s employment status is accurate, that the PA has a current DBS in place, and contingency arrangements have been agreed and understood. Where the PA is claiming to be self-employed the DP PA Team will undertake the checks and ensure the PA understands their roles and responsibilities.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600" b="1" dirty="0">
                <a:effectLst/>
                <a:latin typeface="Calibri" panose="020F0502020204030204" pitchFamily="34" charset="0"/>
                <a:ea typeface="Calibri" panose="020F0502020204030204" pitchFamily="34" charset="0"/>
                <a:cs typeface="Times New Roman" panose="02020603050405020304" pitchFamily="18" charset="0"/>
              </a:rPr>
              <a:t>The DP PA team can provide consistent and accurate employment advice, they will discuss and agree the PA rates ensuring they are in line with the affordability within the personal budget</a:t>
            </a:r>
          </a:p>
          <a:p>
            <a:r>
              <a:rPr lang="en-GB" sz="1600" b="1" dirty="0">
                <a:latin typeface="Calibri" panose="020F0502020204030204" pitchFamily="34" charset="0"/>
                <a:cs typeface="Times New Roman" panose="02020603050405020304" pitchFamily="18" charset="0"/>
              </a:rPr>
              <a:t>The DP PA team will complete any forms required such as DP Agreement, DPSS order form and section 5, 6 and 7 of the care plan for the PA services only. </a:t>
            </a:r>
            <a:endParaRPr lang="en-GB" sz="1600" dirty="0"/>
          </a:p>
        </p:txBody>
      </p:sp>
    </p:spTree>
    <p:extLst>
      <p:ext uri="{BB962C8B-B14F-4D97-AF65-F5344CB8AC3E}">
        <p14:creationId xmlns:p14="http://schemas.microsoft.com/office/powerpoint/2010/main" val="3292396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A9302-3DEA-491F-9E3F-CAC4DC0F7643}"/>
              </a:ext>
            </a:extLst>
          </p:cNvPr>
          <p:cNvSpPr>
            <a:spLocks noGrp="1"/>
          </p:cNvSpPr>
          <p:nvPr>
            <p:ph type="title"/>
          </p:nvPr>
        </p:nvSpPr>
        <p:spPr/>
        <p:txBody>
          <a:bodyPr/>
          <a:lstStyle/>
          <a:p>
            <a:r>
              <a:rPr lang="en-GB" dirty="0"/>
              <a:t>Sending to Service Placement Team</a:t>
            </a:r>
          </a:p>
        </p:txBody>
      </p:sp>
      <p:sp>
        <p:nvSpPr>
          <p:cNvPr id="3" name="Content Placeholder 2">
            <a:extLst>
              <a:ext uri="{FF2B5EF4-FFF2-40B4-BE49-F238E27FC236}">
                <a16:creationId xmlns:a16="http://schemas.microsoft.com/office/drawing/2014/main" id="{901FBA7C-41A8-42C3-9149-C5C4F401B443}"/>
              </a:ext>
            </a:extLst>
          </p:cNvPr>
          <p:cNvSpPr>
            <a:spLocks noGrp="1"/>
          </p:cNvSpPr>
          <p:nvPr>
            <p:ph idx="1"/>
          </p:nvPr>
        </p:nvSpPr>
        <p:spPr>
          <a:xfrm>
            <a:off x="457200" y="1685677"/>
            <a:ext cx="8229600" cy="3984873"/>
          </a:xfrm>
        </p:spPr>
        <p:txBody>
          <a:bodyPr/>
          <a:lstStyle/>
          <a:p>
            <a:pPr marL="0" indent="0">
              <a:buNone/>
            </a:pPr>
            <a:r>
              <a:rPr lang="en-GB" sz="2400" dirty="0"/>
              <a:t>Once all services requests have been completed and are ready to be sent to the SPT for commissioning please ensure the Care and Support Plan is up to date for all services.</a:t>
            </a:r>
          </a:p>
          <a:p>
            <a:pPr marL="0" indent="0">
              <a:buNone/>
            </a:pPr>
            <a:endParaRPr lang="en-GB" sz="2400" dirty="0"/>
          </a:p>
          <a:p>
            <a:pPr marL="0" indent="0">
              <a:buNone/>
            </a:pPr>
            <a:r>
              <a:rPr lang="en-GB" sz="2400" dirty="0"/>
              <a:t>Please note, when sending your step to SPT for commissioning, if you have added any other Direct Payment Services such as an Agency or Day Service this will need to be added to the DP Calculator to give the total DP costs.</a:t>
            </a:r>
          </a:p>
          <a:p>
            <a:pPr marL="0" indent="0">
              <a:buNone/>
            </a:pPr>
            <a:endParaRPr lang="en-GB" sz="2000" dirty="0"/>
          </a:p>
          <a:p>
            <a:pPr marL="0" indent="0">
              <a:buNone/>
            </a:pPr>
            <a:endParaRPr lang="en-GB" dirty="0"/>
          </a:p>
        </p:txBody>
      </p:sp>
    </p:spTree>
    <p:extLst>
      <p:ext uri="{BB962C8B-B14F-4D97-AF65-F5344CB8AC3E}">
        <p14:creationId xmlns:p14="http://schemas.microsoft.com/office/powerpoint/2010/main" val="2848815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8B662-8F81-4760-B7F0-4C1143D66C82}"/>
              </a:ext>
            </a:extLst>
          </p:cNvPr>
          <p:cNvSpPr>
            <a:spLocks noGrp="1"/>
          </p:cNvSpPr>
          <p:nvPr>
            <p:ph type="title"/>
          </p:nvPr>
        </p:nvSpPr>
        <p:spPr>
          <a:xfrm>
            <a:off x="457200" y="55659"/>
            <a:ext cx="8229600" cy="974035"/>
          </a:xfrm>
        </p:spPr>
        <p:txBody>
          <a:bodyPr/>
          <a:lstStyle/>
          <a:p>
            <a:r>
              <a:rPr lang="en-GB" dirty="0"/>
              <a:t>Help and support </a:t>
            </a:r>
          </a:p>
        </p:txBody>
      </p:sp>
      <p:sp>
        <p:nvSpPr>
          <p:cNvPr id="3" name="Content Placeholder 2">
            <a:extLst>
              <a:ext uri="{FF2B5EF4-FFF2-40B4-BE49-F238E27FC236}">
                <a16:creationId xmlns:a16="http://schemas.microsoft.com/office/drawing/2014/main" id="{282F753E-A175-42DB-AFE0-DE81CC3AFDA6}"/>
              </a:ext>
            </a:extLst>
          </p:cNvPr>
          <p:cNvSpPr>
            <a:spLocks noGrp="1"/>
          </p:cNvSpPr>
          <p:nvPr>
            <p:ph idx="1"/>
          </p:nvPr>
        </p:nvSpPr>
        <p:spPr>
          <a:xfrm>
            <a:off x="457200" y="1029693"/>
            <a:ext cx="8229600" cy="4798613"/>
          </a:xfrm>
        </p:spPr>
        <p:txBody>
          <a:bodyPr/>
          <a:lstStyle/>
          <a:p>
            <a:pPr marL="0" indent="0">
              <a:lnSpc>
                <a:spcPct val="107000"/>
              </a:lnSpc>
              <a:spcAft>
                <a:spcPts val="800"/>
              </a:spcAft>
              <a:buNone/>
            </a:pPr>
            <a:r>
              <a:rPr lang="en-GB" sz="1800" b="1" dirty="0">
                <a:effectLst/>
                <a:ea typeface="Calibri" panose="020F0502020204030204" pitchFamily="34" charset="0"/>
                <a:cs typeface="Times New Roman" panose="02020603050405020304" pitchFamily="18" charset="0"/>
              </a:rPr>
              <a:t>For general support around Direct Payments please contact;</a:t>
            </a:r>
            <a:endParaRPr lang="en-GB" sz="1800" dirty="0">
              <a:effectLst/>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800" dirty="0">
                <a:effectLst/>
                <a:ea typeface="Calibri" panose="020F0502020204030204" pitchFamily="34" charset="0"/>
                <a:cs typeface="Times New Roman" panose="02020603050405020304" pitchFamily="18" charset="0"/>
              </a:rPr>
              <a:t>DP Enquiries </a:t>
            </a:r>
            <a:r>
              <a:rPr lang="en-GB" sz="1800" u="sng" dirty="0">
                <a:solidFill>
                  <a:srgbClr val="0563C1"/>
                </a:solidFill>
                <a:effectLst/>
                <a:ea typeface="Calibri" panose="020F0502020204030204" pitchFamily="34" charset="0"/>
                <a:cs typeface="Times New Roman" panose="02020603050405020304" pitchFamily="18" charset="0"/>
                <a:hlinkClick r:id="rId2"/>
              </a:rPr>
              <a:t>DPEnquiries@nottscc.gov.uk</a:t>
            </a:r>
            <a:r>
              <a:rPr lang="en-GB" sz="1800" dirty="0">
                <a:effectLst/>
                <a:ea typeface="Calibri" panose="020F0502020204030204" pitchFamily="34" charset="0"/>
                <a:cs typeface="Times New Roman" panose="02020603050405020304" pitchFamily="18" charset="0"/>
              </a:rPr>
              <a:t> </a:t>
            </a:r>
          </a:p>
          <a:p>
            <a:pPr marL="0" indent="0">
              <a:lnSpc>
                <a:spcPct val="107000"/>
              </a:lnSpc>
              <a:spcAft>
                <a:spcPts val="800"/>
              </a:spcAft>
              <a:buNone/>
            </a:pPr>
            <a:endParaRPr lang="en-GB" sz="1800" dirty="0"/>
          </a:p>
          <a:p>
            <a:pPr marL="0" indent="0">
              <a:buNone/>
            </a:pPr>
            <a:r>
              <a:rPr lang="en-GB" sz="1800" b="1" dirty="0"/>
              <a:t>Direct Payment Personal Assistant and employment related queries</a:t>
            </a:r>
            <a:r>
              <a:rPr lang="en-GB" sz="1800" b="1" dirty="0">
                <a:effectLst/>
                <a:ea typeface="Calibri" panose="020F0502020204030204" pitchFamily="34" charset="0"/>
                <a:cs typeface="Times New Roman" panose="02020603050405020304" pitchFamily="18" charset="0"/>
              </a:rPr>
              <a:t>;</a:t>
            </a:r>
          </a:p>
          <a:p>
            <a:pPr marL="0" indent="0">
              <a:lnSpc>
                <a:spcPct val="107000"/>
              </a:lnSpc>
              <a:spcAft>
                <a:spcPts val="800"/>
              </a:spcAft>
              <a:buNone/>
            </a:pPr>
            <a:r>
              <a:rPr lang="en-GB" sz="1800" dirty="0">
                <a:effectLst/>
                <a:ea typeface="Calibri" panose="020F0502020204030204" pitchFamily="34" charset="0"/>
                <a:cs typeface="Times New Roman" panose="02020603050405020304" pitchFamily="18" charset="0"/>
              </a:rPr>
              <a:t>DPPAcommissioningteam </a:t>
            </a:r>
            <a:r>
              <a:rPr lang="en-GB" sz="1800" u="sng" dirty="0">
                <a:solidFill>
                  <a:srgbClr val="0563C1"/>
                </a:solidFill>
                <a:effectLst/>
                <a:ea typeface="Calibri" panose="020F0502020204030204" pitchFamily="34" charset="0"/>
                <a:cs typeface="Times New Roman" panose="02020603050405020304" pitchFamily="18" charset="0"/>
                <a:hlinkClick r:id="rId3"/>
              </a:rPr>
              <a:t>DPPAcommissioningteam@nottscc.gov.uk</a:t>
            </a:r>
            <a:r>
              <a:rPr lang="en-GB" sz="1800" dirty="0">
                <a:effectLst/>
                <a:ea typeface="Calibri" panose="020F0502020204030204" pitchFamily="34" charset="0"/>
                <a:cs typeface="Times New Roman" panose="02020603050405020304" pitchFamily="18" charset="0"/>
              </a:rPr>
              <a:t> </a:t>
            </a:r>
          </a:p>
          <a:p>
            <a:pPr marL="0" indent="0">
              <a:lnSpc>
                <a:spcPct val="107000"/>
              </a:lnSpc>
              <a:spcAft>
                <a:spcPts val="800"/>
              </a:spcAft>
              <a:buNone/>
            </a:pPr>
            <a:endParaRPr lang="en-GB" sz="1800" dirty="0">
              <a:effectLst/>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800" b="1" dirty="0">
                <a:ea typeface="Calibri" panose="020F0502020204030204" pitchFamily="34" charset="0"/>
                <a:cs typeface="Times New Roman" panose="02020603050405020304" pitchFamily="18" charset="0"/>
              </a:rPr>
              <a:t>Business Systems Support Officers</a:t>
            </a:r>
            <a:endParaRPr lang="en-GB" sz="1800" b="1" dirty="0">
              <a:effectLst/>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800" dirty="0">
                <a:effectLst/>
                <a:ea typeface="Calibri" panose="020F0502020204030204" pitchFamily="34" charset="0"/>
                <a:cs typeface="Times New Roman" panose="02020603050405020304" pitchFamily="18" charset="0"/>
              </a:rPr>
              <a:t>BSSO Team </a:t>
            </a:r>
            <a:r>
              <a:rPr lang="en-GB" sz="1800" dirty="0">
                <a:effectLst/>
                <a:ea typeface="Calibri" panose="020F0502020204030204" pitchFamily="34" charset="0"/>
                <a:cs typeface="Times New Roman" panose="02020603050405020304" pitchFamily="18" charset="0"/>
                <a:hlinkClick r:id="rId4"/>
              </a:rPr>
              <a:t>BSSO.Team@nottscc.gov.uk</a:t>
            </a:r>
            <a:r>
              <a:rPr lang="en-GB" sz="1800" dirty="0">
                <a:effectLst/>
                <a:ea typeface="Calibri" panose="020F0502020204030204" pitchFamily="34" charset="0"/>
                <a:cs typeface="Times New Roman" panose="02020603050405020304" pitchFamily="18" charset="0"/>
              </a:rPr>
              <a:t> </a:t>
            </a:r>
          </a:p>
          <a:p>
            <a:pPr marL="0" indent="0">
              <a:lnSpc>
                <a:spcPct val="107000"/>
              </a:lnSpc>
              <a:spcAft>
                <a:spcPts val="800"/>
              </a:spcAft>
              <a:buNone/>
            </a:pPr>
            <a:r>
              <a:rPr lang="en-GB" sz="1800" b="1" dirty="0">
                <a:effectLst/>
                <a:ea typeface="Calibri" panose="020F0502020204030204" pitchFamily="34" charset="0"/>
                <a:cs typeface="Times New Roman" panose="02020603050405020304" pitchFamily="18" charset="0"/>
              </a:rPr>
              <a:t>All Direct Payment information and guidance can be found;</a:t>
            </a:r>
            <a:endParaRPr lang="en-GB" sz="1800" dirty="0">
              <a:effectLst/>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1800" u="sng" dirty="0">
                <a:solidFill>
                  <a:srgbClr val="0563C1"/>
                </a:solidFill>
                <a:effectLst/>
                <a:ea typeface="Calibri" panose="020F0502020204030204" pitchFamily="34" charset="0"/>
                <a:cs typeface="Times New Roman" panose="02020603050405020304" pitchFamily="18" charset="0"/>
                <a:hlinkClick r:id="rId5"/>
              </a:rPr>
              <a:t>Direct Payments support area | Nottinghamshire County Council Intranet (nottscc.gov.uk)</a:t>
            </a:r>
            <a:endParaRPr lang="en-GB" sz="1800" dirty="0">
              <a:effectLst/>
              <a:ea typeface="Calibri" panose="020F0502020204030204" pitchFamily="34" charset="0"/>
              <a:cs typeface="Times New Roman" panose="02020603050405020304" pitchFamily="18" charset="0"/>
            </a:endParaRPr>
          </a:p>
          <a:p>
            <a:pPr>
              <a:lnSpc>
                <a:spcPct val="107000"/>
              </a:lnSpc>
              <a:spcAft>
                <a:spcPts val="800"/>
              </a:spcAft>
            </a:pP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2243316163"/>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2052</TotalTime>
  <Words>844</Words>
  <Application>Microsoft Office PowerPoint</Application>
  <PresentationFormat>On-screen Show (4:3)</PresentationFormat>
  <Paragraphs>92</Paragraphs>
  <Slides>12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Arial Black</vt:lpstr>
      <vt:lpstr>Calibri</vt:lpstr>
      <vt:lpstr>Custom Design</vt:lpstr>
      <vt:lpstr>Direct Payment Personal Assistant Commissioning Team </vt:lpstr>
      <vt:lpstr>Introduction to the team</vt:lpstr>
      <vt:lpstr>Reasons for Change </vt:lpstr>
      <vt:lpstr>What is changing? </vt:lpstr>
      <vt:lpstr>Who can have a DP PA package?</vt:lpstr>
      <vt:lpstr>Stage 1 – to request DP PA set up</vt:lpstr>
      <vt:lpstr>Stage 1 </vt:lpstr>
      <vt:lpstr>Stage 2 </vt:lpstr>
      <vt:lpstr>Initial 6 week review</vt:lpstr>
      <vt:lpstr>Annual Review of a DP PA package</vt:lpstr>
      <vt:lpstr>Sending to Service Placement Team</vt:lpstr>
      <vt:lpstr>Help and support </vt:lpstr>
    </vt:vector>
  </TitlesOfParts>
  <Company>NCC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Information and Communications</dc:subject>
  <dc:creator>Scarlet McCourt</dc:creator>
  <cp:lastModifiedBy>Natalie Moffat-Bailey</cp:lastModifiedBy>
  <cp:revision>19</cp:revision>
  <dcterms:created xsi:type="dcterms:W3CDTF">2017-07-03T13:03:55Z</dcterms:created>
  <dcterms:modified xsi:type="dcterms:W3CDTF">2023-10-26T10:07:06Z</dcterms:modified>
</cp:coreProperties>
</file>