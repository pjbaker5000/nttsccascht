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8.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9.xml" ContentType="application/vnd.openxmlformats-officedocument.presentationml.notesSlide+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notesSlides/notesSlide10.xml" ContentType="application/vnd.openxmlformats-officedocument.presentationml.notesSlide+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9" r:id="rId4"/>
    <p:sldMasterId id="2147483663" r:id="rId5"/>
  </p:sldMasterIdLst>
  <p:notesMasterIdLst>
    <p:notesMasterId r:id="rId20"/>
  </p:notesMasterIdLst>
  <p:sldIdLst>
    <p:sldId id="275" r:id="rId6"/>
    <p:sldId id="265" r:id="rId7"/>
    <p:sldId id="530" r:id="rId8"/>
    <p:sldId id="277" r:id="rId9"/>
    <p:sldId id="532" r:id="rId10"/>
    <p:sldId id="278" r:id="rId11"/>
    <p:sldId id="527" r:id="rId12"/>
    <p:sldId id="525" r:id="rId13"/>
    <p:sldId id="279" r:id="rId14"/>
    <p:sldId id="528" r:id="rId15"/>
    <p:sldId id="280" r:id="rId16"/>
    <p:sldId id="531" r:id="rId17"/>
    <p:sldId id="281" r:id="rId18"/>
    <p:sldId id="276" r:id="rId19"/>
  </p:sldIdLst>
  <p:sldSz cx="9144000" cy="6858000" type="screen4x3"/>
  <p:notesSz cx="6797675" cy="9926638"/>
  <p:defaultTextStyle>
    <a:defPPr>
      <a:defRPr lang="en-GB"/>
    </a:defPPr>
    <a:lvl1pPr algn="l" rtl="0" fontAlgn="base">
      <a:spcBef>
        <a:spcPct val="0"/>
      </a:spcBef>
      <a:spcAft>
        <a:spcPct val="0"/>
      </a:spcAft>
      <a:defRPr kern="1200">
        <a:solidFill>
          <a:schemeClr val="tx1"/>
        </a:solidFill>
        <a:latin typeface="Arial" panose="020B0604020202020204" pitchFamily="34" charset="0"/>
        <a:ea typeface="+mn-ea"/>
        <a:cs typeface="+mn-cs"/>
      </a:defRPr>
    </a:lvl1pPr>
    <a:lvl2pPr marL="457200" algn="l" rtl="0" fontAlgn="base">
      <a:spcBef>
        <a:spcPct val="0"/>
      </a:spcBef>
      <a:spcAft>
        <a:spcPct val="0"/>
      </a:spcAft>
      <a:defRPr kern="1200">
        <a:solidFill>
          <a:schemeClr val="tx1"/>
        </a:solidFill>
        <a:latin typeface="Arial" panose="020B0604020202020204" pitchFamily="34" charset="0"/>
        <a:ea typeface="+mn-ea"/>
        <a:cs typeface="+mn-cs"/>
      </a:defRPr>
    </a:lvl2pPr>
    <a:lvl3pPr marL="914400" algn="l" rtl="0" fontAlgn="base">
      <a:spcBef>
        <a:spcPct val="0"/>
      </a:spcBef>
      <a:spcAft>
        <a:spcPct val="0"/>
      </a:spcAft>
      <a:defRPr kern="1200">
        <a:solidFill>
          <a:schemeClr val="tx1"/>
        </a:solidFill>
        <a:latin typeface="Arial" panose="020B0604020202020204" pitchFamily="34" charset="0"/>
        <a:ea typeface="+mn-ea"/>
        <a:cs typeface="+mn-cs"/>
      </a:defRPr>
    </a:lvl3pPr>
    <a:lvl4pPr marL="1371600" algn="l" rtl="0" fontAlgn="base">
      <a:spcBef>
        <a:spcPct val="0"/>
      </a:spcBef>
      <a:spcAft>
        <a:spcPct val="0"/>
      </a:spcAft>
      <a:defRPr kern="1200">
        <a:solidFill>
          <a:schemeClr val="tx1"/>
        </a:solidFill>
        <a:latin typeface="Arial" panose="020B0604020202020204" pitchFamily="34" charset="0"/>
        <a:ea typeface="+mn-ea"/>
        <a:cs typeface="+mn-cs"/>
      </a:defRPr>
    </a:lvl4pPr>
    <a:lvl5pPr marL="1828800" algn="l" rtl="0" fontAlgn="base">
      <a:spcBef>
        <a:spcPct val="0"/>
      </a:spcBef>
      <a:spcAft>
        <a:spcPct val="0"/>
      </a:spcAft>
      <a:defRPr kern="1200">
        <a:solidFill>
          <a:schemeClr val="tx1"/>
        </a:solidFill>
        <a:latin typeface="Arial" panose="020B0604020202020204" pitchFamily="34" charset="0"/>
        <a:ea typeface="+mn-ea"/>
        <a:cs typeface="+mn-cs"/>
      </a:defRPr>
    </a:lvl5pPr>
    <a:lvl6pPr marL="2286000" algn="l" defTabSz="914400" rtl="0" eaLnBrk="1" latinLnBrk="0" hangingPunct="1">
      <a:defRPr kern="1200">
        <a:solidFill>
          <a:schemeClr val="tx1"/>
        </a:solidFill>
        <a:latin typeface="Arial" panose="020B0604020202020204" pitchFamily="34" charset="0"/>
        <a:ea typeface="+mn-ea"/>
        <a:cs typeface="+mn-cs"/>
      </a:defRPr>
    </a:lvl6pPr>
    <a:lvl7pPr marL="2743200" algn="l" defTabSz="914400" rtl="0" eaLnBrk="1" latinLnBrk="0" hangingPunct="1">
      <a:defRPr kern="1200">
        <a:solidFill>
          <a:schemeClr val="tx1"/>
        </a:solidFill>
        <a:latin typeface="Arial" panose="020B0604020202020204" pitchFamily="34" charset="0"/>
        <a:ea typeface="+mn-ea"/>
        <a:cs typeface="+mn-cs"/>
      </a:defRPr>
    </a:lvl7pPr>
    <a:lvl8pPr marL="3200400" algn="l" defTabSz="914400" rtl="0" eaLnBrk="1" latinLnBrk="0" hangingPunct="1">
      <a:defRPr kern="1200">
        <a:solidFill>
          <a:schemeClr val="tx1"/>
        </a:solidFill>
        <a:latin typeface="Arial" panose="020B0604020202020204" pitchFamily="34" charset="0"/>
        <a:ea typeface="+mn-ea"/>
        <a:cs typeface="+mn-cs"/>
      </a:defRPr>
    </a:lvl8pPr>
    <a:lvl9pPr marL="3657600" algn="l" defTabSz="914400" rtl="0" eaLnBrk="1" latinLnBrk="0" hangingPunct="1">
      <a:defRPr kern="1200">
        <a:solidFill>
          <a:schemeClr val="tx1"/>
        </a:solidFill>
        <a:latin typeface="Arial" panose="020B0604020202020204" pitchFamily="34" charset="0"/>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7E38A31C-260E-A5A2-8A34-020FF10FF5AB}" name="Sarah McNulty" initials="SM" userId="S::Sarah.McNulty@nottscc.gov.uk::d6095059-2c3f-4107-92c9-db0135c1489d" providerId="AD"/>
  <p188:author id="{76AE2C30-E15A-2E51-5ACF-D37E6C1B8648}" name="Mary Read" initials="MR" userId="S::mary.read@nottscc.gov.uk::65cc7b0a-f66f-4a97-8376-2e25fba55ccb" providerId="AD"/>
  <p188:author id="{FEF0ABAA-7508-44DA-AD01-7F689970E513}" name="Sarah McNulty" initials="SM" userId="S::sarah.mcnulty@nottscc.gov.uk::d6095059-2c3f-4107-92c9-db0135c1489d" providerId="AD"/>
  <p188:author id="{A75A79F4-9943-5EAE-5F48-1E090CBD221A}" name="Louise Hemment" initials="LH" userId="S::louise.hemment@nottscc.gov.uk::2505c9c2-0761-4d3f-8cc1-57ae7c9ba3fd" providerId="AD"/>
  <p188:author id="{D86932F5-5733-A5E2-6C3D-FA29E859428F}" name="Louise Hemment" initials="LH" userId="Louise Hemment" providerId="None"/>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669900"/>
    <a:srgbClr val="CCE1BD"/>
    <a:srgbClr val="E7B7C0"/>
    <a:srgbClr val="006600"/>
    <a:srgbClr val="001236"/>
    <a:srgbClr val="CCFFCC"/>
    <a:srgbClr val="008000"/>
    <a:srgbClr val="CC33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66" d="100"/>
          <a:sy n="66" d="100"/>
        </p:scale>
        <p:origin x="1280" y="36"/>
      </p:cViewPr>
      <p:guideLst>
        <p:guide orient="horz" pos="216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3.xml"/><Relationship Id="rId13" Type="http://schemas.openxmlformats.org/officeDocument/2006/relationships/slide" Target="slides/slide8.xml"/><Relationship Id="rId18" Type="http://schemas.openxmlformats.org/officeDocument/2006/relationships/slide" Target="slides/slide13.xml"/><Relationship Id="rId3" Type="http://schemas.openxmlformats.org/officeDocument/2006/relationships/customXml" Target="../customXml/item3.xml"/><Relationship Id="rId21" Type="http://schemas.openxmlformats.org/officeDocument/2006/relationships/presProps" Target="presProps.xml"/><Relationship Id="rId7" Type="http://schemas.openxmlformats.org/officeDocument/2006/relationships/slide" Target="slides/slide2.xml"/><Relationship Id="rId12" Type="http://schemas.openxmlformats.org/officeDocument/2006/relationships/slide" Target="slides/slide7.xml"/><Relationship Id="rId17" Type="http://schemas.openxmlformats.org/officeDocument/2006/relationships/slide" Target="slides/slide12.xml"/><Relationship Id="rId25" Type="http://schemas.microsoft.com/office/2018/10/relationships/authors" Target="authors.xml"/><Relationship Id="rId2" Type="http://schemas.openxmlformats.org/officeDocument/2006/relationships/customXml" Target="../customXml/item2.xml"/><Relationship Id="rId16" Type="http://schemas.openxmlformats.org/officeDocument/2006/relationships/slide" Target="slides/slide11.xml"/><Relationship Id="rId20" Type="http://schemas.openxmlformats.org/officeDocument/2006/relationships/notesMaster" Target="notesMasters/notesMaster1.xml"/><Relationship Id="rId1" Type="http://schemas.openxmlformats.org/officeDocument/2006/relationships/customXml" Target="../customXml/item1.xml"/><Relationship Id="rId6" Type="http://schemas.openxmlformats.org/officeDocument/2006/relationships/slide" Target="slides/slide1.xml"/><Relationship Id="rId11" Type="http://schemas.openxmlformats.org/officeDocument/2006/relationships/slide" Target="slides/slide6.xml"/><Relationship Id="rId24" Type="http://schemas.openxmlformats.org/officeDocument/2006/relationships/tableStyles" Target="tableStyles.xml"/><Relationship Id="rId5" Type="http://schemas.openxmlformats.org/officeDocument/2006/relationships/slideMaster" Target="slideMasters/slideMaster2.xml"/><Relationship Id="rId15" Type="http://schemas.openxmlformats.org/officeDocument/2006/relationships/slide" Target="slides/slide10.xml"/><Relationship Id="rId23" Type="http://schemas.openxmlformats.org/officeDocument/2006/relationships/theme" Target="theme/theme1.xml"/><Relationship Id="rId10" Type="http://schemas.openxmlformats.org/officeDocument/2006/relationships/slide" Target="slides/slide5.xml"/><Relationship Id="rId19" Type="http://schemas.openxmlformats.org/officeDocument/2006/relationships/slide" Target="slides/slide14.xml"/><Relationship Id="rId4" Type="http://schemas.openxmlformats.org/officeDocument/2006/relationships/slideMaster" Target="slideMasters/slideMaster1.xml"/><Relationship Id="rId9" Type="http://schemas.openxmlformats.org/officeDocument/2006/relationships/slide" Target="slides/slide4.xml"/><Relationship Id="rId14" Type="http://schemas.openxmlformats.org/officeDocument/2006/relationships/slide" Target="slides/slide9.xml"/><Relationship Id="rId22" Type="http://schemas.openxmlformats.org/officeDocument/2006/relationships/viewProps" Target="viewProps.xml"/></Relationships>
</file>

<file path=ppt/diagrams/colors1.xml><?xml version="1.0" encoding="utf-8"?>
<dgm:colorsDef xmlns:dgm="http://schemas.openxmlformats.org/drawingml/2006/diagram" xmlns:a="http://schemas.openxmlformats.org/drawingml/2006/main" uniqueId="urn:microsoft.com/office/officeart/2005/8/colors/accent2_2">
  <dgm:title val=""/>
  <dgm:desc val=""/>
  <dgm:catLst>
    <dgm:cat type="accent2" pri="11200"/>
  </dgm:catLst>
  <dgm:styleLbl name="node0">
    <dgm:fillClrLst meth="repeat">
      <a:schemeClr val="accent2"/>
    </dgm:fillClrLst>
    <dgm:linClrLst meth="repeat">
      <a:schemeClr val="lt1"/>
    </dgm:linClrLst>
    <dgm:effectClrLst/>
    <dgm:txLinClrLst/>
    <dgm:txFillClrLst/>
    <dgm:txEffectClrLst/>
  </dgm:styleLbl>
  <dgm:styleLbl name="node1">
    <dgm:fillClrLst meth="repeat">
      <a:schemeClr val="accent2"/>
    </dgm:fillClrLst>
    <dgm:linClrLst meth="repeat">
      <a:schemeClr val="lt1"/>
    </dgm:linClrLst>
    <dgm:effectClrLst/>
    <dgm:txLinClrLst/>
    <dgm:txFillClrLst/>
    <dgm:txEffectClrLst/>
  </dgm:styleLbl>
  <dgm:styleLbl name="alignNode1">
    <dgm:fillClrLst meth="repeat">
      <a:schemeClr val="accent2"/>
    </dgm:fillClrLst>
    <dgm:linClrLst meth="repeat">
      <a:schemeClr val="accent2"/>
    </dgm:linClrLst>
    <dgm:effectClrLst/>
    <dgm:txLinClrLst/>
    <dgm:txFillClrLst/>
    <dgm:txEffectClrLst/>
  </dgm:styleLbl>
  <dgm:styleLbl name="lnNode1">
    <dgm:fillClrLst meth="repeat">
      <a:schemeClr val="accent2"/>
    </dgm:fillClrLst>
    <dgm:linClrLst meth="repeat">
      <a:schemeClr val="lt1"/>
    </dgm:linClrLst>
    <dgm:effectClrLst/>
    <dgm:txLinClrLst/>
    <dgm:txFillClrLst/>
    <dgm:txEffectClrLst/>
  </dgm:styleLbl>
  <dgm:styleLbl name="vennNode1">
    <dgm:fillClrLst meth="repeat">
      <a:schemeClr val="accent2">
        <a:alpha val="50000"/>
      </a:schemeClr>
    </dgm:fillClrLst>
    <dgm:linClrLst meth="repeat">
      <a:schemeClr val="lt1"/>
    </dgm:linClrLst>
    <dgm:effectClrLst/>
    <dgm:txLinClrLst/>
    <dgm:txFillClrLst/>
    <dgm:txEffectClrLst/>
  </dgm:styleLbl>
  <dgm:styleLbl name="node2">
    <dgm:fillClrLst meth="repeat">
      <a:schemeClr val="accent2"/>
    </dgm:fillClrLst>
    <dgm:linClrLst meth="repeat">
      <a:schemeClr val="lt1"/>
    </dgm:linClrLst>
    <dgm:effectClrLst/>
    <dgm:txLinClrLst/>
    <dgm:txFillClrLst/>
    <dgm:txEffectClrLst/>
  </dgm:styleLbl>
  <dgm:styleLbl name="node3">
    <dgm:fillClrLst meth="repeat">
      <a:schemeClr val="accent2"/>
    </dgm:fillClrLst>
    <dgm:linClrLst meth="repeat">
      <a:schemeClr val="lt1"/>
    </dgm:linClrLst>
    <dgm:effectClrLst/>
    <dgm:txLinClrLst/>
    <dgm:txFillClrLst/>
    <dgm:txEffectClrLst/>
  </dgm:styleLbl>
  <dgm:styleLbl name="node4">
    <dgm:fillClrLst meth="repeat">
      <a:schemeClr val="accent2"/>
    </dgm:fillClrLst>
    <dgm:linClrLst meth="repeat">
      <a:schemeClr val="lt1"/>
    </dgm:linClrLst>
    <dgm:effectClrLst/>
    <dgm:txLinClrLst/>
    <dgm:txFillClrLst/>
    <dgm:txEffectClrLst/>
  </dgm:styleLbl>
  <dgm:styleLbl name="f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meth="repeat">
      <a:schemeClr val="accent2"/>
    </dgm:fillClrLst>
    <dgm:linClrLst meth="repeat">
      <a:schemeClr val="lt1"/>
    </dgm:linClrLst>
    <dgm:effectClrLst/>
    <dgm:txLinClrLst/>
    <dgm:txFillClrLst/>
    <dgm:txEffectClrLst/>
  </dgm:styleLbl>
  <dgm:styleLbl name="asst3">
    <dgm:fillClrLst meth="repeat">
      <a:schemeClr val="accent2"/>
    </dgm:fillClrLst>
    <dgm:linClrLst meth="repeat">
      <a:schemeClr val="lt1"/>
    </dgm:linClrLst>
    <dgm:effectClrLst/>
    <dgm:txLinClrLst/>
    <dgm:txFillClrLst/>
    <dgm:txEffectClrLst/>
  </dgm:styleLbl>
  <dgm:styleLbl name="asst4">
    <dgm:fillClrLst meth="repeat">
      <a:schemeClr val="accent2"/>
    </dgm:fillClrLst>
    <dgm:linClrLst meth="repeat">
      <a:schemeClr val="lt1"/>
    </dgm:linClrLst>
    <dgm:effectClrLst/>
    <dgm:txLinClrLst/>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meth="repeat">
      <a:schemeClr val="lt1"/>
    </dgm:txFillClrLst>
    <dgm:txEffectClrLst/>
  </dgm:styleLbl>
  <dgm:styleLbl name="parChTrans2D2">
    <dgm:fillClrLst meth="repeat">
      <a:schemeClr val="accent2"/>
    </dgm:fillClrLst>
    <dgm:linClrLst meth="repeat">
      <a:schemeClr val="accent2"/>
    </dgm:linClrLst>
    <dgm:effectClrLst/>
    <dgm:txLinClrLst/>
    <dgm:txFillClrLst meth="repeat">
      <a:schemeClr val="lt1"/>
    </dgm:txFillClrLst>
    <dgm:txEffectClrLst/>
  </dgm:styleLbl>
  <dgm:styleLbl name="parChTrans2D3">
    <dgm:fillClrLst meth="repeat">
      <a:schemeClr val="accent2"/>
    </dgm:fillClrLst>
    <dgm:linClrLst meth="repeat">
      <a:schemeClr val="accent2"/>
    </dgm:linClrLst>
    <dgm:effectClrLst/>
    <dgm:txLinClrLst/>
    <dgm:txFillClrLst meth="repeat">
      <a:schemeClr val="lt1"/>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align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b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5359CB1D-D18A-49E4-84F2-E41E25084826}" type="doc">
      <dgm:prSet loTypeId="urn:microsoft.com/office/officeart/2005/8/layout/lProcess1" loCatId="process" qsTypeId="urn:microsoft.com/office/officeart/2005/8/quickstyle/simple1" qsCatId="simple" csTypeId="urn:microsoft.com/office/officeart/2005/8/colors/accent2_2" csCatId="accent2" phldr="1"/>
      <dgm:spPr/>
      <dgm:t>
        <a:bodyPr/>
        <a:lstStyle/>
        <a:p>
          <a:endParaRPr lang="en-GB"/>
        </a:p>
      </dgm:t>
    </dgm:pt>
    <dgm:pt modelId="{9A923109-82D2-469E-84B6-34DFA8478604}">
      <dgm:prSet phldrT="[Text]" phldr="0" custT="1"/>
      <dgm:spPr>
        <a:solidFill>
          <a:srgbClr val="006600"/>
        </a:solidFill>
      </dgm:spPr>
      <dgm:t>
        <a:bodyPr/>
        <a:lstStyle/>
        <a:p>
          <a:r>
            <a:rPr lang="en-GB" sz="1000"/>
            <a:t>Appeal against FA Outcome</a:t>
          </a:r>
        </a:p>
      </dgm:t>
    </dgm:pt>
    <dgm:pt modelId="{8506F400-8AEB-4285-A96A-2E66F828410F}" type="parTrans" cxnId="{C56ACDDF-7E27-4F10-9ADA-76534539DABE}">
      <dgm:prSet/>
      <dgm:spPr/>
      <dgm:t>
        <a:bodyPr/>
        <a:lstStyle/>
        <a:p>
          <a:endParaRPr lang="en-GB"/>
        </a:p>
      </dgm:t>
    </dgm:pt>
    <dgm:pt modelId="{F77C2E60-C437-44AE-965F-70C34125586C}" type="sibTrans" cxnId="{C56ACDDF-7E27-4F10-9ADA-76534539DABE}">
      <dgm:prSet/>
      <dgm:spPr/>
      <dgm:t>
        <a:bodyPr/>
        <a:lstStyle/>
        <a:p>
          <a:endParaRPr lang="en-GB"/>
        </a:p>
      </dgm:t>
    </dgm:pt>
    <dgm:pt modelId="{8E2B3672-0568-49E1-92CC-0C76BCDE4CE0}">
      <dgm:prSet phldrT="[Text]" phldr="0" custT="1"/>
      <dgm:spPr>
        <a:solidFill>
          <a:srgbClr val="CCE1BD">
            <a:alpha val="90000"/>
          </a:srgbClr>
        </a:solidFill>
      </dgm:spPr>
      <dgm:t>
        <a:bodyPr/>
        <a:lstStyle/>
        <a:p>
          <a:r>
            <a:rPr lang="en-GB" sz="1000"/>
            <a:t>3 stage approach (ACFS) </a:t>
          </a:r>
        </a:p>
      </dgm:t>
    </dgm:pt>
    <dgm:pt modelId="{B90DDF10-7457-46AB-A793-91AB34214D18}" type="parTrans" cxnId="{81A77228-95B1-4726-8BCE-E12604D3B6C6}">
      <dgm:prSet/>
      <dgm:spPr/>
      <dgm:t>
        <a:bodyPr/>
        <a:lstStyle/>
        <a:p>
          <a:endParaRPr lang="en-GB"/>
        </a:p>
      </dgm:t>
    </dgm:pt>
    <dgm:pt modelId="{23CD3AEA-2A07-400A-89FC-B6735456F003}" type="sibTrans" cxnId="{81A77228-95B1-4726-8BCE-E12604D3B6C6}">
      <dgm:prSet/>
      <dgm:spPr/>
      <dgm:t>
        <a:bodyPr/>
        <a:lstStyle/>
        <a:p>
          <a:endParaRPr lang="en-GB"/>
        </a:p>
      </dgm:t>
    </dgm:pt>
    <dgm:pt modelId="{D085E61E-E1E9-4803-8BBD-DB420FCB3EC4}">
      <dgm:prSet phldrT="[Text]" phldr="0" custT="1"/>
      <dgm:spPr>
        <a:solidFill>
          <a:schemeClr val="accent6">
            <a:lumMod val="20000"/>
            <a:lumOff val="80000"/>
            <a:alpha val="90000"/>
          </a:schemeClr>
        </a:solidFill>
      </dgm:spPr>
      <dgm:t>
        <a:bodyPr/>
        <a:lstStyle/>
        <a:p>
          <a:r>
            <a:rPr lang="en-GB" sz="1000"/>
            <a:t>If waiver is required….</a:t>
          </a:r>
        </a:p>
      </dgm:t>
    </dgm:pt>
    <dgm:pt modelId="{E86265A2-9ED8-4FB5-803F-ECBF79E51EA2}" type="parTrans" cxnId="{44D081F7-5A59-48DF-9D1C-4E17EE6BF9F0}">
      <dgm:prSet/>
      <dgm:spPr/>
      <dgm:t>
        <a:bodyPr/>
        <a:lstStyle/>
        <a:p>
          <a:endParaRPr lang="en-GB"/>
        </a:p>
      </dgm:t>
    </dgm:pt>
    <dgm:pt modelId="{AA0F874A-A93D-4641-B27C-F03D92B57395}" type="sibTrans" cxnId="{44D081F7-5A59-48DF-9D1C-4E17EE6BF9F0}">
      <dgm:prSet/>
      <dgm:spPr/>
      <dgm:t>
        <a:bodyPr/>
        <a:lstStyle/>
        <a:p>
          <a:endParaRPr lang="en-GB"/>
        </a:p>
      </dgm:t>
    </dgm:pt>
    <dgm:pt modelId="{0A84B310-9C2C-42BB-AF18-02F7170CA17B}">
      <dgm:prSet phldrT="[Text]" phldr="0" custT="1"/>
      <dgm:spPr>
        <a:solidFill>
          <a:srgbClr val="006600"/>
        </a:solidFill>
      </dgm:spPr>
      <dgm:t>
        <a:bodyPr/>
        <a:lstStyle/>
        <a:p>
          <a:r>
            <a:rPr lang="en-GB" sz="900"/>
            <a:t>Community Team identifies potential hardship / Person contacts CSC</a:t>
          </a:r>
        </a:p>
      </dgm:t>
    </dgm:pt>
    <dgm:pt modelId="{DA88E2B6-9BB4-4F30-8606-2175449DDD21}" type="parTrans" cxnId="{8AD3F50D-AFE3-4047-9DAF-CE80986F81F3}">
      <dgm:prSet/>
      <dgm:spPr/>
      <dgm:t>
        <a:bodyPr/>
        <a:lstStyle/>
        <a:p>
          <a:endParaRPr lang="en-GB"/>
        </a:p>
      </dgm:t>
    </dgm:pt>
    <dgm:pt modelId="{7C0E11CB-5341-47C9-AA2A-18846DBD2C00}" type="sibTrans" cxnId="{8AD3F50D-AFE3-4047-9DAF-CE80986F81F3}">
      <dgm:prSet/>
      <dgm:spPr/>
      <dgm:t>
        <a:bodyPr/>
        <a:lstStyle/>
        <a:p>
          <a:endParaRPr lang="en-GB"/>
        </a:p>
      </dgm:t>
    </dgm:pt>
    <dgm:pt modelId="{44FF9353-E68F-4AB3-81D0-85116C82F086}">
      <dgm:prSet phldrT="[Text]" phldr="0" custT="1"/>
      <dgm:spPr>
        <a:solidFill>
          <a:srgbClr val="CCE1BD">
            <a:alpha val="90000"/>
          </a:srgbClr>
        </a:solidFill>
      </dgm:spPr>
      <dgm:t>
        <a:bodyPr/>
        <a:lstStyle/>
        <a:p>
          <a:r>
            <a:rPr lang="en-GB" sz="900"/>
            <a:t>Hardship Form (or Link) sent by CSC / Community Team</a:t>
          </a:r>
        </a:p>
      </dgm:t>
    </dgm:pt>
    <dgm:pt modelId="{8560B66A-7ED6-4566-B7BB-00BCCFD95515}" type="parTrans" cxnId="{DA571002-B9B8-432A-8F25-C3ECDD4F696E}">
      <dgm:prSet/>
      <dgm:spPr/>
      <dgm:t>
        <a:bodyPr/>
        <a:lstStyle/>
        <a:p>
          <a:endParaRPr lang="en-GB"/>
        </a:p>
      </dgm:t>
    </dgm:pt>
    <dgm:pt modelId="{3B99F5B2-42CD-4200-B7E5-8ACB20563065}" type="sibTrans" cxnId="{DA571002-B9B8-432A-8F25-C3ECDD4F696E}">
      <dgm:prSet/>
      <dgm:spPr/>
      <dgm:t>
        <a:bodyPr/>
        <a:lstStyle/>
        <a:p>
          <a:endParaRPr lang="en-GB"/>
        </a:p>
      </dgm:t>
    </dgm:pt>
    <dgm:pt modelId="{E0E50144-BD55-4FA5-9E10-AB4C82D7C8A0}">
      <dgm:prSet phldrT="[Text]" phldr="0" custT="1"/>
      <dgm:spPr>
        <a:solidFill>
          <a:srgbClr val="CCE1BD">
            <a:alpha val="90000"/>
          </a:srgbClr>
        </a:solidFill>
      </dgm:spPr>
      <dgm:t>
        <a:bodyPr/>
        <a:lstStyle/>
        <a:p>
          <a:r>
            <a:rPr lang="en-GB" sz="900"/>
            <a:t>Completed form received and assigned to appropriate team</a:t>
          </a:r>
        </a:p>
      </dgm:t>
    </dgm:pt>
    <dgm:pt modelId="{CD2E1FE3-6926-4C38-8B99-9547C4CDE2F2}" type="parTrans" cxnId="{5B135CBB-9DE8-4718-88EA-2E1D62CD2AA2}">
      <dgm:prSet/>
      <dgm:spPr/>
      <dgm:t>
        <a:bodyPr/>
        <a:lstStyle/>
        <a:p>
          <a:endParaRPr lang="en-GB"/>
        </a:p>
      </dgm:t>
    </dgm:pt>
    <dgm:pt modelId="{972FE005-E04D-4751-8681-9DBDFD40F71C}" type="sibTrans" cxnId="{5B135CBB-9DE8-4718-88EA-2E1D62CD2AA2}">
      <dgm:prSet/>
      <dgm:spPr/>
      <dgm:t>
        <a:bodyPr/>
        <a:lstStyle/>
        <a:p>
          <a:endParaRPr lang="en-GB"/>
        </a:p>
      </dgm:t>
    </dgm:pt>
    <dgm:pt modelId="{BBD2519D-C551-41F3-BFF8-889E0DD41C99}">
      <dgm:prSet custT="1"/>
      <dgm:spPr>
        <a:solidFill>
          <a:srgbClr val="CCE1BD"/>
        </a:solidFill>
      </dgm:spPr>
      <dgm:t>
        <a:bodyPr/>
        <a:lstStyle/>
        <a:p>
          <a:r>
            <a:rPr lang="en-GB" sz="1000">
              <a:solidFill>
                <a:schemeClr val="tx1"/>
              </a:solidFill>
            </a:rPr>
            <a:t>Form assessed against hardship criteria </a:t>
          </a:r>
        </a:p>
      </dgm:t>
    </dgm:pt>
    <dgm:pt modelId="{84EABDF1-D0E3-44C8-B54C-4D54CF1E1C08}" type="parTrans" cxnId="{F47CA2BC-961F-4C54-A067-4DDC55FA3537}">
      <dgm:prSet/>
      <dgm:spPr/>
      <dgm:t>
        <a:bodyPr/>
        <a:lstStyle/>
        <a:p>
          <a:endParaRPr lang="en-GB"/>
        </a:p>
      </dgm:t>
    </dgm:pt>
    <dgm:pt modelId="{A5ECE545-3E6D-4F1F-B94F-D56CF307C57F}" type="sibTrans" cxnId="{F47CA2BC-961F-4C54-A067-4DDC55FA3537}">
      <dgm:prSet/>
      <dgm:spPr/>
      <dgm:t>
        <a:bodyPr/>
        <a:lstStyle/>
        <a:p>
          <a:endParaRPr lang="en-GB"/>
        </a:p>
      </dgm:t>
    </dgm:pt>
    <dgm:pt modelId="{DE45D4F0-3A79-4985-852C-E523A44BA5F5}">
      <dgm:prSet custT="1"/>
      <dgm:spPr>
        <a:solidFill>
          <a:schemeClr val="accent6">
            <a:lumMod val="20000"/>
            <a:lumOff val="80000"/>
          </a:schemeClr>
        </a:solidFill>
      </dgm:spPr>
      <dgm:t>
        <a:bodyPr/>
        <a:lstStyle/>
        <a:p>
          <a:r>
            <a:rPr lang="en-GB" sz="1000">
              <a:solidFill>
                <a:schemeClr val="tx1"/>
              </a:solidFill>
            </a:rPr>
            <a:t>If Waiver is required..</a:t>
          </a:r>
        </a:p>
      </dgm:t>
    </dgm:pt>
    <dgm:pt modelId="{737D83B2-FFFE-4CE8-A96E-C76C146E8D0E}" type="parTrans" cxnId="{28372907-E508-41F5-89FA-A4C2FE482F36}">
      <dgm:prSet/>
      <dgm:spPr/>
      <dgm:t>
        <a:bodyPr/>
        <a:lstStyle/>
        <a:p>
          <a:endParaRPr lang="en-GB"/>
        </a:p>
      </dgm:t>
    </dgm:pt>
    <dgm:pt modelId="{8B4F8261-FF64-42EA-BF42-AFBB8C912C97}" type="sibTrans" cxnId="{28372907-E508-41F5-89FA-A4C2FE482F36}">
      <dgm:prSet/>
      <dgm:spPr/>
      <dgm:t>
        <a:bodyPr/>
        <a:lstStyle/>
        <a:p>
          <a:endParaRPr lang="en-GB"/>
        </a:p>
      </dgm:t>
    </dgm:pt>
    <dgm:pt modelId="{3E568A62-A416-4FC8-BC61-D38E624CE5A8}" type="pres">
      <dgm:prSet presAssocID="{5359CB1D-D18A-49E4-84F2-E41E25084826}" presName="Name0" presStyleCnt="0">
        <dgm:presLayoutVars>
          <dgm:dir/>
          <dgm:animLvl val="lvl"/>
          <dgm:resizeHandles val="exact"/>
        </dgm:presLayoutVars>
      </dgm:prSet>
      <dgm:spPr/>
    </dgm:pt>
    <dgm:pt modelId="{1B430D02-4965-4834-9393-D6F2A7F4CDF4}" type="pres">
      <dgm:prSet presAssocID="{9A923109-82D2-469E-84B6-34DFA8478604}" presName="vertFlow" presStyleCnt="0"/>
      <dgm:spPr/>
    </dgm:pt>
    <dgm:pt modelId="{E6A0CCC6-40FC-4E7F-9495-3A6A5660D4B3}" type="pres">
      <dgm:prSet presAssocID="{9A923109-82D2-469E-84B6-34DFA8478604}" presName="header" presStyleLbl="node1" presStyleIdx="0" presStyleCnt="4" custLinFactY="-100000" custLinFactNeighborX="1731" custLinFactNeighborY="-135086"/>
      <dgm:spPr/>
    </dgm:pt>
    <dgm:pt modelId="{20D9FF8E-EE7F-4009-85CF-248877658AC3}" type="pres">
      <dgm:prSet presAssocID="{B90DDF10-7457-46AB-A793-91AB34214D18}" presName="parTrans" presStyleLbl="sibTrans2D1" presStyleIdx="0" presStyleCnt="4" custScaleX="135796" custScaleY="253228"/>
      <dgm:spPr/>
    </dgm:pt>
    <dgm:pt modelId="{6508B760-44EC-4BE4-B4A4-C3E396C7707B}" type="pres">
      <dgm:prSet presAssocID="{8E2B3672-0568-49E1-92CC-0C76BCDE4CE0}" presName="child" presStyleLbl="alignAccFollowNode1" presStyleIdx="0" presStyleCnt="4" custLinFactY="-45487" custLinFactNeighborX="1731" custLinFactNeighborY="-100000">
        <dgm:presLayoutVars>
          <dgm:chMax val="0"/>
          <dgm:bulletEnabled val="1"/>
        </dgm:presLayoutVars>
      </dgm:prSet>
      <dgm:spPr/>
    </dgm:pt>
    <dgm:pt modelId="{D389400B-0E18-4857-A89D-B1D8358C21F1}" type="pres">
      <dgm:prSet presAssocID="{23CD3AEA-2A07-400A-89FC-B6735456F003}" presName="sibTrans" presStyleLbl="sibTrans2D1" presStyleIdx="1" presStyleCnt="4" custScaleY="296917"/>
      <dgm:spPr/>
    </dgm:pt>
    <dgm:pt modelId="{56E922D7-0A51-418B-B97C-1B1CCA41F0B6}" type="pres">
      <dgm:prSet presAssocID="{D085E61E-E1E9-4803-8BBD-DB420FCB3EC4}" presName="child" presStyleLbl="alignAccFollowNode1" presStyleIdx="1" presStyleCnt="4" custLinFactNeighborX="-316" custLinFactNeighborY="-47125">
        <dgm:presLayoutVars>
          <dgm:chMax val="0"/>
          <dgm:bulletEnabled val="1"/>
        </dgm:presLayoutVars>
      </dgm:prSet>
      <dgm:spPr/>
    </dgm:pt>
    <dgm:pt modelId="{DF934E8B-140C-4898-9902-BE2C21004793}" type="pres">
      <dgm:prSet presAssocID="{9A923109-82D2-469E-84B6-34DFA8478604}" presName="hSp" presStyleCnt="0"/>
      <dgm:spPr/>
    </dgm:pt>
    <dgm:pt modelId="{6DC7A5DF-47F8-4349-93B2-AF9D560031C3}" type="pres">
      <dgm:prSet presAssocID="{0A84B310-9C2C-42BB-AF18-02F7170CA17B}" presName="vertFlow" presStyleCnt="0"/>
      <dgm:spPr/>
    </dgm:pt>
    <dgm:pt modelId="{5B29319B-E54F-4826-95E0-ADE23820C764}" type="pres">
      <dgm:prSet presAssocID="{0A84B310-9C2C-42BB-AF18-02F7170CA17B}" presName="header" presStyleLbl="node1" presStyleIdx="1" presStyleCnt="4" custLinFactY="-100000" custLinFactNeighborX="52868" custLinFactNeighborY="-171895"/>
      <dgm:spPr/>
    </dgm:pt>
    <dgm:pt modelId="{89506E2A-B6E3-4213-A687-207BCD5DC751}" type="pres">
      <dgm:prSet presAssocID="{8560B66A-7ED6-4566-B7BB-00BCCFD95515}" presName="parTrans" presStyleLbl="sibTrans2D1" presStyleIdx="2" presStyleCnt="4" custScaleX="167069" custScaleY="258024" custLinFactNeighborX="-11003" custLinFactNeighborY="34777"/>
      <dgm:spPr/>
    </dgm:pt>
    <dgm:pt modelId="{4A7C89F9-91A3-478E-9487-2A7008282B13}" type="pres">
      <dgm:prSet presAssocID="{44FF9353-E68F-4AB3-81D0-85116C82F086}" presName="child" presStyleLbl="alignAccFollowNode1" presStyleIdx="2" presStyleCnt="4" custLinFactY="-66281" custLinFactNeighborX="52868" custLinFactNeighborY="-100000">
        <dgm:presLayoutVars>
          <dgm:chMax val="0"/>
          <dgm:bulletEnabled val="1"/>
        </dgm:presLayoutVars>
      </dgm:prSet>
      <dgm:spPr/>
    </dgm:pt>
    <dgm:pt modelId="{09B9A730-DCFD-42BC-851C-2333DA428247}" type="pres">
      <dgm:prSet presAssocID="{3B99F5B2-42CD-4200-B7E5-8ACB20563065}" presName="sibTrans" presStyleLbl="sibTrans2D1" presStyleIdx="3" presStyleCnt="4" custScaleY="292324" custLinFactNeighborX="-15370" custLinFactNeighborY="27041"/>
      <dgm:spPr/>
    </dgm:pt>
    <dgm:pt modelId="{B124DA3E-1624-4B9B-8530-B8926F0D16A1}" type="pres">
      <dgm:prSet presAssocID="{E0E50144-BD55-4FA5-9E10-AB4C82D7C8A0}" presName="child" presStyleLbl="alignAccFollowNode1" presStyleIdx="3" presStyleCnt="4" custLinFactY="-14340" custLinFactNeighborX="52868" custLinFactNeighborY="-100000">
        <dgm:presLayoutVars>
          <dgm:chMax val="0"/>
          <dgm:bulletEnabled val="1"/>
        </dgm:presLayoutVars>
      </dgm:prSet>
      <dgm:spPr/>
    </dgm:pt>
    <dgm:pt modelId="{2DA48F05-D8BC-4453-80F0-9E4DB5EA4918}" type="pres">
      <dgm:prSet presAssocID="{0A84B310-9C2C-42BB-AF18-02F7170CA17B}" presName="hSp" presStyleCnt="0"/>
      <dgm:spPr/>
    </dgm:pt>
    <dgm:pt modelId="{ADF4B503-D2F4-4595-B347-E61A162D1537}" type="pres">
      <dgm:prSet presAssocID="{BBD2519D-C551-41F3-BFF8-889E0DD41C99}" presName="vertFlow" presStyleCnt="0"/>
      <dgm:spPr/>
    </dgm:pt>
    <dgm:pt modelId="{2A0855E3-F6CC-43E5-B120-98ED2CAD0094}" type="pres">
      <dgm:prSet presAssocID="{BBD2519D-C551-41F3-BFF8-889E0DD41C99}" presName="header" presStyleLbl="node1" presStyleIdx="2" presStyleCnt="4" custLinFactY="200000" custLinFactNeighborX="-61698" custLinFactNeighborY="208554"/>
      <dgm:spPr/>
    </dgm:pt>
    <dgm:pt modelId="{7801A6C6-CADF-450D-B8BE-B72279F31FB0}" type="pres">
      <dgm:prSet presAssocID="{BBD2519D-C551-41F3-BFF8-889E0DD41C99}" presName="hSp" presStyleCnt="0"/>
      <dgm:spPr/>
    </dgm:pt>
    <dgm:pt modelId="{97D06B49-7ECF-4BFB-BD2A-28183DF9B357}" type="pres">
      <dgm:prSet presAssocID="{DE45D4F0-3A79-4985-852C-E523A44BA5F5}" presName="vertFlow" presStyleCnt="0"/>
      <dgm:spPr/>
    </dgm:pt>
    <dgm:pt modelId="{9DB06610-BC9A-4D3D-9DBF-9B87D649CAC9}" type="pres">
      <dgm:prSet presAssocID="{DE45D4F0-3A79-4985-852C-E523A44BA5F5}" presName="header" presStyleLbl="node1" presStyleIdx="3" presStyleCnt="4" custLinFactX="-74456" custLinFactY="284871" custLinFactNeighborX="-100000" custLinFactNeighborY="300000"/>
      <dgm:spPr/>
    </dgm:pt>
  </dgm:ptLst>
  <dgm:cxnLst>
    <dgm:cxn modelId="{DA571002-B9B8-432A-8F25-C3ECDD4F696E}" srcId="{0A84B310-9C2C-42BB-AF18-02F7170CA17B}" destId="{44FF9353-E68F-4AB3-81D0-85116C82F086}" srcOrd="0" destOrd="0" parTransId="{8560B66A-7ED6-4566-B7BB-00BCCFD95515}" sibTransId="{3B99F5B2-42CD-4200-B7E5-8ACB20563065}"/>
    <dgm:cxn modelId="{28372907-E508-41F5-89FA-A4C2FE482F36}" srcId="{5359CB1D-D18A-49E4-84F2-E41E25084826}" destId="{DE45D4F0-3A79-4985-852C-E523A44BA5F5}" srcOrd="3" destOrd="0" parTransId="{737D83B2-FFFE-4CE8-A96E-C76C146E8D0E}" sibTransId="{8B4F8261-FF64-42EA-BF42-AFBB8C912C97}"/>
    <dgm:cxn modelId="{8AD3F50D-AFE3-4047-9DAF-CE80986F81F3}" srcId="{5359CB1D-D18A-49E4-84F2-E41E25084826}" destId="{0A84B310-9C2C-42BB-AF18-02F7170CA17B}" srcOrd="1" destOrd="0" parTransId="{DA88E2B6-9BB4-4F30-8606-2175449DDD21}" sibTransId="{7C0E11CB-5341-47C9-AA2A-18846DBD2C00}"/>
    <dgm:cxn modelId="{81A77228-95B1-4726-8BCE-E12604D3B6C6}" srcId="{9A923109-82D2-469E-84B6-34DFA8478604}" destId="{8E2B3672-0568-49E1-92CC-0C76BCDE4CE0}" srcOrd="0" destOrd="0" parTransId="{B90DDF10-7457-46AB-A793-91AB34214D18}" sibTransId="{23CD3AEA-2A07-400A-89FC-B6735456F003}"/>
    <dgm:cxn modelId="{5209A439-B47C-4B2C-B6EF-93D14474AC9B}" type="presOf" srcId="{E0E50144-BD55-4FA5-9E10-AB4C82D7C8A0}" destId="{B124DA3E-1624-4B9B-8530-B8926F0D16A1}" srcOrd="0" destOrd="0" presId="urn:microsoft.com/office/officeart/2005/8/layout/lProcess1"/>
    <dgm:cxn modelId="{7B887042-43A9-4D93-AA6C-F9DA50BC5B59}" type="presOf" srcId="{8E2B3672-0568-49E1-92CC-0C76BCDE4CE0}" destId="{6508B760-44EC-4BE4-B4A4-C3E396C7707B}" srcOrd="0" destOrd="0" presId="urn:microsoft.com/office/officeart/2005/8/layout/lProcess1"/>
    <dgm:cxn modelId="{1D59644A-95B5-4DB6-9488-A34C7AC0D9CE}" type="presOf" srcId="{8560B66A-7ED6-4566-B7BB-00BCCFD95515}" destId="{89506E2A-B6E3-4213-A687-207BCD5DC751}" srcOrd="0" destOrd="0" presId="urn:microsoft.com/office/officeart/2005/8/layout/lProcess1"/>
    <dgm:cxn modelId="{E6862770-390D-4A6D-ABDD-33B3CD3E1BD1}" type="presOf" srcId="{44FF9353-E68F-4AB3-81D0-85116C82F086}" destId="{4A7C89F9-91A3-478E-9487-2A7008282B13}" srcOrd="0" destOrd="0" presId="urn:microsoft.com/office/officeart/2005/8/layout/lProcess1"/>
    <dgm:cxn modelId="{67902779-F6FA-4841-93A3-880A1AC8C927}" type="presOf" srcId="{DE45D4F0-3A79-4985-852C-E523A44BA5F5}" destId="{9DB06610-BC9A-4D3D-9DBF-9B87D649CAC9}" srcOrd="0" destOrd="0" presId="urn:microsoft.com/office/officeart/2005/8/layout/lProcess1"/>
    <dgm:cxn modelId="{3E81FA5A-1184-4F53-89F7-0418103B4F62}" type="presOf" srcId="{9A923109-82D2-469E-84B6-34DFA8478604}" destId="{E6A0CCC6-40FC-4E7F-9495-3A6A5660D4B3}" srcOrd="0" destOrd="0" presId="urn:microsoft.com/office/officeart/2005/8/layout/lProcess1"/>
    <dgm:cxn modelId="{9A377F8E-7C78-47FE-AB7C-3AC9F1E4C427}" type="presOf" srcId="{BBD2519D-C551-41F3-BFF8-889E0DD41C99}" destId="{2A0855E3-F6CC-43E5-B120-98ED2CAD0094}" srcOrd="0" destOrd="0" presId="urn:microsoft.com/office/officeart/2005/8/layout/lProcess1"/>
    <dgm:cxn modelId="{62FC0797-437A-4362-B350-1BE3786813DE}" type="presOf" srcId="{0A84B310-9C2C-42BB-AF18-02F7170CA17B}" destId="{5B29319B-E54F-4826-95E0-ADE23820C764}" srcOrd="0" destOrd="0" presId="urn:microsoft.com/office/officeart/2005/8/layout/lProcess1"/>
    <dgm:cxn modelId="{914BE297-DC87-4F32-9DF3-076DDF0001BC}" type="presOf" srcId="{3B99F5B2-42CD-4200-B7E5-8ACB20563065}" destId="{09B9A730-DCFD-42BC-851C-2333DA428247}" srcOrd="0" destOrd="0" presId="urn:microsoft.com/office/officeart/2005/8/layout/lProcess1"/>
    <dgm:cxn modelId="{0ADA7EB6-5443-4123-808F-7EC5F507C0FB}" type="presOf" srcId="{B90DDF10-7457-46AB-A793-91AB34214D18}" destId="{20D9FF8E-EE7F-4009-85CF-248877658AC3}" srcOrd="0" destOrd="0" presId="urn:microsoft.com/office/officeart/2005/8/layout/lProcess1"/>
    <dgm:cxn modelId="{5B135CBB-9DE8-4718-88EA-2E1D62CD2AA2}" srcId="{0A84B310-9C2C-42BB-AF18-02F7170CA17B}" destId="{E0E50144-BD55-4FA5-9E10-AB4C82D7C8A0}" srcOrd="1" destOrd="0" parTransId="{CD2E1FE3-6926-4C38-8B99-9547C4CDE2F2}" sibTransId="{972FE005-E04D-4751-8681-9DBDFD40F71C}"/>
    <dgm:cxn modelId="{F47CA2BC-961F-4C54-A067-4DDC55FA3537}" srcId="{5359CB1D-D18A-49E4-84F2-E41E25084826}" destId="{BBD2519D-C551-41F3-BFF8-889E0DD41C99}" srcOrd="2" destOrd="0" parTransId="{84EABDF1-D0E3-44C8-B54C-4D54CF1E1C08}" sibTransId="{A5ECE545-3E6D-4F1F-B94F-D56CF307C57F}"/>
    <dgm:cxn modelId="{D68F2AD4-25B9-456C-A0FB-F7FD9F77CE1E}" type="presOf" srcId="{D085E61E-E1E9-4803-8BBD-DB420FCB3EC4}" destId="{56E922D7-0A51-418B-B97C-1B1CCA41F0B6}" srcOrd="0" destOrd="0" presId="urn:microsoft.com/office/officeart/2005/8/layout/lProcess1"/>
    <dgm:cxn modelId="{2F363AD4-1F5B-4CA5-AB38-10171F339067}" type="presOf" srcId="{23CD3AEA-2A07-400A-89FC-B6735456F003}" destId="{D389400B-0E18-4857-A89D-B1D8358C21F1}" srcOrd="0" destOrd="0" presId="urn:microsoft.com/office/officeart/2005/8/layout/lProcess1"/>
    <dgm:cxn modelId="{99209FDD-50E9-4F48-A4ED-84BB750280CA}" type="presOf" srcId="{5359CB1D-D18A-49E4-84F2-E41E25084826}" destId="{3E568A62-A416-4FC8-BC61-D38E624CE5A8}" srcOrd="0" destOrd="0" presId="urn:microsoft.com/office/officeart/2005/8/layout/lProcess1"/>
    <dgm:cxn modelId="{C56ACDDF-7E27-4F10-9ADA-76534539DABE}" srcId="{5359CB1D-D18A-49E4-84F2-E41E25084826}" destId="{9A923109-82D2-469E-84B6-34DFA8478604}" srcOrd="0" destOrd="0" parTransId="{8506F400-8AEB-4285-A96A-2E66F828410F}" sibTransId="{F77C2E60-C437-44AE-965F-70C34125586C}"/>
    <dgm:cxn modelId="{44D081F7-5A59-48DF-9D1C-4E17EE6BF9F0}" srcId="{9A923109-82D2-469E-84B6-34DFA8478604}" destId="{D085E61E-E1E9-4803-8BBD-DB420FCB3EC4}" srcOrd="1" destOrd="0" parTransId="{E86265A2-9ED8-4FB5-803F-ECBF79E51EA2}" sibTransId="{AA0F874A-A93D-4641-B27C-F03D92B57395}"/>
    <dgm:cxn modelId="{53F305E3-03EA-4E08-A5F4-F2FC6B8A6745}" type="presParOf" srcId="{3E568A62-A416-4FC8-BC61-D38E624CE5A8}" destId="{1B430D02-4965-4834-9393-D6F2A7F4CDF4}" srcOrd="0" destOrd="0" presId="urn:microsoft.com/office/officeart/2005/8/layout/lProcess1"/>
    <dgm:cxn modelId="{0885D55B-F1C2-4B63-BC41-5B07D25559BF}" type="presParOf" srcId="{1B430D02-4965-4834-9393-D6F2A7F4CDF4}" destId="{E6A0CCC6-40FC-4E7F-9495-3A6A5660D4B3}" srcOrd="0" destOrd="0" presId="urn:microsoft.com/office/officeart/2005/8/layout/lProcess1"/>
    <dgm:cxn modelId="{2146B4EA-8FE4-4A83-B590-645A9A06E9B5}" type="presParOf" srcId="{1B430D02-4965-4834-9393-D6F2A7F4CDF4}" destId="{20D9FF8E-EE7F-4009-85CF-248877658AC3}" srcOrd="1" destOrd="0" presId="urn:microsoft.com/office/officeart/2005/8/layout/lProcess1"/>
    <dgm:cxn modelId="{78A6BABE-044B-40ED-929E-C043E91B5963}" type="presParOf" srcId="{1B430D02-4965-4834-9393-D6F2A7F4CDF4}" destId="{6508B760-44EC-4BE4-B4A4-C3E396C7707B}" srcOrd="2" destOrd="0" presId="urn:microsoft.com/office/officeart/2005/8/layout/lProcess1"/>
    <dgm:cxn modelId="{974C576E-7494-482F-98DE-ACB0E54E56ED}" type="presParOf" srcId="{1B430D02-4965-4834-9393-D6F2A7F4CDF4}" destId="{D389400B-0E18-4857-A89D-B1D8358C21F1}" srcOrd="3" destOrd="0" presId="urn:microsoft.com/office/officeart/2005/8/layout/lProcess1"/>
    <dgm:cxn modelId="{2C2171A6-D211-4C0E-B083-73A2BB2A343C}" type="presParOf" srcId="{1B430D02-4965-4834-9393-D6F2A7F4CDF4}" destId="{56E922D7-0A51-418B-B97C-1B1CCA41F0B6}" srcOrd="4" destOrd="0" presId="urn:microsoft.com/office/officeart/2005/8/layout/lProcess1"/>
    <dgm:cxn modelId="{D15B08DD-E73C-4B43-80E7-14B948D1F51D}" type="presParOf" srcId="{3E568A62-A416-4FC8-BC61-D38E624CE5A8}" destId="{DF934E8B-140C-4898-9902-BE2C21004793}" srcOrd="1" destOrd="0" presId="urn:microsoft.com/office/officeart/2005/8/layout/lProcess1"/>
    <dgm:cxn modelId="{53481750-7E31-4351-9203-7AD97E84385F}" type="presParOf" srcId="{3E568A62-A416-4FC8-BC61-D38E624CE5A8}" destId="{6DC7A5DF-47F8-4349-93B2-AF9D560031C3}" srcOrd="2" destOrd="0" presId="urn:microsoft.com/office/officeart/2005/8/layout/lProcess1"/>
    <dgm:cxn modelId="{065573DD-BBE2-476C-BBCF-2D7DC6A039C3}" type="presParOf" srcId="{6DC7A5DF-47F8-4349-93B2-AF9D560031C3}" destId="{5B29319B-E54F-4826-95E0-ADE23820C764}" srcOrd="0" destOrd="0" presId="urn:microsoft.com/office/officeart/2005/8/layout/lProcess1"/>
    <dgm:cxn modelId="{E01A9E93-8828-4837-802D-201D10AC42E8}" type="presParOf" srcId="{6DC7A5DF-47F8-4349-93B2-AF9D560031C3}" destId="{89506E2A-B6E3-4213-A687-207BCD5DC751}" srcOrd="1" destOrd="0" presId="urn:microsoft.com/office/officeart/2005/8/layout/lProcess1"/>
    <dgm:cxn modelId="{81713351-99B3-4863-907E-46450CBC1B6C}" type="presParOf" srcId="{6DC7A5DF-47F8-4349-93B2-AF9D560031C3}" destId="{4A7C89F9-91A3-478E-9487-2A7008282B13}" srcOrd="2" destOrd="0" presId="urn:microsoft.com/office/officeart/2005/8/layout/lProcess1"/>
    <dgm:cxn modelId="{3E17A2AF-F5D7-4C5C-8C65-86C2A547F94E}" type="presParOf" srcId="{6DC7A5DF-47F8-4349-93B2-AF9D560031C3}" destId="{09B9A730-DCFD-42BC-851C-2333DA428247}" srcOrd="3" destOrd="0" presId="urn:microsoft.com/office/officeart/2005/8/layout/lProcess1"/>
    <dgm:cxn modelId="{13D17A76-B7C2-4542-A4F9-E2186721F69E}" type="presParOf" srcId="{6DC7A5DF-47F8-4349-93B2-AF9D560031C3}" destId="{B124DA3E-1624-4B9B-8530-B8926F0D16A1}" srcOrd="4" destOrd="0" presId="urn:microsoft.com/office/officeart/2005/8/layout/lProcess1"/>
    <dgm:cxn modelId="{28B5A976-8E65-4621-9DBC-4C9DB64B989A}" type="presParOf" srcId="{3E568A62-A416-4FC8-BC61-D38E624CE5A8}" destId="{2DA48F05-D8BC-4453-80F0-9E4DB5EA4918}" srcOrd="3" destOrd="0" presId="urn:microsoft.com/office/officeart/2005/8/layout/lProcess1"/>
    <dgm:cxn modelId="{84A8E431-8279-468F-B7CA-4899C8036A9C}" type="presParOf" srcId="{3E568A62-A416-4FC8-BC61-D38E624CE5A8}" destId="{ADF4B503-D2F4-4595-B347-E61A162D1537}" srcOrd="4" destOrd="0" presId="urn:microsoft.com/office/officeart/2005/8/layout/lProcess1"/>
    <dgm:cxn modelId="{C08633DD-68AE-41B8-B5B0-446A095E61AD}" type="presParOf" srcId="{ADF4B503-D2F4-4595-B347-E61A162D1537}" destId="{2A0855E3-F6CC-43E5-B120-98ED2CAD0094}" srcOrd="0" destOrd="0" presId="urn:microsoft.com/office/officeart/2005/8/layout/lProcess1"/>
    <dgm:cxn modelId="{7C3B1972-6881-4EB9-8E3F-D31A517A7DCC}" type="presParOf" srcId="{3E568A62-A416-4FC8-BC61-D38E624CE5A8}" destId="{7801A6C6-CADF-450D-B8BE-B72279F31FB0}" srcOrd="5" destOrd="0" presId="urn:microsoft.com/office/officeart/2005/8/layout/lProcess1"/>
    <dgm:cxn modelId="{5F3FE11F-CFC5-4016-A7EE-0DB2D54BA159}" type="presParOf" srcId="{3E568A62-A416-4FC8-BC61-D38E624CE5A8}" destId="{97D06B49-7ECF-4BFB-BD2A-28183DF9B357}" srcOrd="6" destOrd="0" presId="urn:microsoft.com/office/officeart/2005/8/layout/lProcess1"/>
    <dgm:cxn modelId="{114A6855-ECC8-4AF8-8455-CA572DEA0310}" type="presParOf" srcId="{97D06B49-7ECF-4BFB-BD2A-28183DF9B357}" destId="{9DB06610-BC9A-4D3D-9DBF-9B87D649CAC9}" srcOrd="0" destOrd="0" presId="urn:microsoft.com/office/officeart/2005/8/layout/lProcess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26E96AF4-7D9D-4A66-AD24-A0934FDF0C94}" type="doc">
      <dgm:prSet loTypeId="urn:microsoft.com/office/officeart/2008/layout/VerticalCurvedList" loCatId="list" qsTypeId="urn:microsoft.com/office/officeart/2005/8/quickstyle/simple1" qsCatId="simple" csTypeId="urn:microsoft.com/office/officeart/2005/8/colors/accent6_2" csCatId="accent6" phldr="1"/>
      <dgm:spPr/>
      <dgm:t>
        <a:bodyPr/>
        <a:lstStyle/>
        <a:p>
          <a:endParaRPr lang="en-GB"/>
        </a:p>
      </dgm:t>
    </dgm:pt>
    <dgm:pt modelId="{8771563F-5F8B-4450-9955-4F19AC31325E}">
      <dgm:prSet phldrT="[Text]"/>
      <dgm:spPr/>
      <dgm:t>
        <a:bodyPr/>
        <a:lstStyle/>
        <a:p>
          <a:pPr>
            <a:buNone/>
          </a:pPr>
          <a:r>
            <a:rPr lang="en-GB" b="0" i="0"/>
            <a:t>The individual has taken all reasonable steps to maximise income, but paying the assessed charge or flat rate charge would cause income to drop below the MIG rate. </a:t>
          </a:r>
          <a:endParaRPr lang="en-GB"/>
        </a:p>
      </dgm:t>
    </dgm:pt>
    <dgm:pt modelId="{2A1284AA-36B8-4987-9ED3-65A5C87E1487}" type="parTrans" cxnId="{EC106688-B2E6-47A9-9647-29FCA066DD4B}">
      <dgm:prSet/>
      <dgm:spPr/>
      <dgm:t>
        <a:bodyPr/>
        <a:lstStyle/>
        <a:p>
          <a:endParaRPr lang="en-GB"/>
        </a:p>
      </dgm:t>
    </dgm:pt>
    <dgm:pt modelId="{56FEE68D-7923-4F4E-8B58-E6678D576886}" type="sibTrans" cxnId="{EC106688-B2E6-47A9-9647-29FCA066DD4B}">
      <dgm:prSet/>
      <dgm:spPr/>
      <dgm:t>
        <a:bodyPr/>
        <a:lstStyle/>
        <a:p>
          <a:endParaRPr lang="en-GB"/>
        </a:p>
      </dgm:t>
    </dgm:pt>
    <dgm:pt modelId="{A18B21F7-7815-4819-A3EF-5139025C7A5D}">
      <dgm:prSet phldrT="[Text]" custT="1"/>
      <dgm:spPr/>
      <dgm:t>
        <a:bodyPr/>
        <a:lstStyle/>
        <a:p>
          <a:r>
            <a:rPr lang="en-GB" sz="1400" b="0" i="0"/>
            <a:t>Charging the assessed contribution or flat rate charge would deter the person from using the service, posing a serious risk to their health, including increased vulnerability to abuse, harm, or neglect.  </a:t>
          </a:r>
          <a:endParaRPr lang="en-GB" sz="1400"/>
        </a:p>
      </dgm:t>
    </dgm:pt>
    <dgm:pt modelId="{DBE16B13-3B1E-450C-A341-6F6A76007B61}" type="parTrans" cxnId="{FB6905E4-7B87-4A77-B71B-F451486C0F23}">
      <dgm:prSet/>
      <dgm:spPr/>
      <dgm:t>
        <a:bodyPr/>
        <a:lstStyle/>
        <a:p>
          <a:endParaRPr lang="en-GB"/>
        </a:p>
      </dgm:t>
    </dgm:pt>
    <dgm:pt modelId="{0B92C54B-F70A-4DF5-8BA3-EA79EBD00BA6}" type="sibTrans" cxnId="{FB6905E4-7B87-4A77-B71B-F451486C0F23}">
      <dgm:prSet/>
      <dgm:spPr/>
      <dgm:t>
        <a:bodyPr/>
        <a:lstStyle/>
        <a:p>
          <a:endParaRPr lang="en-GB"/>
        </a:p>
      </dgm:t>
    </dgm:pt>
    <dgm:pt modelId="{4FF5AA54-327D-4E9D-9637-5AB565CF46B4}">
      <dgm:prSet phldrT="[Text]" custT="1"/>
      <dgm:spPr/>
      <dgm:t>
        <a:bodyPr/>
        <a:lstStyle/>
        <a:p>
          <a:pPr>
            <a:buNone/>
          </a:pPr>
          <a:r>
            <a:rPr lang="en-GB" sz="1400" b="0" i="0"/>
            <a:t>Significant financial pressure exists, and further debt would have detrimental impact on an individual. </a:t>
          </a:r>
          <a:endParaRPr lang="en-GB" sz="1400"/>
        </a:p>
      </dgm:t>
    </dgm:pt>
    <dgm:pt modelId="{D7FF7DF6-AAC6-45EF-AB9B-79BF078C4383}" type="parTrans" cxnId="{041A9F77-E2B5-4707-983C-FCED60ED12D9}">
      <dgm:prSet/>
      <dgm:spPr/>
      <dgm:t>
        <a:bodyPr/>
        <a:lstStyle/>
        <a:p>
          <a:endParaRPr lang="en-GB"/>
        </a:p>
      </dgm:t>
    </dgm:pt>
    <dgm:pt modelId="{B175F622-3A05-4CD2-BCA1-2E7F4262E116}" type="sibTrans" cxnId="{041A9F77-E2B5-4707-983C-FCED60ED12D9}">
      <dgm:prSet/>
      <dgm:spPr/>
      <dgm:t>
        <a:bodyPr/>
        <a:lstStyle/>
        <a:p>
          <a:endParaRPr lang="en-GB"/>
        </a:p>
      </dgm:t>
    </dgm:pt>
    <dgm:pt modelId="{DDCE1E48-4182-4788-9A7A-2264E45A4EA2}">
      <dgm:prSet phldrT="[Text]" custT="1"/>
      <dgm:spPr/>
      <dgm:t>
        <a:bodyPr/>
        <a:lstStyle/>
        <a:p>
          <a:pPr>
            <a:buNone/>
          </a:pPr>
          <a:r>
            <a:rPr lang="en-US" sz="1400" b="0" i="0"/>
            <a:t>A temporary crisis (e.g., bereavement, family breakdown) has occurred, affecting finances.</a:t>
          </a:r>
          <a:endParaRPr lang="en-GB" sz="1400"/>
        </a:p>
      </dgm:t>
    </dgm:pt>
    <dgm:pt modelId="{BBCD3F4D-2AD7-4EC5-9668-AD32BF9C9111}" type="parTrans" cxnId="{36A05E6F-A24C-4725-975D-285F2D9F98F8}">
      <dgm:prSet/>
      <dgm:spPr/>
      <dgm:t>
        <a:bodyPr/>
        <a:lstStyle/>
        <a:p>
          <a:endParaRPr lang="en-GB"/>
        </a:p>
      </dgm:t>
    </dgm:pt>
    <dgm:pt modelId="{50619C61-20C6-4940-9CC4-EE8F57EBF0D9}" type="sibTrans" cxnId="{36A05E6F-A24C-4725-975D-285F2D9F98F8}">
      <dgm:prSet/>
      <dgm:spPr/>
      <dgm:t>
        <a:bodyPr/>
        <a:lstStyle/>
        <a:p>
          <a:endParaRPr lang="en-GB"/>
        </a:p>
      </dgm:t>
    </dgm:pt>
    <dgm:pt modelId="{E8938211-8633-484C-9A48-8E16EB304FCC}">
      <dgm:prSet phldrT="[Text]" custT="1"/>
      <dgm:spPr/>
      <dgm:t>
        <a:bodyPr/>
        <a:lstStyle/>
        <a:p>
          <a:pPr>
            <a:buNone/>
          </a:pPr>
          <a:r>
            <a:rPr lang="en-GB" sz="1400" b="0" i="0"/>
            <a:t>There are safeguarding concerns—where the person or dependents are vulnerable and at risk of abuse, neglect, or harm if finances are strained. </a:t>
          </a:r>
          <a:endParaRPr lang="en-GB" sz="1400"/>
        </a:p>
      </dgm:t>
    </dgm:pt>
    <dgm:pt modelId="{54EE0CA8-829C-4A97-A296-10EF0A5A9A63}" type="parTrans" cxnId="{382F39DD-23AE-40F3-8405-57FA02187775}">
      <dgm:prSet/>
      <dgm:spPr/>
      <dgm:t>
        <a:bodyPr/>
        <a:lstStyle/>
        <a:p>
          <a:endParaRPr lang="en-GB"/>
        </a:p>
      </dgm:t>
    </dgm:pt>
    <dgm:pt modelId="{2B9ADC79-2822-4FC7-ABE9-E5BD7A7404EB}" type="sibTrans" cxnId="{382F39DD-23AE-40F3-8405-57FA02187775}">
      <dgm:prSet/>
      <dgm:spPr/>
      <dgm:t>
        <a:bodyPr/>
        <a:lstStyle/>
        <a:p>
          <a:endParaRPr lang="en-GB"/>
        </a:p>
      </dgm:t>
    </dgm:pt>
    <dgm:pt modelId="{A7DFECAA-2389-4E53-8936-A1353225BD12}">
      <dgm:prSet custT="1"/>
      <dgm:spPr/>
      <dgm:t>
        <a:bodyPr/>
        <a:lstStyle/>
        <a:p>
          <a:pPr>
            <a:buNone/>
          </a:pPr>
          <a:r>
            <a:rPr lang="en-GB" sz="1400" b="0" i="0"/>
            <a:t>Any other exceptional or changed circumstances that need to be considered. </a:t>
          </a:r>
          <a:endParaRPr lang="en-GB" sz="1400"/>
        </a:p>
      </dgm:t>
    </dgm:pt>
    <dgm:pt modelId="{9A26AC66-A939-4B49-BDDC-523AE48D67BB}" type="parTrans" cxnId="{53B4926E-6BE4-42C7-BBA1-9306D75CBF42}">
      <dgm:prSet/>
      <dgm:spPr/>
      <dgm:t>
        <a:bodyPr/>
        <a:lstStyle/>
        <a:p>
          <a:endParaRPr lang="en-GB"/>
        </a:p>
      </dgm:t>
    </dgm:pt>
    <dgm:pt modelId="{1128D66B-8F98-414A-84A4-218FF12ECD0C}" type="sibTrans" cxnId="{53B4926E-6BE4-42C7-BBA1-9306D75CBF42}">
      <dgm:prSet/>
      <dgm:spPr/>
      <dgm:t>
        <a:bodyPr/>
        <a:lstStyle/>
        <a:p>
          <a:endParaRPr lang="en-GB"/>
        </a:p>
      </dgm:t>
    </dgm:pt>
    <dgm:pt modelId="{3259C346-0625-44F4-BFED-FA629890DAD8}" type="pres">
      <dgm:prSet presAssocID="{26E96AF4-7D9D-4A66-AD24-A0934FDF0C94}" presName="Name0" presStyleCnt="0">
        <dgm:presLayoutVars>
          <dgm:chMax val="7"/>
          <dgm:chPref val="7"/>
          <dgm:dir/>
        </dgm:presLayoutVars>
      </dgm:prSet>
      <dgm:spPr/>
    </dgm:pt>
    <dgm:pt modelId="{814F220D-C885-4498-B50D-D0A33C94845E}" type="pres">
      <dgm:prSet presAssocID="{26E96AF4-7D9D-4A66-AD24-A0934FDF0C94}" presName="Name1" presStyleCnt="0"/>
      <dgm:spPr/>
    </dgm:pt>
    <dgm:pt modelId="{A10B6935-2BC0-48BC-A7BF-FE49B1950B5E}" type="pres">
      <dgm:prSet presAssocID="{26E96AF4-7D9D-4A66-AD24-A0934FDF0C94}" presName="cycle" presStyleCnt="0"/>
      <dgm:spPr/>
    </dgm:pt>
    <dgm:pt modelId="{B2CBB035-6B7B-484F-B00C-5237A79DB9F7}" type="pres">
      <dgm:prSet presAssocID="{26E96AF4-7D9D-4A66-AD24-A0934FDF0C94}" presName="srcNode" presStyleLbl="node1" presStyleIdx="0" presStyleCnt="6"/>
      <dgm:spPr/>
    </dgm:pt>
    <dgm:pt modelId="{141ECE20-CDD6-48DA-B1C8-1519DD596909}" type="pres">
      <dgm:prSet presAssocID="{26E96AF4-7D9D-4A66-AD24-A0934FDF0C94}" presName="conn" presStyleLbl="parChTrans1D2" presStyleIdx="0" presStyleCnt="1"/>
      <dgm:spPr/>
    </dgm:pt>
    <dgm:pt modelId="{F8CC379C-89D1-4688-B9D8-FB88C1A70C1D}" type="pres">
      <dgm:prSet presAssocID="{26E96AF4-7D9D-4A66-AD24-A0934FDF0C94}" presName="extraNode" presStyleLbl="node1" presStyleIdx="0" presStyleCnt="6"/>
      <dgm:spPr/>
    </dgm:pt>
    <dgm:pt modelId="{20423964-DEE5-4F0C-B6A8-79464BAFAD41}" type="pres">
      <dgm:prSet presAssocID="{26E96AF4-7D9D-4A66-AD24-A0934FDF0C94}" presName="dstNode" presStyleLbl="node1" presStyleIdx="0" presStyleCnt="6"/>
      <dgm:spPr/>
    </dgm:pt>
    <dgm:pt modelId="{DB28A1C3-44C5-45A1-851E-9DF7AF685DB0}" type="pres">
      <dgm:prSet presAssocID="{8771563F-5F8B-4450-9955-4F19AC31325E}" presName="text_1" presStyleLbl="node1" presStyleIdx="0" presStyleCnt="6">
        <dgm:presLayoutVars>
          <dgm:bulletEnabled val="1"/>
        </dgm:presLayoutVars>
      </dgm:prSet>
      <dgm:spPr/>
    </dgm:pt>
    <dgm:pt modelId="{C210A2FA-FDA6-4F4B-9615-3C3E3567E0E6}" type="pres">
      <dgm:prSet presAssocID="{8771563F-5F8B-4450-9955-4F19AC31325E}" presName="accent_1" presStyleCnt="0"/>
      <dgm:spPr/>
    </dgm:pt>
    <dgm:pt modelId="{BAD61259-AF27-4B23-BCD8-0CD5B1B62375}" type="pres">
      <dgm:prSet presAssocID="{8771563F-5F8B-4450-9955-4F19AC31325E}" presName="accentRepeatNode" presStyleLbl="solidFgAcc1" presStyleIdx="0" presStyleCnt="6" custLinFactNeighborX="-3855" custLinFactNeighborY="4354"/>
      <dgm:spPr/>
    </dgm:pt>
    <dgm:pt modelId="{C185D721-2B89-4610-9EE8-880F0008DD9F}" type="pres">
      <dgm:prSet presAssocID="{DDCE1E48-4182-4788-9A7A-2264E45A4EA2}" presName="text_2" presStyleLbl="node1" presStyleIdx="1" presStyleCnt="6">
        <dgm:presLayoutVars>
          <dgm:bulletEnabled val="1"/>
        </dgm:presLayoutVars>
      </dgm:prSet>
      <dgm:spPr/>
    </dgm:pt>
    <dgm:pt modelId="{8A866502-3B51-46DB-B07D-10F1365176E2}" type="pres">
      <dgm:prSet presAssocID="{DDCE1E48-4182-4788-9A7A-2264E45A4EA2}" presName="accent_2" presStyleCnt="0"/>
      <dgm:spPr/>
    </dgm:pt>
    <dgm:pt modelId="{FC002AB2-37FB-45B9-B770-7F9ED03E0D65}" type="pres">
      <dgm:prSet presAssocID="{DDCE1E48-4182-4788-9A7A-2264E45A4EA2}" presName="accentRepeatNode" presStyleLbl="solidFgAcc1" presStyleIdx="1" presStyleCnt="6" custLinFactNeighborX="-1031" custLinFactNeighborY="2873"/>
      <dgm:spPr/>
    </dgm:pt>
    <dgm:pt modelId="{0AED293A-1DC6-47EA-B8EB-909CCA71DE61}" type="pres">
      <dgm:prSet presAssocID="{A18B21F7-7815-4819-A3EF-5139025C7A5D}" presName="text_3" presStyleLbl="node1" presStyleIdx="2" presStyleCnt="6">
        <dgm:presLayoutVars>
          <dgm:bulletEnabled val="1"/>
        </dgm:presLayoutVars>
      </dgm:prSet>
      <dgm:spPr/>
    </dgm:pt>
    <dgm:pt modelId="{99CB0849-29DC-4765-8146-2639CDCE5AA9}" type="pres">
      <dgm:prSet presAssocID="{A18B21F7-7815-4819-A3EF-5139025C7A5D}" presName="accent_3" presStyleCnt="0"/>
      <dgm:spPr/>
    </dgm:pt>
    <dgm:pt modelId="{62F116EE-DBEA-45CB-91BC-22647F65032E}" type="pres">
      <dgm:prSet presAssocID="{A18B21F7-7815-4819-A3EF-5139025C7A5D}" presName="accentRepeatNode" presStyleLbl="solidFgAcc1" presStyleIdx="2" presStyleCnt="6"/>
      <dgm:spPr/>
    </dgm:pt>
    <dgm:pt modelId="{558B8943-2345-42FB-98FF-DBA6FF9CBBFC}" type="pres">
      <dgm:prSet presAssocID="{E8938211-8633-484C-9A48-8E16EB304FCC}" presName="text_4" presStyleLbl="node1" presStyleIdx="3" presStyleCnt="6">
        <dgm:presLayoutVars>
          <dgm:bulletEnabled val="1"/>
        </dgm:presLayoutVars>
      </dgm:prSet>
      <dgm:spPr/>
    </dgm:pt>
    <dgm:pt modelId="{D491EE96-2EC6-48C6-9A18-F74CF116B88D}" type="pres">
      <dgm:prSet presAssocID="{E8938211-8633-484C-9A48-8E16EB304FCC}" presName="accent_4" presStyleCnt="0"/>
      <dgm:spPr/>
    </dgm:pt>
    <dgm:pt modelId="{396B32CA-3B85-4126-8588-1029DCBD75A8}" type="pres">
      <dgm:prSet presAssocID="{E8938211-8633-484C-9A48-8E16EB304FCC}" presName="accentRepeatNode" presStyleLbl="solidFgAcc1" presStyleIdx="3" presStyleCnt="6"/>
      <dgm:spPr/>
    </dgm:pt>
    <dgm:pt modelId="{3CC50DF3-2111-480F-8C4C-CECC604CAA8B}" type="pres">
      <dgm:prSet presAssocID="{4FF5AA54-327D-4E9D-9637-5AB565CF46B4}" presName="text_5" presStyleLbl="node1" presStyleIdx="4" presStyleCnt="6">
        <dgm:presLayoutVars>
          <dgm:bulletEnabled val="1"/>
        </dgm:presLayoutVars>
      </dgm:prSet>
      <dgm:spPr/>
    </dgm:pt>
    <dgm:pt modelId="{A7D61CEF-37DF-4CB8-9E58-B113D64BA0EA}" type="pres">
      <dgm:prSet presAssocID="{4FF5AA54-327D-4E9D-9637-5AB565CF46B4}" presName="accent_5" presStyleCnt="0"/>
      <dgm:spPr/>
    </dgm:pt>
    <dgm:pt modelId="{5E67C093-302F-447C-A291-323EEF65A256}" type="pres">
      <dgm:prSet presAssocID="{4FF5AA54-327D-4E9D-9637-5AB565CF46B4}" presName="accentRepeatNode" presStyleLbl="solidFgAcc1" presStyleIdx="4" presStyleCnt="6"/>
      <dgm:spPr/>
    </dgm:pt>
    <dgm:pt modelId="{FF456D0A-E4B8-48F5-86BD-7F17EC80CAFE}" type="pres">
      <dgm:prSet presAssocID="{A7DFECAA-2389-4E53-8936-A1353225BD12}" presName="text_6" presStyleLbl="node1" presStyleIdx="5" presStyleCnt="6" custLinFactNeighborX="588" custLinFactNeighborY="2526">
        <dgm:presLayoutVars>
          <dgm:bulletEnabled val="1"/>
        </dgm:presLayoutVars>
      </dgm:prSet>
      <dgm:spPr/>
    </dgm:pt>
    <dgm:pt modelId="{039AF727-72E5-4337-9A9D-FFA1933F9CE7}" type="pres">
      <dgm:prSet presAssocID="{A7DFECAA-2389-4E53-8936-A1353225BD12}" presName="accent_6" presStyleCnt="0"/>
      <dgm:spPr/>
    </dgm:pt>
    <dgm:pt modelId="{93621E5B-A62A-4DC9-B17A-7D6B970ED096}" type="pres">
      <dgm:prSet presAssocID="{A7DFECAA-2389-4E53-8936-A1353225BD12}" presName="accentRepeatNode" presStyleLbl="solidFgAcc1" presStyleIdx="5" presStyleCnt="6"/>
      <dgm:spPr/>
    </dgm:pt>
  </dgm:ptLst>
  <dgm:cxnLst>
    <dgm:cxn modelId="{D54A3904-AADA-4BE7-B59B-78A50319EBA5}" type="presOf" srcId="{DDCE1E48-4182-4788-9A7A-2264E45A4EA2}" destId="{C185D721-2B89-4610-9EE8-880F0008DD9F}" srcOrd="0" destOrd="0" presId="urn:microsoft.com/office/officeart/2008/layout/VerticalCurvedList"/>
    <dgm:cxn modelId="{9C0B680B-B800-4070-B747-2B7CAFEA8A46}" type="presOf" srcId="{4FF5AA54-327D-4E9D-9637-5AB565CF46B4}" destId="{3CC50DF3-2111-480F-8C4C-CECC604CAA8B}" srcOrd="0" destOrd="0" presId="urn:microsoft.com/office/officeart/2008/layout/VerticalCurvedList"/>
    <dgm:cxn modelId="{53B4926E-6BE4-42C7-BBA1-9306D75CBF42}" srcId="{26E96AF4-7D9D-4A66-AD24-A0934FDF0C94}" destId="{A7DFECAA-2389-4E53-8936-A1353225BD12}" srcOrd="5" destOrd="0" parTransId="{9A26AC66-A939-4B49-BDDC-523AE48D67BB}" sibTransId="{1128D66B-8F98-414A-84A4-218FF12ECD0C}"/>
    <dgm:cxn modelId="{36A05E6F-A24C-4725-975D-285F2D9F98F8}" srcId="{26E96AF4-7D9D-4A66-AD24-A0934FDF0C94}" destId="{DDCE1E48-4182-4788-9A7A-2264E45A4EA2}" srcOrd="1" destOrd="0" parTransId="{BBCD3F4D-2AD7-4EC5-9668-AD32BF9C9111}" sibTransId="{50619C61-20C6-4940-9CC4-EE8F57EBF0D9}"/>
    <dgm:cxn modelId="{041A9F77-E2B5-4707-983C-FCED60ED12D9}" srcId="{26E96AF4-7D9D-4A66-AD24-A0934FDF0C94}" destId="{4FF5AA54-327D-4E9D-9637-5AB565CF46B4}" srcOrd="4" destOrd="0" parTransId="{D7FF7DF6-AAC6-45EF-AB9B-79BF078C4383}" sibTransId="{B175F622-3A05-4CD2-BCA1-2E7F4262E116}"/>
    <dgm:cxn modelId="{6309787E-C67A-4ACE-AC7E-7387F894ECE7}" type="presOf" srcId="{A18B21F7-7815-4819-A3EF-5139025C7A5D}" destId="{0AED293A-1DC6-47EA-B8EB-909CCA71DE61}" srcOrd="0" destOrd="0" presId="urn:microsoft.com/office/officeart/2008/layout/VerticalCurvedList"/>
    <dgm:cxn modelId="{EC106688-B2E6-47A9-9647-29FCA066DD4B}" srcId="{26E96AF4-7D9D-4A66-AD24-A0934FDF0C94}" destId="{8771563F-5F8B-4450-9955-4F19AC31325E}" srcOrd="0" destOrd="0" parTransId="{2A1284AA-36B8-4987-9ED3-65A5C87E1487}" sibTransId="{56FEE68D-7923-4F4E-8B58-E6678D576886}"/>
    <dgm:cxn modelId="{FC58868E-65E7-4C6D-8E4F-D1DAE6F3B338}" type="presOf" srcId="{8771563F-5F8B-4450-9955-4F19AC31325E}" destId="{DB28A1C3-44C5-45A1-851E-9DF7AF685DB0}" srcOrd="0" destOrd="0" presId="urn:microsoft.com/office/officeart/2008/layout/VerticalCurvedList"/>
    <dgm:cxn modelId="{AA8EBF9C-3F87-4FBA-B7EC-932121B17730}" type="presOf" srcId="{A7DFECAA-2389-4E53-8936-A1353225BD12}" destId="{FF456D0A-E4B8-48F5-86BD-7F17EC80CAFE}" srcOrd="0" destOrd="0" presId="urn:microsoft.com/office/officeart/2008/layout/VerticalCurvedList"/>
    <dgm:cxn modelId="{AB917CA4-1DE2-42A3-82A1-AD7811346AA1}" type="presOf" srcId="{56FEE68D-7923-4F4E-8B58-E6678D576886}" destId="{141ECE20-CDD6-48DA-B1C8-1519DD596909}" srcOrd="0" destOrd="0" presId="urn:microsoft.com/office/officeart/2008/layout/VerticalCurvedList"/>
    <dgm:cxn modelId="{441FD7AB-5DA7-44E5-97B9-ACA6B722415E}" type="presOf" srcId="{E8938211-8633-484C-9A48-8E16EB304FCC}" destId="{558B8943-2345-42FB-98FF-DBA6FF9CBBFC}" srcOrd="0" destOrd="0" presId="urn:microsoft.com/office/officeart/2008/layout/VerticalCurvedList"/>
    <dgm:cxn modelId="{382F39DD-23AE-40F3-8405-57FA02187775}" srcId="{26E96AF4-7D9D-4A66-AD24-A0934FDF0C94}" destId="{E8938211-8633-484C-9A48-8E16EB304FCC}" srcOrd="3" destOrd="0" parTransId="{54EE0CA8-829C-4A97-A296-10EF0A5A9A63}" sibTransId="{2B9ADC79-2822-4FC7-ABE9-E5BD7A7404EB}"/>
    <dgm:cxn modelId="{FB6905E4-7B87-4A77-B71B-F451486C0F23}" srcId="{26E96AF4-7D9D-4A66-AD24-A0934FDF0C94}" destId="{A18B21F7-7815-4819-A3EF-5139025C7A5D}" srcOrd="2" destOrd="0" parTransId="{DBE16B13-3B1E-450C-A341-6F6A76007B61}" sibTransId="{0B92C54B-F70A-4DF5-8BA3-EA79EBD00BA6}"/>
    <dgm:cxn modelId="{D83186E5-542D-4D8A-9604-3413E932C49E}" type="presOf" srcId="{26E96AF4-7D9D-4A66-AD24-A0934FDF0C94}" destId="{3259C346-0625-44F4-BFED-FA629890DAD8}" srcOrd="0" destOrd="0" presId="urn:microsoft.com/office/officeart/2008/layout/VerticalCurvedList"/>
    <dgm:cxn modelId="{5BC9A5B9-10AC-4B3C-A499-2C8513FED19D}" type="presParOf" srcId="{3259C346-0625-44F4-BFED-FA629890DAD8}" destId="{814F220D-C885-4498-B50D-D0A33C94845E}" srcOrd="0" destOrd="0" presId="urn:microsoft.com/office/officeart/2008/layout/VerticalCurvedList"/>
    <dgm:cxn modelId="{29B2E579-F60E-4ECD-9942-DCC677F27C0F}" type="presParOf" srcId="{814F220D-C885-4498-B50D-D0A33C94845E}" destId="{A10B6935-2BC0-48BC-A7BF-FE49B1950B5E}" srcOrd="0" destOrd="0" presId="urn:microsoft.com/office/officeart/2008/layout/VerticalCurvedList"/>
    <dgm:cxn modelId="{A285BD17-CD5D-4A16-983B-83A58EE94B06}" type="presParOf" srcId="{A10B6935-2BC0-48BC-A7BF-FE49B1950B5E}" destId="{B2CBB035-6B7B-484F-B00C-5237A79DB9F7}" srcOrd="0" destOrd="0" presId="urn:microsoft.com/office/officeart/2008/layout/VerticalCurvedList"/>
    <dgm:cxn modelId="{31836D93-108C-43E3-AC0C-2FA33970C668}" type="presParOf" srcId="{A10B6935-2BC0-48BC-A7BF-FE49B1950B5E}" destId="{141ECE20-CDD6-48DA-B1C8-1519DD596909}" srcOrd="1" destOrd="0" presId="urn:microsoft.com/office/officeart/2008/layout/VerticalCurvedList"/>
    <dgm:cxn modelId="{0ECE73E2-8E74-4602-A88F-8A102EE4B0C9}" type="presParOf" srcId="{A10B6935-2BC0-48BC-A7BF-FE49B1950B5E}" destId="{F8CC379C-89D1-4688-B9D8-FB88C1A70C1D}" srcOrd="2" destOrd="0" presId="urn:microsoft.com/office/officeart/2008/layout/VerticalCurvedList"/>
    <dgm:cxn modelId="{40CCE768-0489-403F-954D-9FCDD2756C4E}" type="presParOf" srcId="{A10B6935-2BC0-48BC-A7BF-FE49B1950B5E}" destId="{20423964-DEE5-4F0C-B6A8-79464BAFAD41}" srcOrd="3" destOrd="0" presId="urn:microsoft.com/office/officeart/2008/layout/VerticalCurvedList"/>
    <dgm:cxn modelId="{177D7199-5091-46B8-AEF9-802D34191B90}" type="presParOf" srcId="{814F220D-C885-4498-B50D-D0A33C94845E}" destId="{DB28A1C3-44C5-45A1-851E-9DF7AF685DB0}" srcOrd="1" destOrd="0" presId="urn:microsoft.com/office/officeart/2008/layout/VerticalCurvedList"/>
    <dgm:cxn modelId="{321F1015-B255-4676-9949-77E7B423E2F6}" type="presParOf" srcId="{814F220D-C885-4498-B50D-D0A33C94845E}" destId="{C210A2FA-FDA6-4F4B-9615-3C3E3567E0E6}" srcOrd="2" destOrd="0" presId="urn:microsoft.com/office/officeart/2008/layout/VerticalCurvedList"/>
    <dgm:cxn modelId="{38FC2201-F8F1-4C1D-9DE8-00731E7C9D91}" type="presParOf" srcId="{C210A2FA-FDA6-4F4B-9615-3C3E3567E0E6}" destId="{BAD61259-AF27-4B23-BCD8-0CD5B1B62375}" srcOrd="0" destOrd="0" presId="urn:microsoft.com/office/officeart/2008/layout/VerticalCurvedList"/>
    <dgm:cxn modelId="{55C4B7C4-C34A-4EB5-8A4D-5F6CE8B375D9}" type="presParOf" srcId="{814F220D-C885-4498-B50D-D0A33C94845E}" destId="{C185D721-2B89-4610-9EE8-880F0008DD9F}" srcOrd="3" destOrd="0" presId="urn:microsoft.com/office/officeart/2008/layout/VerticalCurvedList"/>
    <dgm:cxn modelId="{DB27BB71-DFBC-48C4-A26A-5179D9156BD7}" type="presParOf" srcId="{814F220D-C885-4498-B50D-D0A33C94845E}" destId="{8A866502-3B51-46DB-B07D-10F1365176E2}" srcOrd="4" destOrd="0" presId="urn:microsoft.com/office/officeart/2008/layout/VerticalCurvedList"/>
    <dgm:cxn modelId="{0DCB1817-486D-456C-ABD6-7D3ACD3FE134}" type="presParOf" srcId="{8A866502-3B51-46DB-B07D-10F1365176E2}" destId="{FC002AB2-37FB-45B9-B770-7F9ED03E0D65}" srcOrd="0" destOrd="0" presId="urn:microsoft.com/office/officeart/2008/layout/VerticalCurvedList"/>
    <dgm:cxn modelId="{843603CD-ABE3-4913-B088-84C09DD5D706}" type="presParOf" srcId="{814F220D-C885-4498-B50D-D0A33C94845E}" destId="{0AED293A-1DC6-47EA-B8EB-909CCA71DE61}" srcOrd="5" destOrd="0" presId="urn:microsoft.com/office/officeart/2008/layout/VerticalCurvedList"/>
    <dgm:cxn modelId="{920FBFE2-343F-4D47-A88B-19779A6FCCCD}" type="presParOf" srcId="{814F220D-C885-4498-B50D-D0A33C94845E}" destId="{99CB0849-29DC-4765-8146-2639CDCE5AA9}" srcOrd="6" destOrd="0" presId="urn:microsoft.com/office/officeart/2008/layout/VerticalCurvedList"/>
    <dgm:cxn modelId="{ACE55C22-ED18-48AF-844F-EFCCB05B9957}" type="presParOf" srcId="{99CB0849-29DC-4765-8146-2639CDCE5AA9}" destId="{62F116EE-DBEA-45CB-91BC-22647F65032E}" srcOrd="0" destOrd="0" presId="urn:microsoft.com/office/officeart/2008/layout/VerticalCurvedList"/>
    <dgm:cxn modelId="{D0280535-EB5B-468A-AF3C-F6721BECD9F2}" type="presParOf" srcId="{814F220D-C885-4498-B50D-D0A33C94845E}" destId="{558B8943-2345-42FB-98FF-DBA6FF9CBBFC}" srcOrd="7" destOrd="0" presId="urn:microsoft.com/office/officeart/2008/layout/VerticalCurvedList"/>
    <dgm:cxn modelId="{84D103B7-47C5-4667-BF4D-836AD59FE22D}" type="presParOf" srcId="{814F220D-C885-4498-B50D-D0A33C94845E}" destId="{D491EE96-2EC6-48C6-9A18-F74CF116B88D}" srcOrd="8" destOrd="0" presId="urn:microsoft.com/office/officeart/2008/layout/VerticalCurvedList"/>
    <dgm:cxn modelId="{44BE6330-4860-4DEB-A066-919B7D4D45D8}" type="presParOf" srcId="{D491EE96-2EC6-48C6-9A18-F74CF116B88D}" destId="{396B32CA-3B85-4126-8588-1029DCBD75A8}" srcOrd="0" destOrd="0" presId="urn:microsoft.com/office/officeart/2008/layout/VerticalCurvedList"/>
    <dgm:cxn modelId="{FC7814F0-9754-43AF-8653-9F2D21121779}" type="presParOf" srcId="{814F220D-C885-4498-B50D-D0A33C94845E}" destId="{3CC50DF3-2111-480F-8C4C-CECC604CAA8B}" srcOrd="9" destOrd="0" presId="urn:microsoft.com/office/officeart/2008/layout/VerticalCurvedList"/>
    <dgm:cxn modelId="{1596B111-19FD-413C-88A3-05769B29EEE2}" type="presParOf" srcId="{814F220D-C885-4498-B50D-D0A33C94845E}" destId="{A7D61CEF-37DF-4CB8-9E58-B113D64BA0EA}" srcOrd="10" destOrd="0" presId="urn:microsoft.com/office/officeart/2008/layout/VerticalCurvedList"/>
    <dgm:cxn modelId="{85D87865-A95C-4E12-B3A3-73A930B4C861}" type="presParOf" srcId="{A7D61CEF-37DF-4CB8-9E58-B113D64BA0EA}" destId="{5E67C093-302F-447C-A291-323EEF65A256}" srcOrd="0" destOrd="0" presId="urn:microsoft.com/office/officeart/2008/layout/VerticalCurvedList"/>
    <dgm:cxn modelId="{7CE6C3C8-0C04-48C1-BA5D-BEFD374192E9}" type="presParOf" srcId="{814F220D-C885-4498-B50D-D0A33C94845E}" destId="{FF456D0A-E4B8-48F5-86BD-7F17EC80CAFE}" srcOrd="11" destOrd="0" presId="urn:microsoft.com/office/officeart/2008/layout/VerticalCurvedList"/>
    <dgm:cxn modelId="{3285A812-19C9-4FB1-B6CF-0CA12E733953}" type="presParOf" srcId="{814F220D-C885-4498-B50D-D0A33C94845E}" destId="{039AF727-72E5-4337-9A9D-FFA1933F9CE7}" srcOrd="12" destOrd="0" presId="urn:microsoft.com/office/officeart/2008/layout/VerticalCurvedList"/>
    <dgm:cxn modelId="{42F4907C-9493-498B-8611-6E3471BAF837}" type="presParOf" srcId="{039AF727-72E5-4337-9A9D-FFA1933F9CE7}" destId="{93621E5B-A62A-4DC9-B17A-7D6B970ED096}" srcOrd="0" destOrd="0" presId="urn:microsoft.com/office/officeart/2008/layout/VerticalCurved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1346B204-0006-4035-8CF2-67A813A24069}" type="doc">
      <dgm:prSet loTypeId="urn:microsoft.com/office/officeart/2005/8/layout/chevron2" loCatId="list" qsTypeId="urn:microsoft.com/office/officeart/2005/8/quickstyle/simple1" qsCatId="simple" csTypeId="urn:microsoft.com/office/officeart/2005/8/colors/accent1_2" csCatId="accent1" phldr="1"/>
      <dgm:spPr/>
      <dgm:t>
        <a:bodyPr/>
        <a:lstStyle/>
        <a:p>
          <a:endParaRPr lang="en-GB"/>
        </a:p>
      </dgm:t>
    </dgm:pt>
    <dgm:pt modelId="{296D7D4B-1890-4F9D-BFDF-5AF9E9EA787C}">
      <dgm:prSet phldrT="[Text]" phldr="0"/>
      <dgm:spPr>
        <a:solidFill>
          <a:srgbClr val="669900"/>
        </a:solidFill>
        <a:ln>
          <a:solidFill>
            <a:srgbClr val="92D050"/>
          </a:solidFill>
        </a:ln>
      </dgm:spPr>
      <dgm:t>
        <a:bodyPr/>
        <a:lstStyle/>
        <a:p>
          <a:r>
            <a:rPr lang="en-GB">
              <a:solidFill>
                <a:schemeClr val="bg1"/>
              </a:solidFill>
            </a:rPr>
            <a:t>Informal Review</a:t>
          </a:r>
        </a:p>
      </dgm:t>
    </dgm:pt>
    <dgm:pt modelId="{3F1EF3EE-BED7-44D6-AF46-3A76A19DBFB1}" type="parTrans" cxnId="{649CFFCB-935C-492C-B6A1-E4C7AE2D1B26}">
      <dgm:prSet/>
      <dgm:spPr/>
      <dgm:t>
        <a:bodyPr/>
        <a:lstStyle/>
        <a:p>
          <a:endParaRPr lang="en-GB"/>
        </a:p>
      </dgm:t>
    </dgm:pt>
    <dgm:pt modelId="{1925F98D-C119-47B3-8BCC-D73C9495EC30}" type="sibTrans" cxnId="{649CFFCB-935C-492C-B6A1-E4C7AE2D1B26}">
      <dgm:prSet/>
      <dgm:spPr/>
      <dgm:t>
        <a:bodyPr/>
        <a:lstStyle/>
        <a:p>
          <a:endParaRPr lang="en-GB"/>
        </a:p>
      </dgm:t>
    </dgm:pt>
    <dgm:pt modelId="{2697052D-3A4A-47ED-BE72-35BFD2FB2F9B}">
      <dgm:prSet phldrT="[Text]" custT="1"/>
      <dgm:spPr/>
      <dgm:t>
        <a:bodyPr/>
        <a:lstStyle/>
        <a:p>
          <a:pPr>
            <a:buFont typeface="Arial" panose="020B0604020202020204" pitchFamily="34" charset="0"/>
            <a:buChar char="•"/>
          </a:pPr>
          <a:r>
            <a:rPr lang="en-GB" sz="1200"/>
            <a:t>If a person thinks that we have an incorrect income, outgoings, savings or expenses, such as Disability Related Expenses, they can ask Adult Care Financial Services (ACFS) to check the assessment.</a:t>
          </a:r>
        </a:p>
      </dgm:t>
    </dgm:pt>
    <dgm:pt modelId="{FD34DA91-59FE-4026-8FA3-88168C8533BF}" type="parTrans" cxnId="{524688CC-E22B-41DD-9E8C-6E3A6CD9C281}">
      <dgm:prSet/>
      <dgm:spPr/>
      <dgm:t>
        <a:bodyPr/>
        <a:lstStyle/>
        <a:p>
          <a:endParaRPr lang="en-GB"/>
        </a:p>
      </dgm:t>
    </dgm:pt>
    <dgm:pt modelId="{45F332A2-59EA-4EB6-8D68-67D3D5486511}" type="sibTrans" cxnId="{524688CC-E22B-41DD-9E8C-6E3A6CD9C281}">
      <dgm:prSet/>
      <dgm:spPr/>
      <dgm:t>
        <a:bodyPr/>
        <a:lstStyle/>
        <a:p>
          <a:endParaRPr lang="en-GB"/>
        </a:p>
      </dgm:t>
    </dgm:pt>
    <dgm:pt modelId="{8C3F7346-D5C9-456F-A93D-BA970ED564FC}">
      <dgm:prSet phldrT="[Text]" phldr="0"/>
      <dgm:spPr>
        <a:solidFill>
          <a:schemeClr val="accent6">
            <a:lumMod val="40000"/>
            <a:lumOff val="60000"/>
          </a:schemeClr>
        </a:solidFill>
      </dgm:spPr>
      <dgm:t>
        <a:bodyPr/>
        <a:lstStyle/>
        <a:p>
          <a:r>
            <a:rPr lang="en-GB"/>
            <a:t>Formal Review</a:t>
          </a:r>
        </a:p>
      </dgm:t>
    </dgm:pt>
    <dgm:pt modelId="{DE4867C7-2B51-4407-9C29-D1FC8E84DC0F}" type="parTrans" cxnId="{B6AAF3E1-B240-4957-A154-05510925E310}">
      <dgm:prSet/>
      <dgm:spPr/>
      <dgm:t>
        <a:bodyPr/>
        <a:lstStyle/>
        <a:p>
          <a:endParaRPr lang="en-GB"/>
        </a:p>
      </dgm:t>
    </dgm:pt>
    <dgm:pt modelId="{867BCC00-9AE7-46E6-B01C-EB05A6E89C95}" type="sibTrans" cxnId="{B6AAF3E1-B240-4957-A154-05510925E310}">
      <dgm:prSet/>
      <dgm:spPr/>
      <dgm:t>
        <a:bodyPr/>
        <a:lstStyle/>
        <a:p>
          <a:endParaRPr lang="en-GB"/>
        </a:p>
      </dgm:t>
    </dgm:pt>
    <dgm:pt modelId="{0021E936-D171-4E22-AEEE-826B251942EC}">
      <dgm:prSet phldrT="[Text]" custT="1"/>
      <dgm:spPr/>
      <dgm:t>
        <a:bodyPr/>
        <a:lstStyle/>
        <a:p>
          <a:pPr>
            <a:buFont typeface="Arial" panose="020B0604020202020204" pitchFamily="34" charset="0"/>
            <a:buChar char="•"/>
          </a:pPr>
          <a:r>
            <a:rPr lang="en-GB" sz="1200"/>
            <a:t>If a person still doesn’t agree with the amount they are required to pay, they can go to the formal stage. </a:t>
          </a:r>
        </a:p>
      </dgm:t>
    </dgm:pt>
    <dgm:pt modelId="{B2511CD1-3B18-4C18-B8C3-0930E33DB9AD}" type="parTrans" cxnId="{A7A7F215-3B83-4A4F-B17D-831E82F6439A}">
      <dgm:prSet/>
      <dgm:spPr/>
      <dgm:t>
        <a:bodyPr/>
        <a:lstStyle/>
        <a:p>
          <a:endParaRPr lang="en-GB"/>
        </a:p>
      </dgm:t>
    </dgm:pt>
    <dgm:pt modelId="{0F36CAFC-6DE4-4A88-9D5A-936629BF53EF}" type="sibTrans" cxnId="{A7A7F215-3B83-4A4F-B17D-831E82F6439A}">
      <dgm:prSet/>
      <dgm:spPr/>
      <dgm:t>
        <a:bodyPr/>
        <a:lstStyle/>
        <a:p>
          <a:endParaRPr lang="en-GB"/>
        </a:p>
      </dgm:t>
    </dgm:pt>
    <dgm:pt modelId="{6E4F2EBF-ABF9-454F-821B-21E0090C02FF}">
      <dgm:prSet phldrT="[Text]" phldr="0"/>
      <dgm:spPr>
        <a:solidFill>
          <a:srgbClr val="0070C0"/>
        </a:solidFill>
      </dgm:spPr>
      <dgm:t>
        <a:bodyPr/>
        <a:lstStyle/>
        <a:p>
          <a:r>
            <a:rPr lang="en-GB"/>
            <a:t>Charging Review Panel</a:t>
          </a:r>
        </a:p>
      </dgm:t>
    </dgm:pt>
    <dgm:pt modelId="{3D11407C-13D0-4373-997A-31D1C7FFB5F5}" type="parTrans" cxnId="{4A9189D8-5B2B-422D-93C8-2114769F0516}">
      <dgm:prSet/>
      <dgm:spPr/>
      <dgm:t>
        <a:bodyPr/>
        <a:lstStyle/>
        <a:p>
          <a:endParaRPr lang="en-GB"/>
        </a:p>
      </dgm:t>
    </dgm:pt>
    <dgm:pt modelId="{87BD30DD-A228-40E9-92F3-5BDC32FA59A0}" type="sibTrans" cxnId="{4A9189D8-5B2B-422D-93C8-2114769F0516}">
      <dgm:prSet/>
      <dgm:spPr/>
      <dgm:t>
        <a:bodyPr/>
        <a:lstStyle/>
        <a:p>
          <a:endParaRPr lang="en-GB"/>
        </a:p>
      </dgm:t>
    </dgm:pt>
    <dgm:pt modelId="{D77BBBA6-61C9-4EC5-8972-F39A8951CF82}">
      <dgm:prSet phldrT="[Text]" custT="1"/>
      <dgm:spPr/>
      <dgm:t>
        <a:bodyPr/>
        <a:lstStyle/>
        <a:p>
          <a:pPr>
            <a:buFont typeface="Arial" panose="020B0604020202020204" pitchFamily="34" charset="0"/>
            <a:buChar char="•"/>
          </a:pPr>
          <a:r>
            <a:rPr lang="en-GB" sz="1200"/>
            <a:t>The panel will comprise of ACFS Team Manager, ACFS Practice Lead, and a social care professional. </a:t>
          </a:r>
        </a:p>
      </dgm:t>
    </dgm:pt>
    <dgm:pt modelId="{02EC082E-065C-4230-8A07-432C35D7E5EB}" type="parTrans" cxnId="{0FD38435-60DE-4667-9849-96FF09A8D404}">
      <dgm:prSet/>
      <dgm:spPr/>
      <dgm:t>
        <a:bodyPr/>
        <a:lstStyle/>
        <a:p>
          <a:endParaRPr lang="en-GB"/>
        </a:p>
      </dgm:t>
    </dgm:pt>
    <dgm:pt modelId="{559771E0-487C-4BFB-B160-0E33C4EE9CDC}" type="sibTrans" cxnId="{0FD38435-60DE-4667-9849-96FF09A8D404}">
      <dgm:prSet/>
      <dgm:spPr/>
      <dgm:t>
        <a:bodyPr/>
        <a:lstStyle/>
        <a:p>
          <a:endParaRPr lang="en-GB"/>
        </a:p>
      </dgm:t>
    </dgm:pt>
    <dgm:pt modelId="{F21062C5-7D59-4F02-A21C-1D17A571DEC1}">
      <dgm:prSet phldrT="[Text]" custT="1"/>
      <dgm:spPr/>
      <dgm:t>
        <a:bodyPr/>
        <a:lstStyle/>
        <a:p>
          <a:pPr>
            <a:buFont typeface="Arial" panose="020B0604020202020204" pitchFamily="34" charset="0"/>
            <a:buChar char="•"/>
          </a:pPr>
          <a:r>
            <a:rPr lang="en-GB" sz="1200"/>
            <a:t>Decisions on inclusion of a property, deprivation of income or savings and investments, will go straight to this stage. </a:t>
          </a:r>
        </a:p>
      </dgm:t>
    </dgm:pt>
    <dgm:pt modelId="{A04BCE2C-326A-48D7-B4DC-94F420EC371B}" type="parTrans" cxnId="{B4B7CCF7-6C79-40ED-B9C5-5F52C812AD41}">
      <dgm:prSet/>
      <dgm:spPr/>
      <dgm:t>
        <a:bodyPr/>
        <a:lstStyle/>
        <a:p>
          <a:endParaRPr lang="en-GB"/>
        </a:p>
      </dgm:t>
    </dgm:pt>
    <dgm:pt modelId="{3D06C68D-11D0-4249-9B4F-0CFA53CF3D24}" type="sibTrans" cxnId="{B4B7CCF7-6C79-40ED-B9C5-5F52C812AD41}">
      <dgm:prSet/>
      <dgm:spPr/>
      <dgm:t>
        <a:bodyPr/>
        <a:lstStyle/>
        <a:p>
          <a:endParaRPr lang="en-GB"/>
        </a:p>
      </dgm:t>
    </dgm:pt>
    <dgm:pt modelId="{A2D5A04E-6451-43D2-A625-AD8EA6A7B439}">
      <dgm:prSet phldrT="[Text]" custT="1"/>
      <dgm:spPr/>
      <dgm:t>
        <a:bodyPr/>
        <a:lstStyle/>
        <a:p>
          <a:pPr>
            <a:buFont typeface="Arial" panose="020B0604020202020204" pitchFamily="34" charset="0"/>
            <a:buChar char="•"/>
          </a:pPr>
          <a:r>
            <a:rPr lang="en-GB" sz="1200"/>
            <a:t>The financial assessment will be reviewed by at least one Senior Officer within ACFS.</a:t>
          </a:r>
        </a:p>
      </dgm:t>
    </dgm:pt>
    <dgm:pt modelId="{48EE4C50-729C-45CC-8739-EA30F6D6D901}" type="parTrans" cxnId="{429A19B9-6163-4122-AE84-C12235B57904}">
      <dgm:prSet/>
      <dgm:spPr/>
      <dgm:t>
        <a:bodyPr/>
        <a:lstStyle/>
        <a:p>
          <a:endParaRPr lang="en-GB"/>
        </a:p>
      </dgm:t>
    </dgm:pt>
    <dgm:pt modelId="{BF81DC91-051C-4B65-A73F-8680C85EC7D2}" type="sibTrans" cxnId="{429A19B9-6163-4122-AE84-C12235B57904}">
      <dgm:prSet/>
      <dgm:spPr/>
      <dgm:t>
        <a:bodyPr/>
        <a:lstStyle/>
        <a:p>
          <a:endParaRPr lang="en-GB"/>
        </a:p>
      </dgm:t>
    </dgm:pt>
    <dgm:pt modelId="{39258925-4F44-4812-A99F-7CC896FE253C}">
      <dgm:prSet phldrT="[Text]" custT="1"/>
      <dgm:spPr/>
      <dgm:t>
        <a:bodyPr/>
        <a:lstStyle/>
        <a:p>
          <a:pPr>
            <a:buFont typeface="Arial" panose="020B0604020202020204" pitchFamily="34" charset="0"/>
            <a:buChar char="•"/>
          </a:pPr>
          <a:r>
            <a:rPr lang="en-GB" sz="1200"/>
            <a:t>The panel will assess, Financial hardship and existing debts, Social care needs and wellbeing, whether all eligible allowances were considered, additional costs, including Disability Related Expenditure (DRE), any other relevant personal circumstances.</a:t>
          </a:r>
        </a:p>
      </dgm:t>
    </dgm:pt>
    <dgm:pt modelId="{345905F2-FD87-4C62-8148-3620881DD379}" type="parTrans" cxnId="{D83C6BDB-53DA-495B-9913-858C53BF0EA8}">
      <dgm:prSet/>
      <dgm:spPr/>
      <dgm:t>
        <a:bodyPr/>
        <a:lstStyle/>
        <a:p>
          <a:endParaRPr lang="en-GB"/>
        </a:p>
      </dgm:t>
    </dgm:pt>
    <dgm:pt modelId="{68EF4EDB-A170-4745-955E-19331EB488EB}" type="sibTrans" cxnId="{D83C6BDB-53DA-495B-9913-858C53BF0EA8}">
      <dgm:prSet/>
      <dgm:spPr/>
      <dgm:t>
        <a:bodyPr/>
        <a:lstStyle/>
        <a:p>
          <a:endParaRPr lang="en-GB"/>
        </a:p>
      </dgm:t>
    </dgm:pt>
    <dgm:pt modelId="{BFA59C32-5FCC-4A09-A052-64DC82B5D42F}" type="pres">
      <dgm:prSet presAssocID="{1346B204-0006-4035-8CF2-67A813A24069}" presName="linearFlow" presStyleCnt="0">
        <dgm:presLayoutVars>
          <dgm:dir/>
          <dgm:animLvl val="lvl"/>
          <dgm:resizeHandles val="exact"/>
        </dgm:presLayoutVars>
      </dgm:prSet>
      <dgm:spPr/>
    </dgm:pt>
    <dgm:pt modelId="{09D73883-2722-456A-8A2A-E4FC605B8192}" type="pres">
      <dgm:prSet presAssocID="{296D7D4B-1890-4F9D-BFDF-5AF9E9EA787C}" presName="composite" presStyleCnt="0"/>
      <dgm:spPr/>
    </dgm:pt>
    <dgm:pt modelId="{FC7B106E-A420-43C1-B650-29A38324FC6F}" type="pres">
      <dgm:prSet presAssocID="{296D7D4B-1890-4F9D-BFDF-5AF9E9EA787C}" presName="parentText" presStyleLbl="alignNode1" presStyleIdx="0" presStyleCnt="3">
        <dgm:presLayoutVars>
          <dgm:chMax val="1"/>
          <dgm:bulletEnabled val="1"/>
        </dgm:presLayoutVars>
      </dgm:prSet>
      <dgm:spPr/>
    </dgm:pt>
    <dgm:pt modelId="{371058EF-BFE2-407B-A05E-79C270717B35}" type="pres">
      <dgm:prSet presAssocID="{296D7D4B-1890-4F9D-BFDF-5AF9E9EA787C}" presName="descendantText" presStyleLbl="alignAcc1" presStyleIdx="0" presStyleCnt="3" custLinFactNeighborX="0" custLinFactNeighborY="-10788">
        <dgm:presLayoutVars>
          <dgm:bulletEnabled val="1"/>
        </dgm:presLayoutVars>
      </dgm:prSet>
      <dgm:spPr/>
    </dgm:pt>
    <dgm:pt modelId="{26984548-B166-4D55-BA78-A27E6898EEEC}" type="pres">
      <dgm:prSet presAssocID="{1925F98D-C119-47B3-8BCC-D73C9495EC30}" presName="sp" presStyleCnt="0"/>
      <dgm:spPr/>
    </dgm:pt>
    <dgm:pt modelId="{330CE8ED-2A5D-48C9-B36F-F459B109FA65}" type="pres">
      <dgm:prSet presAssocID="{8C3F7346-D5C9-456F-A93D-BA970ED564FC}" presName="composite" presStyleCnt="0"/>
      <dgm:spPr/>
    </dgm:pt>
    <dgm:pt modelId="{C0D2826B-CC67-4CA0-803C-6568DC842E54}" type="pres">
      <dgm:prSet presAssocID="{8C3F7346-D5C9-456F-A93D-BA970ED564FC}" presName="parentText" presStyleLbl="alignNode1" presStyleIdx="1" presStyleCnt="3">
        <dgm:presLayoutVars>
          <dgm:chMax val="1"/>
          <dgm:bulletEnabled val="1"/>
        </dgm:presLayoutVars>
      </dgm:prSet>
      <dgm:spPr/>
    </dgm:pt>
    <dgm:pt modelId="{DECAF9DC-E393-4BF3-8854-6D5C4103A264}" type="pres">
      <dgm:prSet presAssocID="{8C3F7346-D5C9-456F-A93D-BA970ED564FC}" presName="descendantText" presStyleLbl="alignAcc1" presStyleIdx="1" presStyleCnt="3">
        <dgm:presLayoutVars>
          <dgm:bulletEnabled val="1"/>
        </dgm:presLayoutVars>
      </dgm:prSet>
      <dgm:spPr/>
    </dgm:pt>
    <dgm:pt modelId="{1A74C791-A5E1-4A38-819C-2CF1B03DD94D}" type="pres">
      <dgm:prSet presAssocID="{867BCC00-9AE7-46E6-B01C-EB05A6E89C95}" presName="sp" presStyleCnt="0"/>
      <dgm:spPr/>
    </dgm:pt>
    <dgm:pt modelId="{53F12BCE-C71F-488B-ABB5-1C8A6229F91A}" type="pres">
      <dgm:prSet presAssocID="{6E4F2EBF-ABF9-454F-821B-21E0090C02FF}" presName="composite" presStyleCnt="0"/>
      <dgm:spPr/>
    </dgm:pt>
    <dgm:pt modelId="{3735CBD7-E2BE-474C-B1A8-0C01BC5A6CA7}" type="pres">
      <dgm:prSet presAssocID="{6E4F2EBF-ABF9-454F-821B-21E0090C02FF}" presName="parentText" presStyleLbl="alignNode1" presStyleIdx="2" presStyleCnt="3">
        <dgm:presLayoutVars>
          <dgm:chMax val="1"/>
          <dgm:bulletEnabled val="1"/>
        </dgm:presLayoutVars>
      </dgm:prSet>
      <dgm:spPr/>
    </dgm:pt>
    <dgm:pt modelId="{5A953DDA-50DD-43CC-8AFA-12E8DF4DA74A}" type="pres">
      <dgm:prSet presAssocID="{6E4F2EBF-ABF9-454F-821B-21E0090C02FF}" presName="descendantText" presStyleLbl="alignAcc1" presStyleIdx="2" presStyleCnt="3">
        <dgm:presLayoutVars>
          <dgm:bulletEnabled val="1"/>
        </dgm:presLayoutVars>
      </dgm:prSet>
      <dgm:spPr/>
    </dgm:pt>
  </dgm:ptLst>
  <dgm:cxnLst>
    <dgm:cxn modelId="{C5206007-E5CB-4F14-B5F0-B69D59E0954C}" type="presOf" srcId="{2697052D-3A4A-47ED-BE72-35BFD2FB2F9B}" destId="{371058EF-BFE2-407B-A05E-79C270717B35}" srcOrd="0" destOrd="0" presId="urn:microsoft.com/office/officeart/2005/8/layout/chevron2"/>
    <dgm:cxn modelId="{272B9D0F-6B7A-4EB6-97F0-43289FD51A8A}" type="presOf" srcId="{A2D5A04E-6451-43D2-A625-AD8EA6A7B439}" destId="{DECAF9DC-E393-4BF3-8854-6D5C4103A264}" srcOrd="0" destOrd="2" presId="urn:microsoft.com/office/officeart/2005/8/layout/chevron2"/>
    <dgm:cxn modelId="{A7A7F215-3B83-4A4F-B17D-831E82F6439A}" srcId="{8C3F7346-D5C9-456F-A93D-BA970ED564FC}" destId="{0021E936-D171-4E22-AEEE-826B251942EC}" srcOrd="0" destOrd="0" parTransId="{B2511CD1-3B18-4C18-B8C3-0930E33DB9AD}" sibTransId="{0F36CAFC-6DE4-4A88-9D5A-936629BF53EF}"/>
    <dgm:cxn modelId="{0FD38435-60DE-4667-9849-96FF09A8D404}" srcId="{6E4F2EBF-ABF9-454F-821B-21E0090C02FF}" destId="{D77BBBA6-61C9-4EC5-8972-F39A8951CF82}" srcOrd="0" destOrd="0" parTransId="{02EC082E-065C-4230-8A07-432C35D7E5EB}" sibTransId="{559771E0-487C-4BFB-B160-0E33C4EE9CDC}"/>
    <dgm:cxn modelId="{84F3D37B-10FA-437F-BCD0-7D1F534BF5A2}" type="presOf" srcId="{1346B204-0006-4035-8CF2-67A813A24069}" destId="{BFA59C32-5FCC-4A09-A052-64DC82B5D42F}" srcOrd="0" destOrd="0" presId="urn:microsoft.com/office/officeart/2005/8/layout/chevron2"/>
    <dgm:cxn modelId="{2A5E0F85-BE28-4131-912B-47483AEA048C}" type="presOf" srcId="{0021E936-D171-4E22-AEEE-826B251942EC}" destId="{DECAF9DC-E393-4BF3-8854-6D5C4103A264}" srcOrd="0" destOrd="0" presId="urn:microsoft.com/office/officeart/2005/8/layout/chevron2"/>
    <dgm:cxn modelId="{90E05688-F890-4B32-9D33-B37558B356FC}" type="presOf" srcId="{296D7D4B-1890-4F9D-BFDF-5AF9E9EA787C}" destId="{FC7B106E-A420-43C1-B650-29A38324FC6F}" srcOrd="0" destOrd="0" presId="urn:microsoft.com/office/officeart/2005/8/layout/chevron2"/>
    <dgm:cxn modelId="{CC3A54A0-F7AE-4916-9D80-A24DB4B55D79}" type="presOf" srcId="{F21062C5-7D59-4F02-A21C-1D17A571DEC1}" destId="{DECAF9DC-E393-4BF3-8854-6D5C4103A264}" srcOrd="0" destOrd="1" presId="urn:microsoft.com/office/officeart/2005/8/layout/chevron2"/>
    <dgm:cxn modelId="{429A19B9-6163-4122-AE84-C12235B57904}" srcId="{8C3F7346-D5C9-456F-A93D-BA970ED564FC}" destId="{A2D5A04E-6451-43D2-A625-AD8EA6A7B439}" srcOrd="2" destOrd="0" parTransId="{48EE4C50-729C-45CC-8739-EA30F6D6D901}" sibTransId="{BF81DC91-051C-4B65-A73F-8680C85EC7D2}"/>
    <dgm:cxn modelId="{3D7C42C8-8D8A-443D-B6E8-C17B8D61794B}" type="presOf" srcId="{8C3F7346-D5C9-456F-A93D-BA970ED564FC}" destId="{C0D2826B-CC67-4CA0-803C-6568DC842E54}" srcOrd="0" destOrd="0" presId="urn:microsoft.com/office/officeart/2005/8/layout/chevron2"/>
    <dgm:cxn modelId="{649CFFCB-935C-492C-B6A1-E4C7AE2D1B26}" srcId="{1346B204-0006-4035-8CF2-67A813A24069}" destId="{296D7D4B-1890-4F9D-BFDF-5AF9E9EA787C}" srcOrd="0" destOrd="0" parTransId="{3F1EF3EE-BED7-44D6-AF46-3A76A19DBFB1}" sibTransId="{1925F98D-C119-47B3-8BCC-D73C9495EC30}"/>
    <dgm:cxn modelId="{524688CC-E22B-41DD-9E8C-6E3A6CD9C281}" srcId="{296D7D4B-1890-4F9D-BFDF-5AF9E9EA787C}" destId="{2697052D-3A4A-47ED-BE72-35BFD2FB2F9B}" srcOrd="0" destOrd="0" parTransId="{FD34DA91-59FE-4026-8FA3-88168C8533BF}" sibTransId="{45F332A2-59EA-4EB6-8D68-67D3D5486511}"/>
    <dgm:cxn modelId="{C965E7CD-7C9C-4047-9E35-66AC7BF5E881}" type="presOf" srcId="{39258925-4F44-4812-A99F-7CC896FE253C}" destId="{5A953DDA-50DD-43CC-8AFA-12E8DF4DA74A}" srcOrd="0" destOrd="1" presId="urn:microsoft.com/office/officeart/2005/8/layout/chevron2"/>
    <dgm:cxn modelId="{4A9189D8-5B2B-422D-93C8-2114769F0516}" srcId="{1346B204-0006-4035-8CF2-67A813A24069}" destId="{6E4F2EBF-ABF9-454F-821B-21E0090C02FF}" srcOrd="2" destOrd="0" parTransId="{3D11407C-13D0-4373-997A-31D1C7FFB5F5}" sibTransId="{87BD30DD-A228-40E9-92F3-5BDC32FA59A0}"/>
    <dgm:cxn modelId="{D83C6BDB-53DA-495B-9913-858C53BF0EA8}" srcId="{6E4F2EBF-ABF9-454F-821B-21E0090C02FF}" destId="{39258925-4F44-4812-A99F-7CC896FE253C}" srcOrd="1" destOrd="0" parTransId="{345905F2-FD87-4C62-8148-3620881DD379}" sibTransId="{68EF4EDB-A170-4745-955E-19331EB488EB}"/>
    <dgm:cxn modelId="{B6AAF3E1-B240-4957-A154-05510925E310}" srcId="{1346B204-0006-4035-8CF2-67A813A24069}" destId="{8C3F7346-D5C9-456F-A93D-BA970ED564FC}" srcOrd="1" destOrd="0" parTransId="{DE4867C7-2B51-4407-9C29-D1FC8E84DC0F}" sibTransId="{867BCC00-9AE7-46E6-B01C-EB05A6E89C95}"/>
    <dgm:cxn modelId="{127524E4-62E2-4980-A990-4A6F3DDAA4FD}" type="presOf" srcId="{D77BBBA6-61C9-4EC5-8972-F39A8951CF82}" destId="{5A953DDA-50DD-43CC-8AFA-12E8DF4DA74A}" srcOrd="0" destOrd="0" presId="urn:microsoft.com/office/officeart/2005/8/layout/chevron2"/>
    <dgm:cxn modelId="{B4B7CCF7-6C79-40ED-B9C5-5F52C812AD41}" srcId="{8C3F7346-D5C9-456F-A93D-BA970ED564FC}" destId="{F21062C5-7D59-4F02-A21C-1D17A571DEC1}" srcOrd="1" destOrd="0" parTransId="{A04BCE2C-326A-48D7-B4DC-94F420EC371B}" sibTransId="{3D06C68D-11D0-4249-9B4F-0CFA53CF3D24}"/>
    <dgm:cxn modelId="{6AB42CFD-AF1D-44F6-B257-3EF637237A2E}" type="presOf" srcId="{6E4F2EBF-ABF9-454F-821B-21E0090C02FF}" destId="{3735CBD7-E2BE-474C-B1A8-0C01BC5A6CA7}" srcOrd="0" destOrd="0" presId="urn:microsoft.com/office/officeart/2005/8/layout/chevron2"/>
    <dgm:cxn modelId="{DA2CB234-C83D-4759-8C06-674707A41402}" type="presParOf" srcId="{BFA59C32-5FCC-4A09-A052-64DC82B5D42F}" destId="{09D73883-2722-456A-8A2A-E4FC605B8192}" srcOrd="0" destOrd="0" presId="urn:microsoft.com/office/officeart/2005/8/layout/chevron2"/>
    <dgm:cxn modelId="{F2BBEEFE-12A7-47C8-8F35-36F94093F916}" type="presParOf" srcId="{09D73883-2722-456A-8A2A-E4FC605B8192}" destId="{FC7B106E-A420-43C1-B650-29A38324FC6F}" srcOrd="0" destOrd="0" presId="urn:microsoft.com/office/officeart/2005/8/layout/chevron2"/>
    <dgm:cxn modelId="{DB5BA1D4-2B75-43A0-B886-E1B13188A8AA}" type="presParOf" srcId="{09D73883-2722-456A-8A2A-E4FC605B8192}" destId="{371058EF-BFE2-407B-A05E-79C270717B35}" srcOrd="1" destOrd="0" presId="urn:microsoft.com/office/officeart/2005/8/layout/chevron2"/>
    <dgm:cxn modelId="{0D0A7E52-9258-4483-8C56-77B2BFD4AA3D}" type="presParOf" srcId="{BFA59C32-5FCC-4A09-A052-64DC82B5D42F}" destId="{26984548-B166-4D55-BA78-A27E6898EEEC}" srcOrd="1" destOrd="0" presId="urn:microsoft.com/office/officeart/2005/8/layout/chevron2"/>
    <dgm:cxn modelId="{EB1DD891-AB05-474D-A41B-47103C402448}" type="presParOf" srcId="{BFA59C32-5FCC-4A09-A052-64DC82B5D42F}" destId="{330CE8ED-2A5D-48C9-B36F-F459B109FA65}" srcOrd="2" destOrd="0" presId="urn:microsoft.com/office/officeart/2005/8/layout/chevron2"/>
    <dgm:cxn modelId="{1581DAA9-A711-48F9-8749-64A7A703F7F3}" type="presParOf" srcId="{330CE8ED-2A5D-48C9-B36F-F459B109FA65}" destId="{C0D2826B-CC67-4CA0-803C-6568DC842E54}" srcOrd="0" destOrd="0" presId="urn:microsoft.com/office/officeart/2005/8/layout/chevron2"/>
    <dgm:cxn modelId="{AB9DE0B1-774A-49B1-9E4D-81F4C500D004}" type="presParOf" srcId="{330CE8ED-2A5D-48C9-B36F-F459B109FA65}" destId="{DECAF9DC-E393-4BF3-8854-6D5C4103A264}" srcOrd="1" destOrd="0" presId="urn:microsoft.com/office/officeart/2005/8/layout/chevron2"/>
    <dgm:cxn modelId="{1541BEDA-079F-4FFB-8346-00242033E9A2}" type="presParOf" srcId="{BFA59C32-5FCC-4A09-A052-64DC82B5D42F}" destId="{1A74C791-A5E1-4A38-819C-2CF1B03DD94D}" srcOrd="3" destOrd="0" presId="urn:microsoft.com/office/officeart/2005/8/layout/chevron2"/>
    <dgm:cxn modelId="{813F48E3-355F-472F-81BF-1B01B5193773}" type="presParOf" srcId="{BFA59C32-5FCC-4A09-A052-64DC82B5D42F}" destId="{53F12BCE-C71F-488B-ABB5-1C8A6229F91A}" srcOrd="4" destOrd="0" presId="urn:microsoft.com/office/officeart/2005/8/layout/chevron2"/>
    <dgm:cxn modelId="{35E7C22F-5989-4D84-9746-D79333940AAE}" type="presParOf" srcId="{53F12BCE-C71F-488B-ABB5-1C8A6229F91A}" destId="{3735CBD7-E2BE-474C-B1A8-0C01BC5A6CA7}" srcOrd="0" destOrd="0" presId="urn:microsoft.com/office/officeart/2005/8/layout/chevron2"/>
    <dgm:cxn modelId="{DAF9FC66-DF74-4D71-97D7-6B81FD125C8A}" type="presParOf" srcId="{53F12BCE-C71F-488B-ABB5-1C8A6229F91A}" destId="{5A953DDA-50DD-43CC-8AFA-12E8DF4DA74A}" srcOrd="1" destOrd="0" presId="urn:microsoft.com/office/officeart/2005/8/layout/chevron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F90DB201-5074-469B-AC72-B67C936EDC22}" type="doc">
      <dgm:prSet loTypeId="urn:microsoft.com/office/officeart/2005/8/layout/process1" loCatId="process" qsTypeId="urn:microsoft.com/office/officeart/2005/8/quickstyle/simple1" qsCatId="simple" csTypeId="urn:microsoft.com/office/officeart/2005/8/colors/accent1_2" csCatId="accent1" phldr="1"/>
      <dgm:spPr/>
      <dgm:t>
        <a:bodyPr/>
        <a:lstStyle/>
        <a:p>
          <a:endParaRPr lang="en-GB"/>
        </a:p>
      </dgm:t>
    </dgm:pt>
    <dgm:pt modelId="{2392402E-1A26-4A15-946D-E3D2183BCF44}">
      <dgm:prSet phldrT="[Text]" phldr="0" custT="1"/>
      <dgm:spPr>
        <a:solidFill>
          <a:schemeClr val="accent3">
            <a:lumMod val="85000"/>
          </a:schemeClr>
        </a:solidFill>
      </dgm:spPr>
      <dgm:t>
        <a:bodyPr/>
        <a:lstStyle/>
        <a:p>
          <a:r>
            <a:rPr lang="en-GB" sz="1100">
              <a:solidFill>
                <a:schemeClr val="tx1"/>
              </a:solidFill>
            </a:rPr>
            <a:t>Complete Waiver Form in Mosaic</a:t>
          </a:r>
        </a:p>
      </dgm:t>
    </dgm:pt>
    <dgm:pt modelId="{60126891-0668-4154-A93A-E87769EF1E29}" type="parTrans" cxnId="{E5B99249-2913-4269-A966-CEADD9802494}">
      <dgm:prSet/>
      <dgm:spPr/>
      <dgm:t>
        <a:bodyPr/>
        <a:lstStyle/>
        <a:p>
          <a:endParaRPr lang="en-GB"/>
        </a:p>
      </dgm:t>
    </dgm:pt>
    <dgm:pt modelId="{E28E5BD1-84BC-4B4E-BCD9-2DEAC57CD38C}" type="sibTrans" cxnId="{E5B99249-2913-4269-A966-CEADD9802494}">
      <dgm:prSet/>
      <dgm:spPr/>
      <dgm:t>
        <a:bodyPr/>
        <a:lstStyle/>
        <a:p>
          <a:endParaRPr lang="en-GB"/>
        </a:p>
      </dgm:t>
    </dgm:pt>
    <dgm:pt modelId="{4E74F19A-12FA-4042-8E93-7C41244E55F4}">
      <dgm:prSet phldrT="[Text]" phldr="0" custT="1"/>
      <dgm:spPr>
        <a:solidFill>
          <a:srgbClr val="CCE1BD"/>
        </a:solidFill>
        <a:ln>
          <a:solidFill>
            <a:schemeClr val="bg2">
              <a:lumMod val="20000"/>
              <a:lumOff val="80000"/>
            </a:schemeClr>
          </a:solidFill>
        </a:ln>
      </dgm:spPr>
      <dgm:t>
        <a:bodyPr/>
        <a:lstStyle/>
        <a:p>
          <a:r>
            <a:rPr lang="en-GB" sz="1100">
              <a:solidFill>
                <a:schemeClr val="tx1"/>
              </a:solidFill>
            </a:rPr>
            <a:t>Before sending for approval, ACFS check waiver amounts &amp; confirm.</a:t>
          </a:r>
        </a:p>
      </dgm:t>
    </dgm:pt>
    <dgm:pt modelId="{6F2E5294-62E4-4891-88BE-4E48F77F5793}" type="parTrans" cxnId="{02828ABA-9D10-447D-B081-F0DA665E917A}">
      <dgm:prSet/>
      <dgm:spPr/>
      <dgm:t>
        <a:bodyPr/>
        <a:lstStyle/>
        <a:p>
          <a:endParaRPr lang="en-GB"/>
        </a:p>
      </dgm:t>
    </dgm:pt>
    <dgm:pt modelId="{9EDA439B-0525-40A4-A402-A77FBD03D1B3}" type="sibTrans" cxnId="{02828ABA-9D10-447D-B081-F0DA665E917A}">
      <dgm:prSet/>
      <dgm:spPr/>
      <dgm:t>
        <a:bodyPr/>
        <a:lstStyle/>
        <a:p>
          <a:endParaRPr lang="en-GB"/>
        </a:p>
      </dgm:t>
    </dgm:pt>
    <dgm:pt modelId="{B4216288-5569-4502-BAD8-A9E03CC9BEA9}">
      <dgm:prSet phldrT="[Text]" phldr="0" custT="1"/>
      <dgm:spPr>
        <a:solidFill>
          <a:schemeClr val="accent6">
            <a:lumMod val="20000"/>
            <a:lumOff val="80000"/>
          </a:schemeClr>
        </a:solidFill>
      </dgm:spPr>
      <dgm:t>
        <a:bodyPr/>
        <a:lstStyle/>
        <a:p>
          <a:r>
            <a:rPr lang="en-GB" sz="1100">
              <a:solidFill>
                <a:schemeClr val="tx1"/>
              </a:solidFill>
            </a:rPr>
            <a:t>Allocate the form, for approval, based on the total waiver amount</a:t>
          </a:r>
        </a:p>
      </dgm:t>
    </dgm:pt>
    <dgm:pt modelId="{748216CF-83BD-47CC-A097-AA063A564C0D}" type="parTrans" cxnId="{75C999A2-801C-4025-B335-703EDDDAE8D9}">
      <dgm:prSet/>
      <dgm:spPr/>
      <dgm:t>
        <a:bodyPr/>
        <a:lstStyle/>
        <a:p>
          <a:endParaRPr lang="en-GB"/>
        </a:p>
      </dgm:t>
    </dgm:pt>
    <dgm:pt modelId="{DEE6D617-AA42-4944-AE6A-6818596B1131}" type="sibTrans" cxnId="{75C999A2-801C-4025-B335-703EDDDAE8D9}">
      <dgm:prSet/>
      <dgm:spPr/>
      <dgm:t>
        <a:bodyPr/>
        <a:lstStyle/>
        <a:p>
          <a:endParaRPr lang="en-GB"/>
        </a:p>
      </dgm:t>
    </dgm:pt>
    <dgm:pt modelId="{8717A8D7-7BA8-4187-B00A-4D5E4C287F8D}">
      <dgm:prSet custT="1"/>
      <dgm:spPr>
        <a:solidFill>
          <a:srgbClr val="E7B7C0"/>
        </a:solidFill>
      </dgm:spPr>
      <dgm:t>
        <a:bodyPr/>
        <a:lstStyle/>
        <a:p>
          <a:r>
            <a:rPr lang="en-GB" sz="1100">
              <a:solidFill>
                <a:schemeClr val="tx1"/>
              </a:solidFill>
            </a:rPr>
            <a:t>Request reviewed and approved / denied</a:t>
          </a:r>
          <a:r>
            <a:rPr lang="en-GB" sz="1200">
              <a:solidFill>
                <a:schemeClr val="tx1"/>
              </a:solidFill>
            </a:rPr>
            <a:t>.</a:t>
          </a:r>
        </a:p>
        <a:p>
          <a:endParaRPr lang="en-GB" sz="1200">
            <a:solidFill>
              <a:schemeClr val="tx1"/>
            </a:solidFill>
          </a:endParaRPr>
        </a:p>
      </dgm:t>
    </dgm:pt>
    <dgm:pt modelId="{57477E76-1914-4C9A-9822-11D9CFFFC94A}" type="parTrans" cxnId="{E95D69F4-FC89-4E53-9480-0B9C80D310D5}">
      <dgm:prSet/>
      <dgm:spPr/>
      <dgm:t>
        <a:bodyPr/>
        <a:lstStyle/>
        <a:p>
          <a:endParaRPr lang="en-GB"/>
        </a:p>
      </dgm:t>
    </dgm:pt>
    <dgm:pt modelId="{458F6C51-033C-4EBC-97A4-1A096CE2E953}" type="sibTrans" cxnId="{E95D69F4-FC89-4E53-9480-0B9C80D310D5}">
      <dgm:prSet/>
      <dgm:spPr/>
      <dgm:t>
        <a:bodyPr/>
        <a:lstStyle/>
        <a:p>
          <a:endParaRPr lang="en-GB"/>
        </a:p>
      </dgm:t>
    </dgm:pt>
    <dgm:pt modelId="{39F71E14-B3CD-4FAD-BF2F-C8B1BC7C0DF6}">
      <dgm:prSet custT="1"/>
      <dgm:spPr/>
      <dgm:t>
        <a:bodyPr/>
        <a:lstStyle/>
        <a:p>
          <a:r>
            <a:rPr lang="en-GB" sz="1050">
              <a:solidFill>
                <a:schemeClr val="tx1"/>
              </a:solidFill>
            </a:rPr>
            <a:t>TM to review and add comments</a:t>
          </a:r>
        </a:p>
      </dgm:t>
    </dgm:pt>
    <dgm:pt modelId="{5C229C24-BCAF-4C1E-98C4-C5118313321C}" type="parTrans" cxnId="{109951F9-D1C5-45C3-8666-D039328C47E5}">
      <dgm:prSet/>
      <dgm:spPr/>
      <dgm:t>
        <a:bodyPr/>
        <a:lstStyle/>
        <a:p>
          <a:endParaRPr lang="en-GB"/>
        </a:p>
      </dgm:t>
    </dgm:pt>
    <dgm:pt modelId="{B1EAFE4C-575D-4DDD-B2E6-DB2907481159}" type="sibTrans" cxnId="{109951F9-D1C5-45C3-8666-D039328C47E5}">
      <dgm:prSet/>
      <dgm:spPr/>
      <dgm:t>
        <a:bodyPr/>
        <a:lstStyle/>
        <a:p>
          <a:endParaRPr lang="en-GB"/>
        </a:p>
      </dgm:t>
    </dgm:pt>
    <dgm:pt modelId="{112C4F53-2A9D-4175-8B0B-0D3728142433}" type="pres">
      <dgm:prSet presAssocID="{F90DB201-5074-469B-AC72-B67C936EDC22}" presName="Name0" presStyleCnt="0">
        <dgm:presLayoutVars>
          <dgm:dir/>
          <dgm:resizeHandles val="exact"/>
        </dgm:presLayoutVars>
      </dgm:prSet>
      <dgm:spPr/>
    </dgm:pt>
    <dgm:pt modelId="{25D0D972-92D1-4A16-82CD-C852D4AECC78}" type="pres">
      <dgm:prSet presAssocID="{2392402E-1A26-4A15-946D-E3D2183BCF44}" presName="node" presStyleLbl="node1" presStyleIdx="0" presStyleCnt="5">
        <dgm:presLayoutVars>
          <dgm:bulletEnabled val="1"/>
        </dgm:presLayoutVars>
      </dgm:prSet>
      <dgm:spPr/>
    </dgm:pt>
    <dgm:pt modelId="{8F529415-FF06-4DB7-9CCC-CD08319DC0B3}" type="pres">
      <dgm:prSet presAssocID="{E28E5BD1-84BC-4B4E-BCD9-2DEAC57CD38C}" presName="sibTrans" presStyleLbl="sibTrans2D1" presStyleIdx="0" presStyleCnt="4"/>
      <dgm:spPr/>
    </dgm:pt>
    <dgm:pt modelId="{94CFEF88-0D28-4082-9F5B-33FE1BFD2778}" type="pres">
      <dgm:prSet presAssocID="{E28E5BD1-84BC-4B4E-BCD9-2DEAC57CD38C}" presName="connectorText" presStyleLbl="sibTrans2D1" presStyleIdx="0" presStyleCnt="4"/>
      <dgm:spPr/>
    </dgm:pt>
    <dgm:pt modelId="{7FDE7CEA-19BD-4414-B327-1CC3A786BB4E}" type="pres">
      <dgm:prSet presAssocID="{39F71E14-B3CD-4FAD-BF2F-C8B1BC7C0DF6}" presName="node" presStyleLbl="node1" presStyleIdx="1" presStyleCnt="5" custLinFactNeighborY="-372">
        <dgm:presLayoutVars>
          <dgm:bulletEnabled val="1"/>
        </dgm:presLayoutVars>
      </dgm:prSet>
      <dgm:spPr/>
    </dgm:pt>
    <dgm:pt modelId="{4B7A97EB-0BF6-46AD-8ED3-0F16E5484D7D}" type="pres">
      <dgm:prSet presAssocID="{B1EAFE4C-575D-4DDD-B2E6-DB2907481159}" presName="sibTrans" presStyleLbl="sibTrans2D1" presStyleIdx="1" presStyleCnt="4"/>
      <dgm:spPr/>
    </dgm:pt>
    <dgm:pt modelId="{414DAF0A-E6F0-44D2-BADE-E3ECAC40B024}" type="pres">
      <dgm:prSet presAssocID="{B1EAFE4C-575D-4DDD-B2E6-DB2907481159}" presName="connectorText" presStyleLbl="sibTrans2D1" presStyleIdx="1" presStyleCnt="4"/>
      <dgm:spPr/>
    </dgm:pt>
    <dgm:pt modelId="{D69FEE97-9BDC-432E-8DA8-FB5F3F29F548}" type="pres">
      <dgm:prSet presAssocID="{4E74F19A-12FA-4042-8E93-7C41244E55F4}" presName="node" presStyleLbl="node1" presStyleIdx="2" presStyleCnt="5">
        <dgm:presLayoutVars>
          <dgm:bulletEnabled val="1"/>
        </dgm:presLayoutVars>
      </dgm:prSet>
      <dgm:spPr/>
    </dgm:pt>
    <dgm:pt modelId="{BC46AA00-A202-4913-A1BC-14C5DA981201}" type="pres">
      <dgm:prSet presAssocID="{9EDA439B-0525-40A4-A402-A77FBD03D1B3}" presName="sibTrans" presStyleLbl="sibTrans2D1" presStyleIdx="2" presStyleCnt="4"/>
      <dgm:spPr/>
    </dgm:pt>
    <dgm:pt modelId="{EA6CC68F-9021-4087-ABC9-2276A122E547}" type="pres">
      <dgm:prSet presAssocID="{9EDA439B-0525-40A4-A402-A77FBD03D1B3}" presName="connectorText" presStyleLbl="sibTrans2D1" presStyleIdx="2" presStyleCnt="4"/>
      <dgm:spPr/>
    </dgm:pt>
    <dgm:pt modelId="{53C77A10-5F8B-4DA0-976B-49FF814A7834}" type="pres">
      <dgm:prSet presAssocID="{B4216288-5569-4502-BAD8-A9E03CC9BEA9}" presName="node" presStyleLbl="node1" presStyleIdx="3" presStyleCnt="5">
        <dgm:presLayoutVars>
          <dgm:bulletEnabled val="1"/>
        </dgm:presLayoutVars>
      </dgm:prSet>
      <dgm:spPr/>
    </dgm:pt>
    <dgm:pt modelId="{412ABAAE-6DAD-4119-9BB4-DE304D44C8F9}" type="pres">
      <dgm:prSet presAssocID="{DEE6D617-AA42-4944-AE6A-6818596B1131}" presName="sibTrans" presStyleLbl="sibTrans2D1" presStyleIdx="3" presStyleCnt="4"/>
      <dgm:spPr/>
    </dgm:pt>
    <dgm:pt modelId="{15784FE8-F201-4A68-94F0-799E8C077973}" type="pres">
      <dgm:prSet presAssocID="{DEE6D617-AA42-4944-AE6A-6818596B1131}" presName="connectorText" presStyleLbl="sibTrans2D1" presStyleIdx="3" presStyleCnt="4"/>
      <dgm:spPr/>
    </dgm:pt>
    <dgm:pt modelId="{737EC5F3-671B-485E-A2D2-C02927354F05}" type="pres">
      <dgm:prSet presAssocID="{8717A8D7-7BA8-4187-B00A-4D5E4C287F8D}" presName="node" presStyleLbl="node1" presStyleIdx="4" presStyleCnt="5">
        <dgm:presLayoutVars>
          <dgm:bulletEnabled val="1"/>
        </dgm:presLayoutVars>
      </dgm:prSet>
      <dgm:spPr/>
    </dgm:pt>
  </dgm:ptLst>
  <dgm:cxnLst>
    <dgm:cxn modelId="{9C8C5C01-5DDC-436E-9348-852A89FB6E48}" type="presOf" srcId="{F90DB201-5074-469B-AC72-B67C936EDC22}" destId="{112C4F53-2A9D-4175-8B0B-0D3728142433}" srcOrd="0" destOrd="0" presId="urn:microsoft.com/office/officeart/2005/8/layout/process1"/>
    <dgm:cxn modelId="{B556C80E-996A-4F46-8DB9-37688B3F26B3}" type="presOf" srcId="{8717A8D7-7BA8-4187-B00A-4D5E4C287F8D}" destId="{737EC5F3-671B-485E-A2D2-C02927354F05}" srcOrd="0" destOrd="0" presId="urn:microsoft.com/office/officeart/2005/8/layout/process1"/>
    <dgm:cxn modelId="{0E3EA612-F66B-41AD-994F-C26C9C2CC2E9}" type="presOf" srcId="{B1EAFE4C-575D-4DDD-B2E6-DB2907481159}" destId="{414DAF0A-E6F0-44D2-BADE-E3ECAC40B024}" srcOrd="1" destOrd="0" presId="urn:microsoft.com/office/officeart/2005/8/layout/process1"/>
    <dgm:cxn modelId="{352AAA17-C704-4C64-99E2-409BBA9A7BEF}" type="presOf" srcId="{B4216288-5569-4502-BAD8-A9E03CC9BEA9}" destId="{53C77A10-5F8B-4DA0-976B-49FF814A7834}" srcOrd="0" destOrd="0" presId="urn:microsoft.com/office/officeart/2005/8/layout/process1"/>
    <dgm:cxn modelId="{65D24225-F030-40A5-AC51-90F6010672BC}" type="presOf" srcId="{E28E5BD1-84BC-4B4E-BCD9-2DEAC57CD38C}" destId="{8F529415-FF06-4DB7-9CCC-CD08319DC0B3}" srcOrd="0" destOrd="0" presId="urn:microsoft.com/office/officeart/2005/8/layout/process1"/>
    <dgm:cxn modelId="{5131A55B-0355-418E-A6BC-39E0848A9DF7}" type="presOf" srcId="{DEE6D617-AA42-4944-AE6A-6818596B1131}" destId="{15784FE8-F201-4A68-94F0-799E8C077973}" srcOrd="1" destOrd="0" presId="urn:microsoft.com/office/officeart/2005/8/layout/process1"/>
    <dgm:cxn modelId="{34A7CB5B-3068-4404-9A31-FFBC16C5912B}" type="presOf" srcId="{9EDA439B-0525-40A4-A402-A77FBD03D1B3}" destId="{BC46AA00-A202-4913-A1BC-14C5DA981201}" srcOrd="0" destOrd="0" presId="urn:microsoft.com/office/officeart/2005/8/layout/process1"/>
    <dgm:cxn modelId="{C0233D5E-155E-4CC7-8AFB-33EC1BAFDCF4}" type="presOf" srcId="{9EDA439B-0525-40A4-A402-A77FBD03D1B3}" destId="{EA6CC68F-9021-4087-ABC9-2276A122E547}" srcOrd="1" destOrd="0" presId="urn:microsoft.com/office/officeart/2005/8/layout/process1"/>
    <dgm:cxn modelId="{F62EA160-2D9D-4135-B63D-79ED230B2592}" type="presOf" srcId="{2392402E-1A26-4A15-946D-E3D2183BCF44}" destId="{25D0D972-92D1-4A16-82CD-C852D4AECC78}" srcOrd="0" destOrd="0" presId="urn:microsoft.com/office/officeart/2005/8/layout/process1"/>
    <dgm:cxn modelId="{FE973768-1A07-4714-9FEA-071BBC130DC9}" type="presOf" srcId="{DEE6D617-AA42-4944-AE6A-6818596B1131}" destId="{412ABAAE-6DAD-4119-9BB4-DE304D44C8F9}" srcOrd="0" destOrd="0" presId="urn:microsoft.com/office/officeart/2005/8/layout/process1"/>
    <dgm:cxn modelId="{E5B99249-2913-4269-A966-CEADD9802494}" srcId="{F90DB201-5074-469B-AC72-B67C936EDC22}" destId="{2392402E-1A26-4A15-946D-E3D2183BCF44}" srcOrd="0" destOrd="0" parTransId="{60126891-0668-4154-A93A-E87769EF1E29}" sibTransId="{E28E5BD1-84BC-4B4E-BCD9-2DEAC57CD38C}"/>
    <dgm:cxn modelId="{D5B62853-8AC0-49E3-98EB-687FB3B07033}" type="presOf" srcId="{E28E5BD1-84BC-4B4E-BCD9-2DEAC57CD38C}" destId="{94CFEF88-0D28-4082-9F5B-33FE1BFD2778}" srcOrd="1" destOrd="0" presId="urn:microsoft.com/office/officeart/2005/8/layout/process1"/>
    <dgm:cxn modelId="{9ECAA5A0-7709-41DD-8C87-027781797F83}" type="presOf" srcId="{39F71E14-B3CD-4FAD-BF2F-C8B1BC7C0DF6}" destId="{7FDE7CEA-19BD-4414-B327-1CC3A786BB4E}" srcOrd="0" destOrd="0" presId="urn:microsoft.com/office/officeart/2005/8/layout/process1"/>
    <dgm:cxn modelId="{75C999A2-801C-4025-B335-703EDDDAE8D9}" srcId="{F90DB201-5074-469B-AC72-B67C936EDC22}" destId="{B4216288-5569-4502-BAD8-A9E03CC9BEA9}" srcOrd="3" destOrd="0" parTransId="{748216CF-83BD-47CC-A097-AA063A564C0D}" sibTransId="{DEE6D617-AA42-4944-AE6A-6818596B1131}"/>
    <dgm:cxn modelId="{02828ABA-9D10-447D-B081-F0DA665E917A}" srcId="{F90DB201-5074-469B-AC72-B67C936EDC22}" destId="{4E74F19A-12FA-4042-8E93-7C41244E55F4}" srcOrd="2" destOrd="0" parTransId="{6F2E5294-62E4-4891-88BE-4E48F77F5793}" sibTransId="{9EDA439B-0525-40A4-A402-A77FBD03D1B3}"/>
    <dgm:cxn modelId="{DCBE0BBC-CD26-4167-8237-6406332D1DE1}" type="presOf" srcId="{B1EAFE4C-575D-4DDD-B2E6-DB2907481159}" destId="{4B7A97EB-0BF6-46AD-8ED3-0F16E5484D7D}" srcOrd="0" destOrd="0" presId="urn:microsoft.com/office/officeart/2005/8/layout/process1"/>
    <dgm:cxn modelId="{E95D69F4-FC89-4E53-9480-0B9C80D310D5}" srcId="{F90DB201-5074-469B-AC72-B67C936EDC22}" destId="{8717A8D7-7BA8-4187-B00A-4D5E4C287F8D}" srcOrd="4" destOrd="0" parTransId="{57477E76-1914-4C9A-9822-11D9CFFFC94A}" sibTransId="{458F6C51-033C-4EBC-97A4-1A096CE2E953}"/>
    <dgm:cxn modelId="{9F2B6CF8-A9A3-4C6A-A7E9-F2634B2458CC}" type="presOf" srcId="{4E74F19A-12FA-4042-8E93-7C41244E55F4}" destId="{D69FEE97-9BDC-432E-8DA8-FB5F3F29F548}" srcOrd="0" destOrd="0" presId="urn:microsoft.com/office/officeart/2005/8/layout/process1"/>
    <dgm:cxn modelId="{109951F9-D1C5-45C3-8666-D039328C47E5}" srcId="{F90DB201-5074-469B-AC72-B67C936EDC22}" destId="{39F71E14-B3CD-4FAD-BF2F-C8B1BC7C0DF6}" srcOrd="1" destOrd="0" parTransId="{5C229C24-BCAF-4C1E-98C4-C5118313321C}" sibTransId="{B1EAFE4C-575D-4DDD-B2E6-DB2907481159}"/>
    <dgm:cxn modelId="{02CBF875-FB7E-475D-86B9-1B7251DEC1DC}" type="presParOf" srcId="{112C4F53-2A9D-4175-8B0B-0D3728142433}" destId="{25D0D972-92D1-4A16-82CD-C852D4AECC78}" srcOrd="0" destOrd="0" presId="urn:microsoft.com/office/officeart/2005/8/layout/process1"/>
    <dgm:cxn modelId="{41CD8377-089D-466B-8D2D-8D548DDEACF4}" type="presParOf" srcId="{112C4F53-2A9D-4175-8B0B-0D3728142433}" destId="{8F529415-FF06-4DB7-9CCC-CD08319DC0B3}" srcOrd="1" destOrd="0" presId="urn:microsoft.com/office/officeart/2005/8/layout/process1"/>
    <dgm:cxn modelId="{B8EF3C7C-4300-4043-9AE5-BF97606B4558}" type="presParOf" srcId="{8F529415-FF06-4DB7-9CCC-CD08319DC0B3}" destId="{94CFEF88-0D28-4082-9F5B-33FE1BFD2778}" srcOrd="0" destOrd="0" presId="urn:microsoft.com/office/officeart/2005/8/layout/process1"/>
    <dgm:cxn modelId="{FDFD85CE-3A19-4750-B046-ACDDA0489DCE}" type="presParOf" srcId="{112C4F53-2A9D-4175-8B0B-0D3728142433}" destId="{7FDE7CEA-19BD-4414-B327-1CC3A786BB4E}" srcOrd="2" destOrd="0" presId="urn:microsoft.com/office/officeart/2005/8/layout/process1"/>
    <dgm:cxn modelId="{12656DF9-B519-4EC1-B9C4-8186763908E8}" type="presParOf" srcId="{112C4F53-2A9D-4175-8B0B-0D3728142433}" destId="{4B7A97EB-0BF6-46AD-8ED3-0F16E5484D7D}" srcOrd="3" destOrd="0" presId="urn:microsoft.com/office/officeart/2005/8/layout/process1"/>
    <dgm:cxn modelId="{9D7EFC3E-8357-4AFD-898B-ADC54F28D7B6}" type="presParOf" srcId="{4B7A97EB-0BF6-46AD-8ED3-0F16E5484D7D}" destId="{414DAF0A-E6F0-44D2-BADE-E3ECAC40B024}" srcOrd="0" destOrd="0" presId="urn:microsoft.com/office/officeart/2005/8/layout/process1"/>
    <dgm:cxn modelId="{AEB655F7-EE2D-4F9E-A58B-63E1AAF20C8B}" type="presParOf" srcId="{112C4F53-2A9D-4175-8B0B-0D3728142433}" destId="{D69FEE97-9BDC-432E-8DA8-FB5F3F29F548}" srcOrd="4" destOrd="0" presId="urn:microsoft.com/office/officeart/2005/8/layout/process1"/>
    <dgm:cxn modelId="{139CF816-DD9D-4DFD-9376-9B9CD3E6A991}" type="presParOf" srcId="{112C4F53-2A9D-4175-8B0B-0D3728142433}" destId="{BC46AA00-A202-4913-A1BC-14C5DA981201}" srcOrd="5" destOrd="0" presId="urn:microsoft.com/office/officeart/2005/8/layout/process1"/>
    <dgm:cxn modelId="{A02E39BF-296A-4F24-AD9B-E35E1D82245F}" type="presParOf" srcId="{BC46AA00-A202-4913-A1BC-14C5DA981201}" destId="{EA6CC68F-9021-4087-ABC9-2276A122E547}" srcOrd="0" destOrd="0" presId="urn:microsoft.com/office/officeart/2005/8/layout/process1"/>
    <dgm:cxn modelId="{6A188964-6A8C-486F-AD2F-91FEA4C32522}" type="presParOf" srcId="{112C4F53-2A9D-4175-8B0B-0D3728142433}" destId="{53C77A10-5F8B-4DA0-976B-49FF814A7834}" srcOrd="6" destOrd="0" presId="urn:microsoft.com/office/officeart/2005/8/layout/process1"/>
    <dgm:cxn modelId="{8F21BB7D-6F0A-4E49-AE15-606CC85D51FC}" type="presParOf" srcId="{112C4F53-2A9D-4175-8B0B-0D3728142433}" destId="{412ABAAE-6DAD-4119-9BB4-DE304D44C8F9}" srcOrd="7" destOrd="0" presId="urn:microsoft.com/office/officeart/2005/8/layout/process1"/>
    <dgm:cxn modelId="{2BF7CDEA-DC71-4680-BAA6-C010A3603D7F}" type="presParOf" srcId="{412ABAAE-6DAD-4119-9BB4-DE304D44C8F9}" destId="{15784FE8-F201-4A68-94F0-799E8C077973}" srcOrd="0" destOrd="0" presId="urn:microsoft.com/office/officeart/2005/8/layout/process1"/>
    <dgm:cxn modelId="{B1B3B602-5E2D-4EC3-A3D3-F91CF847328D}" type="presParOf" srcId="{112C4F53-2A9D-4175-8B0B-0D3728142433}" destId="{737EC5F3-671B-485E-A2D2-C02927354F05}" srcOrd="8" destOrd="0" presId="urn:microsoft.com/office/officeart/2005/8/layout/process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6A0CCC6-40FC-4E7F-9495-3A6A5660D4B3}">
      <dsp:nvSpPr>
        <dsp:cNvPr id="0" name=""/>
        <dsp:cNvSpPr/>
      </dsp:nvSpPr>
      <dsp:spPr>
        <a:xfrm>
          <a:off x="27430" y="1010859"/>
          <a:ext cx="1511010" cy="377752"/>
        </a:xfrm>
        <a:prstGeom prst="roundRect">
          <a:avLst>
            <a:gd name="adj" fmla="val 10000"/>
          </a:avLst>
        </a:prstGeom>
        <a:solidFill>
          <a:srgbClr val="006600"/>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700" tIns="12700" rIns="12700" bIns="12700" numCol="1" spcCol="1270" anchor="ctr" anchorCtr="0">
          <a:noAutofit/>
        </a:bodyPr>
        <a:lstStyle/>
        <a:p>
          <a:pPr marL="0" lvl="0" indent="0" algn="ctr" defTabSz="444500">
            <a:lnSpc>
              <a:spcPct val="90000"/>
            </a:lnSpc>
            <a:spcBef>
              <a:spcPct val="0"/>
            </a:spcBef>
            <a:spcAft>
              <a:spcPct val="35000"/>
            </a:spcAft>
            <a:buNone/>
          </a:pPr>
          <a:r>
            <a:rPr lang="en-GB" sz="1000" kern="1200"/>
            <a:t>Appeal against FA Outcome</a:t>
          </a:r>
        </a:p>
      </dsp:txBody>
      <dsp:txXfrm>
        <a:off x="38494" y="1021923"/>
        <a:ext cx="1488882" cy="355624"/>
      </dsp:txXfrm>
    </dsp:sp>
    <dsp:sp modelId="{20D9FF8E-EE7F-4009-85CF-248877658AC3}">
      <dsp:nvSpPr>
        <dsp:cNvPr id="0" name=""/>
        <dsp:cNvSpPr/>
      </dsp:nvSpPr>
      <dsp:spPr>
        <a:xfrm rot="5400000">
          <a:off x="659314" y="1486980"/>
          <a:ext cx="247243" cy="167400"/>
        </a:xfrm>
        <a:prstGeom prst="rightArrow">
          <a:avLst>
            <a:gd name="adj1" fmla="val 66700"/>
            <a:gd name="adj2" fmla="val 50000"/>
          </a:avLst>
        </a:prstGeom>
        <a:solidFill>
          <a:schemeClr val="accent2">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6508B760-44EC-4BE4-B4A4-C3E396C7707B}">
      <dsp:nvSpPr>
        <dsp:cNvPr id="0" name=""/>
        <dsp:cNvSpPr/>
      </dsp:nvSpPr>
      <dsp:spPr>
        <a:xfrm>
          <a:off x="27430" y="1752750"/>
          <a:ext cx="1511010" cy="377752"/>
        </a:xfrm>
        <a:prstGeom prst="roundRect">
          <a:avLst>
            <a:gd name="adj" fmla="val 10000"/>
          </a:avLst>
        </a:prstGeom>
        <a:solidFill>
          <a:srgbClr val="CCE1BD">
            <a:alpha val="90000"/>
          </a:srgbClr>
        </a:solidFill>
        <a:ln w="12700" cap="flat" cmpd="sng" algn="ctr">
          <a:solidFill>
            <a:schemeClr val="accent2">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2700" tIns="12700" rIns="12700" bIns="12700" numCol="1" spcCol="1270" anchor="ctr" anchorCtr="0">
          <a:noAutofit/>
        </a:bodyPr>
        <a:lstStyle/>
        <a:p>
          <a:pPr marL="0" lvl="0" indent="0" algn="ctr" defTabSz="444500">
            <a:lnSpc>
              <a:spcPct val="90000"/>
            </a:lnSpc>
            <a:spcBef>
              <a:spcPct val="0"/>
            </a:spcBef>
            <a:spcAft>
              <a:spcPct val="35000"/>
            </a:spcAft>
            <a:buNone/>
          </a:pPr>
          <a:r>
            <a:rPr lang="en-GB" sz="1000" kern="1200"/>
            <a:t>3 stage approach (ACFS) </a:t>
          </a:r>
        </a:p>
      </dsp:txBody>
      <dsp:txXfrm>
        <a:off x="38494" y="1763814"/>
        <a:ext cx="1488882" cy="355624"/>
      </dsp:txXfrm>
    </dsp:sp>
    <dsp:sp modelId="{D389400B-0E18-4857-A89D-B1D8358C21F1}">
      <dsp:nvSpPr>
        <dsp:cNvPr id="0" name=""/>
        <dsp:cNvSpPr/>
      </dsp:nvSpPr>
      <dsp:spPr>
        <a:xfrm rot="5533628">
          <a:off x="638356" y="2196155"/>
          <a:ext cx="261727" cy="196282"/>
        </a:xfrm>
        <a:prstGeom prst="rightArrow">
          <a:avLst>
            <a:gd name="adj1" fmla="val 66700"/>
            <a:gd name="adj2" fmla="val 50000"/>
          </a:avLst>
        </a:prstGeom>
        <a:solidFill>
          <a:schemeClr val="accent2">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56E922D7-0A51-418B-B97C-1B1CCA41F0B6}">
      <dsp:nvSpPr>
        <dsp:cNvPr id="0" name=""/>
        <dsp:cNvSpPr/>
      </dsp:nvSpPr>
      <dsp:spPr>
        <a:xfrm>
          <a:off x="0" y="2458089"/>
          <a:ext cx="1511010" cy="377752"/>
        </a:xfrm>
        <a:prstGeom prst="roundRect">
          <a:avLst>
            <a:gd name="adj" fmla="val 10000"/>
          </a:avLst>
        </a:prstGeom>
        <a:solidFill>
          <a:schemeClr val="accent6">
            <a:lumMod val="20000"/>
            <a:lumOff val="80000"/>
            <a:alpha val="90000"/>
          </a:schemeClr>
        </a:solidFill>
        <a:ln w="12700" cap="flat" cmpd="sng" algn="ctr">
          <a:solidFill>
            <a:schemeClr val="accent2">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2700" tIns="12700" rIns="12700" bIns="12700" numCol="1" spcCol="1270" anchor="ctr" anchorCtr="0">
          <a:noAutofit/>
        </a:bodyPr>
        <a:lstStyle/>
        <a:p>
          <a:pPr marL="0" lvl="0" indent="0" algn="ctr" defTabSz="444500">
            <a:lnSpc>
              <a:spcPct val="90000"/>
            </a:lnSpc>
            <a:spcBef>
              <a:spcPct val="0"/>
            </a:spcBef>
            <a:spcAft>
              <a:spcPct val="35000"/>
            </a:spcAft>
            <a:buNone/>
          </a:pPr>
          <a:r>
            <a:rPr lang="en-GB" sz="1000" kern="1200"/>
            <a:t>If waiver is required….</a:t>
          </a:r>
        </a:p>
      </dsp:txBody>
      <dsp:txXfrm>
        <a:off x="11064" y="2469153"/>
        <a:ext cx="1488882" cy="355624"/>
      </dsp:txXfrm>
    </dsp:sp>
    <dsp:sp modelId="{5B29319B-E54F-4826-95E0-ADE23820C764}">
      <dsp:nvSpPr>
        <dsp:cNvPr id="0" name=""/>
        <dsp:cNvSpPr/>
      </dsp:nvSpPr>
      <dsp:spPr>
        <a:xfrm>
          <a:off x="2522667" y="993308"/>
          <a:ext cx="1511010" cy="377752"/>
        </a:xfrm>
        <a:prstGeom prst="roundRect">
          <a:avLst>
            <a:gd name="adj" fmla="val 10000"/>
          </a:avLst>
        </a:prstGeom>
        <a:solidFill>
          <a:srgbClr val="006600"/>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430" tIns="11430" rIns="11430" bIns="11430" numCol="1" spcCol="1270" anchor="ctr" anchorCtr="0">
          <a:noAutofit/>
        </a:bodyPr>
        <a:lstStyle/>
        <a:p>
          <a:pPr marL="0" lvl="0" indent="0" algn="ctr" defTabSz="400050">
            <a:lnSpc>
              <a:spcPct val="90000"/>
            </a:lnSpc>
            <a:spcBef>
              <a:spcPct val="0"/>
            </a:spcBef>
            <a:spcAft>
              <a:spcPct val="35000"/>
            </a:spcAft>
            <a:buNone/>
          </a:pPr>
          <a:r>
            <a:rPr lang="en-GB" sz="900" kern="1200"/>
            <a:t>Community Team identifies potential hardship / Person contacts CSC</a:t>
          </a:r>
        </a:p>
      </dsp:txBody>
      <dsp:txXfrm>
        <a:off x="2533731" y="1004372"/>
        <a:ext cx="1488882" cy="355624"/>
      </dsp:txXfrm>
    </dsp:sp>
    <dsp:sp modelId="{89506E2A-B6E3-4213-A687-207BCD5DC751}">
      <dsp:nvSpPr>
        <dsp:cNvPr id="0" name=""/>
        <dsp:cNvSpPr/>
      </dsp:nvSpPr>
      <dsp:spPr>
        <a:xfrm rot="5400000">
          <a:off x="3135213" y="1459985"/>
          <a:ext cx="252641" cy="170571"/>
        </a:xfrm>
        <a:prstGeom prst="rightArrow">
          <a:avLst>
            <a:gd name="adj1" fmla="val 66700"/>
            <a:gd name="adj2" fmla="val 50000"/>
          </a:avLst>
        </a:prstGeom>
        <a:solidFill>
          <a:schemeClr val="accent2">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4A7C89F9-91A3-478E-9487-2A7008282B13}">
      <dsp:nvSpPr>
        <dsp:cNvPr id="0" name=""/>
        <dsp:cNvSpPr/>
      </dsp:nvSpPr>
      <dsp:spPr>
        <a:xfrm>
          <a:off x="2522667" y="1673501"/>
          <a:ext cx="1511010" cy="377752"/>
        </a:xfrm>
        <a:prstGeom prst="roundRect">
          <a:avLst>
            <a:gd name="adj" fmla="val 10000"/>
          </a:avLst>
        </a:prstGeom>
        <a:solidFill>
          <a:srgbClr val="CCE1BD">
            <a:alpha val="90000"/>
          </a:srgbClr>
        </a:solidFill>
        <a:ln w="12700" cap="flat" cmpd="sng" algn="ctr">
          <a:solidFill>
            <a:schemeClr val="accent2">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1430" tIns="11430" rIns="11430" bIns="11430" numCol="1" spcCol="1270" anchor="ctr" anchorCtr="0">
          <a:noAutofit/>
        </a:bodyPr>
        <a:lstStyle/>
        <a:p>
          <a:pPr marL="0" lvl="0" indent="0" algn="ctr" defTabSz="400050">
            <a:lnSpc>
              <a:spcPct val="90000"/>
            </a:lnSpc>
            <a:spcBef>
              <a:spcPct val="0"/>
            </a:spcBef>
            <a:spcAft>
              <a:spcPct val="35000"/>
            </a:spcAft>
            <a:buNone/>
          </a:pPr>
          <a:r>
            <a:rPr lang="en-GB" sz="900" kern="1200"/>
            <a:t>Hardship Form (or Link) sent by CSC / Community Team</a:t>
          </a:r>
        </a:p>
      </dsp:txBody>
      <dsp:txXfrm>
        <a:off x="2533731" y="1684565"/>
        <a:ext cx="1488882" cy="355624"/>
      </dsp:txXfrm>
    </dsp:sp>
    <dsp:sp modelId="{09B9A730-DCFD-42BC-851C-2333DA428247}">
      <dsp:nvSpPr>
        <dsp:cNvPr id="0" name=""/>
        <dsp:cNvSpPr/>
      </dsp:nvSpPr>
      <dsp:spPr>
        <a:xfrm rot="5400000">
          <a:off x="3106697" y="2136717"/>
          <a:ext cx="262315" cy="193245"/>
        </a:xfrm>
        <a:prstGeom prst="rightArrow">
          <a:avLst>
            <a:gd name="adj1" fmla="val 66700"/>
            <a:gd name="adj2" fmla="val 50000"/>
          </a:avLst>
        </a:prstGeom>
        <a:solidFill>
          <a:schemeClr val="accent2">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B124DA3E-1624-4B9B-8530-B8926F0D16A1}">
      <dsp:nvSpPr>
        <dsp:cNvPr id="0" name=""/>
        <dsp:cNvSpPr/>
      </dsp:nvSpPr>
      <dsp:spPr>
        <a:xfrm>
          <a:off x="2522667" y="2379675"/>
          <a:ext cx="1511010" cy="377752"/>
        </a:xfrm>
        <a:prstGeom prst="roundRect">
          <a:avLst>
            <a:gd name="adj" fmla="val 10000"/>
          </a:avLst>
        </a:prstGeom>
        <a:solidFill>
          <a:srgbClr val="CCE1BD">
            <a:alpha val="90000"/>
          </a:srgbClr>
        </a:solidFill>
        <a:ln w="12700" cap="flat" cmpd="sng" algn="ctr">
          <a:solidFill>
            <a:schemeClr val="accent2">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1430" tIns="11430" rIns="11430" bIns="11430" numCol="1" spcCol="1270" anchor="ctr" anchorCtr="0">
          <a:noAutofit/>
        </a:bodyPr>
        <a:lstStyle/>
        <a:p>
          <a:pPr marL="0" lvl="0" indent="0" algn="ctr" defTabSz="400050">
            <a:lnSpc>
              <a:spcPct val="90000"/>
            </a:lnSpc>
            <a:spcBef>
              <a:spcPct val="0"/>
            </a:spcBef>
            <a:spcAft>
              <a:spcPct val="35000"/>
            </a:spcAft>
            <a:buNone/>
          </a:pPr>
          <a:r>
            <a:rPr lang="en-GB" sz="900" kern="1200"/>
            <a:t>Completed form received and assigned to appropriate team</a:t>
          </a:r>
        </a:p>
      </dsp:txBody>
      <dsp:txXfrm>
        <a:off x="2533731" y="2390739"/>
        <a:ext cx="1488882" cy="355624"/>
      </dsp:txXfrm>
    </dsp:sp>
    <dsp:sp modelId="{2A0855E3-F6CC-43E5-B120-98ED2CAD0094}">
      <dsp:nvSpPr>
        <dsp:cNvPr id="0" name=""/>
        <dsp:cNvSpPr/>
      </dsp:nvSpPr>
      <dsp:spPr>
        <a:xfrm>
          <a:off x="2514115" y="3002464"/>
          <a:ext cx="1511010" cy="377752"/>
        </a:xfrm>
        <a:prstGeom prst="roundRect">
          <a:avLst>
            <a:gd name="adj" fmla="val 10000"/>
          </a:avLst>
        </a:prstGeom>
        <a:solidFill>
          <a:srgbClr val="CCE1BD"/>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700" tIns="12700" rIns="12700" bIns="12700" numCol="1" spcCol="1270" anchor="ctr" anchorCtr="0">
          <a:noAutofit/>
        </a:bodyPr>
        <a:lstStyle/>
        <a:p>
          <a:pPr marL="0" lvl="0" indent="0" algn="ctr" defTabSz="444500">
            <a:lnSpc>
              <a:spcPct val="90000"/>
            </a:lnSpc>
            <a:spcBef>
              <a:spcPct val="0"/>
            </a:spcBef>
            <a:spcAft>
              <a:spcPct val="35000"/>
            </a:spcAft>
            <a:buNone/>
          </a:pPr>
          <a:r>
            <a:rPr lang="en-GB" sz="1000" kern="1200">
              <a:solidFill>
                <a:schemeClr val="tx1"/>
              </a:solidFill>
            </a:rPr>
            <a:t>Form assessed against hardship criteria </a:t>
          </a:r>
        </a:p>
      </dsp:txBody>
      <dsp:txXfrm>
        <a:off x="2525179" y="3013528"/>
        <a:ext cx="1488882" cy="355624"/>
      </dsp:txXfrm>
    </dsp:sp>
    <dsp:sp modelId="{9DB06610-BC9A-4D3D-9DBF-9B87D649CAC9}">
      <dsp:nvSpPr>
        <dsp:cNvPr id="0" name=""/>
        <dsp:cNvSpPr/>
      </dsp:nvSpPr>
      <dsp:spPr>
        <a:xfrm>
          <a:off x="2532882" y="3668506"/>
          <a:ext cx="1511010" cy="377752"/>
        </a:xfrm>
        <a:prstGeom prst="roundRect">
          <a:avLst>
            <a:gd name="adj" fmla="val 10000"/>
          </a:avLst>
        </a:prstGeom>
        <a:solidFill>
          <a:schemeClr val="accent6">
            <a:lumMod val="20000"/>
            <a:lumOff val="8000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700" tIns="12700" rIns="12700" bIns="12700" numCol="1" spcCol="1270" anchor="ctr" anchorCtr="0">
          <a:noAutofit/>
        </a:bodyPr>
        <a:lstStyle/>
        <a:p>
          <a:pPr marL="0" lvl="0" indent="0" algn="ctr" defTabSz="444500">
            <a:lnSpc>
              <a:spcPct val="90000"/>
            </a:lnSpc>
            <a:spcBef>
              <a:spcPct val="0"/>
            </a:spcBef>
            <a:spcAft>
              <a:spcPct val="35000"/>
            </a:spcAft>
            <a:buNone/>
          </a:pPr>
          <a:r>
            <a:rPr lang="en-GB" sz="1000" kern="1200">
              <a:solidFill>
                <a:schemeClr val="tx1"/>
              </a:solidFill>
            </a:rPr>
            <a:t>If Waiver is required..</a:t>
          </a:r>
        </a:p>
      </dsp:txBody>
      <dsp:txXfrm>
        <a:off x="2543946" y="3679570"/>
        <a:ext cx="1488882" cy="355624"/>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41ECE20-CDD6-48DA-B1C8-1519DD596909}">
      <dsp:nvSpPr>
        <dsp:cNvPr id="0" name=""/>
        <dsp:cNvSpPr/>
      </dsp:nvSpPr>
      <dsp:spPr>
        <a:xfrm>
          <a:off x="-6214736" y="-950751"/>
          <a:ext cx="7397735" cy="7397735"/>
        </a:xfrm>
        <a:prstGeom prst="blockArc">
          <a:avLst>
            <a:gd name="adj1" fmla="val 18900000"/>
            <a:gd name="adj2" fmla="val 2700000"/>
            <a:gd name="adj3" fmla="val 292"/>
          </a:avLst>
        </a:prstGeom>
        <a:noFill/>
        <a:ln w="12700" cap="flat" cmpd="sng" algn="ctr">
          <a:solidFill>
            <a:schemeClr val="accent6">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DB28A1C3-44C5-45A1-851E-9DF7AF685DB0}">
      <dsp:nvSpPr>
        <dsp:cNvPr id="0" name=""/>
        <dsp:cNvSpPr/>
      </dsp:nvSpPr>
      <dsp:spPr>
        <a:xfrm>
          <a:off x="440487" y="289431"/>
          <a:ext cx="7717343" cy="578643"/>
        </a:xfrm>
        <a:prstGeom prst="rect">
          <a:avLst/>
        </a:prstGeom>
        <a:solidFill>
          <a:schemeClr val="accent6">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59298" tIns="38100" rIns="38100" bIns="38100" numCol="1" spcCol="1270" anchor="ctr" anchorCtr="0">
          <a:noAutofit/>
        </a:bodyPr>
        <a:lstStyle/>
        <a:p>
          <a:pPr marL="0" lvl="0" indent="0" algn="l" defTabSz="666750">
            <a:lnSpc>
              <a:spcPct val="90000"/>
            </a:lnSpc>
            <a:spcBef>
              <a:spcPct val="0"/>
            </a:spcBef>
            <a:spcAft>
              <a:spcPct val="35000"/>
            </a:spcAft>
            <a:buNone/>
          </a:pPr>
          <a:r>
            <a:rPr lang="en-GB" sz="1500" b="0" i="0" kern="1200"/>
            <a:t>The individual has taken all reasonable steps to maximise income, but paying the assessed charge or flat rate charge would cause income to drop below the MIG rate. </a:t>
          </a:r>
          <a:endParaRPr lang="en-GB" sz="1500" kern="1200"/>
        </a:p>
      </dsp:txBody>
      <dsp:txXfrm>
        <a:off x="440487" y="289431"/>
        <a:ext cx="7717343" cy="578643"/>
      </dsp:txXfrm>
    </dsp:sp>
    <dsp:sp modelId="{BAD61259-AF27-4B23-BCD8-0CD5B1B62375}">
      <dsp:nvSpPr>
        <dsp:cNvPr id="0" name=""/>
        <dsp:cNvSpPr/>
      </dsp:nvSpPr>
      <dsp:spPr>
        <a:xfrm>
          <a:off x="50952" y="248593"/>
          <a:ext cx="723304" cy="723304"/>
        </a:xfrm>
        <a:prstGeom prst="ellipse">
          <a:avLst/>
        </a:prstGeom>
        <a:solidFill>
          <a:schemeClr val="lt1">
            <a:hueOff val="0"/>
            <a:satOff val="0"/>
            <a:lumOff val="0"/>
            <a:alphaOff val="0"/>
          </a:schemeClr>
        </a:solidFill>
        <a:ln w="12700" cap="flat" cmpd="sng" algn="ctr">
          <a:solidFill>
            <a:schemeClr val="accent6">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C185D721-2B89-4610-9EE8-880F0008DD9F}">
      <dsp:nvSpPr>
        <dsp:cNvPr id="0" name=""/>
        <dsp:cNvSpPr/>
      </dsp:nvSpPr>
      <dsp:spPr>
        <a:xfrm>
          <a:off x="916461" y="1157286"/>
          <a:ext cx="7241369" cy="578643"/>
        </a:xfrm>
        <a:prstGeom prst="rect">
          <a:avLst/>
        </a:prstGeom>
        <a:solidFill>
          <a:schemeClr val="accent6">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59298" tIns="35560" rIns="35560" bIns="35560" numCol="1" spcCol="1270" anchor="ctr" anchorCtr="0">
          <a:noAutofit/>
        </a:bodyPr>
        <a:lstStyle/>
        <a:p>
          <a:pPr marL="0" lvl="0" indent="0" algn="l" defTabSz="622300">
            <a:lnSpc>
              <a:spcPct val="90000"/>
            </a:lnSpc>
            <a:spcBef>
              <a:spcPct val="0"/>
            </a:spcBef>
            <a:spcAft>
              <a:spcPct val="35000"/>
            </a:spcAft>
            <a:buNone/>
          </a:pPr>
          <a:r>
            <a:rPr lang="en-US" sz="1400" b="0" i="0" kern="1200"/>
            <a:t>A temporary crisis (e.g., bereavement, family breakdown) has occurred, affecting finances.</a:t>
          </a:r>
          <a:endParaRPr lang="en-GB" sz="1400" kern="1200"/>
        </a:p>
      </dsp:txBody>
      <dsp:txXfrm>
        <a:off x="916461" y="1157286"/>
        <a:ext cx="7241369" cy="578643"/>
      </dsp:txXfrm>
    </dsp:sp>
    <dsp:sp modelId="{FC002AB2-37FB-45B9-B770-7F9ED03E0D65}">
      <dsp:nvSpPr>
        <dsp:cNvPr id="0" name=""/>
        <dsp:cNvSpPr/>
      </dsp:nvSpPr>
      <dsp:spPr>
        <a:xfrm>
          <a:off x="547351" y="1105736"/>
          <a:ext cx="723304" cy="723304"/>
        </a:xfrm>
        <a:prstGeom prst="ellipse">
          <a:avLst/>
        </a:prstGeom>
        <a:solidFill>
          <a:schemeClr val="lt1">
            <a:hueOff val="0"/>
            <a:satOff val="0"/>
            <a:lumOff val="0"/>
            <a:alphaOff val="0"/>
          </a:schemeClr>
        </a:solidFill>
        <a:ln w="12700" cap="flat" cmpd="sng" algn="ctr">
          <a:solidFill>
            <a:schemeClr val="accent6">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0AED293A-1DC6-47EA-B8EB-909CCA71DE61}">
      <dsp:nvSpPr>
        <dsp:cNvPr id="0" name=""/>
        <dsp:cNvSpPr/>
      </dsp:nvSpPr>
      <dsp:spPr>
        <a:xfrm>
          <a:off x="1134112" y="2025141"/>
          <a:ext cx="7023718" cy="578643"/>
        </a:xfrm>
        <a:prstGeom prst="rect">
          <a:avLst/>
        </a:prstGeom>
        <a:solidFill>
          <a:schemeClr val="accent6">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59298" tIns="35560" rIns="35560" bIns="35560" numCol="1" spcCol="1270" anchor="ctr" anchorCtr="0">
          <a:noAutofit/>
        </a:bodyPr>
        <a:lstStyle/>
        <a:p>
          <a:pPr marL="0" lvl="0" indent="0" algn="l" defTabSz="622300">
            <a:lnSpc>
              <a:spcPct val="90000"/>
            </a:lnSpc>
            <a:spcBef>
              <a:spcPct val="0"/>
            </a:spcBef>
            <a:spcAft>
              <a:spcPct val="35000"/>
            </a:spcAft>
            <a:buNone/>
          </a:pPr>
          <a:r>
            <a:rPr lang="en-GB" sz="1400" b="0" i="0" kern="1200"/>
            <a:t>Charging the assessed contribution or flat rate charge would deter the person from using the service, posing a serious risk to their health, including increased vulnerability to abuse, harm, or neglect.  </a:t>
          </a:r>
          <a:endParaRPr lang="en-GB" sz="1400" kern="1200"/>
        </a:p>
      </dsp:txBody>
      <dsp:txXfrm>
        <a:off x="1134112" y="2025141"/>
        <a:ext cx="7023718" cy="578643"/>
      </dsp:txXfrm>
    </dsp:sp>
    <dsp:sp modelId="{62F116EE-DBEA-45CB-91BC-22647F65032E}">
      <dsp:nvSpPr>
        <dsp:cNvPr id="0" name=""/>
        <dsp:cNvSpPr/>
      </dsp:nvSpPr>
      <dsp:spPr>
        <a:xfrm>
          <a:off x="772459" y="1952811"/>
          <a:ext cx="723304" cy="723304"/>
        </a:xfrm>
        <a:prstGeom prst="ellipse">
          <a:avLst/>
        </a:prstGeom>
        <a:solidFill>
          <a:schemeClr val="lt1">
            <a:hueOff val="0"/>
            <a:satOff val="0"/>
            <a:lumOff val="0"/>
            <a:alphaOff val="0"/>
          </a:schemeClr>
        </a:solidFill>
        <a:ln w="12700" cap="flat" cmpd="sng" algn="ctr">
          <a:solidFill>
            <a:schemeClr val="accent6">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558B8943-2345-42FB-98FF-DBA6FF9CBBFC}">
      <dsp:nvSpPr>
        <dsp:cNvPr id="0" name=""/>
        <dsp:cNvSpPr/>
      </dsp:nvSpPr>
      <dsp:spPr>
        <a:xfrm>
          <a:off x="1134112" y="2892447"/>
          <a:ext cx="7023718" cy="578643"/>
        </a:xfrm>
        <a:prstGeom prst="rect">
          <a:avLst/>
        </a:prstGeom>
        <a:solidFill>
          <a:schemeClr val="accent6">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59298" tIns="35560" rIns="35560" bIns="35560" numCol="1" spcCol="1270" anchor="ctr" anchorCtr="0">
          <a:noAutofit/>
        </a:bodyPr>
        <a:lstStyle/>
        <a:p>
          <a:pPr marL="0" lvl="0" indent="0" algn="l" defTabSz="622300">
            <a:lnSpc>
              <a:spcPct val="90000"/>
            </a:lnSpc>
            <a:spcBef>
              <a:spcPct val="0"/>
            </a:spcBef>
            <a:spcAft>
              <a:spcPct val="35000"/>
            </a:spcAft>
            <a:buNone/>
          </a:pPr>
          <a:r>
            <a:rPr lang="en-GB" sz="1400" b="0" i="0" kern="1200"/>
            <a:t>There are safeguarding concerns—where the person or dependents are vulnerable and at risk of abuse, neglect, or harm if finances are strained. </a:t>
          </a:r>
          <a:endParaRPr lang="en-GB" sz="1400" kern="1200"/>
        </a:p>
      </dsp:txBody>
      <dsp:txXfrm>
        <a:off x="1134112" y="2892447"/>
        <a:ext cx="7023718" cy="578643"/>
      </dsp:txXfrm>
    </dsp:sp>
    <dsp:sp modelId="{396B32CA-3B85-4126-8588-1029DCBD75A8}">
      <dsp:nvSpPr>
        <dsp:cNvPr id="0" name=""/>
        <dsp:cNvSpPr/>
      </dsp:nvSpPr>
      <dsp:spPr>
        <a:xfrm>
          <a:off x="772459" y="2820116"/>
          <a:ext cx="723304" cy="723304"/>
        </a:xfrm>
        <a:prstGeom prst="ellipse">
          <a:avLst/>
        </a:prstGeom>
        <a:solidFill>
          <a:schemeClr val="lt1">
            <a:hueOff val="0"/>
            <a:satOff val="0"/>
            <a:lumOff val="0"/>
            <a:alphaOff val="0"/>
          </a:schemeClr>
        </a:solidFill>
        <a:ln w="12700" cap="flat" cmpd="sng" algn="ctr">
          <a:solidFill>
            <a:schemeClr val="accent6">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3CC50DF3-2111-480F-8C4C-CECC604CAA8B}">
      <dsp:nvSpPr>
        <dsp:cNvPr id="0" name=""/>
        <dsp:cNvSpPr/>
      </dsp:nvSpPr>
      <dsp:spPr>
        <a:xfrm>
          <a:off x="916461" y="3760302"/>
          <a:ext cx="7241369" cy="578643"/>
        </a:xfrm>
        <a:prstGeom prst="rect">
          <a:avLst/>
        </a:prstGeom>
        <a:solidFill>
          <a:schemeClr val="accent6">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59298" tIns="35560" rIns="35560" bIns="35560" numCol="1" spcCol="1270" anchor="ctr" anchorCtr="0">
          <a:noAutofit/>
        </a:bodyPr>
        <a:lstStyle/>
        <a:p>
          <a:pPr marL="0" lvl="0" indent="0" algn="l" defTabSz="622300">
            <a:lnSpc>
              <a:spcPct val="90000"/>
            </a:lnSpc>
            <a:spcBef>
              <a:spcPct val="0"/>
            </a:spcBef>
            <a:spcAft>
              <a:spcPct val="35000"/>
            </a:spcAft>
            <a:buNone/>
          </a:pPr>
          <a:r>
            <a:rPr lang="en-GB" sz="1400" b="0" i="0" kern="1200"/>
            <a:t>Significant financial pressure exists, and further debt would have detrimental impact on an individual. </a:t>
          </a:r>
          <a:endParaRPr lang="en-GB" sz="1400" kern="1200"/>
        </a:p>
      </dsp:txBody>
      <dsp:txXfrm>
        <a:off x="916461" y="3760302"/>
        <a:ext cx="7241369" cy="578643"/>
      </dsp:txXfrm>
    </dsp:sp>
    <dsp:sp modelId="{5E67C093-302F-447C-A291-323EEF65A256}">
      <dsp:nvSpPr>
        <dsp:cNvPr id="0" name=""/>
        <dsp:cNvSpPr/>
      </dsp:nvSpPr>
      <dsp:spPr>
        <a:xfrm>
          <a:off x="554809" y="3687971"/>
          <a:ext cx="723304" cy="723304"/>
        </a:xfrm>
        <a:prstGeom prst="ellipse">
          <a:avLst/>
        </a:prstGeom>
        <a:solidFill>
          <a:schemeClr val="lt1">
            <a:hueOff val="0"/>
            <a:satOff val="0"/>
            <a:lumOff val="0"/>
            <a:alphaOff val="0"/>
          </a:schemeClr>
        </a:solidFill>
        <a:ln w="12700" cap="flat" cmpd="sng" algn="ctr">
          <a:solidFill>
            <a:schemeClr val="accent6">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FF456D0A-E4B8-48F5-86BD-7F17EC80CAFE}">
      <dsp:nvSpPr>
        <dsp:cNvPr id="0" name=""/>
        <dsp:cNvSpPr/>
      </dsp:nvSpPr>
      <dsp:spPr>
        <a:xfrm>
          <a:off x="485865" y="4642773"/>
          <a:ext cx="7717343" cy="578643"/>
        </a:xfrm>
        <a:prstGeom prst="rect">
          <a:avLst/>
        </a:prstGeom>
        <a:solidFill>
          <a:schemeClr val="accent6">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59298" tIns="35560" rIns="35560" bIns="35560" numCol="1" spcCol="1270" anchor="ctr" anchorCtr="0">
          <a:noAutofit/>
        </a:bodyPr>
        <a:lstStyle/>
        <a:p>
          <a:pPr marL="0" lvl="0" indent="0" algn="l" defTabSz="622300">
            <a:lnSpc>
              <a:spcPct val="90000"/>
            </a:lnSpc>
            <a:spcBef>
              <a:spcPct val="0"/>
            </a:spcBef>
            <a:spcAft>
              <a:spcPct val="35000"/>
            </a:spcAft>
            <a:buNone/>
          </a:pPr>
          <a:r>
            <a:rPr lang="en-GB" sz="1400" b="0" i="0" kern="1200"/>
            <a:t>Any other exceptional or changed circumstances that need to be considered. </a:t>
          </a:r>
          <a:endParaRPr lang="en-GB" sz="1400" kern="1200"/>
        </a:p>
      </dsp:txBody>
      <dsp:txXfrm>
        <a:off x="485865" y="4642773"/>
        <a:ext cx="7717343" cy="578643"/>
      </dsp:txXfrm>
    </dsp:sp>
    <dsp:sp modelId="{93621E5B-A62A-4DC9-B17A-7D6B970ED096}">
      <dsp:nvSpPr>
        <dsp:cNvPr id="0" name=""/>
        <dsp:cNvSpPr/>
      </dsp:nvSpPr>
      <dsp:spPr>
        <a:xfrm>
          <a:off x="78835" y="4555826"/>
          <a:ext cx="723304" cy="723304"/>
        </a:xfrm>
        <a:prstGeom prst="ellipse">
          <a:avLst/>
        </a:prstGeom>
        <a:solidFill>
          <a:schemeClr val="lt1">
            <a:hueOff val="0"/>
            <a:satOff val="0"/>
            <a:lumOff val="0"/>
            <a:alphaOff val="0"/>
          </a:schemeClr>
        </a:solidFill>
        <a:ln w="12700" cap="flat" cmpd="sng" algn="ctr">
          <a:solidFill>
            <a:schemeClr val="accent6">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C7B106E-A420-43C1-B650-29A38324FC6F}">
      <dsp:nvSpPr>
        <dsp:cNvPr id="0" name=""/>
        <dsp:cNvSpPr/>
      </dsp:nvSpPr>
      <dsp:spPr>
        <a:xfrm rot="5400000">
          <a:off x="-207943" y="208433"/>
          <a:ext cx="1386292" cy="970404"/>
        </a:xfrm>
        <a:prstGeom prst="chevron">
          <a:avLst/>
        </a:prstGeom>
        <a:solidFill>
          <a:srgbClr val="669900"/>
        </a:solidFill>
        <a:ln w="12700" cap="flat" cmpd="sng" algn="ctr">
          <a:solidFill>
            <a:srgbClr val="92D050"/>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 tIns="7620" rIns="7620" bIns="7620" numCol="1" spcCol="1270" anchor="ctr" anchorCtr="0">
          <a:noAutofit/>
        </a:bodyPr>
        <a:lstStyle/>
        <a:p>
          <a:pPr marL="0" lvl="0" indent="0" algn="ctr" defTabSz="533400">
            <a:lnSpc>
              <a:spcPct val="90000"/>
            </a:lnSpc>
            <a:spcBef>
              <a:spcPct val="0"/>
            </a:spcBef>
            <a:spcAft>
              <a:spcPct val="35000"/>
            </a:spcAft>
            <a:buNone/>
          </a:pPr>
          <a:r>
            <a:rPr lang="en-GB" sz="1200" kern="1200">
              <a:solidFill>
                <a:schemeClr val="bg1"/>
              </a:solidFill>
            </a:rPr>
            <a:t>Informal Review</a:t>
          </a:r>
        </a:p>
      </dsp:txBody>
      <dsp:txXfrm rot="-5400000">
        <a:off x="1" y="485691"/>
        <a:ext cx="970404" cy="415888"/>
      </dsp:txXfrm>
    </dsp:sp>
    <dsp:sp modelId="{371058EF-BFE2-407B-A05E-79C270717B35}">
      <dsp:nvSpPr>
        <dsp:cNvPr id="0" name=""/>
        <dsp:cNvSpPr/>
      </dsp:nvSpPr>
      <dsp:spPr>
        <a:xfrm rot="5400000">
          <a:off x="4332337" y="-3361932"/>
          <a:ext cx="901090" cy="7624955"/>
        </a:xfrm>
        <a:prstGeom prst="round2SameRect">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85344" tIns="7620" rIns="7620" bIns="7620" numCol="1" spcCol="1270" anchor="ctr" anchorCtr="0">
          <a:noAutofit/>
        </a:bodyPr>
        <a:lstStyle/>
        <a:p>
          <a:pPr marL="114300" lvl="1" indent="-114300" algn="l" defTabSz="533400">
            <a:lnSpc>
              <a:spcPct val="90000"/>
            </a:lnSpc>
            <a:spcBef>
              <a:spcPct val="0"/>
            </a:spcBef>
            <a:spcAft>
              <a:spcPct val="15000"/>
            </a:spcAft>
            <a:buFont typeface="Arial" panose="020B0604020202020204" pitchFamily="34" charset="0"/>
            <a:buChar char="•"/>
          </a:pPr>
          <a:r>
            <a:rPr lang="en-GB" sz="1200" kern="1200"/>
            <a:t>If a person thinks that we have an incorrect income, outgoings, savings or expenses, such as Disability Related Expenses, they can ask Adult Care Financial Services (ACFS) to check the assessment.</a:t>
          </a:r>
        </a:p>
      </dsp:txBody>
      <dsp:txXfrm rot="-5400000">
        <a:off x="970405" y="43988"/>
        <a:ext cx="7580967" cy="813114"/>
      </dsp:txXfrm>
    </dsp:sp>
    <dsp:sp modelId="{C0D2826B-CC67-4CA0-803C-6568DC842E54}">
      <dsp:nvSpPr>
        <dsp:cNvPr id="0" name=""/>
        <dsp:cNvSpPr/>
      </dsp:nvSpPr>
      <dsp:spPr>
        <a:xfrm rot="5400000">
          <a:off x="-207943" y="1397507"/>
          <a:ext cx="1386292" cy="970404"/>
        </a:xfrm>
        <a:prstGeom prst="chevron">
          <a:avLst/>
        </a:prstGeom>
        <a:solidFill>
          <a:schemeClr val="accent6">
            <a:lumMod val="40000"/>
            <a:lumOff val="6000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 tIns="7620" rIns="7620" bIns="7620" numCol="1" spcCol="1270" anchor="ctr" anchorCtr="0">
          <a:noAutofit/>
        </a:bodyPr>
        <a:lstStyle/>
        <a:p>
          <a:pPr marL="0" lvl="0" indent="0" algn="ctr" defTabSz="533400">
            <a:lnSpc>
              <a:spcPct val="90000"/>
            </a:lnSpc>
            <a:spcBef>
              <a:spcPct val="0"/>
            </a:spcBef>
            <a:spcAft>
              <a:spcPct val="35000"/>
            </a:spcAft>
            <a:buNone/>
          </a:pPr>
          <a:r>
            <a:rPr lang="en-GB" sz="1200" kern="1200"/>
            <a:t>Formal Review</a:t>
          </a:r>
        </a:p>
      </dsp:txBody>
      <dsp:txXfrm rot="-5400000">
        <a:off x="1" y="1674765"/>
        <a:ext cx="970404" cy="415888"/>
      </dsp:txXfrm>
    </dsp:sp>
    <dsp:sp modelId="{DECAF9DC-E393-4BF3-8854-6D5C4103A264}">
      <dsp:nvSpPr>
        <dsp:cNvPr id="0" name=""/>
        <dsp:cNvSpPr/>
      </dsp:nvSpPr>
      <dsp:spPr>
        <a:xfrm rot="5400000">
          <a:off x="4332337" y="-2172368"/>
          <a:ext cx="901090" cy="7624955"/>
        </a:xfrm>
        <a:prstGeom prst="round2SameRect">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85344" tIns="7620" rIns="7620" bIns="7620" numCol="1" spcCol="1270" anchor="ctr" anchorCtr="0">
          <a:noAutofit/>
        </a:bodyPr>
        <a:lstStyle/>
        <a:p>
          <a:pPr marL="114300" lvl="1" indent="-114300" algn="l" defTabSz="533400">
            <a:lnSpc>
              <a:spcPct val="90000"/>
            </a:lnSpc>
            <a:spcBef>
              <a:spcPct val="0"/>
            </a:spcBef>
            <a:spcAft>
              <a:spcPct val="15000"/>
            </a:spcAft>
            <a:buFont typeface="Arial" panose="020B0604020202020204" pitchFamily="34" charset="0"/>
            <a:buChar char="•"/>
          </a:pPr>
          <a:r>
            <a:rPr lang="en-GB" sz="1200" kern="1200"/>
            <a:t>If a person still doesn’t agree with the amount they are required to pay, they can go to the formal stage. </a:t>
          </a:r>
        </a:p>
        <a:p>
          <a:pPr marL="114300" lvl="1" indent="-114300" algn="l" defTabSz="533400">
            <a:lnSpc>
              <a:spcPct val="90000"/>
            </a:lnSpc>
            <a:spcBef>
              <a:spcPct val="0"/>
            </a:spcBef>
            <a:spcAft>
              <a:spcPct val="15000"/>
            </a:spcAft>
            <a:buFont typeface="Arial" panose="020B0604020202020204" pitchFamily="34" charset="0"/>
            <a:buChar char="•"/>
          </a:pPr>
          <a:r>
            <a:rPr lang="en-GB" sz="1200" kern="1200"/>
            <a:t>Decisions on inclusion of a property, deprivation of income or savings and investments, will go straight to this stage. </a:t>
          </a:r>
        </a:p>
        <a:p>
          <a:pPr marL="114300" lvl="1" indent="-114300" algn="l" defTabSz="533400">
            <a:lnSpc>
              <a:spcPct val="90000"/>
            </a:lnSpc>
            <a:spcBef>
              <a:spcPct val="0"/>
            </a:spcBef>
            <a:spcAft>
              <a:spcPct val="15000"/>
            </a:spcAft>
            <a:buFont typeface="Arial" panose="020B0604020202020204" pitchFamily="34" charset="0"/>
            <a:buChar char="•"/>
          </a:pPr>
          <a:r>
            <a:rPr lang="en-GB" sz="1200" kern="1200"/>
            <a:t>The financial assessment will be reviewed by at least one Senior Officer within ACFS.</a:t>
          </a:r>
        </a:p>
      </dsp:txBody>
      <dsp:txXfrm rot="-5400000">
        <a:off x="970405" y="1233552"/>
        <a:ext cx="7580967" cy="813114"/>
      </dsp:txXfrm>
    </dsp:sp>
    <dsp:sp modelId="{3735CBD7-E2BE-474C-B1A8-0C01BC5A6CA7}">
      <dsp:nvSpPr>
        <dsp:cNvPr id="0" name=""/>
        <dsp:cNvSpPr/>
      </dsp:nvSpPr>
      <dsp:spPr>
        <a:xfrm rot="5400000">
          <a:off x="-207943" y="2586581"/>
          <a:ext cx="1386292" cy="970404"/>
        </a:xfrm>
        <a:prstGeom prst="chevron">
          <a:avLst/>
        </a:prstGeom>
        <a:solidFill>
          <a:srgbClr val="0070C0"/>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 tIns="7620" rIns="7620" bIns="7620" numCol="1" spcCol="1270" anchor="ctr" anchorCtr="0">
          <a:noAutofit/>
        </a:bodyPr>
        <a:lstStyle/>
        <a:p>
          <a:pPr marL="0" lvl="0" indent="0" algn="ctr" defTabSz="533400">
            <a:lnSpc>
              <a:spcPct val="90000"/>
            </a:lnSpc>
            <a:spcBef>
              <a:spcPct val="0"/>
            </a:spcBef>
            <a:spcAft>
              <a:spcPct val="35000"/>
            </a:spcAft>
            <a:buNone/>
          </a:pPr>
          <a:r>
            <a:rPr lang="en-GB" sz="1200" kern="1200"/>
            <a:t>Charging Review Panel</a:t>
          </a:r>
        </a:p>
      </dsp:txBody>
      <dsp:txXfrm rot="-5400000">
        <a:off x="1" y="2863839"/>
        <a:ext cx="970404" cy="415888"/>
      </dsp:txXfrm>
    </dsp:sp>
    <dsp:sp modelId="{5A953DDA-50DD-43CC-8AFA-12E8DF4DA74A}">
      <dsp:nvSpPr>
        <dsp:cNvPr id="0" name=""/>
        <dsp:cNvSpPr/>
      </dsp:nvSpPr>
      <dsp:spPr>
        <a:xfrm rot="5400000">
          <a:off x="4332337" y="-983294"/>
          <a:ext cx="901090" cy="7624955"/>
        </a:xfrm>
        <a:prstGeom prst="round2SameRect">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85344" tIns="7620" rIns="7620" bIns="7620" numCol="1" spcCol="1270" anchor="ctr" anchorCtr="0">
          <a:noAutofit/>
        </a:bodyPr>
        <a:lstStyle/>
        <a:p>
          <a:pPr marL="114300" lvl="1" indent="-114300" algn="l" defTabSz="533400">
            <a:lnSpc>
              <a:spcPct val="90000"/>
            </a:lnSpc>
            <a:spcBef>
              <a:spcPct val="0"/>
            </a:spcBef>
            <a:spcAft>
              <a:spcPct val="15000"/>
            </a:spcAft>
            <a:buFont typeface="Arial" panose="020B0604020202020204" pitchFamily="34" charset="0"/>
            <a:buChar char="•"/>
          </a:pPr>
          <a:r>
            <a:rPr lang="en-GB" sz="1200" kern="1200"/>
            <a:t>The panel will comprise of ACFS Team Manager, ACFS Practice Lead, and a social care professional. </a:t>
          </a:r>
        </a:p>
        <a:p>
          <a:pPr marL="114300" lvl="1" indent="-114300" algn="l" defTabSz="533400">
            <a:lnSpc>
              <a:spcPct val="90000"/>
            </a:lnSpc>
            <a:spcBef>
              <a:spcPct val="0"/>
            </a:spcBef>
            <a:spcAft>
              <a:spcPct val="15000"/>
            </a:spcAft>
            <a:buFont typeface="Arial" panose="020B0604020202020204" pitchFamily="34" charset="0"/>
            <a:buChar char="•"/>
          </a:pPr>
          <a:r>
            <a:rPr lang="en-GB" sz="1200" kern="1200"/>
            <a:t>The panel will assess, Financial hardship and existing debts, Social care needs and wellbeing, whether all eligible allowances were considered, additional costs, including Disability Related Expenditure (DRE), any other relevant personal circumstances.</a:t>
          </a:r>
        </a:p>
      </dsp:txBody>
      <dsp:txXfrm rot="-5400000">
        <a:off x="970405" y="2422626"/>
        <a:ext cx="7580967" cy="813114"/>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5D0D972-92D1-4A16-82CD-C852D4AECC78}">
      <dsp:nvSpPr>
        <dsp:cNvPr id="0" name=""/>
        <dsp:cNvSpPr/>
      </dsp:nvSpPr>
      <dsp:spPr>
        <a:xfrm>
          <a:off x="2984" y="590362"/>
          <a:ext cx="925041" cy="1153410"/>
        </a:xfrm>
        <a:prstGeom prst="roundRect">
          <a:avLst>
            <a:gd name="adj" fmla="val 10000"/>
          </a:avLst>
        </a:prstGeom>
        <a:solidFill>
          <a:schemeClr val="accent3">
            <a:lumMod val="8500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1910" tIns="41910" rIns="41910" bIns="41910" numCol="1" spcCol="1270" anchor="ctr" anchorCtr="0">
          <a:noAutofit/>
        </a:bodyPr>
        <a:lstStyle/>
        <a:p>
          <a:pPr marL="0" lvl="0" indent="0" algn="ctr" defTabSz="488950">
            <a:lnSpc>
              <a:spcPct val="90000"/>
            </a:lnSpc>
            <a:spcBef>
              <a:spcPct val="0"/>
            </a:spcBef>
            <a:spcAft>
              <a:spcPct val="35000"/>
            </a:spcAft>
            <a:buNone/>
          </a:pPr>
          <a:r>
            <a:rPr lang="en-GB" sz="1100" kern="1200">
              <a:solidFill>
                <a:schemeClr val="tx1"/>
              </a:solidFill>
            </a:rPr>
            <a:t>Complete Waiver Form in Mosaic</a:t>
          </a:r>
        </a:p>
      </dsp:txBody>
      <dsp:txXfrm>
        <a:off x="30078" y="617456"/>
        <a:ext cx="870853" cy="1099222"/>
      </dsp:txXfrm>
    </dsp:sp>
    <dsp:sp modelId="{8F529415-FF06-4DB7-9CCC-CD08319DC0B3}">
      <dsp:nvSpPr>
        <dsp:cNvPr id="0" name=""/>
        <dsp:cNvSpPr/>
      </dsp:nvSpPr>
      <dsp:spPr>
        <a:xfrm rot="21588610">
          <a:off x="1020528" y="1050199"/>
          <a:ext cx="196109" cy="229410"/>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444500">
            <a:lnSpc>
              <a:spcPct val="90000"/>
            </a:lnSpc>
            <a:spcBef>
              <a:spcPct val="0"/>
            </a:spcBef>
            <a:spcAft>
              <a:spcPct val="35000"/>
            </a:spcAft>
            <a:buNone/>
          </a:pPr>
          <a:endParaRPr lang="en-GB" sz="1000" kern="1200"/>
        </a:p>
      </dsp:txBody>
      <dsp:txXfrm>
        <a:off x="1020528" y="1096178"/>
        <a:ext cx="137276" cy="137646"/>
      </dsp:txXfrm>
    </dsp:sp>
    <dsp:sp modelId="{7FDE7CEA-19BD-4414-B327-1CC3A786BB4E}">
      <dsp:nvSpPr>
        <dsp:cNvPr id="0" name=""/>
        <dsp:cNvSpPr/>
      </dsp:nvSpPr>
      <dsp:spPr>
        <a:xfrm>
          <a:off x="1298041" y="586071"/>
          <a:ext cx="925041" cy="1153410"/>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1910" tIns="41910" rIns="41910" bIns="41910" numCol="1" spcCol="1270" anchor="ctr" anchorCtr="0">
          <a:noAutofit/>
        </a:bodyPr>
        <a:lstStyle/>
        <a:p>
          <a:pPr marL="0" lvl="0" indent="0" algn="ctr" defTabSz="466725">
            <a:lnSpc>
              <a:spcPct val="90000"/>
            </a:lnSpc>
            <a:spcBef>
              <a:spcPct val="0"/>
            </a:spcBef>
            <a:spcAft>
              <a:spcPct val="35000"/>
            </a:spcAft>
            <a:buNone/>
          </a:pPr>
          <a:r>
            <a:rPr lang="en-GB" sz="1050" kern="1200">
              <a:solidFill>
                <a:schemeClr val="tx1"/>
              </a:solidFill>
            </a:rPr>
            <a:t>TM to review and add comments</a:t>
          </a:r>
        </a:p>
      </dsp:txBody>
      <dsp:txXfrm>
        <a:off x="1325135" y="613165"/>
        <a:ext cx="870853" cy="1099222"/>
      </dsp:txXfrm>
    </dsp:sp>
    <dsp:sp modelId="{4B7A97EB-0BF6-46AD-8ED3-0F16E5484D7D}">
      <dsp:nvSpPr>
        <dsp:cNvPr id="0" name=""/>
        <dsp:cNvSpPr/>
      </dsp:nvSpPr>
      <dsp:spPr>
        <a:xfrm rot="11390">
          <a:off x="2315586" y="1050235"/>
          <a:ext cx="196109" cy="229410"/>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444500">
            <a:lnSpc>
              <a:spcPct val="90000"/>
            </a:lnSpc>
            <a:spcBef>
              <a:spcPct val="0"/>
            </a:spcBef>
            <a:spcAft>
              <a:spcPct val="35000"/>
            </a:spcAft>
            <a:buNone/>
          </a:pPr>
          <a:endParaRPr lang="en-GB" sz="1000" kern="1200"/>
        </a:p>
      </dsp:txBody>
      <dsp:txXfrm>
        <a:off x="2315586" y="1096020"/>
        <a:ext cx="137276" cy="137646"/>
      </dsp:txXfrm>
    </dsp:sp>
    <dsp:sp modelId="{D69FEE97-9BDC-432E-8DA8-FB5F3F29F548}">
      <dsp:nvSpPr>
        <dsp:cNvPr id="0" name=""/>
        <dsp:cNvSpPr/>
      </dsp:nvSpPr>
      <dsp:spPr>
        <a:xfrm>
          <a:off x="2593099" y="590362"/>
          <a:ext cx="925041" cy="1153410"/>
        </a:xfrm>
        <a:prstGeom prst="roundRect">
          <a:avLst>
            <a:gd name="adj" fmla="val 10000"/>
          </a:avLst>
        </a:prstGeom>
        <a:solidFill>
          <a:srgbClr val="CCE1BD"/>
        </a:solidFill>
        <a:ln w="12700" cap="flat" cmpd="sng" algn="ctr">
          <a:solidFill>
            <a:schemeClr val="bg2">
              <a:lumMod val="20000"/>
              <a:lumOff val="8000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1910" tIns="41910" rIns="41910" bIns="41910" numCol="1" spcCol="1270" anchor="ctr" anchorCtr="0">
          <a:noAutofit/>
        </a:bodyPr>
        <a:lstStyle/>
        <a:p>
          <a:pPr marL="0" lvl="0" indent="0" algn="ctr" defTabSz="488950">
            <a:lnSpc>
              <a:spcPct val="90000"/>
            </a:lnSpc>
            <a:spcBef>
              <a:spcPct val="0"/>
            </a:spcBef>
            <a:spcAft>
              <a:spcPct val="35000"/>
            </a:spcAft>
            <a:buNone/>
          </a:pPr>
          <a:r>
            <a:rPr lang="en-GB" sz="1100" kern="1200">
              <a:solidFill>
                <a:schemeClr val="tx1"/>
              </a:solidFill>
            </a:rPr>
            <a:t>Before sending for approval, ACFS check waiver amounts &amp; confirm.</a:t>
          </a:r>
        </a:p>
      </dsp:txBody>
      <dsp:txXfrm>
        <a:off x="2620193" y="617456"/>
        <a:ext cx="870853" cy="1099222"/>
      </dsp:txXfrm>
    </dsp:sp>
    <dsp:sp modelId="{BC46AA00-A202-4913-A1BC-14C5DA981201}">
      <dsp:nvSpPr>
        <dsp:cNvPr id="0" name=""/>
        <dsp:cNvSpPr/>
      </dsp:nvSpPr>
      <dsp:spPr>
        <a:xfrm>
          <a:off x="3610644" y="1052362"/>
          <a:ext cx="196108" cy="229410"/>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444500">
            <a:lnSpc>
              <a:spcPct val="90000"/>
            </a:lnSpc>
            <a:spcBef>
              <a:spcPct val="0"/>
            </a:spcBef>
            <a:spcAft>
              <a:spcPct val="35000"/>
            </a:spcAft>
            <a:buNone/>
          </a:pPr>
          <a:endParaRPr lang="en-GB" sz="1000" kern="1200"/>
        </a:p>
      </dsp:txBody>
      <dsp:txXfrm>
        <a:off x="3610644" y="1098244"/>
        <a:ext cx="137276" cy="137646"/>
      </dsp:txXfrm>
    </dsp:sp>
    <dsp:sp modelId="{53C77A10-5F8B-4DA0-976B-49FF814A7834}">
      <dsp:nvSpPr>
        <dsp:cNvPr id="0" name=""/>
        <dsp:cNvSpPr/>
      </dsp:nvSpPr>
      <dsp:spPr>
        <a:xfrm>
          <a:off x="3888157" y="590362"/>
          <a:ext cx="925041" cy="1153410"/>
        </a:xfrm>
        <a:prstGeom prst="roundRect">
          <a:avLst>
            <a:gd name="adj" fmla="val 10000"/>
          </a:avLst>
        </a:prstGeom>
        <a:solidFill>
          <a:schemeClr val="accent6">
            <a:lumMod val="20000"/>
            <a:lumOff val="8000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1910" tIns="41910" rIns="41910" bIns="41910" numCol="1" spcCol="1270" anchor="ctr" anchorCtr="0">
          <a:noAutofit/>
        </a:bodyPr>
        <a:lstStyle/>
        <a:p>
          <a:pPr marL="0" lvl="0" indent="0" algn="ctr" defTabSz="488950">
            <a:lnSpc>
              <a:spcPct val="90000"/>
            </a:lnSpc>
            <a:spcBef>
              <a:spcPct val="0"/>
            </a:spcBef>
            <a:spcAft>
              <a:spcPct val="35000"/>
            </a:spcAft>
            <a:buNone/>
          </a:pPr>
          <a:r>
            <a:rPr lang="en-GB" sz="1100" kern="1200">
              <a:solidFill>
                <a:schemeClr val="tx1"/>
              </a:solidFill>
            </a:rPr>
            <a:t>Allocate the form, for approval, based on the total waiver amount</a:t>
          </a:r>
        </a:p>
      </dsp:txBody>
      <dsp:txXfrm>
        <a:off x="3915251" y="617456"/>
        <a:ext cx="870853" cy="1099222"/>
      </dsp:txXfrm>
    </dsp:sp>
    <dsp:sp modelId="{412ABAAE-6DAD-4119-9BB4-DE304D44C8F9}">
      <dsp:nvSpPr>
        <dsp:cNvPr id="0" name=""/>
        <dsp:cNvSpPr/>
      </dsp:nvSpPr>
      <dsp:spPr>
        <a:xfrm>
          <a:off x="4905702" y="1052362"/>
          <a:ext cx="196108" cy="229410"/>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444500">
            <a:lnSpc>
              <a:spcPct val="90000"/>
            </a:lnSpc>
            <a:spcBef>
              <a:spcPct val="0"/>
            </a:spcBef>
            <a:spcAft>
              <a:spcPct val="35000"/>
            </a:spcAft>
            <a:buNone/>
          </a:pPr>
          <a:endParaRPr lang="en-GB" sz="1000" kern="1200"/>
        </a:p>
      </dsp:txBody>
      <dsp:txXfrm>
        <a:off x="4905702" y="1098244"/>
        <a:ext cx="137276" cy="137646"/>
      </dsp:txXfrm>
    </dsp:sp>
    <dsp:sp modelId="{737EC5F3-671B-485E-A2D2-C02927354F05}">
      <dsp:nvSpPr>
        <dsp:cNvPr id="0" name=""/>
        <dsp:cNvSpPr/>
      </dsp:nvSpPr>
      <dsp:spPr>
        <a:xfrm>
          <a:off x="5183214" y="590362"/>
          <a:ext cx="925041" cy="1153410"/>
        </a:xfrm>
        <a:prstGeom prst="roundRect">
          <a:avLst>
            <a:gd name="adj" fmla="val 10000"/>
          </a:avLst>
        </a:prstGeom>
        <a:solidFill>
          <a:srgbClr val="E7B7C0"/>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1910" tIns="41910" rIns="41910" bIns="41910" numCol="1" spcCol="1270" anchor="ctr" anchorCtr="0">
          <a:noAutofit/>
        </a:bodyPr>
        <a:lstStyle/>
        <a:p>
          <a:pPr marL="0" lvl="0" indent="0" algn="ctr" defTabSz="488950">
            <a:lnSpc>
              <a:spcPct val="90000"/>
            </a:lnSpc>
            <a:spcBef>
              <a:spcPct val="0"/>
            </a:spcBef>
            <a:spcAft>
              <a:spcPct val="35000"/>
            </a:spcAft>
            <a:buNone/>
          </a:pPr>
          <a:r>
            <a:rPr lang="en-GB" sz="1100" kern="1200">
              <a:solidFill>
                <a:schemeClr val="tx1"/>
              </a:solidFill>
            </a:rPr>
            <a:t>Request reviewed and approved / denied</a:t>
          </a:r>
          <a:r>
            <a:rPr lang="en-GB" sz="1200" kern="1200">
              <a:solidFill>
                <a:schemeClr val="tx1"/>
              </a:solidFill>
            </a:rPr>
            <a:t>.</a:t>
          </a:r>
        </a:p>
        <a:p>
          <a:pPr marL="0" lvl="0" indent="0" algn="ctr" defTabSz="488950">
            <a:lnSpc>
              <a:spcPct val="90000"/>
            </a:lnSpc>
            <a:spcBef>
              <a:spcPct val="0"/>
            </a:spcBef>
            <a:spcAft>
              <a:spcPct val="35000"/>
            </a:spcAft>
            <a:buNone/>
          </a:pPr>
          <a:endParaRPr lang="en-GB" sz="1200" kern="1200">
            <a:solidFill>
              <a:schemeClr val="tx1"/>
            </a:solidFill>
          </a:endParaRPr>
        </a:p>
      </dsp:txBody>
      <dsp:txXfrm>
        <a:off x="5210308" y="617456"/>
        <a:ext cx="870853" cy="1099222"/>
      </dsp:txXfrm>
    </dsp:sp>
  </dsp:spTree>
</dsp:drawing>
</file>

<file path=ppt/diagrams/layout1.xml><?xml version="1.0" encoding="utf-8"?>
<dgm:layoutDef xmlns:dgm="http://schemas.openxmlformats.org/drawingml/2006/diagram" xmlns:a="http://schemas.openxmlformats.org/drawingml/2006/main" uniqueId="urn:microsoft.com/office/officeart/2005/8/layout/lProcess1">
  <dgm:title val=""/>
  <dgm:desc val=""/>
  <dgm:catLst>
    <dgm:cat type="process" pri="15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Lst>
      <dgm:cxnLst>
        <dgm:cxn modelId="4" srcId="0" destId="1" srcOrd="0" destOrd="0"/>
        <dgm:cxn modelId="5" srcId="0" destId="2" srcOrd="0" destOrd="0"/>
        <dgm:cxn modelId="6" srcId="1" destId="3" srcOrd="1" destOrd="0"/>
        <dgm:cxn modelId="23" srcId="2" destId="21" srcOrd="0" destOrd="0"/>
        <dgm:cxn modelId="24" srcId="2" destId="22" srcOrd="1" destOrd="0"/>
        <dgm:cxn modelId="33" srcId="1" destId="31" srcOrd="0" destOrd="0"/>
      </dgm:cxnLst>
      <dgm:bg/>
      <dgm:whole/>
    </dgm:dataModel>
  </dgm:sampData>
  <dgm:styleData>
    <dgm:dataModel>
      <dgm:ptLst>
        <dgm:pt modelId="0" type="doc"/>
        <dgm:pt modelId="1"/>
        <dgm:pt modelId="11"/>
        <dgm:pt modelId="2"/>
        <dgm:pt modelId="22"/>
      </dgm:ptLst>
      <dgm:cxnLst>
        <dgm:cxn modelId="3" srcId="0" destId="1" srcOrd="0" destOrd="0"/>
        <dgm:cxn modelId="4" srcId="0" destId="2" srcOrd="0" destOrd="0"/>
        <dgm:cxn modelId="5" srcId="1" destId="11" srcOrd="0" destOrd="0"/>
        <dgm:cxn modelId="6" srcId="2" destId="22"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51" srcId="1" destId="11" srcOrd="0" destOrd="0"/>
        <dgm:cxn modelId="61" srcId="2" destId="21" srcOrd="0" destOrd="0"/>
        <dgm:cxn modelId="71" srcId="3" destId="31" srcOrd="0" destOrd="0"/>
        <dgm:cxn modelId="81" srcId="4" destId="41" srcOrd="0" destOrd="0"/>
      </dgm:cxnLst>
      <dgm:bg/>
      <dgm:whole/>
    </dgm:dataModel>
  </dgm:clrData>
  <dgm:layoutNode name="Name0">
    <dgm:varLst>
      <dgm:dir/>
      <dgm:animLvl val="lvl"/>
      <dgm:resizeHandles val="exact"/>
    </dgm:varLst>
    <dgm:choose name="Name1">
      <dgm:if name="Name2" func="var" arg="dir" op="equ" val="norm">
        <dgm:alg type="lin">
          <dgm:param type="linDir" val="fromL"/>
          <dgm:param type="vertAlign" val="mid"/>
          <dgm:param type="nodeHorzAlign" val="l"/>
          <dgm:param type="nodeVertAlign" val="t"/>
          <dgm:param type="fallback" val="2D"/>
        </dgm:alg>
      </dgm:if>
      <dgm:else name="Name3">
        <dgm:alg type="lin">
          <dgm:param type="linDir" val="fromR"/>
          <dgm:param type="vertAlign" val="mid"/>
          <dgm:param type="nodeHorzAlign" val="r"/>
          <dgm:param type="nodeVertAlign" val="t"/>
          <dgm:param type="fallback" val="2D"/>
        </dgm:alg>
      </dgm:else>
    </dgm:choose>
    <dgm:shape xmlns:r="http://schemas.openxmlformats.org/officeDocument/2006/relationships" r:blip="">
      <dgm:adjLst/>
    </dgm:shape>
    <dgm:presOf/>
    <dgm:constrLst>
      <dgm:constr type="h" for="des" forName="header" refType="h"/>
      <dgm:constr type="w" for="des" forName="header" refType="h" refFor="des" refForName="header" op="equ" fact="4"/>
      <dgm:constr type="h" for="des" forName="child" refType="h" refFor="des" refForName="header" op="equ"/>
      <dgm:constr type="w" for="des" forName="child" refType="w" refFor="des" refForName="header" op="equ"/>
      <dgm:constr type="w" for="ch" forName="hSp" refType="w" refFor="des" refForName="header" op="equ" fact="0.14"/>
      <dgm:constr type="h" for="des" forName="parTrans" refType="h" refFor="des" refForName="header" op="equ" fact="0.35"/>
      <dgm:constr type="h" for="des" forName="sibTrans" refType="h" refFor="des" refForName="parTrans" op="equ"/>
      <dgm:constr type="primFontSz" for="des" forName="child" op="equ" val="65"/>
      <dgm:constr type="primFontSz" for="des" forName="header" op="equ" val="65"/>
    </dgm:constrLst>
    <dgm:ruleLst/>
    <dgm:forEach name="Name4" axis="ch" ptType="node">
      <dgm:layoutNode name="vertFlow">
        <dgm:choose name="Name5">
          <dgm:if name="Name6" func="var" arg="dir" op="equ" val="norm">
            <dgm:alg type="lin">
              <dgm:param type="linDir" val="fromT"/>
              <dgm:param type="nodeHorzAlign" val="ctr"/>
              <dgm:param type="nodeVertAlign" val="t"/>
              <dgm:param type="fallback" val="2D"/>
            </dgm:alg>
          </dgm:if>
          <dgm:else name="Name7">
            <dgm:alg type="lin">
              <dgm:param type="linDir" val="fromT"/>
              <dgm:param type="nodeHorzAlign" val="ctr"/>
              <dgm:param type="nodeVertAlign" val="t"/>
              <dgm:param type="fallback" val="2D"/>
            </dgm:alg>
          </dgm:else>
        </dgm:choose>
        <dgm:shape xmlns:r="http://schemas.openxmlformats.org/officeDocument/2006/relationships" r:blip="">
          <dgm:adjLst/>
        </dgm:shape>
        <dgm:presOf/>
        <dgm:constrLst/>
        <dgm:ruleLst/>
        <dgm:layoutNode name="header" styleLbl="node1">
          <dgm:alg type="tx"/>
          <dgm:shape xmlns:r="http://schemas.openxmlformats.org/officeDocument/2006/relationships" type="roundRect" r:blip="">
            <dgm:adjLst>
              <dgm:adj idx="1" val="0.1"/>
            </dgm:adjLst>
          </dgm:shape>
          <dgm:presOf axis="self"/>
          <dgm:constrLst>
            <dgm:constr type="tMarg" refType="primFontSz" fact="0.1"/>
            <dgm:constr type="bMarg" refType="primFontSz" fact="0.1"/>
            <dgm:constr type="lMarg" refType="primFontSz" fact="0.1"/>
            <dgm:constr type="rMarg" refType="primFontSz" fact="0.1"/>
          </dgm:constrLst>
          <dgm:ruleLst>
            <dgm:rule type="primFontSz" val="5" fact="NaN" max="NaN"/>
          </dgm:ruleLst>
        </dgm:layoutNode>
        <dgm:forEach name="Name8" axis="ch" ptType="parTrans" cnt="1">
          <dgm:layoutNode name="parTrans" styleLbl="sibTrans2D1">
            <dgm:alg type="conn">
              <dgm:param type="begPts" val="auto"/>
              <dgm:param type="endPts" val="auto"/>
            </dgm:alg>
            <dgm:shape xmlns:r="http://schemas.openxmlformats.org/officeDocument/2006/relationships" type="conn" r:blip="">
              <dgm:adjLst/>
            </dgm:shape>
            <dgm:presOf axis="self"/>
            <dgm:constrLst>
              <dgm:constr type="w" refType="h"/>
              <dgm:constr type="connDist"/>
              <dgm:constr type="wArH" refType="h" fact="0.25"/>
              <dgm:constr type="hArH" refType="wArH" fact="2"/>
              <dgm:constr type="stemThick" refType="hArH" fact="0.667"/>
              <dgm:constr type="begPad" refType="connDist" fact="0.25"/>
              <dgm:constr type="endPad" refType="connDist" fact="0.25"/>
            </dgm:constrLst>
            <dgm:ruleLst/>
          </dgm:layoutNode>
        </dgm:forEach>
        <dgm:forEach name="Name9" axis="ch" ptType="node">
          <dgm:layoutNode name="child" styleLbl="alignAccFollowNode1">
            <dgm:varLst>
              <dgm:chMax val="0"/>
              <dgm:bulletEnabled val="1"/>
            </dgm:varLst>
            <dgm:alg type="tx"/>
            <dgm:shape xmlns:r="http://schemas.openxmlformats.org/officeDocument/2006/relationships" type="roundRect" r:blip="">
              <dgm:adjLst>
                <dgm:adj idx="1" val="0.1"/>
              </dgm:adjLst>
            </dgm:shape>
            <dgm:presOf axis="desOrSelf" ptType="node"/>
            <dgm:constrLst>
              <dgm:constr type="tMarg" refType="primFontSz" fact="0.1"/>
              <dgm:constr type="bMarg" refType="primFontSz" fact="0.1"/>
              <dgm:constr type="lMarg" refType="primFontSz" fact="0.1"/>
              <dgm:constr type="rMarg" refType="primFontSz" fact="0.1"/>
            </dgm:constrLst>
            <dgm:ruleLst>
              <dgm:rule type="primFontSz" val="5" fact="NaN" max="NaN"/>
            </dgm:ruleLst>
          </dgm:layoutNode>
          <dgm:forEach name="Name10" axis="followSib" ptType="sibTrans" cnt="1">
            <dgm:layoutNode name="sibTrans" styleLbl="sibTrans2D1">
              <dgm:alg type="conn">
                <dgm:param type="begPts" val="auto"/>
                <dgm:param type="endPts" val="auto"/>
              </dgm:alg>
              <dgm:shape xmlns:r="http://schemas.openxmlformats.org/officeDocument/2006/relationships" type="conn" r:blip="">
                <dgm:adjLst/>
              </dgm:shape>
              <dgm:presOf axis="self"/>
              <dgm:constrLst>
                <dgm:constr type="w" refType="h"/>
                <dgm:constr type="connDist"/>
                <dgm:constr type="wArH" refType="h" fact="0.25"/>
                <dgm:constr type="hArH" refType="wArH" fact="2"/>
                <dgm:constr type="stemThick" refType="hArH" fact="0.667"/>
                <dgm:constr type="begPad" refType="w" fact="0.25"/>
                <dgm:constr type="endPad" refType="w" fact="0.25"/>
              </dgm:constrLst>
              <dgm:ruleLst/>
            </dgm:layoutNode>
          </dgm:forEach>
        </dgm:forEach>
      </dgm:layoutNode>
      <dgm:choose name="Name11">
        <dgm:if name="Name12" axis="self" ptType="node" func="revPos" op="gte" val="2">
          <dgm:layoutNode name="hSp">
            <dgm:alg type="sp"/>
            <dgm:shape xmlns:r="http://schemas.openxmlformats.org/officeDocument/2006/relationships" r:blip="">
              <dgm:adjLst/>
            </dgm:shape>
            <dgm:presOf/>
            <dgm:constrLst/>
            <dgm:ruleLst/>
          </dgm:layoutNode>
        </dgm:if>
        <dgm:else name="Name13"/>
      </dgm:choose>
    </dgm:forEach>
  </dgm:layoutNode>
</dgm:layoutDef>
</file>

<file path=ppt/diagrams/layout2.xml><?xml version="1.0" encoding="utf-8"?>
<dgm:layoutDef xmlns:dgm="http://schemas.openxmlformats.org/drawingml/2006/diagram" xmlns:a="http://schemas.openxmlformats.org/drawingml/2006/main" uniqueId="urn:microsoft.com/office/officeart/2008/layout/VerticalCurvedList">
  <dgm:title val=""/>
  <dgm:desc val=""/>
  <dgm:catLst>
    <dgm:cat type="list" pri="20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rSet phldr="1"/>
        </dgm:pt>
        <dgm:pt modelId="2">
          <dgm:prSet phldr="1"/>
        </dgm:pt>
      </dgm:ptLst>
      <dgm:cxnLst>
        <dgm:cxn modelId="3" srcId="0" destId="1" srcOrd="0" destOrd="0"/>
        <dgm:cxn modelId="4" srcId="0" destId="2" srcOrd="1" destOrd="0"/>
      </dgm:cxnLst>
      <dgm:bg/>
      <dgm:whole/>
    </dgm:dataModel>
  </dgm:styleData>
  <dgm:clr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chMax val="7"/>
      <dgm:chPref val="7"/>
      <dgm:dir/>
    </dgm:varLst>
    <dgm:alg type="composite"/>
    <dgm:shape xmlns:r="http://schemas.openxmlformats.org/officeDocument/2006/relationships" r:blip="">
      <dgm:adjLst/>
    </dgm:shape>
    <dgm:constrLst>
      <dgm:constr type="w" for="ch" refType="h" refFor="ch" op="gte" fact="0.8"/>
    </dgm:constrLst>
    <dgm:layoutNode name="Name1">
      <dgm:alg type="composite"/>
      <dgm:shape xmlns:r="http://schemas.openxmlformats.org/officeDocument/2006/relationships" r:blip="">
        <dgm:adjLst/>
      </dgm:shape>
      <dgm:choose name="Name2">
        <dgm:if name="Name3" func="var" arg="dir" op="equ" val="norm">
          <dgm:choose name="Name4">
            <dgm:if name="Name5" axis="ch" ptType="node" func="cnt" op="equ" val="1">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625"/>
                <dgm:constr type="w" for="ch" forName="accent_1" refType="h" refFor="ch" refForName="accent_1" op="equ"/>
                <dgm:constr type="ctrY" for="ch" forName="accent_1" refType="h" fact="0.5"/>
                <dgm:constr type="ctrX" for="ch" forName="accent_1" refType="h" fact="0.2253"/>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primFontSz" for="ch" ptType="node" op="equ" val="65"/>
              </dgm:constrLst>
            </dgm:if>
            <dgm:if name="Name6" axis="ch" ptType="node" func="cnt" op="equ" val="2">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3571"/>
                <dgm:constr type="w" for="ch" forName="accent_1" refType="h" refFor="ch" refForName="accent_1" op="equ"/>
                <dgm:constr type="ctrY" for="ch" forName="accent_1" refType="h" fact="0.2857"/>
                <dgm:constr type="ctrX" for="ch" forName="accent_1" refType="h" fact="0.1891"/>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3571"/>
                <dgm:constr type="w" for="ch" forName="accent_2" refType="h" refFor="ch" refForName="accent_2" op="equ"/>
                <dgm:constr type="ctrY" for="ch" forName="accent_2" refType="h" fact="0.7143"/>
                <dgm:constr type="ctrX" for="ch" forName="accent_2" refType="h" fact="0.1891"/>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primFontSz" for="ch" ptType="node" op="equ" val="65"/>
              </dgm:constrLst>
            </dgm:if>
            <dgm:if name="Name7" axis="ch" ptType="node" func="cnt" op="equ" val="3">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25"/>
                <dgm:constr type="w" for="ch" forName="accent_1" refType="h" refFor="ch" refForName="accent_1" op="equ"/>
                <dgm:constr type="ctrY" for="ch" forName="accent_1" refType="h" fact="0.2"/>
                <dgm:constr type="ctrX" for="ch" forName="accent_1" refType="h" fact="0.1526"/>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25"/>
                <dgm:constr type="w" for="ch" forName="accent_2" refType="h" refFor="ch" refForName="accent_2" op="equ"/>
                <dgm:constr type="ctrY" for="ch" forName="accent_2" refType="h" fact="0.5"/>
                <dgm:constr type="ctrX" for="ch" forName="accent_2" refType="h" fact="0.2253"/>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25"/>
                <dgm:constr type="w" for="ch" forName="accent_3" refType="h" refFor="ch" refForName="accent_3" op="equ"/>
                <dgm:constr type="ctrY" for="ch" forName="accent_3" refType="h" fact="0.8"/>
                <dgm:constr type="ctrX" for="ch" forName="accent_3" refType="h" fact="0.1526"/>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primFontSz" for="ch" ptType="node" op="equ" val="65"/>
              </dgm:constrLst>
            </dgm:if>
            <dgm:if name="Name8" axis="ch" ptType="node" func="cnt" op="equ" val="4">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923"/>
                <dgm:constr type="w" for="ch" forName="accent_1" refType="h" refFor="ch" refForName="accent_1" op="equ"/>
                <dgm:constr type="ctrY" for="ch" forName="accent_1" refType="h" fact="0.1538"/>
                <dgm:constr type="ctrX" for="ch" forName="accent_1" refType="h" fact="0.1268"/>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923"/>
                <dgm:constr type="w" for="ch" forName="accent_2" refType="h" refFor="ch" refForName="accent_2" op="equ"/>
                <dgm:constr type="ctrY" for="ch" forName="accent_2" refType="h" fact="0.3846"/>
                <dgm:constr type="ctrX" for="ch" forName="accent_2" refType="h" fact="0.215"/>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923"/>
                <dgm:constr type="w" for="ch" forName="accent_3" refType="h" refFor="ch" refForName="accent_3" op="equ"/>
                <dgm:constr type="ctrY" for="ch" forName="accent_3" refType="h" fact="0.6154"/>
                <dgm:constr type="ctrX" for="ch" forName="accent_3" refType="h" fact="0.215"/>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923"/>
                <dgm:constr type="w" for="ch" forName="accent_4" refType="h" refFor="ch" refForName="accent_4" op="equ"/>
                <dgm:constr type="ctrY" for="ch" forName="accent_4" refType="h" fact="0.8462"/>
                <dgm:constr type="ctrX" for="ch" forName="accent_4" refType="h" fact="0.1268"/>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primFontSz" for="ch" ptType="node" op="equ" val="65"/>
              </dgm:constrLst>
            </dgm:if>
            <dgm:if name="Name9" axis="ch" ptType="node" func="cnt" op="equ" val="5">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563"/>
                <dgm:constr type="w" for="ch" forName="accent_1" refType="h" refFor="ch" refForName="accent_1" op="equ"/>
                <dgm:constr type="ctrY" for="ch" forName="accent_1" refType="h" fact="0.125"/>
                <dgm:constr type="ctrX" for="ch" forName="accent_1" refType="h" fact="0.1082"/>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563"/>
                <dgm:constr type="w" for="ch" forName="accent_2" refType="h" refFor="ch" refForName="accent_2" op="equ"/>
                <dgm:constr type="ctrY" for="ch" forName="accent_2" refType="h" fact="0.3125"/>
                <dgm:constr type="ctrX" for="ch" forName="accent_2" refType="h" fact="0.1978"/>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563"/>
                <dgm:constr type="w" for="ch" forName="accent_3" refType="h" refFor="ch" refForName="accent_3" op="equ"/>
                <dgm:constr type="ctrY" for="ch" forName="accent_3" refType="h" fact="0.5"/>
                <dgm:constr type="ctrX" for="ch" forName="accent_3" refType="h" fact="0.2253"/>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563"/>
                <dgm:constr type="w" for="ch" forName="accent_4" refType="h" refFor="ch" refForName="accent_4" op="equ"/>
                <dgm:constr type="ctrY" for="ch" forName="accent_4" refType="h" fact="0.6875"/>
                <dgm:constr type="ctrX" for="ch" forName="accent_4" refType="h" fact="0.1978"/>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h" for="ch" forName="accent_5" refType="h" fact="0.1563"/>
                <dgm:constr type="w" for="ch" forName="accent_5" refType="h" refFor="ch" refForName="accent_5" op="equ"/>
                <dgm:constr type="ctrY" for="ch" forName="accent_5" refType="h" fact="0.875"/>
                <dgm:constr type="ctrX" for="ch" forName="accent_5" refType="h" fact="0.1082"/>
                <dgm:constr type="l" for="ch" forName="text_5" refType="ctrX" refFor="ch" refForName="accent_5"/>
                <dgm:constr type="r" for="ch" forName="text_5" refType="w"/>
                <dgm:constr type="w" for="ch" forName="text_5" refType="h" refFor="ch" refForName="text_5" op="gte"/>
                <dgm:constr type="h" for="ch" forName="text_5" refType="h" refFor="ch" refForName="accent_5" fact="0.8"/>
                <dgm:constr type="ctrY" for="ch" forName="text_5" refType="ctrY" refFor="ch" refForName="accent_5"/>
                <dgm:constr type="lMarg" for="ch" forName="text_5" refType="w" refFor="ch" refForName="accent_5" fact="1.8"/>
                <dgm:constr type="primFontSz" for="ch" ptType="node" op="equ" val="65"/>
              </dgm:constrLst>
            </dgm:if>
            <dgm:if name="Name10" axis="ch" ptType="node" func="cnt" op="equ" val="6">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316"/>
                <dgm:constr type="w" for="ch" forName="accent_1" refType="h" refFor="ch" refForName="accent_1" op="equ"/>
                <dgm:constr type="ctrY" for="ch" forName="accent_1" refType="h" fact="0.1053"/>
                <dgm:constr type="ctrX" for="ch" forName="accent_1" refType="h" fact="0.0943"/>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316"/>
                <dgm:constr type="w" for="ch" forName="accent_2" refType="h" refFor="ch" refForName="accent_2" op="equ"/>
                <dgm:constr type="ctrY" for="ch" forName="accent_2" refType="h" fact="0.2632"/>
                <dgm:constr type="ctrX" for="ch" forName="accent_2" refType="h" fact="0.1809"/>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316"/>
                <dgm:constr type="w" for="ch" forName="accent_3" refType="h" refFor="ch" refForName="accent_3" op="equ"/>
                <dgm:constr type="ctrY" for="ch" forName="accent_3" refType="h" fact="0.4211"/>
                <dgm:constr type="ctrX" for="ch" forName="accent_3" refType="h" fact="0.2205"/>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316"/>
                <dgm:constr type="w" for="ch" forName="accent_4" refType="h" refFor="ch" refForName="accent_4" op="equ"/>
                <dgm:constr type="ctrY" for="ch" forName="accent_4" refType="h" fact="0.5789"/>
                <dgm:constr type="ctrX" for="ch" forName="accent_4" refType="h" fact="0.2205"/>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h" for="ch" forName="accent_5" refType="h" fact="0.1316"/>
                <dgm:constr type="w" for="ch" forName="accent_5" refType="h" refFor="ch" refForName="accent_5" op="equ"/>
                <dgm:constr type="ctrY" for="ch" forName="accent_5" refType="h" fact="0.7368"/>
                <dgm:constr type="ctrX" for="ch" forName="accent_5" refType="h" fact="0.1809"/>
                <dgm:constr type="l" for="ch" forName="text_5" refType="ctrX" refFor="ch" refForName="accent_5"/>
                <dgm:constr type="r" for="ch" forName="text_5" refType="w"/>
                <dgm:constr type="w" for="ch" forName="text_5" refType="h" refFor="ch" refForName="text_5" op="gte"/>
                <dgm:constr type="h" for="ch" forName="text_5" refType="h" refFor="ch" refForName="accent_5" fact="0.8"/>
                <dgm:constr type="ctrY" for="ch" forName="text_5" refType="ctrY" refFor="ch" refForName="accent_5"/>
                <dgm:constr type="lMarg" for="ch" forName="text_5" refType="w" refFor="ch" refForName="accent_5" fact="1.8"/>
                <dgm:constr type="h" for="ch" forName="accent_6" refType="h" fact="0.1316"/>
                <dgm:constr type="w" for="ch" forName="accent_6" refType="h" refFor="ch" refForName="accent_6" op="equ"/>
                <dgm:constr type="ctrY" for="ch" forName="accent_6" refType="h" fact="0.8947"/>
                <dgm:constr type="ctrX" for="ch" forName="accent_6" refType="h" fact="0.0943"/>
                <dgm:constr type="l" for="ch" forName="text_6" refType="ctrX" refFor="ch" refForName="accent_6"/>
                <dgm:constr type="r" for="ch" forName="text_6" refType="w"/>
                <dgm:constr type="w" for="ch" forName="text_6" refType="h" refFor="ch" refForName="text_6" op="gte"/>
                <dgm:constr type="h" for="ch" forName="text_6" refType="h" refFor="ch" refForName="accent_6" fact="0.8"/>
                <dgm:constr type="ctrY" for="ch" forName="text_6" refType="ctrY" refFor="ch" refForName="accent_6"/>
                <dgm:constr type="lMarg" for="ch" forName="text_6" refType="w" refFor="ch" refForName="accent_6" fact="1.8"/>
                <dgm:constr type="primFontSz" for="ch" ptType="node" op="equ" val="65"/>
              </dgm:constrLst>
            </dgm:if>
            <dgm:else name="Name11">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136"/>
                <dgm:constr type="w" for="ch" forName="accent_1" refType="h" refFor="ch" refForName="accent_1" op="equ"/>
                <dgm:constr type="ctrY" for="ch" forName="accent_1" refType="h" fact="0.0909"/>
                <dgm:constr type="ctrX" for="ch" forName="accent_1" refType="h" fact="0.0835"/>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136"/>
                <dgm:constr type="w" for="ch" forName="accent_2" refType="h" refFor="ch" refForName="accent_2" op="equ"/>
                <dgm:constr type="ctrY" for="ch" forName="accent_2" refType="h" fact="0.2273"/>
                <dgm:constr type="ctrX" for="ch" forName="accent_2" refType="h" fact="0.1658"/>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136"/>
                <dgm:constr type="w" for="ch" forName="accent_3" refType="h" refFor="ch" refForName="accent_3" op="equ"/>
                <dgm:constr type="ctrY" for="ch" forName="accent_3" refType="h" fact="0.3636"/>
                <dgm:constr type="ctrX" for="ch" forName="accent_3" refType="h" fact="0.2109"/>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136"/>
                <dgm:constr type="w" for="ch" forName="accent_4" refType="h" refFor="ch" refForName="accent_4" op="equ"/>
                <dgm:constr type="ctrY" for="ch" forName="accent_4" refType="h" fact="0.5"/>
                <dgm:constr type="ctrX" for="ch" forName="accent_4" refType="h" fact="0.2253"/>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h" for="ch" forName="accent_5" refType="h" fact="0.1136"/>
                <dgm:constr type="w" for="ch" forName="accent_5" refType="h" refFor="ch" refForName="accent_5" op="equ"/>
                <dgm:constr type="ctrY" for="ch" forName="accent_5" refType="h" fact="0.6364"/>
                <dgm:constr type="ctrX" for="ch" forName="accent_5" refType="h" fact="0.2109"/>
                <dgm:constr type="l" for="ch" forName="text_5" refType="ctrX" refFor="ch" refForName="accent_5"/>
                <dgm:constr type="r" for="ch" forName="text_5" refType="w"/>
                <dgm:constr type="w" for="ch" forName="text_5" refType="h" refFor="ch" refForName="text_5" op="gte"/>
                <dgm:constr type="h" for="ch" forName="text_5" refType="h" refFor="ch" refForName="accent_5" fact="0.8"/>
                <dgm:constr type="ctrY" for="ch" forName="text_5" refType="ctrY" refFor="ch" refForName="accent_5"/>
                <dgm:constr type="lMarg" for="ch" forName="text_5" refType="w" refFor="ch" refForName="accent_5" fact="1.8"/>
                <dgm:constr type="h" for="ch" forName="accent_6" refType="h" fact="0.1136"/>
                <dgm:constr type="w" for="ch" forName="accent_6" refType="h" refFor="ch" refForName="accent_6" op="equ"/>
                <dgm:constr type="ctrY" for="ch" forName="accent_6" refType="h" fact="0.7727"/>
                <dgm:constr type="ctrX" for="ch" forName="accent_6" refType="h" fact="0.1658"/>
                <dgm:constr type="l" for="ch" forName="text_6" refType="ctrX" refFor="ch" refForName="accent_6"/>
                <dgm:constr type="r" for="ch" forName="text_6" refType="w"/>
                <dgm:constr type="w" for="ch" forName="text_6" refType="h" refFor="ch" refForName="text_6" op="gte"/>
                <dgm:constr type="h" for="ch" forName="text_6" refType="h" refFor="ch" refForName="accent_6" fact="0.8"/>
                <dgm:constr type="ctrY" for="ch" forName="text_6" refType="ctrY" refFor="ch" refForName="accent_6"/>
                <dgm:constr type="lMarg" for="ch" forName="text_6" refType="w" refFor="ch" refForName="accent_6" fact="1.8"/>
                <dgm:constr type="h" for="ch" forName="accent_7" refType="h" fact="0.1136"/>
                <dgm:constr type="w" for="ch" forName="accent_7" refType="h" refFor="ch" refForName="accent_7" op="equ"/>
                <dgm:constr type="ctrY" for="ch" forName="accent_7" refType="h" fact="0.9091"/>
                <dgm:constr type="ctrX" for="ch" forName="accent_7" refType="h" fact="0.0835"/>
                <dgm:constr type="l" for="ch" forName="text_7" refType="ctrX" refFor="ch" refForName="accent_7"/>
                <dgm:constr type="r" for="ch" forName="text_7" refType="w"/>
                <dgm:constr type="w" for="ch" forName="text_7" refType="h" refFor="ch" refForName="text_7" op="gte"/>
                <dgm:constr type="h" for="ch" forName="text_7" refType="h" refFor="ch" refForName="accent_7" fact="0.8"/>
                <dgm:constr type="ctrY" for="ch" forName="text_7" refType="ctrY" refFor="ch" refForName="accent_7"/>
                <dgm:constr type="lMarg" for="ch" forName="text_7" refType="w" refFor="ch" refForName="accent_7" fact="1.8"/>
                <dgm:constr type="primFontSz" for="ch" ptType="node" op="equ" val="65"/>
              </dgm:constrLst>
            </dgm:else>
          </dgm:choose>
        </dgm:if>
        <dgm:else name="Name12">
          <dgm:choose name="Name13">
            <dgm:if name="Name14" axis="ch" ptType="node" func="cnt" op="equ" val="1">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625"/>
                <dgm:constr type="w" for="ch" forName="accent_1" refType="h" refFor="ch" refForName="accent_1" op="equ"/>
                <dgm:constr type="ctrY" for="ch" forName="accent_1" refType="h" fact="0.5"/>
                <dgm:constr type="ctrX" for="ch" forName="accent_1" refType="w"/>
                <dgm:constr type="ctrXOff" for="ch" forName="accent_1" refType="h" fact="-0.2253"/>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primFontSz" for="ch" ptType="node" op="equ" val="65"/>
              </dgm:constrLst>
            </dgm:if>
            <dgm:if name="Name15" axis="ch" ptType="node" func="cnt" op="equ" val="2">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3571"/>
                <dgm:constr type="w" for="ch" forName="accent_1" refType="h" refFor="ch" refForName="accent_1" op="equ"/>
                <dgm:constr type="ctrY" for="ch" forName="accent_1" refType="h" fact="0.2857"/>
                <dgm:constr type="ctrX" for="ch" forName="accent_1" refType="w"/>
                <dgm:constr type="ctrXOff" for="ch" forName="accent_1" refType="h" fact="-0.1891"/>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3571"/>
                <dgm:constr type="w" for="ch" forName="accent_2" refType="h" refFor="ch" refForName="accent_2" op="equ"/>
                <dgm:constr type="ctrY" for="ch" forName="accent_2" refType="h" fact="0.7143"/>
                <dgm:constr type="ctrX" for="ch" forName="accent_2" refType="w"/>
                <dgm:constr type="ctrXOff" for="ch" forName="accent_2" refType="h" fact="-0.1891"/>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primFontSz" for="ch" ptType="node" op="equ" val="65"/>
              </dgm:constrLst>
            </dgm:if>
            <dgm:if name="Name16" axis="ch" ptType="node" func="cnt" op="equ" val="3">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25"/>
                <dgm:constr type="w" for="ch" forName="accent_1" refType="h" refFor="ch" refForName="accent_1" op="equ"/>
                <dgm:constr type="ctrY" for="ch" forName="accent_1" refType="h" fact="0.2"/>
                <dgm:constr type="ctrX" for="ch" forName="accent_1" refType="w"/>
                <dgm:constr type="ctrXOff" for="ch" forName="accent_1" refType="h" fact="-0.1526"/>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25"/>
                <dgm:constr type="w" for="ch" forName="accent_2" refType="h" refFor="ch" refForName="accent_2" op="equ"/>
                <dgm:constr type="ctrY" for="ch" forName="accent_2" refType="h" fact="0.5"/>
                <dgm:constr type="ctrX" for="ch" forName="accent_2" refType="w"/>
                <dgm:constr type="ctrXOff" for="ch" forName="accent_2" refType="h" fact="-0.2253"/>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25"/>
                <dgm:constr type="w" for="ch" forName="accent_3" refType="h" refFor="ch" refForName="accent_3" op="equ"/>
                <dgm:constr type="ctrY" for="ch" forName="accent_3" refType="h" fact="0.8"/>
                <dgm:constr type="ctrX" for="ch" forName="accent_3" refType="w"/>
                <dgm:constr type="ctrXOff" for="ch" forName="accent_3" refType="h" fact="-0.1526"/>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primFontSz" for="ch" ptType="node" op="equ" val="65"/>
              </dgm:constrLst>
            </dgm:if>
            <dgm:if name="Name17" axis="ch" ptType="node" func="cnt" op="equ" val="4">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923"/>
                <dgm:constr type="w" for="ch" forName="accent_1" refType="h" refFor="ch" refForName="accent_1" op="equ"/>
                <dgm:constr type="ctrY" for="ch" forName="accent_1" refType="h" fact="0.1538"/>
                <dgm:constr type="ctrX" for="ch" forName="accent_1" refType="w"/>
                <dgm:constr type="ctrXOff" for="ch" forName="accent_1" refType="h" fact="-0.1268"/>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923"/>
                <dgm:constr type="w" for="ch" forName="accent_2" refType="h" refFor="ch" refForName="accent_2" op="equ"/>
                <dgm:constr type="ctrY" for="ch" forName="accent_2" refType="h" fact="0.3846"/>
                <dgm:constr type="ctrX" for="ch" forName="accent_2" refType="w"/>
                <dgm:constr type="ctrXOff" for="ch" forName="accent_2" refType="h" fact="-0.215"/>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923"/>
                <dgm:constr type="w" for="ch" forName="accent_3" refType="h" refFor="ch" refForName="accent_3" op="equ"/>
                <dgm:constr type="ctrY" for="ch" forName="accent_3" refType="h" fact="0.6154"/>
                <dgm:constr type="ctrX" for="ch" forName="accent_3" refType="w"/>
                <dgm:constr type="ctrXOff" for="ch" forName="accent_3" refType="h" fact="-0.215"/>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923"/>
                <dgm:constr type="w" for="ch" forName="accent_4" refType="h" refFor="ch" refForName="accent_4" op="equ"/>
                <dgm:constr type="ctrY" for="ch" forName="accent_4" refType="h" fact="0.8462"/>
                <dgm:constr type="ctrX" for="ch" forName="accent_4" refType="w"/>
                <dgm:constr type="ctrXOff" for="ch" forName="accent_4" refType="h" fact="-0.1268"/>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primFontSz" for="ch" ptType="node" op="equ" val="65"/>
              </dgm:constrLst>
            </dgm:if>
            <dgm:if name="Name18" axis="ch" ptType="node" func="cnt" op="equ" val="5">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563"/>
                <dgm:constr type="w" for="ch" forName="accent_1" refType="h" refFor="ch" refForName="accent_1" op="equ"/>
                <dgm:constr type="ctrY" for="ch" forName="accent_1" refType="h" fact="0.125"/>
                <dgm:constr type="ctrX" for="ch" forName="accent_1" refType="w"/>
                <dgm:constr type="ctrXOff" for="ch" forName="accent_1" refType="h" fact="-0.1082"/>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563"/>
                <dgm:constr type="w" for="ch" forName="accent_2" refType="h" refFor="ch" refForName="accent_2" op="equ"/>
                <dgm:constr type="ctrY" for="ch" forName="accent_2" refType="h" fact="0.3125"/>
                <dgm:constr type="ctrX" for="ch" forName="accent_2" refType="w"/>
                <dgm:constr type="ctrXOff" for="ch" forName="accent_2" refType="h" fact="-0.1978"/>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563"/>
                <dgm:constr type="w" for="ch" forName="accent_3" refType="h" refFor="ch" refForName="accent_3" op="equ"/>
                <dgm:constr type="ctrY" for="ch" forName="accent_3" refType="h" fact="0.5"/>
                <dgm:constr type="ctrX" for="ch" forName="accent_3" refType="w"/>
                <dgm:constr type="ctrXOff" for="ch" forName="accent_3" refType="h" fact="-0.2253"/>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563"/>
                <dgm:constr type="w" for="ch" forName="accent_4" refType="h" refFor="ch" refForName="accent_4" op="equ"/>
                <dgm:constr type="ctrY" for="ch" forName="accent_4" refType="h" fact="0.6875"/>
                <dgm:constr type="ctrX" for="ch" forName="accent_4" refType="w"/>
                <dgm:constr type="ctrXOff" for="ch" forName="accent_4" refType="h" fact="-0.1978"/>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h" for="ch" forName="accent_5" refType="h" fact="0.1563"/>
                <dgm:constr type="w" for="ch" forName="accent_5" refType="h" refFor="ch" refForName="accent_5" op="equ"/>
                <dgm:constr type="ctrY" for="ch" forName="accent_5" refType="h" fact="0.875"/>
                <dgm:constr type="ctrX" for="ch" forName="accent_5" refType="w"/>
                <dgm:constr type="ctrXOff" for="ch" forName="accent_5" refType="h" fact="-0.1082"/>
                <dgm:constr type="r" for="ch" forName="text_5" refType="ctrX" refFor="ch" refForName="accent_5"/>
                <dgm:constr type="rOff" for="ch" forName="text_5" refType="ctrXOff" refFor="ch" refForName="accent_5"/>
                <dgm:constr type="l" for="ch" forName="text_5"/>
                <dgm:constr type="w" for="ch" forName="text_5" refType="h" refFor="ch" refForName="text_5" op="gte"/>
                <dgm:constr type="h" for="ch" forName="text_5" refType="h" refFor="ch" refForName="accent_5" fact="0.8"/>
                <dgm:constr type="ctrY" for="ch" forName="text_5" refType="ctrY" refFor="ch" refForName="accent_5"/>
                <dgm:constr type="rMarg" for="ch" forName="text_5" refType="w" refFor="ch" refForName="accent_5" fact="1.8"/>
                <dgm:constr type="primFontSz" for="ch" ptType="node" op="equ" val="65"/>
              </dgm:constrLst>
            </dgm:if>
            <dgm:if name="Name19" axis="ch" ptType="node" func="cnt" op="equ" val="6">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316"/>
                <dgm:constr type="w" for="ch" forName="accent_1" refType="h" refFor="ch" refForName="accent_1" op="equ"/>
                <dgm:constr type="ctrY" for="ch" forName="accent_1" refType="h" fact="0.1053"/>
                <dgm:constr type="ctrX" for="ch" forName="accent_1" refType="w"/>
                <dgm:constr type="ctrXOff" for="ch" forName="accent_1" refType="h" fact="-0.0943"/>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316"/>
                <dgm:constr type="w" for="ch" forName="accent_2" refType="h" refFor="ch" refForName="accent_2" op="equ"/>
                <dgm:constr type="ctrY" for="ch" forName="accent_2" refType="h" fact="0.2632"/>
                <dgm:constr type="ctrX" for="ch" forName="accent_2" refType="w"/>
                <dgm:constr type="ctrXOff" for="ch" forName="accent_2" refType="h" fact="-0.1809"/>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316"/>
                <dgm:constr type="w" for="ch" forName="accent_3" refType="h" refFor="ch" refForName="accent_3" op="equ"/>
                <dgm:constr type="ctrY" for="ch" forName="accent_3" refType="h" fact="0.4211"/>
                <dgm:constr type="ctrX" for="ch" forName="accent_3" refType="w"/>
                <dgm:constr type="ctrXOff" for="ch" forName="accent_3" refType="h" fact="-0.2205"/>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316"/>
                <dgm:constr type="w" for="ch" forName="accent_4" refType="h" refFor="ch" refForName="accent_4" op="equ"/>
                <dgm:constr type="ctrY" for="ch" forName="accent_4" refType="h" fact="0.5789"/>
                <dgm:constr type="ctrX" for="ch" forName="accent_4" refType="w"/>
                <dgm:constr type="ctrXOff" for="ch" forName="accent_4" refType="h" fact="-0.2205"/>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h" for="ch" forName="accent_5" refType="h" fact="0.1316"/>
                <dgm:constr type="w" for="ch" forName="accent_5" refType="h" refFor="ch" refForName="accent_5" op="equ"/>
                <dgm:constr type="ctrY" for="ch" forName="accent_5" refType="h" fact="0.7368"/>
                <dgm:constr type="ctrX" for="ch" forName="accent_5" refType="w"/>
                <dgm:constr type="ctrXOff" for="ch" forName="accent_5" refType="h" fact="-0.1809"/>
                <dgm:constr type="r" for="ch" forName="text_5" refType="ctrX" refFor="ch" refForName="accent_5"/>
                <dgm:constr type="rOff" for="ch" forName="text_5" refType="ctrXOff" refFor="ch" refForName="accent_5"/>
                <dgm:constr type="l" for="ch" forName="text_5"/>
                <dgm:constr type="w" for="ch" forName="text_5" refType="h" refFor="ch" refForName="text_5" op="gte"/>
                <dgm:constr type="h" for="ch" forName="text_5" refType="h" refFor="ch" refForName="accent_5" fact="0.8"/>
                <dgm:constr type="ctrY" for="ch" forName="text_5" refType="ctrY" refFor="ch" refForName="accent_5"/>
                <dgm:constr type="rMarg" for="ch" forName="text_5" refType="w" refFor="ch" refForName="accent_5" fact="1.8"/>
                <dgm:constr type="h" for="ch" forName="accent_6" refType="h" fact="0.1316"/>
                <dgm:constr type="w" for="ch" forName="accent_6" refType="h" refFor="ch" refForName="accent_6" op="equ"/>
                <dgm:constr type="ctrY" for="ch" forName="accent_6" refType="h" fact="0.8947"/>
                <dgm:constr type="ctrX" for="ch" forName="accent_6" refType="w"/>
                <dgm:constr type="ctrXOff" for="ch" forName="accent_6" refType="h" fact="-0.0943"/>
                <dgm:constr type="r" for="ch" forName="text_6" refType="ctrX" refFor="ch" refForName="accent_6"/>
                <dgm:constr type="rOff" for="ch" forName="text_6" refType="ctrXOff" refFor="ch" refForName="accent_6"/>
                <dgm:constr type="l" for="ch" forName="text_6"/>
                <dgm:constr type="w" for="ch" forName="text_6" refType="h" refFor="ch" refForName="text_6" op="gte"/>
                <dgm:constr type="h" for="ch" forName="text_6" refType="h" refFor="ch" refForName="accent_6" fact="0.8"/>
                <dgm:constr type="ctrY" for="ch" forName="text_6" refType="ctrY" refFor="ch" refForName="accent_6"/>
                <dgm:constr type="rMarg" for="ch" forName="text_6" refType="w" refFor="ch" refForName="accent_6" fact="1.8"/>
                <dgm:constr type="primFontSz" for="ch" ptType="node" op="equ" val="65"/>
              </dgm:constrLst>
            </dgm:if>
            <dgm:else name="Name20">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136"/>
                <dgm:constr type="w" for="ch" forName="accent_1" refType="h" refFor="ch" refForName="accent_1" op="equ"/>
                <dgm:constr type="ctrY" for="ch" forName="accent_1" refType="h" fact="0.0909"/>
                <dgm:constr type="ctrX" for="ch" forName="accent_1" refType="w"/>
                <dgm:constr type="ctrXOff" for="ch" forName="accent_1" refType="h" fact="-0.0835"/>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136"/>
                <dgm:constr type="w" for="ch" forName="accent_2" refType="h" refFor="ch" refForName="accent_2" op="equ"/>
                <dgm:constr type="ctrY" for="ch" forName="accent_2" refType="h" fact="0.2273"/>
                <dgm:constr type="ctrX" for="ch" forName="accent_2" refType="w"/>
                <dgm:constr type="ctrXOff" for="ch" forName="accent_2" refType="h" fact="-0.1658"/>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136"/>
                <dgm:constr type="w" for="ch" forName="accent_3" refType="h" refFor="ch" refForName="accent_3" op="equ"/>
                <dgm:constr type="ctrY" for="ch" forName="accent_3" refType="h" fact="0.3636"/>
                <dgm:constr type="ctrX" for="ch" forName="accent_3" refType="w"/>
                <dgm:constr type="ctrXOff" for="ch" forName="accent_3" refType="h" fact="-0.2109"/>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136"/>
                <dgm:constr type="w" for="ch" forName="accent_4" refType="h" refFor="ch" refForName="accent_4" op="equ"/>
                <dgm:constr type="ctrY" for="ch" forName="accent_4" refType="h" fact="0.5"/>
                <dgm:constr type="ctrX" for="ch" forName="accent_4" refType="w"/>
                <dgm:constr type="ctrXOff" for="ch" forName="accent_4" refType="h" fact="-0.2253"/>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h" for="ch" forName="accent_5" refType="h" fact="0.1136"/>
                <dgm:constr type="w" for="ch" forName="accent_5" refType="h" refFor="ch" refForName="accent_5" op="equ"/>
                <dgm:constr type="ctrY" for="ch" forName="accent_5" refType="h" fact="0.6364"/>
                <dgm:constr type="ctrX" for="ch" forName="accent_5" refType="w"/>
                <dgm:constr type="ctrXOff" for="ch" forName="accent_5" refType="h" fact="-0.2109"/>
                <dgm:constr type="r" for="ch" forName="text_5" refType="ctrX" refFor="ch" refForName="accent_5"/>
                <dgm:constr type="rOff" for="ch" forName="text_5" refType="ctrXOff" refFor="ch" refForName="accent_5"/>
                <dgm:constr type="l" for="ch" forName="text_5"/>
                <dgm:constr type="w" for="ch" forName="text_5" refType="h" refFor="ch" refForName="text_5" op="gte"/>
                <dgm:constr type="h" for="ch" forName="text_5" refType="h" refFor="ch" refForName="accent_5" fact="0.8"/>
                <dgm:constr type="ctrY" for="ch" forName="text_5" refType="ctrY" refFor="ch" refForName="accent_5"/>
                <dgm:constr type="rMarg" for="ch" forName="text_5" refType="w" refFor="ch" refForName="accent_5" fact="1.8"/>
                <dgm:constr type="h" for="ch" forName="accent_6" refType="h" fact="0.1136"/>
                <dgm:constr type="w" for="ch" forName="accent_6" refType="h" refFor="ch" refForName="accent_6" op="equ"/>
                <dgm:constr type="ctrY" for="ch" forName="accent_6" refType="h" fact="0.7727"/>
                <dgm:constr type="ctrX" for="ch" forName="accent_6" refType="w"/>
                <dgm:constr type="ctrXOff" for="ch" forName="accent_6" refType="h" fact="-0.1658"/>
                <dgm:constr type="r" for="ch" forName="text_6" refType="ctrX" refFor="ch" refForName="accent_6"/>
                <dgm:constr type="rOff" for="ch" forName="text_6" refType="ctrXOff" refFor="ch" refForName="accent_6"/>
                <dgm:constr type="l" for="ch" forName="text_6"/>
                <dgm:constr type="w" for="ch" forName="text_6" refType="h" refFor="ch" refForName="text_6" op="gte"/>
                <dgm:constr type="h" for="ch" forName="text_6" refType="h" refFor="ch" refForName="accent_6" fact="0.8"/>
                <dgm:constr type="ctrY" for="ch" forName="text_6" refType="ctrY" refFor="ch" refForName="accent_6"/>
                <dgm:constr type="rMarg" for="ch" forName="text_6" refType="w" refFor="ch" refForName="accent_6" fact="1.8"/>
                <dgm:constr type="h" for="ch" forName="accent_7" refType="h" fact="0.1136"/>
                <dgm:constr type="w" for="ch" forName="accent_7" refType="h" refFor="ch" refForName="accent_7" op="equ"/>
                <dgm:constr type="ctrY" for="ch" forName="accent_7" refType="h" fact="0.9091"/>
                <dgm:constr type="ctrX" for="ch" forName="accent_7" refType="w"/>
                <dgm:constr type="ctrXOff" for="ch" forName="accent_7" refType="h" fact="-0.0835"/>
                <dgm:constr type="r" for="ch" forName="text_7" refType="ctrX" refFor="ch" refForName="accent_7"/>
                <dgm:constr type="rOff" for="ch" forName="text_7" refType="ctrXOff" refFor="ch" refForName="accent_7"/>
                <dgm:constr type="l" for="ch" forName="text_7"/>
                <dgm:constr type="w" for="ch" forName="text_7" refType="h" refFor="ch" refForName="text_7" op="gte"/>
                <dgm:constr type="h" for="ch" forName="text_7" refType="h" refFor="ch" refForName="accent_7" fact="0.8"/>
                <dgm:constr type="ctrY" for="ch" forName="text_7" refType="ctrY" refFor="ch" refForName="accent_7"/>
                <dgm:constr type="rMarg" for="ch" forName="text_7" refType="w" refFor="ch" refForName="accent_7" fact="1.8"/>
                <dgm:constr type="primFontSz" for="ch" ptType="node" op="equ" val="65"/>
              </dgm:constrLst>
            </dgm:else>
          </dgm:choose>
        </dgm:else>
      </dgm:choose>
      <dgm:layoutNode name="cycle">
        <dgm:choose name="Name21">
          <dgm:if name="Name22" func="var" arg="dir" op="equ" val="norm">
            <dgm:alg type="cycle">
              <dgm:param type="stAng" val="45"/>
              <dgm:param type="spanAng" val="90"/>
            </dgm:alg>
          </dgm:if>
          <dgm:else name="Name23">
            <dgm:alg type="cycle">
              <dgm:param type="stAng" val="225"/>
              <dgm:param type="spanAng" val="90"/>
            </dgm:alg>
          </dgm:else>
        </dgm:choose>
        <dgm:shape xmlns:r="http://schemas.openxmlformats.org/officeDocument/2006/relationships" r:blip="">
          <dgm:adjLst/>
        </dgm:shape>
        <dgm:presOf/>
        <dgm:constrLst>
          <dgm:constr type="w" for="ch" val="1"/>
          <dgm:constr type="h" for="ch" val="1"/>
          <dgm:constr type="diam" for="ch" forName="conn" refType="diam"/>
        </dgm:constrLst>
        <dgm:layoutNode name="srcNode">
          <dgm:alg type="sp"/>
          <dgm:shape xmlns:r="http://schemas.openxmlformats.org/officeDocument/2006/relationships" type="rect" r:blip="" hideGeom="1">
            <dgm:adjLst/>
          </dgm:shape>
          <dgm:presOf/>
        </dgm:layoutNode>
        <dgm:layoutNode name="conn" styleLbl="parChTrans1D2">
          <dgm:alg type="conn">
            <dgm:param type="connRout" val="curve"/>
            <dgm:param type="srcNode" val="srcNode"/>
            <dgm:param type="dstNode" val="dstNode"/>
            <dgm:param type="begPts" val="ctr"/>
            <dgm:param type="endPts" val="ctr"/>
            <dgm:param type="endSty" val="noArr"/>
          </dgm:alg>
          <dgm:shape xmlns:r="http://schemas.openxmlformats.org/officeDocument/2006/relationships" type="conn" r:blip="">
            <dgm:adjLst/>
          </dgm:shape>
          <dgm:presOf axis="desOrSelf" ptType="sibTrans" hideLastTrans="0" st="0" cnt="1"/>
          <dgm:constrLst>
            <dgm:constr type="begPad"/>
            <dgm:constr type="endPad"/>
          </dgm:constrLst>
        </dgm:layoutNode>
        <dgm:layoutNode name="extraNode">
          <dgm:alg type="sp"/>
          <dgm:shape xmlns:r="http://schemas.openxmlformats.org/officeDocument/2006/relationships" type="rect" r:blip="" hideGeom="1">
            <dgm:adjLst/>
          </dgm:shape>
          <dgm:presOf/>
        </dgm:layoutNode>
        <dgm:layoutNode name="dstNode">
          <dgm:alg type="sp"/>
          <dgm:shape xmlns:r="http://schemas.openxmlformats.org/officeDocument/2006/relationships" type="rect" r:blip="" hideGeom="1">
            <dgm:adjLst/>
          </dgm:shape>
          <dgm:presOf/>
        </dgm:layoutNode>
      </dgm:layoutNode>
      <dgm:forEach name="wrapper" axis="self" ptType="parTrans">
        <dgm:forEach name="wrapper2" axis="self" ptType="sibTrans" st="2">
          <dgm:forEach name="accentRepeat" axis="self">
            <dgm:layoutNode name="accentRepeatNode" styleLbl="solidFgAcc1">
              <dgm:alg type="sp"/>
              <dgm:shape xmlns:r="http://schemas.openxmlformats.org/officeDocument/2006/relationships" type="ellipse" r:blip="">
                <dgm:adjLst/>
              </dgm:shape>
              <dgm:presOf/>
            </dgm:layoutNode>
          </dgm:forEach>
        </dgm:forEach>
      </dgm:forEach>
      <dgm:forEach name="Name24" axis="ch" ptType="node" cnt="1">
        <dgm:layoutNode name="text_1" styleLbl="node1">
          <dgm:varLst>
            <dgm:bulletEnabled val="1"/>
          </dgm:varLst>
          <dgm:choose name="Name25">
            <dgm:if name="Name26" func="var" arg="dir" op="equ" val="norm">
              <dgm:alg type="tx">
                <dgm:param type="parTxLTRAlign" val="l"/>
                <dgm:param type="shpTxLTRAlignCh" val="l"/>
                <dgm:param type="parTxRTLAlign" val="l"/>
                <dgm:param type="shpTxRTLAlignCh" val="l"/>
              </dgm:alg>
            </dgm:if>
            <dgm:else name="Name2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1">
          <dgm:alg type="sp"/>
          <dgm:shape xmlns:r="http://schemas.openxmlformats.org/officeDocument/2006/relationships" r:blip="">
            <dgm:adjLst/>
          </dgm:shape>
          <dgm:presOf/>
          <dgm:constrLst/>
          <dgm:forEach name="Name28" ref="accentRepeat"/>
        </dgm:layoutNode>
      </dgm:forEach>
      <dgm:forEach name="Name29" axis="ch" ptType="node" st="2" cnt="1">
        <dgm:layoutNode name="text_2" styleLbl="node1">
          <dgm:varLst>
            <dgm:bulletEnabled val="1"/>
          </dgm:varLst>
          <dgm:choose name="Name30">
            <dgm:if name="Name31" func="var" arg="dir" op="equ" val="norm">
              <dgm:alg type="tx">
                <dgm:param type="parTxLTRAlign" val="l"/>
                <dgm:param type="shpTxLTRAlignCh" val="l"/>
                <dgm:param type="parTxRTLAlign" val="l"/>
                <dgm:param type="shpTxRTLAlignCh" val="l"/>
              </dgm:alg>
            </dgm:if>
            <dgm:else name="Name32">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2">
          <dgm:alg type="sp"/>
          <dgm:shape xmlns:r="http://schemas.openxmlformats.org/officeDocument/2006/relationships" r:blip="">
            <dgm:adjLst/>
          </dgm:shape>
          <dgm:presOf/>
          <dgm:constrLst/>
          <dgm:forEach name="Name33" ref="accentRepeat"/>
        </dgm:layoutNode>
      </dgm:forEach>
      <dgm:forEach name="Name34" axis="ch" ptType="node" st="3" cnt="1">
        <dgm:layoutNode name="text_3" styleLbl="node1">
          <dgm:varLst>
            <dgm:bulletEnabled val="1"/>
          </dgm:varLst>
          <dgm:choose name="Name35">
            <dgm:if name="Name36" func="var" arg="dir" op="equ" val="norm">
              <dgm:alg type="tx">
                <dgm:param type="parTxLTRAlign" val="l"/>
                <dgm:param type="shpTxLTRAlignCh" val="l"/>
                <dgm:param type="parTxRTLAlign" val="l"/>
                <dgm:param type="shpTxRTLAlignCh" val="l"/>
              </dgm:alg>
            </dgm:if>
            <dgm:else name="Name3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3">
          <dgm:alg type="sp"/>
          <dgm:shape xmlns:r="http://schemas.openxmlformats.org/officeDocument/2006/relationships" r:blip="">
            <dgm:adjLst/>
          </dgm:shape>
          <dgm:presOf/>
          <dgm:constrLst/>
          <dgm:forEach name="Name38" ref="accentRepeat"/>
        </dgm:layoutNode>
      </dgm:forEach>
      <dgm:forEach name="Name39" axis="ch" ptType="node" st="4" cnt="1">
        <dgm:layoutNode name="text_4" styleLbl="node1">
          <dgm:varLst>
            <dgm:bulletEnabled val="1"/>
          </dgm:varLst>
          <dgm:choose name="Name40">
            <dgm:if name="Name41" func="var" arg="dir" op="equ" val="norm">
              <dgm:alg type="tx">
                <dgm:param type="parTxLTRAlign" val="l"/>
                <dgm:param type="shpTxLTRAlignCh" val="l"/>
                <dgm:param type="parTxRTLAlign" val="l"/>
                <dgm:param type="shpTxRTLAlignCh" val="l"/>
              </dgm:alg>
            </dgm:if>
            <dgm:else name="Name42">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4">
          <dgm:alg type="sp"/>
          <dgm:shape xmlns:r="http://schemas.openxmlformats.org/officeDocument/2006/relationships" r:blip="">
            <dgm:adjLst/>
          </dgm:shape>
          <dgm:presOf/>
          <dgm:constrLst/>
          <dgm:forEach name="Name43" ref="accentRepeat"/>
        </dgm:layoutNode>
      </dgm:forEach>
      <dgm:forEach name="Name44" axis="ch" ptType="node" st="5" cnt="1">
        <dgm:layoutNode name="text_5" styleLbl="node1">
          <dgm:varLst>
            <dgm:bulletEnabled val="1"/>
          </dgm:varLst>
          <dgm:choose name="Name45">
            <dgm:if name="Name46" func="var" arg="dir" op="equ" val="norm">
              <dgm:alg type="tx">
                <dgm:param type="parTxLTRAlign" val="l"/>
                <dgm:param type="shpTxLTRAlignCh" val="l"/>
                <dgm:param type="parTxRTLAlign" val="l"/>
                <dgm:param type="shpTxRTLAlignCh" val="l"/>
              </dgm:alg>
            </dgm:if>
            <dgm:else name="Name4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5">
          <dgm:alg type="sp"/>
          <dgm:shape xmlns:r="http://schemas.openxmlformats.org/officeDocument/2006/relationships" r:blip="">
            <dgm:adjLst/>
          </dgm:shape>
          <dgm:presOf/>
          <dgm:constrLst/>
          <dgm:forEach name="Name48" ref="accentRepeat"/>
        </dgm:layoutNode>
      </dgm:forEach>
      <dgm:forEach name="Name49" axis="ch" ptType="node" st="6" cnt="1">
        <dgm:layoutNode name="text_6" styleLbl="node1">
          <dgm:varLst>
            <dgm:bulletEnabled val="1"/>
          </dgm:varLst>
          <dgm:choose name="Name50">
            <dgm:if name="Name51" func="var" arg="dir" op="equ" val="norm">
              <dgm:alg type="tx">
                <dgm:param type="parTxLTRAlign" val="l"/>
                <dgm:param type="shpTxLTRAlignCh" val="l"/>
                <dgm:param type="parTxRTLAlign" val="l"/>
                <dgm:param type="shpTxRTLAlignCh" val="l"/>
              </dgm:alg>
            </dgm:if>
            <dgm:else name="Name52">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6">
          <dgm:alg type="sp"/>
          <dgm:shape xmlns:r="http://schemas.openxmlformats.org/officeDocument/2006/relationships" r:blip="">
            <dgm:adjLst/>
          </dgm:shape>
          <dgm:presOf/>
          <dgm:constrLst/>
          <dgm:forEach name="Name53" ref="accentRepeat"/>
        </dgm:layoutNode>
      </dgm:forEach>
      <dgm:forEach name="Name54" axis="ch" ptType="node" st="7" cnt="1">
        <dgm:layoutNode name="text_7" styleLbl="node1">
          <dgm:varLst>
            <dgm:bulletEnabled val="1"/>
          </dgm:varLst>
          <dgm:choose name="Name55">
            <dgm:if name="Name56" func="var" arg="dir" op="equ" val="norm">
              <dgm:alg type="tx">
                <dgm:param type="parTxLTRAlign" val="l"/>
                <dgm:param type="shpTxLTRAlignCh" val="l"/>
                <dgm:param type="parTxRTLAlign" val="l"/>
                <dgm:param type="shpTxRTLAlignCh" val="l"/>
              </dgm:alg>
            </dgm:if>
            <dgm:else name="Name5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7">
          <dgm:alg type="sp"/>
          <dgm:shape xmlns:r="http://schemas.openxmlformats.org/officeDocument/2006/relationships" r:blip="">
            <dgm:adjLst/>
          </dgm:shape>
          <dgm:presOf/>
          <dgm:constrLst/>
          <dgm:forEach name="Name58" ref="accentRepeat"/>
        </dgm:layoutNode>
      </dgm:forEach>
    </dgm:layoutNode>
  </dgm:layoutNode>
</dgm:layoutDef>
</file>

<file path=ppt/diagrams/layout3.xml><?xml version="1.0" encoding="utf-8"?>
<dgm:layoutDef xmlns:dgm="http://schemas.openxmlformats.org/drawingml/2006/diagram" xmlns:a="http://schemas.openxmlformats.org/drawingml/2006/main" uniqueId="urn:microsoft.com/office/officeart/2005/8/layout/chevron2">
  <dgm:title val=""/>
  <dgm:desc val=""/>
  <dgm:catLst>
    <dgm:cat type="process" pri="12000"/>
    <dgm:cat type="list" pri="16000"/>
    <dgm:cat type="convert" pri="11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Lst>
      <dgm:cxnLst>
        <dgm:cxn modelId="4" srcId="0" destId="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linearFlow">
    <dgm:varLst>
      <dgm:dir/>
      <dgm:animLvl val="lvl"/>
      <dgm:resizeHandles val="exact"/>
    </dgm:varLst>
    <dgm:alg type="lin">
      <dgm:param type="linDir" val="fromT"/>
      <dgm:param type="nodeHorzAlign" val="l"/>
    </dgm:alg>
    <dgm:shape xmlns:r="http://schemas.openxmlformats.org/officeDocument/2006/relationships" r:blip="">
      <dgm:adjLst/>
    </dgm:shape>
    <dgm:presOf/>
    <dgm:constrLst>
      <dgm:constr type="h" for="ch" forName="composite" refType="h"/>
      <dgm:constr type="w" for="ch" forName="composite" refType="w"/>
      <dgm:constr type="h" for="des" forName="parentText" op="equ"/>
      <dgm:constr type="h" for="ch" forName="sp" val="-14.88"/>
      <dgm:constr type="h" for="ch" forName="sp" refType="w" refFor="des" refForName="parentText" op="gte" fact="-0.3"/>
      <dgm:constr type="primFontSz" for="des" forName="parentText" op="equ" val="65"/>
      <dgm:constr type="primFontSz" for="des" forName="descendantText" op="equ" val="65"/>
    </dgm:constrLst>
    <dgm:ruleLst/>
    <dgm:forEach name="Name0" axis="ch" ptType="node">
      <dgm:layoutNode name="composite">
        <dgm:alg type="composite"/>
        <dgm:shape xmlns:r="http://schemas.openxmlformats.org/officeDocument/2006/relationships" r:blip="">
          <dgm:adjLst/>
        </dgm:shape>
        <dgm:presOf/>
        <dgm:choose name="Name1">
          <dgm:if name="Name2" func="var" arg="dir" op="equ" val="norm">
            <dgm:constrLst>
              <dgm:constr type="t" for="ch" forName="parentText"/>
              <dgm:constr type="l" for="ch" forName="parentText"/>
              <dgm:constr type="w" for="ch" forName="parentText" refType="w" fact="0.4"/>
              <dgm:constr type="h" for="ch" forName="parentText" refType="h"/>
              <dgm:constr type="w" for="ch" forName="parentText" refType="w" op="lte" fact="0.5"/>
              <dgm:constr type="w" for="ch" forName="parentText" refType="h" refFor="ch" refForName="parentText" op="lte" fact="0.7"/>
              <dgm:constr type="h" for="ch" forName="parentText" refType="w" refFor="ch" refForName="parentText" op="lte" fact="3"/>
              <dgm:constr type="l" for="ch" forName="descendantText" refType="w" refFor="ch" refForName="parentText"/>
              <dgm:constr type="w" for="ch" forName="descendantText" refType="w"/>
              <dgm:constr type="wOff" for="ch" forName="descendantText" refType="w" refFor="ch" refForName="parentText" fact="-1"/>
              <dgm:constr type="t" for="ch" forName="descendantText"/>
              <dgm:constr type="b" for="ch" forName="descendantText" refType="h" refFor="ch" refForName="parentText"/>
              <dgm:constr type="bOff" for="ch" forName="descendantText" refType="w" refFor="ch" refForName="parentText" fact="-0.5"/>
            </dgm:constrLst>
          </dgm:if>
          <dgm:else name="Name3">
            <dgm:constrLst>
              <dgm:constr type="t" for="ch" forName="parentText"/>
              <dgm:constr type="r" for="ch" forName="parentText" refType="w"/>
              <dgm:constr type="w" for="ch" forName="parentText" refType="w" fact="0.4"/>
              <dgm:constr type="h" for="ch" forName="parentText" refType="h"/>
              <dgm:constr type="w" for="ch" forName="parentText" refType="w" op="lte" fact="0.5"/>
              <dgm:constr type="w" for="ch" forName="parentText" refType="h" refFor="ch" refForName="parentText" op="lte" fact="0.7"/>
              <dgm:constr type="h" for="ch" forName="parentText" refType="w" refFor="ch" refForName="parentText" op="lte" fact="3"/>
              <dgm:constr type="l" for="ch" forName="descendantText"/>
              <dgm:constr type="w" for="ch" forName="descendantText" refType="w"/>
              <dgm:constr type="wOff" for="ch" forName="descendantText" refType="w" refFor="ch" refForName="parentText" fact="-1"/>
              <dgm:constr type="t" for="ch" forName="descendantText"/>
              <dgm:constr type="b" for="ch" forName="descendantText" refType="h" refFor="ch" refForName="parentText"/>
              <dgm:constr type="bOff" for="ch" forName="descendantText" refType="w" refFor="ch" refForName="parentText" fact="-0.5"/>
            </dgm:constrLst>
          </dgm:else>
        </dgm:choose>
        <dgm:ruleLst/>
        <dgm:layoutNode name="parentText" styleLbl="alignNode1">
          <dgm:varLst>
            <dgm:chMax val="1"/>
            <dgm:bulletEnabled val="1"/>
          </dgm:varLst>
          <dgm:alg type="tx"/>
          <dgm:shape xmlns:r="http://schemas.openxmlformats.org/officeDocument/2006/relationships" rot="90" type="chevron" r:blip="">
            <dgm:adjLst/>
          </dgm:shape>
          <dgm:presOf axis="self" ptType="node"/>
          <dgm:constrLst>
            <dgm:constr type="lMarg" refType="primFontSz" fact="0.05"/>
            <dgm:constr type="rMarg" refType="primFontSz" fact="0.05"/>
            <dgm:constr type="tMarg" refType="primFontSz" fact="0.05"/>
            <dgm:constr type="bMarg" refType="primFontSz" fact="0.05"/>
          </dgm:constrLst>
          <dgm:ruleLst>
            <dgm:rule type="h" val="100" fact="NaN" max="NaN"/>
            <dgm:rule type="primFontSz" val="24" fact="NaN" max="NaN"/>
            <dgm:rule type="h" val="110" fact="NaN" max="NaN"/>
            <dgm:rule type="primFontSz" val="18" fact="NaN" max="NaN"/>
            <dgm:rule type="h" val="INF" fact="NaN" max="NaN"/>
            <dgm:rule type="primFontSz" val="5" fact="NaN" max="NaN"/>
          </dgm:ruleLst>
        </dgm:layoutNode>
        <dgm:layoutNode name="descendantText" styleLbl="alignAcc1">
          <dgm:varLst>
            <dgm:bulletEnabled val="1"/>
          </dgm:varLst>
          <dgm:choose name="Name4">
            <dgm:if name="Name5" func="var" arg="dir" op="equ" val="norm">
              <dgm:alg type="tx">
                <dgm:param type="stBulletLvl" val="1"/>
                <dgm:param type="txAnchorVertCh" val="mid"/>
              </dgm:alg>
              <dgm:shape xmlns:r="http://schemas.openxmlformats.org/officeDocument/2006/relationships" rot="90" type="round2SameRect" r:blip="">
                <dgm:adjLst/>
              </dgm:shape>
            </dgm:if>
            <dgm:else name="Name6">
              <dgm:alg type="tx">
                <dgm:param type="stBulletLvl" val="1"/>
                <dgm:param type="txAnchorVertCh" val="mid"/>
              </dgm:alg>
              <dgm:shape xmlns:r="http://schemas.openxmlformats.org/officeDocument/2006/relationships" rot="-90" type="round2SameRect" r:blip="">
                <dgm:adjLst/>
              </dgm:shape>
            </dgm:else>
          </dgm:choose>
          <dgm:presOf axis="des" ptType="node"/>
          <dgm:choose name="Name7">
            <dgm:if name="Name8" func="var" arg="dir" op="equ" val="norm">
              <dgm:constrLst>
                <dgm:constr type="secFontSz" refType="primFontSz"/>
                <dgm:constr type="tMarg" refType="primFontSz" fact="0.05"/>
                <dgm:constr type="bMarg" refType="primFontSz" fact="0.05"/>
                <dgm:constr type="rMarg" refType="primFontSz" fact="0.05"/>
              </dgm:constrLst>
            </dgm:if>
            <dgm:else name="Name9">
              <dgm:constrLst>
                <dgm:constr type="secFontSz" refType="primFontSz"/>
                <dgm:constr type="tMarg" refType="primFontSz" fact="0.05"/>
                <dgm:constr type="bMarg" refType="primFontSz" fact="0.05"/>
                <dgm:constr type="lMarg" refType="primFontSz" fact="0.05"/>
              </dgm:constrLst>
            </dgm:else>
          </dgm:choose>
          <dgm:ruleLst>
            <dgm:rule type="primFontSz" val="5" fact="NaN" max="NaN"/>
          </dgm:ruleLst>
        </dgm:layoutNode>
      </dgm:layoutNode>
      <dgm:forEach name="Name10" axis="followSib" ptType="sibTrans" cnt="1">
        <dgm:layoutNode name="sp">
          <dgm:alg type="sp"/>
          <dgm:shape xmlns:r="http://schemas.openxmlformats.org/officeDocument/2006/relationships" r:blip="">
            <dgm:adjLst/>
          </dgm:shape>
          <dgm:presOf axis="self"/>
          <dgm:constrLst>
            <dgm:constr type="w" val="1"/>
            <dgm:constr type="h" val="37.5"/>
          </dgm:constrLst>
          <dgm:ruleLst/>
        </dgm:layoutNode>
      </dgm:forEach>
    </dgm:forEach>
  </dgm:layoutNode>
</dgm:layoutDef>
</file>

<file path=ppt/diagrams/layout4.xml><?xml version="1.0" encoding="utf-8"?>
<dgm:layoutDef xmlns:dgm="http://schemas.openxmlformats.org/drawingml/2006/diagram" xmlns:a="http://schemas.openxmlformats.org/drawingml/2006/main" uniqueId="urn:microsoft.com/office/officeart/2005/8/layout/process1">
  <dgm:title val=""/>
  <dgm:desc val=""/>
  <dgm:catLst>
    <dgm:cat type="process" pri="1000"/>
    <dgm:cat type="convert" pri="15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w" for="ch" ptType="node" refType="w"/>
      <dgm:constr type="h" for="ch" ptType="node" op="equ"/>
      <dgm:constr type="primFontSz" for="ch" ptType="node" op="equ" val="65"/>
      <dgm:constr type="w" for="ch" ptType="sibTrans" refType="w" refFor="ch" refPtType="node" op="equ" fact="0.4"/>
      <dgm:constr type="h" for="ch" ptType="sibTrans" op="equ"/>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shape xmlns:r="http://schemas.openxmlformats.org/officeDocument/2006/relationships" type="roundRect" r:blip="">
          <dgm:adjLst>
            <dgm:adj idx="1" val="0.1"/>
          </dgm:adjLst>
        </dgm:shape>
        <dgm:presOf axis="desOrSelf" ptType="node"/>
        <dgm:constrLst>
          <dgm:constr type="h" refType="w" fact="0.6"/>
          <dgm:constr type="tMarg" refType="primFontSz" fact="0.3"/>
          <dgm:constr type="bMarg" refType="primFontSz" fact="0.3"/>
          <dgm:constr type="lMarg" refType="primFontSz" fact="0.3"/>
          <dgm:constr type="rMarg" refType="primFontSz" fact="0.3"/>
        </dgm:constrLst>
        <dgm:ruleLst>
          <dgm:rule type="primFontSz" val="18" fact="NaN" max="NaN"/>
          <dgm:rule type="h" val="NaN" fact="1.5" max="NaN"/>
          <dgm:rule type="primFontSz" val="5" fact="NaN" max="NaN"/>
          <dgm:rule type="h" val="INF" fact="NaN" max="NaN"/>
        </dgm:ruleLst>
      </dgm:layoutNode>
      <dgm:forEach name="sibTransForEach" axis="followSib" ptType="sibTrans" cnt="1">
        <dgm:layoutNode name="sibTrans">
          <dgm:alg type="conn">
            <dgm:param type="begPts" val="auto"/>
            <dgm:param type="endPts" val="auto"/>
          </dgm:alg>
          <dgm:shape xmlns:r="http://schemas.openxmlformats.org/officeDocument/2006/relationships" type="conn" r:blip="">
            <dgm:adjLst/>
          </dgm:shape>
          <dgm:presOf axis="self"/>
          <dgm:constrLst>
            <dgm:constr type="h" refType="w" fact="0.62"/>
            <dgm:constr type="connDist"/>
            <dgm:constr type="begPad" refType="connDist" fact="0.25"/>
            <dgm:constr type="endPad" refType="connDist" fact="0.22"/>
          </dgm:constrLst>
          <dgm:ruleLst/>
          <dgm:layoutNode name="connectorText">
            <dgm:alg type="tx">
              <dgm:param type="autoTxRot" val="grav"/>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46400" cy="49688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49688" y="0"/>
            <a:ext cx="2946400" cy="496888"/>
          </a:xfrm>
          <a:prstGeom prst="rect">
            <a:avLst/>
          </a:prstGeom>
        </p:spPr>
        <p:txBody>
          <a:bodyPr vert="horz" lIns="91440" tIns="45720" rIns="91440" bIns="45720" rtlCol="0"/>
          <a:lstStyle>
            <a:lvl1pPr algn="r">
              <a:defRPr sz="1200"/>
            </a:lvl1pPr>
          </a:lstStyle>
          <a:p>
            <a:fld id="{3BCB40E3-C83F-4E8D-9416-A051A1A98A69}" type="datetimeFigureOut">
              <a:rPr lang="en-GB" smtClean="0"/>
              <a:t>16/04/2026</a:t>
            </a:fld>
            <a:endParaRPr lang="en-GB"/>
          </a:p>
        </p:txBody>
      </p:sp>
      <p:sp>
        <p:nvSpPr>
          <p:cNvPr id="4" name="Slide Image Placeholder 3"/>
          <p:cNvSpPr>
            <a:spLocks noGrp="1" noRot="1" noChangeAspect="1"/>
          </p:cNvSpPr>
          <p:nvPr>
            <p:ph type="sldImg" idx="2"/>
          </p:nvPr>
        </p:nvSpPr>
        <p:spPr>
          <a:xfrm>
            <a:off x="1165225" y="1241425"/>
            <a:ext cx="4467225" cy="3349625"/>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79450" y="4776788"/>
            <a:ext cx="5438775" cy="3908425"/>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0" y="9429750"/>
            <a:ext cx="2946400" cy="496888"/>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49688" y="9429750"/>
            <a:ext cx="2946400" cy="496888"/>
          </a:xfrm>
          <a:prstGeom prst="rect">
            <a:avLst/>
          </a:prstGeom>
        </p:spPr>
        <p:txBody>
          <a:bodyPr vert="horz" lIns="91440" tIns="45720" rIns="91440" bIns="45720" rtlCol="0" anchor="b"/>
          <a:lstStyle>
            <a:lvl1pPr algn="r">
              <a:defRPr sz="1200"/>
            </a:lvl1pPr>
          </a:lstStyle>
          <a:p>
            <a:fld id="{984C0DCD-BEEC-4E11-95DB-35DE2147D493}" type="slidenum">
              <a:rPr lang="en-GB" smtClean="0"/>
              <a:t>‹#›</a:t>
            </a:fld>
            <a:endParaRPr lang="en-GB"/>
          </a:p>
        </p:txBody>
      </p:sp>
    </p:spTree>
    <p:extLst>
      <p:ext uri="{BB962C8B-B14F-4D97-AF65-F5344CB8AC3E}">
        <p14:creationId xmlns:p14="http://schemas.microsoft.com/office/powerpoint/2010/main" val="90192141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b="0" dirty="0">
              <a:solidFill>
                <a:srgbClr val="FF0000"/>
              </a:solidFill>
            </a:endParaRPr>
          </a:p>
        </p:txBody>
      </p:sp>
      <p:sp>
        <p:nvSpPr>
          <p:cNvPr id="4" name="Slide Number Placeholder 3"/>
          <p:cNvSpPr>
            <a:spLocks noGrp="1"/>
          </p:cNvSpPr>
          <p:nvPr>
            <p:ph type="sldNum" sz="quarter" idx="5"/>
          </p:nvPr>
        </p:nvSpPr>
        <p:spPr/>
        <p:txBody>
          <a:bodyPr/>
          <a:lstStyle/>
          <a:p>
            <a:fld id="{984C0DCD-BEEC-4E11-95DB-35DE2147D493}" type="slidenum">
              <a:rPr lang="en-GB" smtClean="0"/>
              <a:t>1</a:t>
            </a:fld>
            <a:endParaRPr lang="en-GB"/>
          </a:p>
        </p:txBody>
      </p:sp>
    </p:spTree>
    <p:extLst>
      <p:ext uri="{BB962C8B-B14F-4D97-AF65-F5344CB8AC3E}">
        <p14:creationId xmlns:p14="http://schemas.microsoft.com/office/powerpoint/2010/main" val="64689625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984C0DCD-BEEC-4E11-95DB-35DE2147D493}" type="slidenum">
              <a:rPr lang="en-GB" smtClean="0"/>
              <a:t>2</a:t>
            </a:fld>
            <a:endParaRPr lang="en-GB"/>
          </a:p>
        </p:txBody>
      </p:sp>
    </p:spTree>
    <p:extLst>
      <p:ext uri="{BB962C8B-B14F-4D97-AF65-F5344CB8AC3E}">
        <p14:creationId xmlns:p14="http://schemas.microsoft.com/office/powerpoint/2010/main" val="208130040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984C0DCD-BEEC-4E11-95DB-35DE2147D493}" type="slidenum">
              <a:rPr lang="en-GB" smtClean="0"/>
              <a:t>3</a:t>
            </a:fld>
            <a:endParaRPr lang="en-GB"/>
          </a:p>
        </p:txBody>
      </p:sp>
    </p:spTree>
    <p:extLst>
      <p:ext uri="{BB962C8B-B14F-4D97-AF65-F5344CB8AC3E}">
        <p14:creationId xmlns:p14="http://schemas.microsoft.com/office/powerpoint/2010/main" val="291756901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b="0" dirty="0"/>
          </a:p>
        </p:txBody>
      </p:sp>
      <p:sp>
        <p:nvSpPr>
          <p:cNvPr id="4" name="Slide Number Placeholder 3"/>
          <p:cNvSpPr>
            <a:spLocks noGrp="1"/>
          </p:cNvSpPr>
          <p:nvPr>
            <p:ph type="sldNum" sz="quarter" idx="5"/>
          </p:nvPr>
        </p:nvSpPr>
        <p:spPr/>
        <p:txBody>
          <a:bodyPr/>
          <a:lstStyle/>
          <a:p>
            <a:fld id="{984C0DCD-BEEC-4E11-95DB-35DE2147D493}" type="slidenum">
              <a:rPr lang="en-GB" smtClean="0"/>
              <a:t>4</a:t>
            </a:fld>
            <a:endParaRPr lang="en-GB"/>
          </a:p>
        </p:txBody>
      </p:sp>
    </p:spTree>
    <p:extLst>
      <p:ext uri="{BB962C8B-B14F-4D97-AF65-F5344CB8AC3E}">
        <p14:creationId xmlns:p14="http://schemas.microsoft.com/office/powerpoint/2010/main" val="33203737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7947983-FEC3-3F79-2C84-5ACE5B0E88B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0F22F38-38C4-BBD0-F01A-CC193F46B91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94EEC94-9228-0978-7BF3-A5613B2C594A}"/>
              </a:ext>
            </a:extLst>
          </p:cNvPr>
          <p:cNvSpPr>
            <a:spLocks noGrp="1"/>
          </p:cNvSpPr>
          <p:nvPr>
            <p:ph type="body" idx="1"/>
          </p:nvPr>
        </p:nvSpPr>
        <p:spPr/>
        <p:txBody>
          <a:bodyPr/>
          <a:lstStyle/>
          <a:p>
            <a:endParaRPr lang="en-GB" dirty="0"/>
          </a:p>
        </p:txBody>
      </p:sp>
      <p:sp>
        <p:nvSpPr>
          <p:cNvPr id="4" name="Slide Number Placeholder 3">
            <a:extLst>
              <a:ext uri="{FF2B5EF4-FFF2-40B4-BE49-F238E27FC236}">
                <a16:creationId xmlns:a16="http://schemas.microsoft.com/office/drawing/2014/main" id="{00428A24-07B6-8E62-D4D4-028EF999A140}"/>
              </a:ext>
            </a:extLst>
          </p:cNvPr>
          <p:cNvSpPr>
            <a:spLocks noGrp="1"/>
          </p:cNvSpPr>
          <p:nvPr>
            <p:ph type="sldNum" sz="quarter" idx="5"/>
          </p:nvPr>
        </p:nvSpPr>
        <p:spPr/>
        <p:txBody>
          <a:bodyPr/>
          <a:lstStyle/>
          <a:p>
            <a:fld id="{984C0DCD-BEEC-4E11-95DB-35DE2147D493}" type="slidenum">
              <a:rPr lang="en-GB" smtClean="0"/>
              <a:t>5</a:t>
            </a:fld>
            <a:endParaRPr lang="en-GB"/>
          </a:p>
        </p:txBody>
      </p:sp>
    </p:spTree>
    <p:extLst>
      <p:ext uri="{BB962C8B-B14F-4D97-AF65-F5344CB8AC3E}">
        <p14:creationId xmlns:p14="http://schemas.microsoft.com/office/powerpoint/2010/main" val="46071867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b="0" dirty="0"/>
          </a:p>
        </p:txBody>
      </p:sp>
      <p:sp>
        <p:nvSpPr>
          <p:cNvPr id="4" name="Slide Number Placeholder 3"/>
          <p:cNvSpPr>
            <a:spLocks noGrp="1"/>
          </p:cNvSpPr>
          <p:nvPr>
            <p:ph type="sldNum" sz="quarter" idx="5"/>
          </p:nvPr>
        </p:nvSpPr>
        <p:spPr/>
        <p:txBody>
          <a:bodyPr/>
          <a:lstStyle/>
          <a:p>
            <a:fld id="{984C0DCD-BEEC-4E11-95DB-35DE2147D493}" type="slidenum">
              <a:rPr lang="en-GB" smtClean="0"/>
              <a:t>6</a:t>
            </a:fld>
            <a:endParaRPr lang="en-GB"/>
          </a:p>
        </p:txBody>
      </p:sp>
    </p:spTree>
    <p:extLst>
      <p:ext uri="{BB962C8B-B14F-4D97-AF65-F5344CB8AC3E}">
        <p14:creationId xmlns:p14="http://schemas.microsoft.com/office/powerpoint/2010/main" val="149951290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b="0" dirty="0"/>
          </a:p>
        </p:txBody>
      </p:sp>
      <p:sp>
        <p:nvSpPr>
          <p:cNvPr id="4" name="Slide Number Placeholder 3"/>
          <p:cNvSpPr>
            <a:spLocks noGrp="1"/>
          </p:cNvSpPr>
          <p:nvPr>
            <p:ph type="sldNum" sz="quarter" idx="5"/>
          </p:nvPr>
        </p:nvSpPr>
        <p:spPr/>
        <p:txBody>
          <a:bodyPr/>
          <a:lstStyle/>
          <a:p>
            <a:fld id="{984C0DCD-BEEC-4E11-95DB-35DE2147D493}" type="slidenum">
              <a:rPr lang="en-GB" smtClean="0"/>
              <a:t>7</a:t>
            </a:fld>
            <a:endParaRPr lang="en-GB"/>
          </a:p>
        </p:txBody>
      </p:sp>
    </p:spTree>
    <p:extLst>
      <p:ext uri="{BB962C8B-B14F-4D97-AF65-F5344CB8AC3E}">
        <p14:creationId xmlns:p14="http://schemas.microsoft.com/office/powerpoint/2010/main" val="171949812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i="1" dirty="0"/>
          </a:p>
        </p:txBody>
      </p:sp>
      <p:sp>
        <p:nvSpPr>
          <p:cNvPr id="4" name="Slide Number Placeholder 3"/>
          <p:cNvSpPr>
            <a:spLocks noGrp="1"/>
          </p:cNvSpPr>
          <p:nvPr>
            <p:ph type="sldNum" sz="quarter" idx="5"/>
          </p:nvPr>
        </p:nvSpPr>
        <p:spPr/>
        <p:txBody>
          <a:bodyPr/>
          <a:lstStyle/>
          <a:p>
            <a:fld id="{984C0DCD-BEEC-4E11-95DB-35DE2147D493}" type="slidenum">
              <a:rPr lang="en-GB" smtClean="0"/>
              <a:t>8</a:t>
            </a:fld>
            <a:endParaRPr lang="en-GB"/>
          </a:p>
        </p:txBody>
      </p:sp>
    </p:spTree>
    <p:extLst>
      <p:ext uri="{BB962C8B-B14F-4D97-AF65-F5344CB8AC3E}">
        <p14:creationId xmlns:p14="http://schemas.microsoft.com/office/powerpoint/2010/main" val="386886290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984C0DCD-BEEC-4E11-95DB-35DE2147D493}" type="slidenum">
              <a:rPr lang="en-GB" smtClean="0"/>
              <a:t>9</a:t>
            </a:fld>
            <a:endParaRPr lang="en-GB"/>
          </a:p>
        </p:txBody>
      </p:sp>
    </p:spTree>
    <p:extLst>
      <p:ext uri="{BB962C8B-B14F-4D97-AF65-F5344CB8AC3E}">
        <p14:creationId xmlns:p14="http://schemas.microsoft.com/office/powerpoint/2010/main" val="296084743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984C0DCD-BEEC-4E11-95DB-35DE2147D493}" type="slidenum">
              <a:rPr lang="en-GB" smtClean="0"/>
              <a:t>10</a:t>
            </a:fld>
            <a:endParaRPr lang="en-GB"/>
          </a:p>
        </p:txBody>
      </p:sp>
    </p:spTree>
    <p:extLst>
      <p:ext uri="{BB962C8B-B14F-4D97-AF65-F5344CB8AC3E}">
        <p14:creationId xmlns:p14="http://schemas.microsoft.com/office/powerpoint/2010/main" val="392354025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984C0DCD-BEEC-4E11-95DB-35DE2147D493}" type="slidenum">
              <a:rPr lang="en-GB" smtClean="0"/>
              <a:t>11</a:t>
            </a:fld>
            <a:endParaRPr lang="en-GB"/>
          </a:p>
        </p:txBody>
      </p:sp>
    </p:spTree>
    <p:extLst>
      <p:ext uri="{BB962C8B-B14F-4D97-AF65-F5344CB8AC3E}">
        <p14:creationId xmlns:p14="http://schemas.microsoft.com/office/powerpoint/2010/main" val="208451603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b="1" dirty="0"/>
          </a:p>
          <a:p>
            <a:r>
              <a:rPr lang="en-GB" b="0" dirty="0"/>
              <a:t>Launch dates etc – mention that documentation will be available in policy library – links to all documents / guidance and other info to be shared with these slides, when available. </a:t>
            </a:r>
          </a:p>
          <a:p>
            <a:r>
              <a:rPr lang="en-GB" b="0" dirty="0"/>
              <a:t>We will also be creating some template letters to support communication in relation to waiver request outcomes. </a:t>
            </a:r>
          </a:p>
        </p:txBody>
      </p:sp>
      <p:sp>
        <p:nvSpPr>
          <p:cNvPr id="4" name="Slide Number Placeholder 3"/>
          <p:cNvSpPr>
            <a:spLocks noGrp="1"/>
          </p:cNvSpPr>
          <p:nvPr>
            <p:ph type="sldNum" sz="quarter" idx="5"/>
          </p:nvPr>
        </p:nvSpPr>
        <p:spPr/>
        <p:txBody>
          <a:bodyPr/>
          <a:lstStyle/>
          <a:p>
            <a:fld id="{984C0DCD-BEEC-4E11-95DB-35DE2147D493}" type="slidenum">
              <a:rPr lang="en-GB" smtClean="0"/>
              <a:t>12</a:t>
            </a:fld>
            <a:endParaRPr lang="en-GB"/>
          </a:p>
        </p:txBody>
      </p:sp>
    </p:spTree>
    <p:extLst>
      <p:ext uri="{BB962C8B-B14F-4D97-AF65-F5344CB8AC3E}">
        <p14:creationId xmlns:p14="http://schemas.microsoft.com/office/powerpoint/2010/main" val="263049474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fld id="{984C0DCD-BEEC-4E11-95DB-35DE2147D493}" type="slidenum">
              <a:rPr lang="en-GB" smtClean="0"/>
              <a:t>14</a:t>
            </a:fld>
            <a:endParaRPr lang="en-GB"/>
          </a:p>
        </p:txBody>
      </p:sp>
    </p:spTree>
    <p:extLst>
      <p:ext uri="{BB962C8B-B14F-4D97-AF65-F5344CB8AC3E}">
        <p14:creationId xmlns:p14="http://schemas.microsoft.com/office/powerpoint/2010/main" val="684221220"/>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11266" name="Rectangle 2"/>
          <p:cNvSpPr>
            <a:spLocks noGrp="1" noChangeArrowheads="1"/>
          </p:cNvSpPr>
          <p:nvPr>
            <p:ph type="ctrTitle"/>
          </p:nvPr>
        </p:nvSpPr>
        <p:spPr>
          <a:xfrm>
            <a:off x="685800" y="1563688"/>
            <a:ext cx="7772400" cy="1470025"/>
          </a:xfrm>
        </p:spPr>
        <p:txBody>
          <a:bodyPr/>
          <a:lstStyle>
            <a:lvl1pPr>
              <a:defRPr sz="4800"/>
            </a:lvl1pPr>
          </a:lstStyle>
          <a:p>
            <a:pPr lvl="0"/>
            <a:r>
              <a:rPr lang="en-US" altLang="en-US" noProof="0"/>
              <a:t>Click to edit Master title style</a:t>
            </a:r>
            <a:endParaRPr lang="en-GB" altLang="en-US" noProof="0"/>
          </a:p>
        </p:txBody>
      </p:sp>
      <p:sp>
        <p:nvSpPr>
          <p:cNvPr id="11267" name="Rectangle 3"/>
          <p:cNvSpPr>
            <a:spLocks noGrp="1" noChangeArrowheads="1"/>
          </p:cNvSpPr>
          <p:nvPr>
            <p:ph type="subTitle" idx="1"/>
          </p:nvPr>
        </p:nvSpPr>
        <p:spPr>
          <a:xfrm>
            <a:off x="1371600" y="3319463"/>
            <a:ext cx="6400800" cy="1752600"/>
          </a:xfrm>
        </p:spPr>
        <p:txBody>
          <a:bodyPr/>
          <a:lstStyle>
            <a:lvl1pPr marL="0" indent="0" algn="ctr">
              <a:buFontTx/>
              <a:buNone/>
              <a:defRPr/>
            </a:lvl1pPr>
          </a:lstStyle>
          <a:p>
            <a:pPr lvl="0"/>
            <a:r>
              <a:rPr lang="en-US" altLang="en-US" noProof="0"/>
              <a:t>Click to edit Master subtitle style</a:t>
            </a:r>
            <a:endParaRPr lang="en-GB" altLang="en-US" noProof="0"/>
          </a:p>
        </p:txBody>
      </p:sp>
      <p:pic>
        <p:nvPicPr>
          <p:cNvPr id="5" name="Picture 14" descr="PowerPoint Banner Small"/>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0" y="5905500"/>
            <a:ext cx="9144000" cy="952500"/>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Tree>
    <p:extLst>
      <p:ext uri="{BB962C8B-B14F-4D97-AF65-F5344CB8AC3E}">
        <p14:creationId xmlns:p14="http://schemas.microsoft.com/office/powerpoint/2010/main" val="103330008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23888" y="1709738"/>
            <a:ext cx="7886700" cy="2852737"/>
          </a:xfrm>
        </p:spPr>
        <p:txBody>
          <a:bodyPr anchor="b"/>
          <a:lstStyle>
            <a:lvl1pPr>
              <a:defRPr sz="6000"/>
            </a:lvl1pPr>
          </a:lstStyle>
          <a:p>
            <a:r>
              <a:rPr lang="en-US"/>
              <a:t>Click to edit Master title style</a:t>
            </a:r>
            <a:endParaRPr lang="en-GB"/>
          </a:p>
        </p:txBody>
      </p:sp>
      <p:sp>
        <p:nvSpPr>
          <p:cNvPr id="3" name="Text Placeholder 2"/>
          <p:cNvSpPr>
            <a:spLocks noGrp="1"/>
          </p:cNvSpPr>
          <p:nvPr>
            <p:ph type="body" idx="1"/>
          </p:nvPr>
        </p:nvSpPr>
        <p:spPr>
          <a:xfrm>
            <a:off x="623888" y="4589463"/>
            <a:ext cx="7886700" cy="1500187"/>
          </a:xfrm>
        </p:spPr>
        <p:txBody>
          <a:bodyPr/>
          <a:lstStyle>
            <a:lvl1pPr marL="0" indent="0">
              <a:buNone/>
              <a:defRPr sz="2400"/>
            </a:lvl1pPr>
            <a:lvl2pPr marL="457200" indent="0">
              <a:buNone/>
              <a:defRPr sz="2000"/>
            </a:lvl2pPr>
            <a:lvl3pPr marL="914400" indent="0">
              <a:buNone/>
              <a:defRPr sz="18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lvl="0"/>
            <a:r>
              <a:rPr lang="en-US"/>
              <a:t>Click to edit Master text styles</a:t>
            </a:r>
          </a:p>
        </p:txBody>
      </p:sp>
    </p:spTree>
    <p:extLst>
      <p:ext uri="{BB962C8B-B14F-4D97-AF65-F5344CB8AC3E}">
        <p14:creationId xmlns:p14="http://schemas.microsoft.com/office/powerpoint/2010/main" val="325875679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Content Placeholder 2"/>
          <p:cNvSpPr>
            <a:spLocks noGrp="1"/>
          </p:cNvSpPr>
          <p:nvPr>
            <p:ph sz="half" idx="1"/>
          </p:nvPr>
        </p:nvSpPr>
        <p:spPr>
          <a:xfrm>
            <a:off x="457200" y="1343025"/>
            <a:ext cx="4038600" cy="432752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Content Placeholder 3"/>
          <p:cNvSpPr>
            <a:spLocks noGrp="1"/>
          </p:cNvSpPr>
          <p:nvPr>
            <p:ph sz="half" idx="2"/>
          </p:nvPr>
        </p:nvSpPr>
        <p:spPr>
          <a:xfrm>
            <a:off x="4648200" y="1343025"/>
            <a:ext cx="4038600" cy="432752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Tree>
    <p:extLst>
      <p:ext uri="{BB962C8B-B14F-4D97-AF65-F5344CB8AC3E}">
        <p14:creationId xmlns:p14="http://schemas.microsoft.com/office/powerpoint/2010/main" val="63381057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30238" y="365125"/>
            <a:ext cx="7886700" cy="1325563"/>
          </a:xfrm>
        </p:spPr>
        <p:txBody>
          <a:bodyPr/>
          <a:lstStyle/>
          <a:p>
            <a:r>
              <a:rPr lang="en-US"/>
              <a:t>Click to edit Master title style</a:t>
            </a:r>
            <a:endParaRPr lang="en-GB"/>
          </a:p>
        </p:txBody>
      </p:sp>
      <p:sp>
        <p:nvSpPr>
          <p:cNvPr id="3" name="Text Placeholder 2"/>
          <p:cNvSpPr>
            <a:spLocks noGrp="1"/>
          </p:cNvSpPr>
          <p:nvPr>
            <p:ph type="body" idx="1"/>
          </p:nvPr>
        </p:nvSpPr>
        <p:spPr>
          <a:xfrm>
            <a:off x="630238" y="1681163"/>
            <a:ext cx="386873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30238" y="2505075"/>
            <a:ext cx="386873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Text Placeholder 4"/>
          <p:cNvSpPr>
            <a:spLocks noGrp="1"/>
          </p:cNvSpPr>
          <p:nvPr>
            <p:ph type="body" sz="quarter" idx="3"/>
          </p:nvPr>
        </p:nvSpPr>
        <p:spPr>
          <a:xfrm>
            <a:off x="4629150" y="1681163"/>
            <a:ext cx="38877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29150" y="2505075"/>
            <a:ext cx="38877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Tree>
    <p:extLst>
      <p:ext uri="{BB962C8B-B14F-4D97-AF65-F5344CB8AC3E}">
        <p14:creationId xmlns:p14="http://schemas.microsoft.com/office/powerpoint/2010/main" val="194321887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Tree>
    <p:extLst>
      <p:ext uri="{BB962C8B-B14F-4D97-AF65-F5344CB8AC3E}">
        <p14:creationId xmlns:p14="http://schemas.microsoft.com/office/powerpoint/2010/main" val="363252877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289907537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30238" y="457200"/>
            <a:ext cx="2949575" cy="1600200"/>
          </a:xfrm>
        </p:spPr>
        <p:txBody>
          <a:bodyPr anchor="b"/>
          <a:lstStyle>
            <a:lvl1pPr>
              <a:defRPr sz="3200"/>
            </a:lvl1pPr>
          </a:lstStyle>
          <a:p>
            <a:r>
              <a:rPr lang="en-US"/>
              <a:t>Click to edit Master title style</a:t>
            </a:r>
            <a:endParaRPr lang="en-GB"/>
          </a:p>
        </p:txBody>
      </p:sp>
      <p:sp>
        <p:nvSpPr>
          <p:cNvPr id="3" name="Content Placeholder 2"/>
          <p:cNvSpPr>
            <a:spLocks noGrp="1"/>
          </p:cNvSpPr>
          <p:nvPr>
            <p:ph idx="1"/>
          </p:nvPr>
        </p:nvSpPr>
        <p:spPr>
          <a:xfrm>
            <a:off x="3887788" y="987425"/>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Text Placeholder 3"/>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Tree>
    <p:extLst>
      <p:ext uri="{BB962C8B-B14F-4D97-AF65-F5344CB8AC3E}">
        <p14:creationId xmlns:p14="http://schemas.microsoft.com/office/powerpoint/2010/main" val="112198968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30238" y="457200"/>
            <a:ext cx="2949575" cy="1600200"/>
          </a:xfrm>
        </p:spPr>
        <p:txBody>
          <a:bodyPr anchor="b"/>
          <a:lstStyle>
            <a:lvl1pPr>
              <a:defRPr sz="3200"/>
            </a:lvl1pPr>
          </a:lstStyle>
          <a:p>
            <a:r>
              <a:rPr lang="en-US"/>
              <a:t>Click to edit Master title style</a:t>
            </a:r>
            <a:endParaRPr lang="en-GB"/>
          </a:p>
        </p:txBody>
      </p:sp>
      <p:sp>
        <p:nvSpPr>
          <p:cNvPr id="3" name="Picture Placeholder 2"/>
          <p:cNvSpPr>
            <a:spLocks noGrp="1"/>
          </p:cNvSpPr>
          <p:nvPr>
            <p:ph type="pic" idx="1"/>
          </p:nvPr>
        </p:nvSpPr>
        <p:spPr>
          <a:xfrm>
            <a:off x="3887788" y="987425"/>
            <a:ext cx="462915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GB"/>
          </a:p>
        </p:txBody>
      </p:sp>
      <p:sp>
        <p:nvSpPr>
          <p:cNvPr id="4" name="Text Placeholder 3"/>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Tree>
    <p:extLst>
      <p:ext uri="{BB962C8B-B14F-4D97-AF65-F5344CB8AC3E}">
        <p14:creationId xmlns:p14="http://schemas.microsoft.com/office/powerpoint/2010/main" val="144110754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Tree>
    <p:extLst>
      <p:ext uri="{BB962C8B-B14F-4D97-AF65-F5344CB8AC3E}">
        <p14:creationId xmlns:p14="http://schemas.microsoft.com/office/powerpoint/2010/main" val="292941587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395912"/>
          </a:xfrm>
        </p:spPr>
        <p:txBody>
          <a:bodyPr vert="eaVert"/>
          <a:lstStyle/>
          <a:p>
            <a:r>
              <a:rPr lang="en-US"/>
              <a:t>Click to edit Master title style</a:t>
            </a:r>
            <a:endParaRPr lang="en-GB"/>
          </a:p>
        </p:txBody>
      </p:sp>
      <p:sp>
        <p:nvSpPr>
          <p:cNvPr id="3" name="Vertical Text Placeholder 2"/>
          <p:cNvSpPr>
            <a:spLocks noGrp="1"/>
          </p:cNvSpPr>
          <p:nvPr>
            <p:ph type="body" orient="vert" idx="1"/>
          </p:nvPr>
        </p:nvSpPr>
        <p:spPr>
          <a:xfrm>
            <a:off x="457200" y="274638"/>
            <a:ext cx="6019800" cy="5395912"/>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Tree>
    <p:extLst>
      <p:ext uri="{BB962C8B-B14F-4D97-AF65-F5344CB8AC3E}">
        <p14:creationId xmlns:p14="http://schemas.microsoft.com/office/powerpoint/2010/main" val="234618615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122363"/>
            <a:ext cx="77724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143000" y="3602038"/>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fld id="{C764DE79-268F-4C1A-8933-263129D2AF90}" type="datetimeFigureOut">
              <a:rPr lang="en-US" dirty="0"/>
              <a:t>4/16/2026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8F63A3B-78C7-47BE-AE5E-E10140E04643}" type="slidenum">
              <a:rPr lang="en-US" dirty="0"/>
              <a:t>‹#›</a:t>
            </a:fld>
            <a:endParaRPr lang="en-US"/>
          </a:p>
        </p:txBody>
      </p:sp>
      <p:pic>
        <p:nvPicPr>
          <p:cNvPr id="7" name="Picture 14" descr="PowerPoint Banner Small">
            <a:extLst>
              <a:ext uri="{FF2B5EF4-FFF2-40B4-BE49-F238E27FC236}">
                <a16:creationId xmlns:a16="http://schemas.microsoft.com/office/drawing/2014/main" id="{A63785FF-73D6-4883-9331-A95EA5C344FF}"/>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0" y="5905500"/>
            <a:ext cx="9144000" cy="9525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961712757"/>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C764DE79-268F-4C1A-8933-263129D2AF90}" type="datetimeFigureOut">
              <a:rPr lang="en-US" dirty="0"/>
              <a:t>4/16/2026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8F63A3B-78C7-47BE-AE5E-E10140E04643}" type="slidenum">
              <a:rPr lang="en-US" dirty="0"/>
              <a:t>‹#›</a:t>
            </a:fld>
            <a:endParaRPr lang="en-US"/>
          </a:p>
        </p:txBody>
      </p:sp>
    </p:spTree>
    <p:extLst>
      <p:ext uri="{BB962C8B-B14F-4D97-AF65-F5344CB8AC3E}">
        <p14:creationId xmlns:p14="http://schemas.microsoft.com/office/powerpoint/2010/main" val="1669905400"/>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23888" y="1709739"/>
            <a:ext cx="78867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623888" y="4589464"/>
            <a:ext cx="7886700" cy="1500187"/>
          </a:xfrm>
        </p:spPr>
        <p:txBody>
          <a:bodyPr/>
          <a:lstStyle>
            <a:lvl1pPr marL="0" indent="0">
              <a:buNone/>
              <a:defRPr sz="24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C764DE79-268F-4C1A-8933-263129D2AF90}" type="datetimeFigureOut">
              <a:rPr lang="en-US" dirty="0"/>
              <a:t>4/16/2026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8F63A3B-78C7-47BE-AE5E-E10140E04643}" type="slidenum">
              <a:rPr lang="en-US" dirty="0"/>
              <a:t>‹#›</a:t>
            </a:fld>
            <a:endParaRPr lang="en-US"/>
          </a:p>
        </p:txBody>
      </p:sp>
    </p:spTree>
    <p:extLst>
      <p:ext uri="{BB962C8B-B14F-4D97-AF65-F5344CB8AC3E}">
        <p14:creationId xmlns:p14="http://schemas.microsoft.com/office/powerpoint/2010/main" val="256088029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28650" y="1825625"/>
            <a:ext cx="38862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29150" y="1825625"/>
            <a:ext cx="38862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C764DE79-268F-4C1A-8933-263129D2AF90}" type="datetimeFigureOut">
              <a:rPr lang="en-US" dirty="0"/>
              <a:t>4/16/2026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8F63A3B-78C7-47BE-AE5E-E10140E04643}" type="slidenum">
              <a:rPr lang="en-US" dirty="0"/>
              <a:t>‹#›</a:t>
            </a:fld>
            <a:endParaRPr lang="en-US"/>
          </a:p>
        </p:txBody>
      </p:sp>
    </p:spTree>
    <p:extLst>
      <p:ext uri="{BB962C8B-B14F-4D97-AF65-F5344CB8AC3E}">
        <p14:creationId xmlns:p14="http://schemas.microsoft.com/office/powerpoint/2010/main" val="1119650592"/>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29841" y="365126"/>
            <a:ext cx="7886700" cy="1325563"/>
          </a:xfrm>
        </p:spPr>
        <p:txBody>
          <a:bodyPr/>
          <a:lstStyle/>
          <a:p>
            <a:r>
              <a:rPr lang="en-US"/>
              <a:t>Click to edit Master title style</a:t>
            </a:r>
          </a:p>
        </p:txBody>
      </p:sp>
      <p:sp>
        <p:nvSpPr>
          <p:cNvPr id="3" name="Text Placeholder 2"/>
          <p:cNvSpPr>
            <a:spLocks noGrp="1"/>
          </p:cNvSpPr>
          <p:nvPr>
            <p:ph type="body" idx="1"/>
          </p:nvPr>
        </p:nvSpPr>
        <p:spPr>
          <a:xfrm>
            <a:off x="629842" y="1681163"/>
            <a:ext cx="3868340"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29842" y="2505075"/>
            <a:ext cx="3868340"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29150" y="1681163"/>
            <a:ext cx="3887391"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29150" y="2505075"/>
            <a:ext cx="3887391"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C764DE79-268F-4C1A-8933-263129D2AF90}" type="datetimeFigureOut">
              <a:rPr lang="en-US" dirty="0"/>
              <a:t>4/16/2026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48F63A3B-78C7-47BE-AE5E-E10140E04643}" type="slidenum">
              <a:rPr lang="en-US" dirty="0"/>
              <a:t>‹#›</a:t>
            </a:fld>
            <a:endParaRPr lang="en-US"/>
          </a:p>
        </p:txBody>
      </p:sp>
    </p:spTree>
    <p:extLst>
      <p:ext uri="{BB962C8B-B14F-4D97-AF65-F5344CB8AC3E}">
        <p14:creationId xmlns:p14="http://schemas.microsoft.com/office/powerpoint/2010/main" val="843430529"/>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C764DE79-268F-4C1A-8933-263129D2AF90}" type="datetimeFigureOut">
              <a:rPr lang="en-US" dirty="0"/>
              <a:t>4/16/2026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48F63A3B-78C7-47BE-AE5E-E10140E04643}" type="slidenum">
              <a:rPr lang="en-US" dirty="0"/>
              <a:t>‹#›</a:t>
            </a:fld>
            <a:endParaRPr lang="en-US"/>
          </a:p>
        </p:txBody>
      </p:sp>
    </p:spTree>
    <p:extLst>
      <p:ext uri="{BB962C8B-B14F-4D97-AF65-F5344CB8AC3E}">
        <p14:creationId xmlns:p14="http://schemas.microsoft.com/office/powerpoint/2010/main" val="2075156689"/>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C764DE79-268F-4C1A-8933-263129D2AF90}" type="datetimeFigureOut">
              <a:rPr lang="en-US" dirty="0"/>
              <a:t>4/16/2026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48F63A3B-78C7-47BE-AE5E-E10140E04643}" type="slidenum">
              <a:rPr lang="en-US" dirty="0"/>
              <a:t>‹#›</a:t>
            </a:fld>
            <a:endParaRPr lang="en-US"/>
          </a:p>
        </p:txBody>
      </p:sp>
    </p:spTree>
    <p:extLst>
      <p:ext uri="{BB962C8B-B14F-4D97-AF65-F5344CB8AC3E}">
        <p14:creationId xmlns:p14="http://schemas.microsoft.com/office/powerpoint/2010/main" val="1723355828"/>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3887391" y="987426"/>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C764DE79-268F-4C1A-8933-263129D2AF90}" type="datetimeFigureOut">
              <a:rPr lang="en-US" dirty="0"/>
              <a:t>4/16/2026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8F63A3B-78C7-47BE-AE5E-E10140E04643}" type="slidenum">
              <a:rPr lang="en-US" dirty="0"/>
              <a:t>‹#›</a:t>
            </a:fld>
            <a:endParaRPr lang="en-US"/>
          </a:p>
        </p:txBody>
      </p:sp>
    </p:spTree>
    <p:extLst>
      <p:ext uri="{BB962C8B-B14F-4D97-AF65-F5344CB8AC3E}">
        <p14:creationId xmlns:p14="http://schemas.microsoft.com/office/powerpoint/2010/main" val="2298284059"/>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en-US"/>
              <a:t>Click to edit Master title style</a:t>
            </a:r>
          </a:p>
        </p:txBody>
      </p:sp>
      <p:sp>
        <p:nvSpPr>
          <p:cNvPr id="3" name="Picture Placeholder 2"/>
          <p:cNvSpPr>
            <a:spLocks noGrp="1" noChangeAspect="1"/>
          </p:cNvSpPr>
          <p:nvPr>
            <p:ph type="pic" idx="1"/>
          </p:nvPr>
        </p:nvSpPr>
        <p:spPr>
          <a:xfrm>
            <a:off x="3887391" y="987426"/>
            <a:ext cx="462915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C764DE79-268F-4C1A-8933-263129D2AF90}" type="datetimeFigureOut">
              <a:rPr lang="en-US" dirty="0"/>
              <a:t>4/16/2026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8F63A3B-78C7-47BE-AE5E-E10140E04643}" type="slidenum">
              <a:rPr lang="en-US" dirty="0"/>
              <a:t>‹#›</a:t>
            </a:fld>
            <a:endParaRPr lang="en-US"/>
          </a:p>
        </p:txBody>
      </p:sp>
    </p:spTree>
    <p:extLst>
      <p:ext uri="{BB962C8B-B14F-4D97-AF65-F5344CB8AC3E}">
        <p14:creationId xmlns:p14="http://schemas.microsoft.com/office/powerpoint/2010/main" val="3063417288"/>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C764DE79-268F-4C1A-8933-263129D2AF90}" type="datetimeFigureOut">
              <a:rPr lang="en-US" dirty="0"/>
              <a:t>4/16/2026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8F63A3B-78C7-47BE-AE5E-E10140E04643}" type="slidenum">
              <a:rPr lang="en-US" dirty="0"/>
              <a:t>‹#›</a:t>
            </a:fld>
            <a:endParaRPr lang="en-US"/>
          </a:p>
        </p:txBody>
      </p:sp>
    </p:spTree>
    <p:extLst>
      <p:ext uri="{BB962C8B-B14F-4D97-AF65-F5344CB8AC3E}">
        <p14:creationId xmlns:p14="http://schemas.microsoft.com/office/powerpoint/2010/main" val="4087919421"/>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365125"/>
            <a:ext cx="1971675"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628650" y="365125"/>
            <a:ext cx="5800725"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C764DE79-268F-4C1A-8933-263129D2AF90}" type="datetimeFigureOut">
              <a:rPr lang="en-US" dirty="0"/>
              <a:t>4/16/2026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8F63A3B-78C7-47BE-AE5E-E10140E04643}" type="slidenum">
              <a:rPr lang="en-US" dirty="0"/>
              <a:t>‹#›</a:t>
            </a:fld>
            <a:endParaRPr lang="en-US"/>
          </a:p>
        </p:txBody>
      </p:sp>
    </p:spTree>
    <p:extLst>
      <p:ext uri="{BB962C8B-B14F-4D97-AF65-F5344CB8AC3E}">
        <p14:creationId xmlns:p14="http://schemas.microsoft.com/office/powerpoint/2010/main" val="363080625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13" Type="http://schemas.openxmlformats.org/officeDocument/2006/relationships/image" Target="../media/image1.png"/><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0243" name="Rectangle 3"/>
          <p:cNvSpPr>
            <a:spLocks noGrp="1" noChangeArrowheads="1"/>
          </p:cNvSpPr>
          <p:nvPr>
            <p:ph type="body" idx="1"/>
          </p:nvPr>
        </p:nvSpPr>
        <p:spPr bwMode="auto">
          <a:xfrm>
            <a:off x="457200" y="1343025"/>
            <a:ext cx="8229600" cy="43275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en-GB" altLang="en-US"/>
              <a:t>Text here (level one)</a:t>
            </a:r>
          </a:p>
          <a:p>
            <a:pPr lvl="1"/>
            <a:r>
              <a:rPr lang="en-GB" altLang="en-US"/>
              <a:t>Second level</a:t>
            </a:r>
          </a:p>
          <a:p>
            <a:pPr lvl="2"/>
            <a:r>
              <a:rPr lang="en-GB" altLang="en-US"/>
              <a:t>Third level</a:t>
            </a:r>
          </a:p>
          <a:p>
            <a:pPr lvl="3"/>
            <a:r>
              <a:rPr lang="en-GB" altLang="en-US"/>
              <a:t>Fourth level</a:t>
            </a:r>
          </a:p>
          <a:p>
            <a:pPr lvl="4"/>
            <a:r>
              <a:rPr lang="en-GB" altLang="en-US"/>
              <a:t>Fifth level</a:t>
            </a:r>
          </a:p>
        </p:txBody>
      </p:sp>
      <p:sp>
        <p:nvSpPr>
          <p:cNvPr id="10251" name="Rectangle 11"/>
          <p:cNvSpPr>
            <a:spLocks noGrp="1" noChangeArrowheads="1"/>
          </p:cNvSpPr>
          <p:nvPr>
            <p:ph type="title"/>
          </p:nvPr>
        </p:nvSpPr>
        <p:spPr bwMode="auto">
          <a:xfrm>
            <a:off x="457200" y="274638"/>
            <a:ext cx="8229600" cy="1143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p>
            <a:pPr lvl="0"/>
            <a:r>
              <a:rPr lang="en-US" altLang="en-US"/>
              <a:t>Click to edit Master title style</a:t>
            </a:r>
            <a:endParaRPr lang="en-GB" altLang="en-US"/>
          </a:p>
        </p:txBody>
      </p:sp>
      <p:pic>
        <p:nvPicPr>
          <p:cNvPr id="10254" name="Picture 14" descr="PowerPoint Banner Small"/>
          <p:cNvPicPr>
            <a:picLocks noChangeAspect="1" noChangeArrowheads="1"/>
          </p:cNvPicPr>
          <p:nvPr userDrawn="1"/>
        </p:nvPicPr>
        <p:blipFill>
          <a:blip r:embed="rId13">
            <a:extLst>
              <a:ext uri="{28A0092B-C50C-407E-A947-70E740481C1C}">
                <a14:useLocalDpi xmlns:a14="http://schemas.microsoft.com/office/drawing/2010/main" val="0"/>
              </a:ext>
            </a:extLst>
          </a:blip>
          <a:srcRect/>
          <a:stretch>
            <a:fillRect/>
          </a:stretch>
        </p:blipFill>
        <p:spPr bwMode="auto">
          <a:xfrm>
            <a:off x="0" y="5905500"/>
            <a:ext cx="9144000" cy="952500"/>
          </a:xfrm>
          <a:prstGeom prst="rect">
            <a:avLst/>
          </a:prstGeom>
          <a:noFill/>
          <a:extLst>
            <a:ext uri="{909E8E84-426E-40DD-AFC4-6F175D3DCCD1}">
              <a14:hiddenFill xmlns:a14="http://schemas.microsoft.com/office/drawing/2010/main">
                <a:solidFill>
                  <a:srgbClr val="FFFFFF"/>
                </a:solidFill>
              </a14:hiddenFill>
            </a:ext>
          </a:extLst>
        </p:spPr>
      </p:pic>
    </p:spTree>
  </p:cSld>
  <p:clrMap bg1="lt1" tx1="dk1" bg2="lt2" tx2="dk2" accent1="accent1" accent2="accent2" accent3="accent3" accent4="accent4" accent5="accent5" accent6="accent6" hlink="hlink" folHlink="folHlink"/>
  <p:sldLayoutIdLst>
    <p:sldLayoutId id="2147483650" r:id="rId1"/>
    <p:sldLayoutId id="2147483651" r:id="rId2"/>
    <p:sldLayoutId id="2147483652" r:id="rId3"/>
    <p:sldLayoutId id="2147483653" r:id="rId4"/>
    <p:sldLayoutId id="2147483654" r:id="rId5"/>
    <p:sldLayoutId id="2147483655" r:id="rId6"/>
    <p:sldLayoutId id="2147483656" r:id="rId7"/>
    <p:sldLayoutId id="2147483657" r:id="rId8"/>
    <p:sldLayoutId id="2147483658" r:id="rId9"/>
    <p:sldLayoutId id="2147483659" r:id="rId10"/>
    <p:sldLayoutId id="2147483662" r:id="rId11"/>
  </p:sldLayoutIdLst>
  <p:txStyles>
    <p:titleStyle>
      <a:lvl1pPr algn="ctr" rtl="0" eaLnBrk="1" fontAlgn="base" hangingPunct="1">
        <a:spcBef>
          <a:spcPct val="0"/>
        </a:spcBef>
        <a:spcAft>
          <a:spcPct val="0"/>
        </a:spcAft>
        <a:defRPr sz="3600" kern="1200">
          <a:solidFill>
            <a:schemeClr val="tx1"/>
          </a:solidFill>
          <a:latin typeface="+mj-lt"/>
          <a:ea typeface="+mj-ea"/>
          <a:cs typeface="+mj-cs"/>
        </a:defRPr>
      </a:lvl1pPr>
      <a:lvl2pPr algn="ctr" rtl="0" eaLnBrk="1" fontAlgn="base" hangingPunct="1">
        <a:spcBef>
          <a:spcPct val="0"/>
        </a:spcBef>
        <a:spcAft>
          <a:spcPct val="0"/>
        </a:spcAft>
        <a:defRPr sz="3600">
          <a:solidFill>
            <a:schemeClr val="tx1"/>
          </a:solidFill>
          <a:latin typeface="Arial Black" panose="020B0A04020102020204" pitchFamily="34" charset="0"/>
        </a:defRPr>
      </a:lvl2pPr>
      <a:lvl3pPr algn="ctr" rtl="0" eaLnBrk="1" fontAlgn="base" hangingPunct="1">
        <a:spcBef>
          <a:spcPct val="0"/>
        </a:spcBef>
        <a:spcAft>
          <a:spcPct val="0"/>
        </a:spcAft>
        <a:defRPr sz="3600">
          <a:solidFill>
            <a:schemeClr val="tx1"/>
          </a:solidFill>
          <a:latin typeface="Arial Black" panose="020B0A04020102020204" pitchFamily="34" charset="0"/>
        </a:defRPr>
      </a:lvl3pPr>
      <a:lvl4pPr algn="ctr" rtl="0" eaLnBrk="1" fontAlgn="base" hangingPunct="1">
        <a:spcBef>
          <a:spcPct val="0"/>
        </a:spcBef>
        <a:spcAft>
          <a:spcPct val="0"/>
        </a:spcAft>
        <a:defRPr sz="3600">
          <a:solidFill>
            <a:schemeClr val="tx1"/>
          </a:solidFill>
          <a:latin typeface="Arial Black" panose="020B0A04020102020204" pitchFamily="34" charset="0"/>
        </a:defRPr>
      </a:lvl4pPr>
      <a:lvl5pPr algn="ctr" rtl="0" eaLnBrk="1" fontAlgn="base" hangingPunct="1">
        <a:spcBef>
          <a:spcPct val="0"/>
        </a:spcBef>
        <a:spcAft>
          <a:spcPct val="0"/>
        </a:spcAft>
        <a:defRPr sz="3600">
          <a:solidFill>
            <a:schemeClr val="tx1"/>
          </a:solidFill>
          <a:latin typeface="Arial Black" panose="020B0A04020102020204" pitchFamily="34" charset="0"/>
        </a:defRPr>
      </a:lvl5pPr>
      <a:lvl6pPr marL="457200" algn="ctr" rtl="0" eaLnBrk="1" fontAlgn="base" hangingPunct="1">
        <a:spcBef>
          <a:spcPct val="0"/>
        </a:spcBef>
        <a:spcAft>
          <a:spcPct val="0"/>
        </a:spcAft>
        <a:defRPr sz="3600">
          <a:solidFill>
            <a:schemeClr val="tx1"/>
          </a:solidFill>
          <a:latin typeface="Arial Black" panose="020B0A04020102020204" pitchFamily="34" charset="0"/>
        </a:defRPr>
      </a:lvl6pPr>
      <a:lvl7pPr marL="914400" algn="ctr" rtl="0" eaLnBrk="1" fontAlgn="base" hangingPunct="1">
        <a:spcBef>
          <a:spcPct val="0"/>
        </a:spcBef>
        <a:spcAft>
          <a:spcPct val="0"/>
        </a:spcAft>
        <a:defRPr sz="3600">
          <a:solidFill>
            <a:schemeClr val="tx1"/>
          </a:solidFill>
          <a:latin typeface="Arial Black" panose="020B0A04020102020204" pitchFamily="34" charset="0"/>
        </a:defRPr>
      </a:lvl7pPr>
      <a:lvl8pPr marL="1371600" algn="ctr" rtl="0" eaLnBrk="1" fontAlgn="base" hangingPunct="1">
        <a:spcBef>
          <a:spcPct val="0"/>
        </a:spcBef>
        <a:spcAft>
          <a:spcPct val="0"/>
        </a:spcAft>
        <a:defRPr sz="3600">
          <a:solidFill>
            <a:schemeClr val="tx1"/>
          </a:solidFill>
          <a:latin typeface="Arial Black" panose="020B0A04020102020204" pitchFamily="34" charset="0"/>
        </a:defRPr>
      </a:lvl8pPr>
      <a:lvl9pPr marL="1828800" algn="ctr" rtl="0" eaLnBrk="1" fontAlgn="base" hangingPunct="1">
        <a:spcBef>
          <a:spcPct val="0"/>
        </a:spcBef>
        <a:spcAft>
          <a:spcPct val="0"/>
        </a:spcAft>
        <a:defRPr sz="3600">
          <a:solidFill>
            <a:schemeClr val="tx1"/>
          </a:solidFill>
          <a:latin typeface="Arial Black" panose="020B0A04020102020204" pitchFamily="34" charset="0"/>
        </a:defRPr>
      </a:lvl9pPr>
    </p:titleStyle>
    <p:bodyStyle>
      <a:lvl1pPr marL="342900" indent="-342900" algn="l" rtl="0" eaLnBrk="1" fontAlgn="base" hangingPunct="1">
        <a:spcBef>
          <a:spcPct val="20000"/>
        </a:spcBef>
        <a:spcAft>
          <a:spcPct val="0"/>
        </a:spcAft>
        <a:buChar char="•"/>
        <a:defRPr sz="3200" kern="1200">
          <a:solidFill>
            <a:schemeClr val="tx1"/>
          </a:solidFill>
          <a:latin typeface="+mn-lt"/>
          <a:ea typeface="+mn-ea"/>
          <a:cs typeface="+mn-cs"/>
        </a:defRPr>
      </a:lvl1pPr>
      <a:lvl2pPr marL="742950" indent="-285750" algn="l" rtl="0" eaLnBrk="1" fontAlgn="base" hangingPunct="1">
        <a:spcBef>
          <a:spcPct val="20000"/>
        </a:spcBef>
        <a:spcAft>
          <a:spcPct val="0"/>
        </a:spcAft>
        <a:buChar char="–"/>
        <a:defRPr sz="2800" kern="1200">
          <a:solidFill>
            <a:schemeClr val="tx1"/>
          </a:solidFill>
          <a:latin typeface="+mn-lt"/>
          <a:ea typeface="+mn-ea"/>
          <a:cs typeface="+mn-cs"/>
        </a:defRPr>
      </a:lvl2pPr>
      <a:lvl3pPr marL="1143000" indent="-228600" algn="l" rtl="0" eaLnBrk="1" fontAlgn="base" hangingPunct="1">
        <a:spcBef>
          <a:spcPct val="20000"/>
        </a:spcBef>
        <a:spcAft>
          <a:spcPct val="0"/>
        </a:spcAft>
        <a:buChar char="•"/>
        <a:defRPr sz="2400" kern="1200">
          <a:solidFill>
            <a:schemeClr val="tx1"/>
          </a:solidFill>
          <a:latin typeface="+mn-lt"/>
          <a:ea typeface="+mn-ea"/>
          <a:cs typeface="+mn-cs"/>
        </a:defRPr>
      </a:lvl3pPr>
      <a:lvl4pPr marL="1600200" indent="-228600" algn="l" rtl="0" eaLnBrk="1" fontAlgn="base" hangingPunct="1">
        <a:spcBef>
          <a:spcPct val="20000"/>
        </a:spcBef>
        <a:spcAft>
          <a:spcPct val="0"/>
        </a:spcAft>
        <a:buChar char="–"/>
        <a:defRPr sz="2000" kern="1200">
          <a:solidFill>
            <a:schemeClr val="tx1"/>
          </a:solidFill>
          <a:latin typeface="+mn-lt"/>
          <a:ea typeface="+mn-ea"/>
          <a:cs typeface="+mn-cs"/>
        </a:defRPr>
      </a:lvl4pPr>
      <a:lvl5pPr marL="2057400" indent="-228600" algn="l" rtl="0" eaLnBrk="1" fontAlgn="base" hangingPunct="1">
        <a:spcBef>
          <a:spcPct val="20000"/>
        </a:spcBef>
        <a:spcAft>
          <a:spcPct val="0"/>
        </a:spcAft>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8650" y="365126"/>
            <a:ext cx="78867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628650" y="6356351"/>
            <a:ext cx="20574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C764DE79-268F-4C1A-8933-263129D2AF90}" type="datetimeFigureOut">
              <a:rPr lang="en-US" dirty="0"/>
              <a:t>4/16/2026</a:t>
            </a:fld>
            <a:endParaRPr lang="en-US"/>
          </a:p>
        </p:txBody>
      </p:sp>
      <p:sp>
        <p:nvSpPr>
          <p:cNvPr id="5" name="Footer Placeholder 4"/>
          <p:cNvSpPr>
            <a:spLocks noGrp="1"/>
          </p:cNvSpPr>
          <p:nvPr>
            <p:ph type="ftr" sz="quarter" idx="3"/>
          </p:nvPr>
        </p:nvSpPr>
        <p:spPr>
          <a:xfrm>
            <a:off x="3028950" y="6356351"/>
            <a:ext cx="30861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457950" y="6356351"/>
            <a:ext cx="20574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8F63A3B-78C7-47BE-AE5E-E10140E04643}" type="slidenum">
              <a:rPr lang="en-US" dirty="0"/>
              <a:t>‹#›</a:t>
            </a:fld>
            <a:endParaRPr lang="en-US"/>
          </a:p>
        </p:txBody>
      </p:sp>
      <p:pic>
        <p:nvPicPr>
          <p:cNvPr id="7" name="Picture 14" descr="PowerPoint Banner Small">
            <a:extLst>
              <a:ext uri="{FF2B5EF4-FFF2-40B4-BE49-F238E27FC236}">
                <a16:creationId xmlns:a16="http://schemas.microsoft.com/office/drawing/2014/main" id="{349A5D34-1D03-4423-A257-C016DF79531B}"/>
              </a:ext>
            </a:extLst>
          </p:cNvPr>
          <p:cNvPicPr>
            <a:picLocks noChangeAspect="1" noChangeArrowheads="1"/>
          </p:cNvPicPr>
          <p:nvPr userDrawn="1"/>
        </p:nvPicPr>
        <p:blipFill>
          <a:blip r:embed="rId13">
            <a:extLst>
              <a:ext uri="{28A0092B-C50C-407E-A947-70E740481C1C}">
                <a14:useLocalDpi xmlns:a14="http://schemas.microsoft.com/office/drawing/2010/main" val="0"/>
              </a:ext>
            </a:extLst>
          </a:blip>
          <a:srcRect/>
          <a:stretch>
            <a:fillRect/>
          </a:stretch>
        </p:blipFill>
        <p:spPr bwMode="auto">
          <a:xfrm>
            <a:off x="0" y="5905500"/>
            <a:ext cx="9144000" cy="9525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315910548"/>
      </p:ext>
    </p:extLst>
  </p:cSld>
  <p:clrMap bg1="lt1" tx1="dk1" bg2="lt2" tx2="dk2" accent1="accent1" accent2="accent2" accent3="accent3" accent4="accent4" accent5="accent5" accent6="accent6" hlink="hlink" folHlink="folHlink"/>
  <p:sldLayoutIdLst>
    <p:sldLayoutId id="2147483664" r:id="rId1"/>
    <p:sldLayoutId id="2147483665" r:id="rId2"/>
    <p:sldLayoutId id="2147483666" r:id="rId3"/>
    <p:sldLayoutId id="2147483667" r:id="rId4"/>
    <p:sldLayoutId id="2147483668" r:id="rId5"/>
    <p:sldLayoutId id="2147483669" r:id="rId6"/>
    <p:sldLayoutId id="2147483670" r:id="rId7"/>
    <p:sldLayoutId id="2147483671" r:id="rId8"/>
    <p:sldLayoutId id="2147483672" r:id="rId9"/>
    <p:sldLayoutId id="2147483673" r:id="rId10"/>
    <p:sldLayoutId id="2147483674"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8" Type="http://schemas.openxmlformats.org/officeDocument/2006/relationships/image" Target="../media/image5.png"/><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7.xml"/><Relationship Id="rId1" Type="http://schemas.openxmlformats.org/officeDocument/2006/relationships/slideLayout" Target="../slideLayouts/slideLayout2.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 Id="rId9" Type="http://schemas.openxmlformats.org/officeDocument/2006/relationships/image" Target="../media/image6.png"/></Relationships>
</file>

<file path=ppt/slides/_rels/slide8.xml.rels><?xml version="1.0" encoding="UTF-8" standalone="yes"?>
<Relationships xmlns="http://schemas.openxmlformats.org/package/2006/relationships"><Relationship Id="rId8" Type="http://schemas.openxmlformats.org/officeDocument/2006/relationships/image" Target="../media/image7.svg"/><Relationship Id="rId13" Type="http://schemas.openxmlformats.org/officeDocument/2006/relationships/image" Target="../media/image12.svg"/><Relationship Id="rId3" Type="http://schemas.openxmlformats.org/officeDocument/2006/relationships/diagramData" Target="../diagrams/data2.xml"/><Relationship Id="rId7" Type="http://schemas.microsoft.com/office/2007/relationships/diagramDrawing" Target="../diagrams/drawing2.xml"/><Relationship Id="rId12" Type="http://schemas.openxmlformats.org/officeDocument/2006/relationships/image" Target="../media/image11.svg"/><Relationship Id="rId2" Type="http://schemas.openxmlformats.org/officeDocument/2006/relationships/notesSlide" Target="../notesSlides/notesSlide8.xml"/><Relationship Id="rId1" Type="http://schemas.openxmlformats.org/officeDocument/2006/relationships/slideLayout" Target="../slideLayouts/slideLayout13.xml"/><Relationship Id="rId6" Type="http://schemas.openxmlformats.org/officeDocument/2006/relationships/diagramColors" Target="../diagrams/colors2.xml"/><Relationship Id="rId11" Type="http://schemas.openxmlformats.org/officeDocument/2006/relationships/image" Target="../media/image10.svg"/><Relationship Id="rId5" Type="http://schemas.openxmlformats.org/officeDocument/2006/relationships/diagramQuickStyle" Target="../diagrams/quickStyle2.xml"/><Relationship Id="rId10" Type="http://schemas.openxmlformats.org/officeDocument/2006/relationships/image" Target="../media/image9.svg"/><Relationship Id="rId4" Type="http://schemas.openxmlformats.org/officeDocument/2006/relationships/diagramLayout" Target="../diagrams/layout2.xml"/><Relationship Id="rId9" Type="http://schemas.openxmlformats.org/officeDocument/2006/relationships/image" Target="../media/image8.svg"/></Relationships>
</file>

<file path=ppt/slides/_rels/slide9.xml.rels><?xml version="1.0" encoding="UTF-8" standalone="yes"?>
<Relationships xmlns="http://schemas.openxmlformats.org/package/2006/relationships"><Relationship Id="rId3" Type="http://schemas.openxmlformats.org/officeDocument/2006/relationships/diagramData" Target="../diagrams/data3.xml"/><Relationship Id="rId7" Type="http://schemas.microsoft.com/office/2007/relationships/diagramDrawing" Target="../diagrams/drawing3.xml"/><Relationship Id="rId2" Type="http://schemas.openxmlformats.org/officeDocument/2006/relationships/notesSlide" Target="../notesSlides/notesSlide9.xml"/><Relationship Id="rId1" Type="http://schemas.openxmlformats.org/officeDocument/2006/relationships/slideLayout" Target="../slideLayouts/slideLayout2.xml"/><Relationship Id="rId6" Type="http://schemas.openxmlformats.org/officeDocument/2006/relationships/diagramColors" Target="../diagrams/colors3.xml"/><Relationship Id="rId5" Type="http://schemas.openxmlformats.org/officeDocument/2006/relationships/diagramQuickStyle" Target="../diagrams/quickStyle3.xml"/><Relationship Id="rId4" Type="http://schemas.openxmlformats.org/officeDocument/2006/relationships/diagramLayout" Target="../diagrams/layout3.xml"/></Relationships>
</file>

<file path=ppt/slides/_rels/slide10.xml.rels><?xml version="1.0" encoding="UTF-8" standalone="yes"?>
<Relationships xmlns="http://schemas.openxmlformats.org/package/2006/relationships"><Relationship Id="rId8" Type="http://schemas.openxmlformats.org/officeDocument/2006/relationships/image" Target="../media/image13.png"/><Relationship Id="rId3" Type="http://schemas.openxmlformats.org/officeDocument/2006/relationships/diagramData" Target="../diagrams/data4.xml"/><Relationship Id="rId7" Type="http://schemas.microsoft.com/office/2007/relationships/diagramDrawing" Target="../diagrams/drawing4.xml"/><Relationship Id="rId2" Type="http://schemas.openxmlformats.org/officeDocument/2006/relationships/notesSlide" Target="../notesSlides/notesSlide10.xml"/><Relationship Id="rId1" Type="http://schemas.openxmlformats.org/officeDocument/2006/relationships/slideLayout" Target="../slideLayouts/slideLayout2.xml"/><Relationship Id="rId6" Type="http://schemas.openxmlformats.org/officeDocument/2006/relationships/diagramColors" Target="../diagrams/colors4.xml"/><Relationship Id="rId5" Type="http://schemas.openxmlformats.org/officeDocument/2006/relationships/diagramQuickStyle" Target="../diagrams/quickStyle4.xml"/><Relationship Id="rId4" Type="http://schemas.openxmlformats.org/officeDocument/2006/relationships/diagramLayout" Target="../diagrams/layout4.xml"/></Relationships>
</file>

<file path=ppt/slides/_rels/slide11.xml.rels><?xml version="1.0" encoding="UTF-8" standalone="yes"?>
<Relationships xmlns="http://schemas.openxmlformats.org/package/2006/relationships"><Relationship Id="rId3" Type="http://schemas.openxmlformats.org/officeDocument/2006/relationships/image" Target="../media/image14.jpe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5.jpeg"/><Relationship Id="rId2" Type="http://schemas.openxmlformats.org/officeDocument/2006/relationships/hyperlink" Target="https://home.nottscc.gov.uk/working/departments/chief-executives/complaints-and-information" TargetMode="External"/><Relationship Id="rId1" Type="http://schemas.openxmlformats.org/officeDocument/2006/relationships/slideLayout" Target="../slideLayouts/slideLayout2.xml"/><Relationship Id="rId5" Type="http://schemas.openxmlformats.org/officeDocument/2006/relationships/hyperlink" Target="https://nottsgov.sharepoint.com/:w:/t/O3GI-AS-ASCHPerformance/IQBDVKlermJZSJcDyWf7YlB5AbcR8cWOxWa6cIB0H5Oafxc?e=TEAraq" TargetMode="External"/><Relationship Id="rId4" Type="http://schemas.openxmlformats.org/officeDocument/2006/relationships/hyperlink" Target="https://nottsgov.sharepoint.com/:b:/r/teams/O3GI-AS-ASCHPerformance/Shared%20Documents/General/ASC%20Charging%20Policy/Adult%20Social%20Care%20Charging%20Policy%202026-27.pdf?csf=1&amp;web=1&amp;e=mba6ZZ" TargetMode="External"/></Relationships>
</file>

<file path=ppt/slides/_rels/slide14.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30" name="Picture 6" descr="Welcome To Our Team Images – Browse 77,010 Stock Photos, Vectors, and ...">
            <a:extLst>
              <a:ext uri="{FF2B5EF4-FFF2-40B4-BE49-F238E27FC236}">
                <a16:creationId xmlns:a16="http://schemas.microsoft.com/office/drawing/2014/main" id="{F5BC6793-4A48-83FA-D174-A90BB22E50E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l="5413" r="4733"/>
          <a:stretch>
            <a:fillRect/>
          </a:stretch>
        </p:blipFill>
        <p:spPr bwMode="auto">
          <a:xfrm>
            <a:off x="457200" y="1343025"/>
            <a:ext cx="8229600" cy="4327525"/>
          </a:xfrm>
          <a:prstGeom prst="rect">
            <a:avLst/>
          </a:prstGeom>
          <a:solidFill>
            <a:srgbClr val="FFFFFF"/>
          </a:solidFill>
        </p:spPr>
      </p:pic>
      <p:sp>
        <p:nvSpPr>
          <p:cNvPr id="2" name="Title 1">
            <a:extLst>
              <a:ext uri="{FF2B5EF4-FFF2-40B4-BE49-F238E27FC236}">
                <a16:creationId xmlns:a16="http://schemas.microsoft.com/office/drawing/2014/main" id="{96D8388F-AF8F-FA11-702A-3A9CE941347E}"/>
              </a:ext>
            </a:extLst>
          </p:cNvPr>
          <p:cNvSpPr>
            <a:spLocks noGrp="1"/>
          </p:cNvSpPr>
          <p:nvPr>
            <p:ph type="title"/>
          </p:nvPr>
        </p:nvSpPr>
        <p:spPr>
          <a:xfrm>
            <a:off x="457200" y="201168"/>
            <a:ext cx="8229600" cy="2587752"/>
          </a:xfrm>
        </p:spPr>
        <p:txBody>
          <a:bodyPr wrap="square" anchor="ctr">
            <a:normAutofit/>
          </a:bodyPr>
          <a:lstStyle/>
          <a:p>
            <a:pPr>
              <a:lnSpc>
                <a:spcPct val="90000"/>
              </a:lnSpc>
            </a:pPr>
            <a:r>
              <a:rPr lang="en-GB" sz="3000"/>
              <a:t>Adult Social Care Charging Policy</a:t>
            </a:r>
            <a:br>
              <a:rPr lang="en-GB"/>
            </a:br>
            <a:br>
              <a:rPr lang="en-GB"/>
            </a:br>
            <a:r>
              <a:rPr lang="en-GB"/>
              <a:t>Waivers, Hardship &amp; Financial Appeals Process</a:t>
            </a:r>
            <a:br>
              <a:rPr lang="en-GB"/>
            </a:br>
            <a:endParaRPr lang="en-GB"/>
          </a:p>
        </p:txBody>
      </p:sp>
      <p:sp>
        <p:nvSpPr>
          <p:cNvPr id="3" name="TextBox 2">
            <a:extLst>
              <a:ext uri="{FF2B5EF4-FFF2-40B4-BE49-F238E27FC236}">
                <a16:creationId xmlns:a16="http://schemas.microsoft.com/office/drawing/2014/main" id="{BECD1E4B-94C2-46CC-ADE8-0F32F872C098}"/>
              </a:ext>
            </a:extLst>
          </p:cNvPr>
          <p:cNvSpPr txBox="1"/>
          <p:nvPr/>
        </p:nvSpPr>
        <p:spPr>
          <a:xfrm>
            <a:off x="457200" y="5330309"/>
            <a:ext cx="8321040" cy="369332"/>
          </a:xfrm>
          <a:prstGeom prst="rect">
            <a:avLst/>
          </a:prstGeom>
          <a:noFill/>
        </p:spPr>
        <p:txBody>
          <a:bodyPr wrap="square" rtlCol="0">
            <a:spAutoFit/>
          </a:bodyPr>
          <a:lstStyle/>
          <a:p>
            <a:pPr algn="ctr"/>
            <a:r>
              <a:rPr lang="en-GB" i="1"/>
              <a:t>Please note that this session will be recorded!</a:t>
            </a:r>
          </a:p>
        </p:txBody>
      </p:sp>
    </p:spTree>
    <p:extLst>
      <p:ext uri="{BB962C8B-B14F-4D97-AF65-F5344CB8AC3E}">
        <p14:creationId xmlns:p14="http://schemas.microsoft.com/office/powerpoint/2010/main" val="31279351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1A2BC2-3160-4319-B92D-1DA4533C9E32}"/>
              </a:ext>
            </a:extLst>
          </p:cNvPr>
          <p:cNvSpPr>
            <a:spLocks noGrp="1"/>
          </p:cNvSpPr>
          <p:nvPr>
            <p:ph type="title"/>
          </p:nvPr>
        </p:nvSpPr>
        <p:spPr>
          <a:xfrm>
            <a:off x="196596" y="141933"/>
            <a:ext cx="8588416" cy="479859"/>
          </a:xfrm>
        </p:spPr>
        <p:txBody>
          <a:bodyPr/>
          <a:lstStyle/>
          <a:p>
            <a:pPr algn="l"/>
            <a:r>
              <a:rPr lang="en-GB" sz="2800"/>
              <a:t>Introduction &amp; Background</a:t>
            </a:r>
          </a:p>
        </p:txBody>
      </p:sp>
      <p:sp>
        <p:nvSpPr>
          <p:cNvPr id="4" name="TextBox 3">
            <a:extLst>
              <a:ext uri="{FF2B5EF4-FFF2-40B4-BE49-F238E27FC236}">
                <a16:creationId xmlns:a16="http://schemas.microsoft.com/office/drawing/2014/main" id="{49BC1826-2C54-27C1-D6EF-B518CDB456CE}"/>
              </a:ext>
            </a:extLst>
          </p:cNvPr>
          <p:cNvSpPr txBox="1"/>
          <p:nvPr/>
        </p:nvSpPr>
        <p:spPr>
          <a:xfrm>
            <a:off x="196596" y="740664"/>
            <a:ext cx="8750808" cy="5678478"/>
          </a:xfrm>
          <a:prstGeom prst="rect">
            <a:avLst/>
          </a:prstGeom>
          <a:noFill/>
        </p:spPr>
        <p:txBody>
          <a:bodyPr wrap="square">
            <a:spAutoFit/>
          </a:bodyPr>
          <a:lstStyle/>
          <a:p>
            <a:r>
              <a:rPr lang="en-GB" sz="1400" i="1"/>
              <a:t>From </a:t>
            </a:r>
            <a:r>
              <a:rPr lang="en-GB" sz="1400" b="1" i="1"/>
              <a:t>April 2026</a:t>
            </a:r>
            <a:r>
              <a:rPr lang="en-GB" sz="1400" i="1"/>
              <a:t>, the Council will implement the updated </a:t>
            </a:r>
            <a:r>
              <a:rPr lang="en-GB" sz="1400" b="1" i="1"/>
              <a:t>Adult Social Care Charging Policy. </a:t>
            </a:r>
            <a:r>
              <a:rPr lang="en-GB" sz="1400" i="1"/>
              <a:t>This outlines how NCC assesses and charges for care and support services, ensuring that charges are fair and reflect the individual's ability to pay.</a:t>
            </a:r>
          </a:p>
          <a:p>
            <a:endParaRPr lang="en-GB" sz="1000" i="1"/>
          </a:p>
          <a:p>
            <a:r>
              <a:rPr lang="en-GB" sz="1400" i="1"/>
              <a:t>As part of these changes, a new </a:t>
            </a:r>
            <a:r>
              <a:rPr lang="en-GB" sz="1400" b="1" i="1"/>
              <a:t>appeals process</a:t>
            </a:r>
            <a:r>
              <a:rPr lang="en-GB" sz="1400" i="1"/>
              <a:t> is being introduced for people who do not agree with the outcome of their financial assessment.</a:t>
            </a:r>
          </a:p>
          <a:p>
            <a:endParaRPr lang="en-GB" sz="1000"/>
          </a:p>
          <a:p>
            <a:r>
              <a:rPr lang="en-GB" sz="1400" i="1"/>
              <a:t>The updated policy also strengthens support for staff by providing a </a:t>
            </a:r>
            <a:r>
              <a:rPr lang="en-GB" sz="1400" b="1" i="1"/>
              <a:t>clear definition and criteria for financial hardship</a:t>
            </a:r>
            <a:r>
              <a:rPr lang="en-GB" sz="1400" i="1"/>
              <a:t>, along with a consistent approach to how </a:t>
            </a:r>
            <a:r>
              <a:rPr lang="en-GB" sz="1400" b="1" i="1"/>
              <a:t>waivers</a:t>
            </a:r>
            <a:r>
              <a:rPr lang="en-GB" sz="1400" i="1"/>
              <a:t> are considered and approved across the department.</a:t>
            </a:r>
          </a:p>
          <a:p>
            <a:endParaRPr lang="en-GB" sz="1000" i="1"/>
          </a:p>
          <a:p>
            <a:r>
              <a:rPr lang="en-GB" sz="1400" b="1" i="1"/>
              <a:t>In 2025/26, to date, </a:t>
            </a:r>
            <a:r>
              <a:rPr lang="en-GB" sz="1400" b="1"/>
              <a:t>over £72k has been approved in waivers, with over 90% being a result of complaints or financial hardship. </a:t>
            </a:r>
            <a:endParaRPr lang="en-GB" sz="1400" b="1" i="1"/>
          </a:p>
          <a:p>
            <a:endParaRPr lang="en-GB" sz="1400" b="1"/>
          </a:p>
          <a:p>
            <a:r>
              <a:rPr lang="en-GB" sz="1400" b="1"/>
              <a:t>Within this briefing we will cover:</a:t>
            </a:r>
          </a:p>
          <a:p>
            <a:endParaRPr lang="en-GB" sz="500" i="1"/>
          </a:p>
          <a:p>
            <a:pPr marL="285750" indent="-285750">
              <a:buFont typeface="Wingdings" panose="05000000000000000000" pitchFamily="2" charset="2"/>
              <a:buChar char="ü"/>
            </a:pPr>
            <a:r>
              <a:rPr lang="en-GB" sz="1400"/>
              <a:t>Definitions </a:t>
            </a:r>
          </a:p>
          <a:p>
            <a:pPr marL="285750" indent="-285750">
              <a:buFont typeface="Wingdings" panose="05000000000000000000" pitchFamily="2" charset="2"/>
              <a:buChar char="ü"/>
            </a:pPr>
            <a:r>
              <a:rPr lang="en-GB" sz="1400"/>
              <a:t>What’s New –  Processes &amp; procedures</a:t>
            </a:r>
          </a:p>
          <a:p>
            <a:pPr marL="285750" indent="-285750">
              <a:buFont typeface="Wingdings" panose="05000000000000000000" pitchFamily="2" charset="2"/>
              <a:buChar char="ü"/>
            </a:pPr>
            <a:r>
              <a:rPr lang="en-GB" sz="1400"/>
              <a:t>Financial Hardship </a:t>
            </a:r>
          </a:p>
          <a:p>
            <a:pPr marL="285750" indent="-285750">
              <a:buFont typeface="Wingdings" panose="05000000000000000000" pitchFamily="2" charset="2"/>
              <a:buChar char="ü"/>
            </a:pPr>
            <a:r>
              <a:rPr lang="en-GB" sz="1400"/>
              <a:t>Financial Appeals </a:t>
            </a:r>
          </a:p>
          <a:p>
            <a:pPr marL="285750" indent="-285750">
              <a:buFont typeface="Wingdings" panose="05000000000000000000" pitchFamily="2" charset="2"/>
              <a:buChar char="ü"/>
            </a:pPr>
            <a:r>
              <a:rPr lang="en-GB" sz="1400"/>
              <a:t>Waivers – New Mosaic form, process and approvals</a:t>
            </a:r>
          </a:p>
          <a:p>
            <a:pPr marL="285750" indent="-285750">
              <a:buFont typeface="Wingdings" panose="05000000000000000000" pitchFamily="2" charset="2"/>
              <a:buChar char="ü"/>
            </a:pPr>
            <a:r>
              <a:rPr lang="en-GB" sz="1400"/>
              <a:t>Timeline &amp; Next Steps</a:t>
            </a:r>
          </a:p>
          <a:p>
            <a:pPr marL="285750" indent="-285750">
              <a:buFont typeface="Wingdings" panose="05000000000000000000" pitchFamily="2" charset="2"/>
              <a:buChar char="ü"/>
            </a:pPr>
            <a:r>
              <a:rPr lang="en-GB" sz="1400"/>
              <a:t>Where to find further information &amp; guidance</a:t>
            </a:r>
          </a:p>
          <a:p>
            <a:pPr marL="285750" indent="-285750">
              <a:buFont typeface="Wingdings" panose="05000000000000000000" pitchFamily="2" charset="2"/>
              <a:buChar char="ü"/>
            </a:pPr>
            <a:r>
              <a:rPr lang="en-GB" sz="1400"/>
              <a:t>Opportunity to ask questions…..</a:t>
            </a:r>
          </a:p>
          <a:p>
            <a:endParaRPr lang="en-GB" sz="1600"/>
          </a:p>
          <a:p>
            <a:endParaRPr lang="en-GB" sz="1600"/>
          </a:p>
          <a:p>
            <a:pPr marL="285750" indent="-285750">
              <a:buFont typeface="Arial" panose="020B0604020202020204" pitchFamily="34" charset="0"/>
              <a:buChar char="•"/>
            </a:pPr>
            <a:endParaRPr lang="en-GB" sz="1600"/>
          </a:p>
        </p:txBody>
      </p:sp>
      <p:pic>
        <p:nvPicPr>
          <p:cNvPr id="5" name="Picture 4">
            <a:extLst>
              <a:ext uri="{FF2B5EF4-FFF2-40B4-BE49-F238E27FC236}">
                <a16:creationId xmlns:a16="http://schemas.microsoft.com/office/drawing/2014/main" id="{35A87499-579C-01DC-66D4-A7306BA668E1}"/>
              </a:ext>
            </a:extLst>
          </p:cNvPr>
          <p:cNvPicPr>
            <a:picLocks noChangeAspect="1"/>
          </p:cNvPicPr>
          <p:nvPr/>
        </p:nvPicPr>
        <p:blipFill>
          <a:blip r:embed="rId3"/>
          <a:stretch>
            <a:fillRect/>
          </a:stretch>
        </p:blipFill>
        <p:spPr>
          <a:xfrm>
            <a:off x="6998312" y="3318533"/>
            <a:ext cx="1622108" cy="2314171"/>
          </a:xfrm>
          <a:prstGeom prst="rect">
            <a:avLst/>
          </a:prstGeom>
          <a:ln>
            <a:solidFill>
              <a:schemeClr val="bg2"/>
            </a:solidFill>
          </a:ln>
        </p:spPr>
      </p:pic>
    </p:spTree>
    <p:extLst>
      <p:ext uri="{BB962C8B-B14F-4D97-AF65-F5344CB8AC3E}">
        <p14:creationId xmlns:p14="http://schemas.microsoft.com/office/powerpoint/2010/main" val="360039153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B603337-5ED2-4623-03B2-99F1284E579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6B00858-58FB-64EA-B279-A240AEEA4C64}"/>
              </a:ext>
            </a:extLst>
          </p:cNvPr>
          <p:cNvSpPr>
            <a:spLocks noGrp="1"/>
          </p:cNvSpPr>
          <p:nvPr>
            <p:ph type="title"/>
          </p:nvPr>
        </p:nvSpPr>
        <p:spPr>
          <a:xfrm>
            <a:off x="164592" y="123645"/>
            <a:ext cx="8588416" cy="386809"/>
          </a:xfrm>
        </p:spPr>
        <p:txBody>
          <a:bodyPr/>
          <a:lstStyle/>
          <a:p>
            <a:pPr algn="l"/>
            <a:r>
              <a:rPr lang="en-GB" sz="2800"/>
              <a:t>Definitions</a:t>
            </a:r>
          </a:p>
        </p:txBody>
      </p:sp>
      <p:sp>
        <p:nvSpPr>
          <p:cNvPr id="4" name="TextBox 3">
            <a:extLst>
              <a:ext uri="{FF2B5EF4-FFF2-40B4-BE49-F238E27FC236}">
                <a16:creationId xmlns:a16="http://schemas.microsoft.com/office/drawing/2014/main" id="{09054DF8-8789-08F9-355A-82B873985869}"/>
              </a:ext>
            </a:extLst>
          </p:cNvPr>
          <p:cNvSpPr txBox="1"/>
          <p:nvPr/>
        </p:nvSpPr>
        <p:spPr>
          <a:xfrm>
            <a:off x="228600" y="601894"/>
            <a:ext cx="8814816" cy="5801588"/>
          </a:xfrm>
          <a:prstGeom prst="rect">
            <a:avLst/>
          </a:prstGeom>
          <a:noFill/>
        </p:spPr>
        <p:txBody>
          <a:bodyPr wrap="square">
            <a:spAutoFit/>
          </a:bodyPr>
          <a:lstStyle/>
          <a:p>
            <a:r>
              <a:rPr lang="en-GB" sz="1300" b="1"/>
              <a:t>Hardship:</a:t>
            </a:r>
          </a:p>
          <a:p>
            <a:r>
              <a:rPr lang="en-GB" sz="1300" i="1"/>
              <a:t>Financial hardship is defined as: “Paying the assessed charge or flat rate charge would cause you or your dependents to forgo basic needs and necessities, such as housing, food, utilities, transport, clothing, essential disability costs, and debt repayments that would have a serious detrimental effect on health and wellbeing”. </a:t>
            </a:r>
            <a:r>
              <a:rPr lang="en-GB" sz="1300"/>
              <a:t> </a:t>
            </a:r>
          </a:p>
          <a:p>
            <a:endParaRPr lang="en-GB" sz="1000" b="1"/>
          </a:p>
          <a:p>
            <a:r>
              <a:rPr lang="en-GB" sz="1300" b="1"/>
              <a:t>Financial Appeal:</a:t>
            </a:r>
          </a:p>
          <a:p>
            <a:r>
              <a:rPr lang="en-GB" sz="1300" i="1"/>
              <a:t>An appeal against the outcome of financial assessment is a formal process where individuals disagree with the assessment outcome and seek to have it reconsidered – These will be handled by ACFS. </a:t>
            </a:r>
          </a:p>
          <a:p>
            <a:endParaRPr lang="en-GB" sz="1000" i="1"/>
          </a:p>
          <a:p>
            <a:r>
              <a:rPr lang="en-GB" sz="1300" b="1"/>
              <a:t>Complaint:</a:t>
            </a:r>
          </a:p>
          <a:p>
            <a:r>
              <a:rPr lang="en-GB" sz="1300" i="1"/>
              <a:t>A formal complaint in adult social care is an expression of dissatisfaction—made verbally or in writing—about the actions, decisions, standard of service, or lack of action by adult social care services, their staff, or those acting on their behalf, which requires investigation through the NCC complaints procedure.</a:t>
            </a:r>
          </a:p>
          <a:p>
            <a:endParaRPr lang="en-GB" sz="1000" b="1"/>
          </a:p>
          <a:p>
            <a:r>
              <a:rPr lang="en-GB" sz="1300" b="1"/>
              <a:t>Waiver:</a:t>
            </a:r>
          </a:p>
          <a:p>
            <a:r>
              <a:rPr lang="en-GB" sz="1300" i="1"/>
              <a:t>A waiver is a request for a reduction or exemption of charges for care services.  It could apply to assessed care charge contributions, top up fee, or a flat rate charge e.g. transport, financial </a:t>
            </a:r>
          </a:p>
          <a:p>
            <a:r>
              <a:rPr lang="en-GB" sz="1300" i="1"/>
              <a:t>services fees or some TEC charges.</a:t>
            </a:r>
          </a:p>
          <a:p>
            <a:endParaRPr lang="en-GB" sz="1000" b="1" i="1"/>
          </a:p>
          <a:p>
            <a:r>
              <a:rPr lang="en-GB" sz="1300" b="1"/>
              <a:t>Write Off:</a:t>
            </a:r>
          </a:p>
          <a:p>
            <a:pPr>
              <a:defRPr sz="1800">
                <a:solidFill>
                  <a:srgbClr val="000000"/>
                </a:solidFill>
              </a:defRPr>
            </a:pPr>
            <a:r>
              <a:rPr lang="en-GB" sz="1300" i="1">
                <a:latin typeface="Arial"/>
                <a:cs typeface="Arial"/>
              </a:rPr>
              <a:t>Different to a waiver (but often confused) a write off is the process of removing a debt from the council’s financial records, typically done when a debt is deemed unlikely to be repaid. </a:t>
            </a:r>
          </a:p>
          <a:p>
            <a:pPr>
              <a:defRPr sz="1800">
                <a:solidFill>
                  <a:srgbClr val="000000"/>
                </a:solidFill>
              </a:defRPr>
            </a:pPr>
            <a:endParaRPr lang="en-GB" sz="1000" b="1">
              <a:latin typeface="+mn-lt"/>
              <a:cs typeface="Arial"/>
            </a:endParaRPr>
          </a:p>
          <a:p>
            <a:pPr>
              <a:defRPr sz="1800">
                <a:solidFill>
                  <a:srgbClr val="000000"/>
                </a:solidFill>
              </a:defRPr>
            </a:pPr>
            <a:r>
              <a:rPr lang="en-GB" sz="1300" b="1"/>
              <a:t>Flat Rate Charges:</a:t>
            </a:r>
          </a:p>
          <a:p>
            <a:pPr>
              <a:defRPr sz="1800">
                <a:solidFill>
                  <a:srgbClr val="000000"/>
                </a:solidFill>
              </a:defRPr>
            </a:pPr>
            <a:r>
              <a:rPr lang="en-GB" sz="1300" i="1"/>
              <a:t>Standard charges applied for certain services e.g. transport arrangement fees, that are not </a:t>
            </a:r>
          </a:p>
          <a:p>
            <a:pPr>
              <a:defRPr sz="1800">
                <a:solidFill>
                  <a:srgbClr val="000000"/>
                </a:solidFill>
              </a:defRPr>
            </a:pPr>
            <a:r>
              <a:rPr lang="en-GB" sz="1300" i="1"/>
              <a:t>Subject to a financial assessment.</a:t>
            </a:r>
          </a:p>
          <a:p>
            <a:pPr>
              <a:defRPr sz="1800">
                <a:solidFill>
                  <a:srgbClr val="000000"/>
                </a:solidFill>
              </a:defRPr>
            </a:pPr>
            <a:endParaRPr lang="en-GB" sz="1600" b="1">
              <a:latin typeface="+mn-lt"/>
              <a:cs typeface="Arial"/>
            </a:endParaRPr>
          </a:p>
          <a:p>
            <a:pPr>
              <a:defRPr sz="1800">
                <a:solidFill>
                  <a:srgbClr val="000000"/>
                </a:solidFill>
              </a:defRPr>
            </a:pPr>
            <a:endParaRPr lang="en-GB" sz="1600" b="1" i="1">
              <a:latin typeface="Arial"/>
              <a:cs typeface="Arial"/>
            </a:endParaRPr>
          </a:p>
          <a:p>
            <a:pPr>
              <a:defRPr sz="1800">
                <a:solidFill>
                  <a:srgbClr val="000000"/>
                </a:solidFill>
              </a:defRPr>
            </a:pPr>
            <a:endParaRPr lang="en-GB" sz="1600" b="1" i="1">
              <a:latin typeface="Arial"/>
              <a:cs typeface="Arial"/>
            </a:endParaRPr>
          </a:p>
        </p:txBody>
      </p:sp>
      <p:pic>
        <p:nvPicPr>
          <p:cNvPr id="10" name="Picture 9">
            <a:extLst>
              <a:ext uri="{FF2B5EF4-FFF2-40B4-BE49-F238E27FC236}">
                <a16:creationId xmlns:a16="http://schemas.microsoft.com/office/drawing/2014/main" id="{4ABF13D9-E6D2-B6B2-E2E2-0A9769963675}"/>
              </a:ext>
            </a:extLst>
          </p:cNvPr>
          <p:cNvPicPr>
            <a:picLocks noChangeAspect="1"/>
          </p:cNvPicPr>
          <p:nvPr/>
        </p:nvPicPr>
        <p:blipFill>
          <a:blip r:embed="rId3"/>
          <a:srcRect b="6355"/>
          <a:stretch>
            <a:fillRect/>
          </a:stretch>
        </p:blipFill>
        <p:spPr>
          <a:xfrm>
            <a:off x="7250099" y="4056190"/>
            <a:ext cx="1793317" cy="1792224"/>
          </a:xfrm>
          <a:prstGeom prst="rect">
            <a:avLst/>
          </a:prstGeom>
        </p:spPr>
      </p:pic>
    </p:spTree>
    <p:extLst>
      <p:ext uri="{BB962C8B-B14F-4D97-AF65-F5344CB8AC3E}">
        <p14:creationId xmlns:p14="http://schemas.microsoft.com/office/powerpoint/2010/main" val="236058606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44E2E5-32C7-0404-F37E-AE2FB7115C2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BAE9355-83E2-D19C-AACE-982561D388A7}"/>
              </a:ext>
            </a:extLst>
          </p:cNvPr>
          <p:cNvSpPr>
            <a:spLocks noGrp="1"/>
          </p:cNvSpPr>
          <p:nvPr>
            <p:ph type="title"/>
          </p:nvPr>
        </p:nvSpPr>
        <p:spPr>
          <a:xfrm>
            <a:off x="228600" y="254511"/>
            <a:ext cx="8588416" cy="431289"/>
          </a:xfrm>
        </p:spPr>
        <p:txBody>
          <a:bodyPr/>
          <a:lstStyle/>
          <a:p>
            <a:pPr algn="l"/>
            <a:r>
              <a:rPr lang="en-GB" sz="2800"/>
              <a:t>What’s New?</a:t>
            </a:r>
          </a:p>
        </p:txBody>
      </p:sp>
      <p:sp>
        <p:nvSpPr>
          <p:cNvPr id="3" name="TextBox 2">
            <a:extLst>
              <a:ext uri="{FF2B5EF4-FFF2-40B4-BE49-F238E27FC236}">
                <a16:creationId xmlns:a16="http://schemas.microsoft.com/office/drawing/2014/main" id="{6467BA3B-EFF5-8E2B-1E5A-B8838A8DE673}"/>
              </a:ext>
            </a:extLst>
          </p:cNvPr>
          <p:cNvSpPr txBox="1"/>
          <p:nvPr/>
        </p:nvSpPr>
        <p:spPr>
          <a:xfrm>
            <a:off x="374904" y="886968"/>
            <a:ext cx="8442112" cy="5216813"/>
          </a:xfrm>
          <a:prstGeom prst="rect">
            <a:avLst/>
          </a:prstGeom>
          <a:noFill/>
        </p:spPr>
        <p:txBody>
          <a:bodyPr wrap="square" rtlCol="0">
            <a:spAutoFit/>
          </a:bodyPr>
          <a:lstStyle/>
          <a:p>
            <a:pPr marL="285750" indent="-285750">
              <a:buFont typeface="Wingdings" panose="05000000000000000000" pitchFamily="2" charset="2"/>
              <a:buChar char="ü"/>
            </a:pPr>
            <a:r>
              <a:rPr lang="en-GB" sz="1600"/>
              <a:t>A streamlined </a:t>
            </a:r>
            <a:r>
              <a:rPr lang="en-GB" sz="1600" b="1"/>
              <a:t>waiver request and approval process, </a:t>
            </a:r>
            <a:r>
              <a:rPr lang="en-GB" sz="1600"/>
              <a:t>aligned with the </a:t>
            </a:r>
            <a:r>
              <a:rPr lang="en-GB" sz="1600" b="1"/>
              <a:t>new levels of authorisation</a:t>
            </a:r>
            <a:r>
              <a:rPr lang="en-GB" sz="1600"/>
              <a:t> and connected to the </a:t>
            </a:r>
            <a:r>
              <a:rPr lang="en-GB" sz="1600" b="1"/>
              <a:t>Hardship, Appeals</a:t>
            </a:r>
            <a:r>
              <a:rPr lang="en-GB" sz="1600"/>
              <a:t> and </a:t>
            </a:r>
            <a:r>
              <a:rPr lang="en-GB" sz="1600" b="1"/>
              <a:t>Complaints processes.</a:t>
            </a:r>
          </a:p>
          <a:p>
            <a:pPr marL="285750" indent="-285750">
              <a:buFont typeface="Wingdings" panose="05000000000000000000" pitchFamily="2" charset="2"/>
              <a:buChar char="ü"/>
            </a:pPr>
            <a:endParaRPr lang="en-GB" sz="1600" b="1"/>
          </a:p>
          <a:p>
            <a:pPr marL="285750" indent="-285750">
              <a:buFont typeface="Wingdings" panose="05000000000000000000" pitchFamily="2" charset="2"/>
              <a:buChar char="ü"/>
            </a:pPr>
            <a:r>
              <a:rPr lang="en-GB" sz="1600"/>
              <a:t>The creation of a new </a:t>
            </a:r>
            <a:r>
              <a:rPr lang="en-GB" sz="1600" b="1"/>
              <a:t>Financial Waiver Request Form</a:t>
            </a:r>
            <a:r>
              <a:rPr lang="en-GB" sz="1600"/>
              <a:t>, within Mosaic.</a:t>
            </a:r>
          </a:p>
          <a:p>
            <a:endParaRPr lang="en-GB" sz="1600"/>
          </a:p>
          <a:p>
            <a:pPr marL="285750" indent="-285750">
              <a:buFont typeface="Wingdings" panose="05000000000000000000" pitchFamily="2" charset="2"/>
              <a:buChar char="ü"/>
            </a:pPr>
            <a:r>
              <a:rPr lang="en-GB" sz="1600"/>
              <a:t>The introduction of a new </a:t>
            </a:r>
            <a:r>
              <a:rPr lang="en-GB" sz="1600" b="1"/>
              <a:t>Hardship</a:t>
            </a:r>
            <a:r>
              <a:rPr lang="en-GB" sz="1600"/>
              <a:t> </a:t>
            </a:r>
            <a:r>
              <a:rPr lang="en-GB" sz="1600" b="1"/>
              <a:t>definition and criteria</a:t>
            </a:r>
            <a:r>
              <a:rPr lang="en-GB" sz="1600"/>
              <a:t>, along with a new hardship application process, for flat rate charges. </a:t>
            </a:r>
          </a:p>
          <a:p>
            <a:pPr marL="285750" indent="-285750">
              <a:buFont typeface="Wingdings" panose="05000000000000000000" pitchFamily="2" charset="2"/>
              <a:buChar char="ü"/>
            </a:pPr>
            <a:endParaRPr lang="en-GB" sz="1600"/>
          </a:p>
          <a:p>
            <a:pPr marL="285750" indent="-285750">
              <a:buFont typeface="Wingdings" panose="05000000000000000000" pitchFamily="2" charset="2"/>
              <a:buChar char="ü"/>
            </a:pPr>
            <a:r>
              <a:rPr lang="en-GB" sz="1600"/>
              <a:t>A new </a:t>
            </a:r>
            <a:r>
              <a:rPr lang="en-GB" sz="1600" b="1"/>
              <a:t>Financial Appeals Process </a:t>
            </a:r>
            <a:r>
              <a:rPr lang="en-GB" sz="1600"/>
              <a:t>(related to financial assessment outcomes), which will be managed by ACFS.</a:t>
            </a:r>
          </a:p>
          <a:p>
            <a:pPr marL="285750" indent="-285750">
              <a:buFont typeface="Wingdings" panose="05000000000000000000" pitchFamily="2" charset="2"/>
              <a:buChar char="ü"/>
            </a:pPr>
            <a:endParaRPr lang="en-GB" sz="1600"/>
          </a:p>
          <a:p>
            <a:pPr marL="285750" indent="-285750">
              <a:buFont typeface="Wingdings" panose="05000000000000000000" pitchFamily="2" charset="2"/>
              <a:buChar char="ü"/>
            </a:pPr>
            <a:r>
              <a:rPr lang="en-GB" sz="1600" b="1"/>
              <a:t>New reports</a:t>
            </a:r>
            <a:r>
              <a:rPr lang="en-GB" sz="1600"/>
              <a:t>, within the </a:t>
            </a:r>
            <a:r>
              <a:rPr lang="en-GB" sz="1600" b="1"/>
              <a:t>BI Hub</a:t>
            </a:r>
            <a:r>
              <a:rPr lang="en-GB" sz="1600"/>
              <a:t>, which will:</a:t>
            </a:r>
          </a:p>
          <a:p>
            <a:endParaRPr lang="en-GB" sz="500"/>
          </a:p>
          <a:p>
            <a:r>
              <a:rPr lang="en-GB" sz="1600"/>
              <a:t>     - Show the number of waiver requests approved, </a:t>
            </a:r>
          </a:p>
          <a:p>
            <a:r>
              <a:rPr lang="en-GB" sz="1600"/>
              <a:t>     - Show the number of waivers pending approval,</a:t>
            </a:r>
          </a:p>
          <a:p>
            <a:r>
              <a:rPr lang="en-GB" sz="1600"/>
              <a:t>     - Allow us to analyse and identify trends,</a:t>
            </a:r>
          </a:p>
          <a:p>
            <a:r>
              <a:rPr lang="en-GB" sz="1600"/>
              <a:t>     - Link to wider ASCH reporting dashboards.</a:t>
            </a:r>
          </a:p>
          <a:p>
            <a:endParaRPr lang="en-GB"/>
          </a:p>
          <a:p>
            <a:endParaRPr lang="en-GB"/>
          </a:p>
          <a:p>
            <a:pPr marL="285750" indent="-285750">
              <a:buFont typeface="Wingdings" panose="05000000000000000000" pitchFamily="2" charset="2"/>
              <a:buChar char="ü"/>
            </a:pPr>
            <a:endParaRPr lang="en-GB"/>
          </a:p>
          <a:p>
            <a:pPr marL="285750" indent="-285750">
              <a:buFont typeface="Wingdings" panose="05000000000000000000" pitchFamily="2" charset="2"/>
              <a:buChar char="ü"/>
            </a:pPr>
            <a:endParaRPr lang="en-GB"/>
          </a:p>
        </p:txBody>
      </p:sp>
    </p:spTree>
    <p:extLst>
      <p:ext uri="{BB962C8B-B14F-4D97-AF65-F5344CB8AC3E}">
        <p14:creationId xmlns:p14="http://schemas.microsoft.com/office/powerpoint/2010/main" val="365339903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8BC2251-1B08-F227-2208-BA9950502D7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6C30C2F-C234-B539-DB83-533B3B2A3509}"/>
              </a:ext>
            </a:extLst>
          </p:cNvPr>
          <p:cNvSpPr>
            <a:spLocks noGrp="1"/>
          </p:cNvSpPr>
          <p:nvPr>
            <p:ph type="title"/>
          </p:nvPr>
        </p:nvSpPr>
        <p:spPr>
          <a:xfrm>
            <a:off x="228600" y="254511"/>
            <a:ext cx="8588416" cy="431289"/>
          </a:xfrm>
        </p:spPr>
        <p:txBody>
          <a:bodyPr/>
          <a:lstStyle/>
          <a:p>
            <a:pPr algn="l"/>
            <a:r>
              <a:rPr lang="en-GB" sz="2800"/>
              <a:t>How it all fits together….</a:t>
            </a:r>
          </a:p>
        </p:txBody>
      </p:sp>
      <p:sp>
        <p:nvSpPr>
          <p:cNvPr id="6" name="Arrow: Pentagon 5">
            <a:extLst>
              <a:ext uri="{FF2B5EF4-FFF2-40B4-BE49-F238E27FC236}">
                <a16:creationId xmlns:a16="http://schemas.microsoft.com/office/drawing/2014/main" id="{5745B01C-996A-78CF-A7E3-B86F6663D4CA}"/>
              </a:ext>
            </a:extLst>
          </p:cNvPr>
          <p:cNvSpPr/>
          <p:nvPr/>
        </p:nvSpPr>
        <p:spPr>
          <a:xfrm rot="5400000">
            <a:off x="2967228" y="254363"/>
            <a:ext cx="2834640" cy="4197096"/>
          </a:xfrm>
          <a:prstGeom prst="homePlat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7" name="TextBox 6">
            <a:extLst>
              <a:ext uri="{FF2B5EF4-FFF2-40B4-BE49-F238E27FC236}">
                <a16:creationId xmlns:a16="http://schemas.microsoft.com/office/drawing/2014/main" id="{175E5F46-0DAA-D3DA-4EEE-68D416ED8A54}"/>
              </a:ext>
            </a:extLst>
          </p:cNvPr>
          <p:cNvSpPr txBox="1"/>
          <p:nvPr/>
        </p:nvSpPr>
        <p:spPr>
          <a:xfrm>
            <a:off x="2285999" y="1096601"/>
            <a:ext cx="1901952" cy="738664"/>
          </a:xfrm>
          <a:prstGeom prst="rect">
            <a:avLst/>
          </a:prstGeom>
          <a:noFill/>
        </p:spPr>
        <p:txBody>
          <a:bodyPr wrap="square" rtlCol="0">
            <a:spAutoFit/>
          </a:bodyPr>
          <a:lstStyle/>
          <a:p>
            <a:pPr algn="ctr"/>
            <a:r>
              <a:rPr lang="en-GB" sz="1400" b="1"/>
              <a:t>Hardship Application (Flat Rate Charges)</a:t>
            </a:r>
          </a:p>
        </p:txBody>
      </p:sp>
      <p:sp>
        <p:nvSpPr>
          <p:cNvPr id="8" name="TextBox 7">
            <a:extLst>
              <a:ext uri="{FF2B5EF4-FFF2-40B4-BE49-F238E27FC236}">
                <a16:creationId xmlns:a16="http://schemas.microsoft.com/office/drawing/2014/main" id="{26E03F75-6F5F-BDFD-546A-ED020A2B0576}"/>
              </a:ext>
            </a:extLst>
          </p:cNvPr>
          <p:cNvSpPr txBox="1"/>
          <p:nvPr/>
        </p:nvSpPr>
        <p:spPr>
          <a:xfrm>
            <a:off x="4650604" y="1111233"/>
            <a:ext cx="1901952" cy="738664"/>
          </a:xfrm>
          <a:prstGeom prst="rect">
            <a:avLst/>
          </a:prstGeom>
          <a:noFill/>
        </p:spPr>
        <p:txBody>
          <a:bodyPr wrap="square" rtlCol="0">
            <a:spAutoFit/>
          </a:bodyPr>
          <a:lstStyle/>
          <a:p>
            <a:pPr algn="ctr"/>
            <a:r>
              <a:rPr lang="en-GB" sz="1400" b="1"/>
              <a:t>Financial </a:t>
            </a:r>
          </a:p>
          <a:p>
            <a:pPr algn="ctr"/>
            <a:r>
              <a:rPr lang="en-GB" sz="1400" b="1"/>
              <a:t>Appeal </a:t>
            </a:r>
          </a:p>
          <a:p>
            <a:pPr algn="ctr"/>
            <a:r>
              <a:rPr lang="en-GB" sz="1400" b="1"/>
              <a:t>Outcome</a:t>
            </a:r>
          </a:p>
        </p:txBody>
      </p:sp>
      <p:sp>
        <p:nvSpPr>
          <p:cNvPr id="9" name="TextBox 8">
            <a:extLst>
              <a:ext uri="{FF2B5EF4-FFF2-40B4-BE49-F238E27FC236}">
                <a16:creationId xmlns:a16="http://schemas.microsoft.com/office/drawing/2014/main" id="{E17F8535-D27B-ED37-3740-A6D27806D8E4}"/>
              </a:ext>
            </a:extLst>
          </p:cNvPr>
          <p:cNvSpPr txBox="1"/>
          <p:nvPr/>
        </p:nvSpPr>
        <p:spPr>
          <a:xfrm>
            <a:off x="2285999" y="1990584"/>
            <a:ext cx="1901952" cy="307777"/>
          </a:xfrm>
          <a:prstGeom prst="rect">
            <a:avLst/>
          </a:prstGeom>
          <a:noFill/>
        </p:spPr>
        <p:txBody>
          <a:bodyPr wrap="square" rtlCol="0">
            <a:spAutoFit/>
          </a:bodyPr>
          <a:lstStyle/>
          <a:p>
            <a:pPr algn="ctr"/>
            <a:r>
              <a:rPr lang="en-GB" sz="1400" b="1"/>
              <a:t>Complaints</a:t>
            </a:r>
          </a:p>
        </p:txBody>
      </p:sp>
      <p:sp>
        <p:nvSpPr>
          <p:cNvPr id="10" name="TextBox 9">
            <a:extLst>
              <a:ext uri="{FF2B5EF4-FFF2-40B4-BE49-F238E27FC236}">
                <a16:creationId xmlns:a16="http://schemas.microsoft.com/office/drawing/2014/main" id="{D4F7047B-9243-4BFD-DAAD-53C689F3F028}"/>
              </a:ext>
            </a:extLst>
          </p:cNvPr>
          <p:cNvSpPr txBox="1"/>
          <p:nvPr/>
        </p:nvSpPr>
        <p:spPr>
          <a:xfrm>
            <a:off x="4692745" y="1965567"/>
            <a:ext cx="1901952" cy="307777"/>
          </a:xfrm>
          <a:prstGeom prst="rect">
            <a:avLst/>
          </a:prstGeom>
          <a:noFill/>
        </p:spPr>
        <p:txBody>
          <a:bodyPr wrap="square" rtlCol="0">
            <a:spAutoFit/>
          </a:bodyPr>
          <a:lstStyle/>
          <a:p>
            <a:pPr algn="ctr"/>
            <a:r>
              <a:rPr lang="en-GB" sz="1400" b="1"/>
              <a:t>Errors</a:t>
            </a:r>
          </a:p>
        </p:txBody>
      </p:sp>
      <p:sp>
        <p:nvSpPr>
          <p:cNvPr id="11" name="TextBox 10">
            <a:extLst>
              <a:ext uri="{FF2B5EF4-FFF2-40B4-BE49-F238E27FC236}">
                <a16:creationId xmlns:a16="http://schemas.microsoft.com/office/drawing/2014/main" id="{41CA8271-E4AE-EB6C-DE21-D2929EAA022E}"/>
              </a:ext>
            </a:extLst>
          </p:cNvPr>
          <p:cNvSpPr txBox="1"/>
          <p:nvPr/>
        </p:nvSpPr>
        <p:spPr>
          <a:xfrm>
            <a:off x="3433571" y="2529702"/>
            <a:ext cx="1901952" cy="523220"/>
          </a:xfrm>
          <a:prstGeom prst="rect">
            <a:avLst/>
          </a:prstGeom>
          <a:noFill/>
        </p:spPr>
        <p:txBody>
          <a:bodyPr wrap="square" rtlCol="0">
            <a:spAutoFit/>
          </a:bodyPr>
          <a:lstStyle/>
          <a:p>
            <a:pPr algn="ctr"/>
            <a:r>
              <a:rPr lang="en-GB" sz="1400" b="1"/>
              <a:t>Conversations, visits etc</a:t>
            </a:r>
          </a:p>
        </p:txBody>
      </p:sp>
      <p:sp>
        <p:nvSpPr>
          <p:cNvPr id="12" name="Callout: Down Arrow 11">
            <a:extLst>
              <a:ext uri="{FF2B5EF4-FFF2-40B4-BE49-F238E27FC236}">
                <a16:creationId xmlns:a16="http://schemas.microsoft.com/office/drawing/2014/main" id="{E8CE584A-245B-0C27-67C1-EE9838977AD5}"/>
              </a:ext>
            </a:extLst>
          </p:cNvPr>
          <p:cNvSpPr/>
          <p:nvPr/>
        </p:nvSpPr>
        <p:spPr>
          <a:xfrm>
            <a:off x="2285999" y="3941731"/>
            <a:ext cx="4197097" cy="911398"/>
          </a:xfrm>
          <a:prstGeom prst="downArrowCallout">
            <a:avLst/>
          </a:prstGeom>
          <a:solidFill>
            <a:schemeClr val="accent1">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1500" b="1">
                <a:solidFill>
                  <a:schemeClr val="tx1"/>
                </a:solidFill>
              </a:rPr>
              <a:t>Decision to proceed with a waiver request</a:t>
            </a:r>
          </a:p>
        </p:txBody>
      </p:sp>
      <p:sp>
        <p:nvSpPr>
          <p:cNvPr id="14" name="Rectangle: Rounded Corners 13">
            <a:extLst>
              <a:ext uri="{FF2B5EF4-FFF2-40B4-BE49-F238E27FC236}">
                <a16:creationId xmlns:a16="http://schemas.microsoft.com/office/drawing/2014/main" id="{ED21803F-4878-E84F-F939-BCDDC9CB3604}"/>
              </a:ext>
            </a:extLst>
          </p:cNvPr>
          <p:cNvSpPr/>
          <p:nvPr/>
        </p:nvSpPr>
        <p:spPr>
          <a:xfrm>
            <a:off x="2276855" y="5024629"/>
            <a:ext cx="4197097" cy="429541"/>
          </a:xfrm>
          <a:prstGeom prst="roundRect">
            <a:avLst/>
          </a:prstGeom>
          <a:solidFill>
            <a:schemeClr val="accent1">
              <a:lumMod val="5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b="1">
                <a:solidFill>
                  <a:schemeClr val="bg1"/>
                </a:solidFill>
              </a:rPr>
              <a:t>Waiver Process</a:t>
            </a:r>
          </a:p>
        </p:txBody>
      </p:sp>
    </p:spTree>
    <p:extLst>
      <p:ext uri="{BB962C8B-B14F-4D97-AF65-F5344CB8AC3E}">
        <p14:creationId xmlns:p14="http://schemas.microsoft.com/office/powerpoint/2010/main" val="221250044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86272DF-55BB-54DE-C7B9-F90241999A0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50544A9-7C03-1CD6-5B88-9BCA48015FF6}"/>
              </a:ext>
            </a:extLst>
          </p:cNvPr>
          <p:cNvSpPr>
            <a:spLocks noGrp="1"/>
          </p:cNvSpPr>
          <p:nvPr>
            <p:ph type="title"/>
          </p:nvPr>
        </p:nvSpPr>
        <p:spPr>
          <a:xfrm>
            <a:off x="182880" y="185098"/>
            <a:ext cx="8778240" cy="431289"/>
          </a:xfrm>
        </p:spPr>
        <p:txBody>
          <a:bodyPr/>
          <a:lstStyle/>
          <a:p>
            <a:pPr algn="l"/>
            <a:r>
              <a:rPr lang="en-GB" sz="2800"/>
              <a:t>Financial Hardship </a:t>
            </a:r>
            <a:endParaRPr lang="en-GB" sz="2800">
              <a:solidFill>
                <a:srgbClr val="FF0000"/>
              </a:solidFill>
            </a:endParaRPr>
          </a:p>
        </p:txBody>
      </p:sp>
      <p:sp>
        <p:nvSpPr>
          <p:cNvPr id="3" name="TextBox 2">
            <a:extLst>
              <a:ext uri="{FF2B5EF4-FFF2-40B4-BE49-F238E27FC236}">
                <a16:creationId xmlns:a16="http://schemas.microsoft.com/office/drawing/2014/main" id="{D887D288-DF35-D7CA-64C6-1445F2BAF822}"/>
              </a:ext>
            </a:extLst>
          </p:cNvPr>
          <p:cNvSpPr txBox="1"/>
          <p:nvPr/>
        </p:nvSpPr>
        <p:spPr>
          <a:xfrm>
            <a:off x="182880" y="640080"/>
            <a:ext cx="8778240" cy="5616922"/>
          </a:xfrm>
          <a:prstGeom prst="rect">
            <a:avLst/>
          </a:prstGeom>
          <a:noFill/>
        </p:spPr>
        <p:txBody>
          <a:bodyPr wrap="square" rtlCol="0">
            <a:spAutoFit/>
          </a:bodyPr>
          <a:lstStyle/>
          <a:p>
            <a:r>
              <a:rPr lang="en-GB" sz="1500"/>
              <a:t>31% of waivers, approved in 2025/26, have been due to financial hardship.</a:t>
            </a:r>
          </a:p>
          <a:p>
            <a:endParaRPr lang="en-GB" sz="1000"/>
          </a:p>
          <a:p>
            <a:r>
              <a:rPr lang="en-GB" sz="1500" b="1"/>
              <a:t>As a reminder…</a:t>
            </a:r>
          </a:p>
          <a:p>
            <a:r>
              <a:rPr lang="en-GB" sz="1500" i="1"/>
              <a:t>Financial hardship is defined as “paying the assessed charge or flat rate charge would cause you or your dependents to forgo basic needs and necessities, such as housing, food, utilities, transport, clothing, essential disability costs, and debt repayments that would have a serious detrimental effect on health and wellbeing”. </a:t>
            </a:r>
          </a:p>
          <a:p>
            <a:endParaRPr lang="en-GB" sz="1000" i="1"/>
          </a:p>
          <a:p>
            <a:r>
              <a:rPr lang="en-GB" sz="1500" b="1"/>
              <a:t>Statutory Principle:</a:t>
            </a:r>
          </a:p>
          <a:p>
            <a:endParaRPr lang="en-GB" sz="500"/>
          </a:p>
          <a:p>
            <a:r>
              <a:rPr lang="en-GB" sz="1500"/>
              <a:t>Under the Care Act 2014, no one should be charged more than they can reasonably afford for care. </a:t>
            </a:r>
          </a:p>
          <a:p>
            <a:endParaRPr lang="en-GB" sz="500"/>
          </a:p>
          <a:p>
            <a:r>
              <a:rPr lang="en-GB" sz="1500"/>
              <a:t>This is operationalised by ensuring individuals retain a Minimum Income Guarantee (MIG) after charges, safeguarding essential living costs.</a:t>
            </a:r>
            <a:r>
              <a:rPr lang="en-US" sz="1500"/>
              <a:t>​</a:t>
            </a:r>
          </a:p>
          <a:p>
            <a:endParaRPr lang="en-GB" sz="500"/>
          </a:p>
          <a:p>
            <a:r>
              <a:rPr lang="en-GB" sz="1500"/>
              <a:t>Therefore, if paying the flat rate charge or assessed charge would cause financial hardship, we will consider offering a reassessment and / or waiving / reducing the assessed charge or flat rate charge. </a:t>
            </a:r>
            <a:endParaRPr lang="en-GB" sz="1600"/>
          </a:p>
          <a:p>
            <a:endParaRPr lang="en-GB" sz="600"/>
          </a:p>
          <a:p>
            <a:endParaRPr lang="en-GB" sz="600"/>
          </a:p>
          <a:p>
            <a:r>
              <a:rPr lang="en-GB" sz="1500" b="1"/>
              <a:t>Financial hardship is not new! </a:t>
            </a:r>
            <a:r>
              <a:rPr lang="en-GB" sz="1500"/>
              <a:t>People have always told us that they struggle to afford charges, such as flat rate fees or their assessed contribution. Until now, we haven’t had:</a:t>
            </a:r>
          </a:p>
          <a:p>
            <a:endParaRPr lang="en-GB" sz="1000"/>
          </a:p>
          <a:p>
            <a:pPr marL="342900" indent="-342900">
              <a:buFont typeface="+mj-lt"/>
              <a:buAutoNum type="arabicPeriod"/>
            </a:pPr>
            <a:r>
              <a:rPr lang="en-GB" sz="1500"/>
              <a:t>A clear definition of what Hardship is..</a:t>
            </a:r>
          </a:p>
          <a:p>
            <a:pPr marL="342900" indent="-342900">
              <a:buFont typeface="+mj-lt"/>
              <a:buAutoNum type="arabicPeriod"/>
            </a:pPr>
            <a:r>
              <a:rPr lang="en-GB" sz="1500"/>
              <a:t>A clear criteria to help us determine if people are experiencing hardship…</a:t>
            </a:r>
          </a:p>
          <a:p>
            <a:pPr marL="342900" indent="-342900">
              <a:buFont typeface="+mj-lt"/>
              <a:buAutoNum type="arabicPeriod"/>
            </a:pPr>
            <a:r>
              <a:rPr lang="en-GB" sz="1500"/>
              <a:t>A process for handling these requests….</a:t>
            </a:r>
          </a:p>
          <a:p>
            <a:endParaRPr lang="en-GB" sz="1000"/>
          </a:p>
          <a:p>
            <a:r>
              <a:rPr lang="en-GB" sz="1500"/>
              <a:t>Until now…..</a:t>
            </a:r>
          </a:p>
          <a:p>
            <a:endParaRPr lang="en-GB"/>
          </a:p>
        </p:txBody>
      </p:sp>
    </p:spTree>
    <p:extLst>
      <p:ext uri="{BB962C8B-B14F-4D97-AF65-F5344CB8AC3E}">
        <p14:creationId xmlns:p14="http://schemas.microsoft.com/office/powerpoint/2010/main" val="193085394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70F729C-2442-6D52-4CC7-EA4EAC9E55B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4EA27CB-5DD7-BAAC-2A74-2AB85CCA2302}"/>
              </a:ext>
            </a:extLst>
          </p:cNvPr>
          <p:cNvSpPr>
            <a:spLocks noGrp="1"/>
          </p:cNvSpPr>
          <p:nvPr>
            <p:ph type="title"/>
          </p:nvPr>
        </p:nvSpPr>
        <p:spPr>
          <a:xfrm>
            <a:off x="182880" y="151502"/>
            <a:ext cx="8778240" cy="431289"/>
          </a:xfrm>
        </p:spPr>
        <p:txBody>
          <a:bodyPr/>
          <a:lstStyle/>
          <a:p>
            <a:pPr algn="l"/>
            <a:r>
              <a:rPr lang="en-GB" sz="2800"/>
              <a:t>Financial Hardship Process - Overview</a:t>
            </a:r>
          </a:p>
        </p:txBody>
      </p:sp>
      <p:sp>
        <p:nvSpPr>
          <p:cNvPr id="16" name="Callout: Down Arrow 15">
            <a:extLst>
              <a:ext uri="{FF2B5EF4-FFF2-40B4-BE49-F238E27FC236}">
                <a16:creationId xmlns:a16="http://schemas.microsoft.com/office/drawing/2014/main" id="{3B5631A2-E460-8DE5-8037-36057B574BD9}"/>
              </a:ext>
            </a:extLst>
          </p:cNvPr>
          <p:cNvSpPr/>
          <p:nvPr/>
        </p:nvSpPr>
        <p:spPr>
          <a:xfrm>
            <a:off x="109728" y="5250761"/>
            <a:ext cx="5184648" cy="583738"/>
          </a:xfrm>
          <a:prstGeom prst="downArrowCallout">
            <a:avLst/>
          </a:prstGeom>
          <a:solidFill>
            <a:srgbClr val="6699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a:t>WAIVER PROCESS</a:t>
            </a:r>
          </a:p>
        </p:txBody>
      </p:sp>
      <p:graphicFrame>
        <p:nvGraphicFramePr>
          <p:cNvPr id="3" name="Diagram 2">
            <a:extLst>
              <a:ext uri="{FF2B5EF4-FFF2-40B4-BE49-F238E27FC236}">
                <a16:creationId xmlns:a16="http://schemas.microsoft.com/office/drawing/2014/main" id="{15CB1E4B-2667-EFF1-1188-C4F7481D30D2}"/>
              </a:ext>
            </a:extLst>
          </p:cNvPr>
          <p:cNvGraphicFramePr/>
          <p:nvPr>
            <p:extLst>
              <p:ext uri="{D42A27DB-BD31-4B8C-83A1-F6EECF244321}">
                <p14:modId xmlns:p14="http://schemas.microsoft.com/office/powerpoint/2010/main" val="2032773981"/>
              </p:ext>
            </p:extLst>
          </p:nvPr>
        </p:nvGraphicFramePr>
        <p:xfrm>
          <a:off x="605029" y="910760"/>
          <a:ext cx="6681216" cy="431596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pic>
        <p:nvPicPr>
          <p:cNvPr id="13" name="Picture 12">
            <a:extLst>
              <a:ext uri="{FF2B5EF4-FFF2-40B4-BE49-F238E27FC236}">
                <a16:creationId xmlns:a16="http://schemas.microsoft.com/office/drawing/2014/main" id="{D5DC38FC-93AE-47E4-FEF3-55DC01D7326F}"/>
              </a:ext>
            </a:extLst>
          </p:cNvPr>
          <p:cNvPicPr>
            <a:picLocks noChangeAspect="1"/>
          </p:cNvPicPr>
          <p:nvPr/>
        </p:nvPicPr>
        <p:blipFill>
          <a:blip r:embed="rId8"/>
          <a:stretch>
            <a:fillRect/>
          </a:stretch>
        </p:blipFill>
        <p:spPr>
          <a:xfrm>
            <a:off x="3769578" y="4299107"/>
            <a:ext cx="151233" cy="262136"/>
          </a:xfrm>
          <a:prstGeom prst="rect">
            <a:avLst/>
          </a:prstGeom>
        </p:spPr>
      </p:pic>
      <p:sp>
        <p:nvSpPr>
          <p:cNvPr id="14" name="Arrow: Right 13">
            <a:extLst>
              <a:ext uri="{FF2B5EF4-FFF2-40B4-BE49-F238E27FC236}">
                <a16:creationId xmlns:a16="http://schemas.microsoft.com/office/drawing/2014/main" id="{BBB3F9F7-0C6E-EC63-CB57-300F61EBDCE6}"/>
              </a:ext>
            </a:extLst>
          </p:cNvPr>
          <p:cNvSpPr/>
          <p:nvPr/>
        </p:nvSpPr>
        <p:spPr>
          <a:xfrm rot="5400000">
            <a:off x="654863" y="4453479"/>
            <a:ext cx="1423918" cy="146613"/>
          </a:xfrm>
          <a:prstGeom prst="rightArrow">
            <a:avLst>
              <a:gd name="adj1" fmla="val 66700"/>
              <a:gd name="adj2" fmla="val 50000"/>
            </a:avLst>
          </a:prstGeom>
        </p:spPr>
        <p:style>
          <a:lnRef idx="0">
            <a:schemeClr val="accent2">
              <a:tint val="60000"/>
              <a:hueOff val="0"/>
              <a:satOff val="0"/>
              <a:lumOff val="0"/>
              <a:alphaOff val="0"/>
            </a:schemeClr>
          </a:lnRef>
          <a:fillRef idx="1">
            <a:schemeClr val="accent2">
              <a:tint val="60000"/>
              <a:hueOff val="0"/>
              <a:satOff val="0"/>
              <a:lumOff val="0"/>
              <a:alphaOff val="0"/>
            </a:schemeClr>
          </a:fillRef>
          <a:effectRef idx="0">
            <a:schemeClr val="accent2">
              <a:tint val="60000"/>
              <a:hueOff val="0"/>
              <a:satOff val="0"/>
              <a:lumOff val="0"/>
              <a:alphaOff val="0"/>
            </a:schemeClr>
          </a:effectRef>
          <a:fontRef idx="minor">
            <a:schemeClr val="lt1"/>
          </a:fontRef>
        </p:style>
        <p:txBody>
          <a:bodyPr/>
          <a:lstStyle/>
          <a:p>
            <a:endParaRPr lang="en-GB"/>
          </a:p>
        </p:txBody>
      </p:sp>
      <p:sp>
        <p:nvSpPr>
          <p:cNvPr id="15" name="Arrow: Right 14">
            <a:extLst>
              <a:ext uri="{FF2B5EF4-FFF2-40B4-BE49-F238E27FC236}">
                <a16:creationId xmlns:a16="http://schemas.microsoft.com/office/drawing/2014/main" id="{87E81DF1-40CB-4AC5-4F04-7E3F1038C94F}"/>
              </a:ext>
            </a:extLst>
          </p:cNvPr>
          <p:cNvSpPr/>
          <p:nvPr/>
        </p:nvSpPr>
        <p:spPr>
          <a:xfrm rot="5400000">
            <a:off x="3716980" y="5022898"/>
            <a:ext cx="256432" cy="151232"/>
          </a:xfrm>
          <a:prstGeom prst="rightArrow">
            <a:avLst>
              <a:gd name="adj1" fmla="val 66700"/>
              <a:gd name="adj2" fmla="val 50000"/>
            </a:avLst>
          </a:prstGeom>
        </p:spPr>
        <p:style>
          <a:lnRef idx="0">
            <a:schemeClr val="accent2">
              <a:tint val="60000"/>
              <a:hueOff val="0"/>
              <a:satOff val="0"/>
              <a:lumOff val="0"/>
              <a:alphaOff val="0"/>
            </a:schemeClr>
          </a:lnRef>
          <a:fillRef idx="1">
            <a:schemeClr val="accent2">
              <a:tint val="60000"/>
              <a:hueOff val="0"/>
              <a:satOff val="0"/>
              <a:lumOff val="0"/>
              <a:alphaOff val="0"/>
            </a:schemeClr>
          </a:fillRef>
          <a:effectRef idx="0">
            <a:schemeClr val="accent2">
              <a:tint val="60000"/>
              <a:hueOff val="0"/>
              <a:satOff val="0"/>
              <a:lumOff val="0"/>
              <a:alphaOff val="0"/>
            </a:schemeClr>
          </a:effectRef>
          <a:fontRef idx="minor">
            <a:schemeClr val="lt1"/>
          </a:fontRef>
        </p:style>
        <p:txBody>
          <a:bodyPr/>
          <a:lstStyle/>
          <a:p>
            <a:endParaRPr lang="en-GB"/>
          </a:p>
        </p:txBody>
      </p:sp>
      <p:sp>
        <p:nvSpPr>
          <p:cNvPr id="18" name="TextBox 17">
            <a:extLst>
              <a:ext uri="{FF2B5EF4-FFF2-40B4-BE49-F238E27FC236}">
                <a16:creationId xmlns:a16="http://schemas.microsoft.com/office/drawing/2014/main" id="{1B850CE1-746D-3769-8F02-5268DDD8B227}"/>
              </a:ext>
            </a:extLst>
          </p:cNvPr>
          <p:cNvSpPr txBox="1"/>
          <p:nvPr/>
        </p:nvSpPr>
        <p:spPr>
          <a:xfrm>
            <a:off x="544902" y="1066161"/>
            <a:ext cx="1728362" cy="830997"/>
          </a:xfrm>
          <a:prstGeom prst="rect">
            <a:avLst/>
          </a:prstGeom>
          <a:noFill/>
        </p:spPr>
        <p:txBody>
          <a:bodyPr wrap="square" lIns="91440" tIns="45720" rIns="91440" bIns="45720" rtlCol="0" anchor="t">
            <a:spAutoFit/>
          </a:bodyPr>
          <a:lstStyle/>
          <a:p>
            <a:pPr algn="ctr"/>
            <a:r>
              <a:rPr lang="en-GB" sz="1200" b="1">
                <a:latin typeface="Arial"/>
                <a:cs typeface="Arial"/>
              </a:rPr>
              <a:t>Financial Hardship (Assessed Charge / Contribution)</a:t>
            </a:r>
          </a:p>
          <a:p>
            <a:pPr algn="ctr"/>
            <a:r>
              <a:rPr lang="en-GB" sz="1200" b="1">
                <a:solidFill>
                  <a:srgbClr val="FF0000"/>
                </a:solidFill>
                <a:latin typeface="Arial"/>
                <a:cs typeface="Arial"/>
              </a:rPr>
              <a:t>(Managed by ACFS)</a:t>
            </a:r>
          </a:p>
        </p:txBody>
      </p:sp>
      <p:sp>
        <p:nvSpPr>
          <p:cNvPr id="19" name="TextBox 18">
            <a:extLst>
              <a:ext uri="{FF2B5EF4-FFF2-40B4-BE49-F238E27FC236}">
                <a16:creationId xmlns:a16="http://schemas.microsoft.com/office/drawing/2014/main" id="{689A62B9-8750-E9EB-2F86-6B38E8B98ACE}"/>
              </a:ext>
            </a:extLst>
          </p:cNvPr>
          <p:cNvSpPr txBox="1"/>
          <p:nvPr/>
        </p:nvSpPr>
        <p:spPr>
          <a:xfrm>
            <a:off x="3022991" y="1032043"/>
            <a:ext cx="1527048" cy="646331"/>
          </a:xfrm>
          <a:prstGeom prst="rect">
            <a:avLst/>
          </a:prstGeom>
          <a:noFill/>
        </p:spPr>
        <p:txBody>
          <a:bodyPr wrap="square" lIns="91440" tIns="45720" rIns="91440" bIns="45720" rtlCol="0" anchor="t">
            <a:spAutoFit/>
          </a:bodyPr>
          <a:lstStyle/>
          <a:p>
            <a:pPr algn="ctr"/>
            <a:r>
              <a:rPr lang="en-GB" sz="1200" b="1">
                <a:latin typeface="Arial"/>
                <a:cs typeface="Arial"/>
              </a:rPr>
              <a:t>Financial Hardship (Flat Rate Charge)</a:t>
            </a:r>
          </a:p>
        </p:txBody>
      </p:sp>
      <p:sp>
        <p:nvSpPr>
          <p:cNvPr id="6" name="Arrow: Right 5">
            <a:extLst>
              <a:ext uri="{FF2B5EF4-FFF2-40B4-BE49-F238E27FC236}">
                <a16:creationId xmlns:a16="http://schemas.microsoft.com/office/drawing/2014/main" id="{BF443F59-C014-E766-81DA-3EC9BE59F8B6}"/>
              </a:ext>
            </a:extLst>
          </p:cNvPr>
          <p:cNvSpPr/>
          <p:nvPr/>
        </p:nvSpPr>
        <p:spPr>
          <a:xfrm rot="5400000">
            <a:off x="3724383" y="3729508"/>
            <a:ext cx="237000" cy="146609"/>
          </a:xfrm>
          <a:prstGeom prst="rightArrow">
            <a:avLst>
              <a:gd name="adj1" fmla="val 66700"/>
              <a:gd name="adj2" fmla="val 50000"/>
            </a:avLst>
          </a:prstGeom>
        </p:spPr>
        <p:style>
          <a:lnRef idx="0">
            <a:schemeClr val="accent2">
              <a:tint val="60000"/>
              <a:hueOff val="0"/>
              <a:satOff val="0"/>
              <a:lumOff val="0"/>
              <a:alphaOff val="0"/>
            </a:schemeClr>
          </a:lnRef>
          <a:fillRef idx="1">
            <a:schemeClr val="accent2">
              <a:tint val="60000"/>
              <a:hueOff val="0"/>
              <a:satOff val="0"/>
              <a:lumOff val="0"/>
              <a:alphaOff val="0"/>
            </a:schemeClr>
          </a:fillRef>
          <a:effectRef idx="0">
            <a:schemeClr val="accent2">
              <a:tint val="60000"/>
              <a:hueOff val="0"/>
              <a:satOff val="0"/>
              <a:lumOff val="0"/>
              <a:alphaOff val="0"/>
            </a:schemeClr>
          </a:effectRef>
          <a:fontRef idx="minor">
            <a:schemeClr val="lt1"/>
          </a:fontRef>
        </p:style>
        <p:txBody>
          <a:bodyPr/>
          <a:lstStyle/>
          <a:p>
            <a:endParaRPr lang="en-GB"/>
          </a:p>
        </p:txBody>
      </p:sp>
      <p:pic>
        <p:nvPicPr>
          <p:cNvPr id="2050" name="Picture 2">
            <a:extLst>
              <a:ext uri="{FF2B5EF4-FFF2-40B4-BE49-F238E27FC236}">
                <a16:creationId xmlns:a16="http://schemas.microsoft.com/office/drawing/2014/main" id="{AB837E30-517F-8428-94D5-502064D7B20C}"/>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5117314" y="1042139"/>
            <a:ext cx="3851648" cy="3409162"/>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a:extLst>
              <a:ext uri="{FF2B5EF4-FFF2-40B4-BE49-F238E27FC236}">
                <a16:creationId xmlns:a16="http://schemas.microsoft.com/office/drawing/2014/main" id="{11EBDA5C-CE3C-9A07-0A37-A28D27ABB453}"/>
              </a:ext>
            </a:extLst>
          </p:cNvPr>
          <p:cNvSpPr txBox="1"/>
          <p:nvPr/>
        </p:nvSpPr>
        <p:spPr>
          <a:xfrm>
            <a:off x="5473597" y="4970298"/>
            <a:ext cx="3273552" cy="738664"/>
          </a:xfrm>
          <a:prstGeom prst="rect">
            <a:avLst/>
          </a:prstGeom>
          <a:noFill/>
        </p:spPr>
        <p:txBody>
          <a:bodyPr wrap="square" rtlCol="0">
            <a:spAutoFit/>
          </a:bodyPr>
          <a:lstStyle/>
          <a:p>
            <a:pPr algn="ctr"/>
            <a:r>
              <a:rPr lang="en-GB" sz="1400" i="1"/>
              <a:t>The full hardship process, with all supporting guidance documents, will be available in the Policy Library.</a:t>
            </a:r>
          </a:p>
        </p:txBody>
      </p:sp>
      <p:sp>
        <p:nvSpPr>
          <p:cNvPr id="5" name="TextBox 4">
            <a:extLst>
              <a:ext uri="{FF2B5EF4-FFF2-40B4-BE49-F238E27FC236}">
                <a16:creationId xmlns:a16="http://schemas.microsoft.com/office/drawing/2014/main" id="{BE60BF3F-8D1C-A080-B128-806FEAF813F5}"/>
              </a:ext>
            </a:extLst>
          </p:cNvPr>
          <p:cNvSpPr txBox="1"/>
          <p:nvPr/>
        </p:nvSpPr>
        <p:spPr>
          <a:xfrm>
            <a:off x="274320" y="650882"/>
            <a:ext cx="8092440" cy="323165"/>
          </a:xfrm>
          <a:prstGeom prst="rect">
            <a:avLst/>
          </a:prstGeom>
          <a:noFill/>
        </p:spPr>
        <p:txBody>
          <a:bodyPr wrap="square" rtlCol="0">
            <a:spAutoFit/>
          </a:bodyPr>
          <a:lstStyle/>
          <a:p>
            <a:r>
              <a:rPr lang="en-GB" sz="1500"/>
              <a:t>There are two processes, one for assessed charges and one for flat rate charges…..</a:t>
            </a:r>
          </a:p>
        </p:txBody>
      </p:sp>
      <p:sp>
        <p:nvSpPr>
          <p:cNvPr id="7" name="TextBox 6">
            <a:extLst>
              <a:ext uri="{FF2B5EF4-FFF2-40B4-BE49-F238E27FC236}">
                <a16:creationId xmlns:a16="http://schemas.microsoft.com/office/drawing/2014/main" id="{A318231B-3966-F335-2F77-0A457083E9C2}"/>
              </a:ext>
            </a:extLst>
          </p:cNvPr>
          <p:cNvSpPr txBox="1"/>
          <p:nvPr/>
        </p:nvSpPr>
        <p:spPr>
          <a:xfrm>
            <a:off x="377608" y="998077"/>
            <a:ext cx="394716" cy="369332"/>
          </a:xfrm>
          <a:prstGeom prst="rect">
            <a:avLst/>
          </a:prstGeom>
          <a:noFill/>
        </p:spPr>
        <p:txBody>
          <a:bodyPr wrap="square" rtlCol="0">
            <a:spAutoFit/>
          </a:bodyPr>
          <a:lstStyle/>
          <a:p>
            <a:r>
              <a:rPr lang="en-GB" sz="1400" b="1"/>
              <a:t>1)</a:t>
            </a:r>
            <a:r>
              <a:rPr lang="en-GB"/>
              <a:t> </a:t>
            </a:r>
          </a:p>
        </p:txBody>
      </p:sp>
      <p:sp>
        <p:nvSpPr>
          <p:cNvPr id="8" name="TextBox 7">
            <a:extLst>
              <a:ext uri="{FF2B5EF4-FFF2-40B4-BE49-F238E27FC236}">
                <a16:creationId xmlns:a16="http://schemas.microsoft.com/office/drawing/2014/main" id="{3E020FB2-32AC-A810-1972-B5A3E0BF1EF8}"/>
              </a:ext>
            </a:extLst>
          </p:cNvPr>
          <p:cNvSpPr txBox="1"/>
          <p:nvPr/>
        </p:nvSpPr>
        <p:spPr>
          <a:xfrm>
            <a:off x="2927614" y="991254"/>
            <a:ext cx="394716" cy="369332"/>
          </a:xfrm>
          <a:prstGeom prst="rect">
            <a:avLst/>
          </a:prstGeom>
          <a:noFill/>
        </p:spPr>
        <p:txBody>
          <a:bodyPr wrap="square" rtlCol="0">
            <a:spAutoFit/>
          </a:bodyPr>
          <a:lstStyle/>
          <a:p>
            <a:r>
              <a:rPr lang="en-GB" sz="1400" b="1"/>
              <a:t>2)</a:t>
            </a:r>
            <a:r>
              <a:rPr lang="en-GB"/>
              <a:t> </a:t>
            </a:r>
          </a:p>
        </p:txBody>
      </p:sp>
    </p:spTree>
    <p:extLst>
      <p:ext uri="{BB962C8B-B14F-4D97-AF65-F5344CB8AC3E}">
        <p14:creationId xmlns:p14="http://schemas.microsoft.com/office/powerpoint/2010/main" val="370650973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3E97FD-D8FF-8A17-B29B-58BEAF539E71}"/>
              </a:ext>
            </a:extLst>
          </p:cNvPr>
          <p:cNvSpPr>
            <a:spLocks noGrp="1"/>
          </p:cNvSpPr>
          <p:nvPr>
            <p:ph type="title"/>
          </p:nvPr>
        </p:nvSpPr>
        <p:spPr>
          <a:xfrm>
            <a:off x="173736" y="-236619"/>
            <a:ext cx="8235639" cy="1331712"/>
          </a:xfrm>
        </p:spPr>
        <p:txBody>
          <a:bodyPr>
            <a:normAutofit/>
          </a:bodyPr>
          <a:lstStyle/>
          <a:p>
            <a:r>
              <a:rPr lang="en-GB" sz="2800">
                <a:latin typeface="Arial Black" panose="020B0A04020102020204" pitchFamily="34" charset="0"/>
              </a:rPr>
              <a:t>Hardship Criteria</a:t>
            </a:r>
            <a:r>
              <a:rPr lang="en-GB" sz="2800" b="1">
                <a:latin typeface="Arial Black" panose="020B0A04020102020204" pitchFamily="34" charset="0"/>
              </a:rPr>
              <a:t> </a:t>
            </a:r>
            <a:endParaRPr lang="en-GB" sz="2800">
              <a:latin typeface="Arial Black" panose="020B0A04020102020204" pitchFamily="34" charset="0"/>
            </a:endParaRPr>
          </a:p>
        </p:txBody>
      </p:sp>
      <p:graphicFrame>
        <p:nvGraphicFramePr>
          <p:cNvPr id="4" name="Content Placeholder 3">
            <a:extLst>
              <a:ext uri="{FF2B5EF4-FFF2-40B4-BE49-F238E27FC236}">
                <a16:creationId xmlns:a16="http://schemas.microsoft.com/office/drawing/2014/main" id="{4789EA83-40E0-1388-493E-E665BEFD50AC}"/>
              </a:ext>
            </a:extLst>
          </p:cNvPr>
          <p:cNvGraphicFramePr>
            <a:graphicFrameLocks noGrp="1"/>
          </p:cNvGraphicFramePr>
          <p:nvPr>
            <p:ph idx="1"/>
            <p:extLst>
              <p:ext uri="{D42A27DB-BD31-4B8C-83A1-F6EECF244321}">
                <p14:modId xmlns:p14="http://schemas.microsoft.com/office/powerpoint/2010/main" val="2520569638"/>
              </p:ext>
            </p:extLst>
          </p:nvPr>
        </p:nvGraphicFramePr>
        <p:xfrm>
          <a:off x="522675" y="504401"/>
          <a:ext cx="8235638" cy="5496232"/>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pic>
        <p:nvPicPr>
          <p:cNvPr id="10" name="Graphic 9" descr="Home1 outline">
            <a:extLst>
              <a:ext uri="{FF2B5EF4-FFF2-40B4-BE49-F238E27FC236}">
                <a16:creationId xmlns:a16="http://schemas.microsoft.com/office/drawing/2014/main" id="{DBBF7595-048B-EEE5-1DD5-F550C09EF23F}"/>
              </a:ext>
            </a:extLst>
          </p:cNvPr>
          <p:cNvPicPr>
            <a:picLocks noChangeAspect="1"/>
          </p:cNvPicPr>
          <p:nvPr/>
        </p:nvPicPr>
        <p:blipFill>
          <a:blip>
            <a:extLst>
              <a:ext uri="{96DAC541-7B7A-43D3-8B79-37D633B846F1}">
                <asvg:svgBlip xmlns:asvg="http://schemas.microsoft.com/office/drawing/2016/SVG/main" r:embed="rId8"/>
              </a:ext>
            </a:extLst>
          </a:blip>
          <a:srcRect/>
          <a:stretch/>
        </p:blipFill>
        <p:spPr>
          <a:xfrm>
            <a:off x="1353950" y="2597976"/>
            <a:ext cx="543757" cy="543757"/>
          </a:xfrm>
          <a:prstGeom prst="rect">
            <a:avLst/>
          </a:prstGeom>
        </p:spPr>
      </p:pic>
      <p:pic>
        <p:nvPicPr>
          <p:cNvPr id="12" name="Graphic 11" descr="Warning outline">
            <a:extLst>
              <a:ext uri="{FF2B5EF4-FFF2-40B4-BE49-F238E27FC236}">
                <a16:creationId xmlns:a16="http://schemas.microsoft.com/office/drawing/2014/main" id="{E87C374A-2DD2-3755-7BC3-6F03DD4EAFE2}"/>
              </a:ext>
            </a:extLst>
          </p:cNvPr>
          <p:cNvPicPr>
            <a:picLocks noChangeAspect="1"/>
          </p:cNvPicPr>
          <p:nvPr/>
        </p:nvPicPr>
        <p:blipFill>
          <a:blip>
            <a:extLst>
              <a:ext uri="{96DAC541-7B7A-43D3-8B79-37D633B846F1}">
                <asvg:svgBlip xmlns:asvg="http://schemas.microsoft.com/office/drawing/2016/SVG/main" r:embed="rId9"/>
              </a:ext>
            </a:extLst>
          </a:blip>
          <a:srcRect/>
          <a:stretch/>
        </p:blipFill>
        <p:spPr>
          <a:xfrm>
            <a:off x="1353951" y="3451448"/>
            <a:ext cx="543757" cy="543757"/>
          </a:xfrm>
          <a:prstGeom prst="rect">
            <a:avLst/>
          </a:prstGeom>
        </p:spPr>
      </p:pic>
      <p:pic>
        <p:nvPicPr>
          <p:cNvPr id="14" name="Graphic 13" descr="Pound outline">
            <a:extLst>
              <a:ext uri="{FF2B5EF4-FFF2-40B4-BE49-F238E27FC236}">
                <a16:creationId xmlns:a16="http://schemas.microsoft.com/office/drawing/2014/main" id="{6E45371D-959E-05CC-7A2B-064F3BC5F983}"/>
              </a:ext>
            </a:extLst>
          </p:cNvPr>
          <p:cNvPicPr>
            <a:picLocks noChangeAspect="1"/>
          </p:cNvPicPr>
          <p:nvPr/>
        </p:nvPicPr>
        <p:blipFill>
          <a:blip>
            <a:extLst>
              <a:ext uri="{96DAC541-7B7A-43D3-8B79-37D633B846F1}">
                <asvg:svgBlip xmlns:asvg="http://schemas.microsoft.com/office/drawing/2016/SVG/main" r:embed="rId10"/>
              </a:ext>
            </a:extLst>
          </a:blip>
          <a:srcRect/>
          <a:stretch/>
        </p:blipFill>
        <p:spPr>
          <a:xfrm>
            <a:off x="628158" y="926568"/>
            <a:ext cx="543757" cy="543757"/>
          </a:xfrm>
          <a:prstGeom prst="rect">
            <a:avLst/>
          </a:prstGeom>
        </p:spPr>
      </p:pic>
      <p:pic>
        <p:nvPicPr>
          <p:cNvPr id="16" name="Graphic 15" descr="Money outline">
            <a:extLst>
              <a:ext uri="{FF2B5EF4-FFF2-40B4-BE49-F238E27FC236}">
                <a16:creationId xmlns:a16="http://schemas.microsoft.com/office/drawing/2014/main" id="{B175D4B2-721D-AE90-721C-3795C91BF634}"/>
              </a:ext>
            </a:extLst>
          </p:cNvPr>
          <p:cNvPicPr>
            <a:picLocks noChangeAspect="1"/>
          </p:cNvPicPr>
          <p:nvPr/>
        </p:nvPicPr>
        <p:blipFill>
          <a:blip>
            <a:extLst>
              <a:ext uri="{96DAC541-7B7A-43D3-8B79-37D633B846F1}">
                <asvg:svgBlip xmlns:asvg="http://schemas.microsoft.com/office/drawing/2016/SVG/main" r:embed="rId11"/>
              </a:ext>
            </a:extLst>
          </a:blip>
          <a:srcRect/>
          <a:stretch/>
        </p:blipFill>
        <p:spPr>
          <a:xfrm>
            <a:off x="1171916" y="4304920"/>
            <a:ext cx="543757" cy="543757"/>
          </a:xfrm>
          <a:prstGeom prst="rect">
            <a:avLst/>
          </a:prstGeom>
        </p:spPr>
      </p:pic>
      <p:pic>
        <p:nvPicPr>
          <p:cNvPr id="3" name="Graphic 2" descr="Broken Heart outline">
            <a:extLst>
              <a:ext uri="{FF2B5EF4-FFF2-40B4-BE49-F238E27FC236}">
                <a16:creationId xmlns:a16="http://schemas.microsoft.com/office/drawing/2014/main" id="{A8E80205-A076-8F72-E38E-65571DE6B82B}"/>
              </a:ext>
            </a:extLst>
          </p:cNvPr>
          <p:cNvPicPr>
            <a:picLocks noChangeAspect="1"/>
          </p:cNvPicPr>
          <p:nvPr/>
        </p:nvPicPr>
        <p:blipFill>
          <a:blip>
            <a:extLst>
              <a:ext uri="{96DAC541-7B7A-43D3-8B79-37D633B846F1}">
                <asvg:svgBlip xmlns:asvg="http://schemas.microsoft.com/office/drawing/2016/SVG/main" r:embed="rId12"/>
              </a:ext>
            </a:extLst>
          </a:blip>
          <a:srcRect/>
          <a:stretch/>
        </p:blipFill>
        <p:spPr>
          <a:xfrm>
            <a:off x="1171915" y="1826260"/>
            <a:ext cx="543757" cy="543757"/>
          </a:xfrm>
          <a:prstGeom prst="rect">
            <a:avLst/>
          </a:prstGeom>
        </p:spPr>
      </p:pic>
      <p:pic>
        <p:nvPicPr>
          <p:cNvPr id="8" name="Graphic 7" descr="Puzzle pieces outline">
            <a:extLst>
              <a:ext uri="{FF2B5EF4-FFF2-40B4-BE49-F238E27FC236}">
                <a16:creationId xmlns:a16="http://schemas.microsoft.com/office/drawing/2014/main" id="{FED2133F-7D02-A84E-DD1F-A295613B8444}"/>
              </a:ext>
            </a:extLst>
          </p:cNvPr>
          <p:cNvPicPr>
            <a:picLocks noChangeAspect="1"/>
          </p:cNvPicPr>
          <p:nvPr/>
        </p:nvPicPr>
        <p:blipFill>
          <a:blip>
            <a:extLst>
              <a:ext uri="{96DAC541-7B7A-43D3-8B79-37D633B846F1}">
                <asvg:svgBlip xmlns:asvg="http://schemas.microsoft.com/office/drawing/2016/SVG/main" r:embed="rId13"/>
              </a:ext>
            </a:extLst>
          </a:blip>
          <a:stretch>
            <a:fillRect/>
          </a:stretch>
        </p:blipFill>
        <p:spPr>
          <a:xfrm>
            <a:off x="734625" y="5219150"/>
            <a:ext cx="543757" cy="543757"/>
          </a:xfrm>
          <a:prstGeom prst="rect">
            <a:avLst/>
          </a:prstGeom>
        </p:spPr>
      </p:pic>
    </p:spTree>
    <p:extLst>
      <p:ext uri="{BB962C8B-B14F-4D97-AF65-F5344CB8AC3E}">
        <p14:creationId xmlns:p14="http://schemas.microsoft.com/office/powerpoint/2010/main" val="409013647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3C5052-12AF-119E-CD4A-75C03205957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72D4223-320F-20AA-F641-9CB02D526CAA}"/>
              </a:ext>
            </a:extLst>
          </p:cNvPr>
          <p:cNvSpPr>
            <a:spLocks noGrp="1"/>
          </p:cNvSpPr>
          <p:nvPr>
            <p:ph type="title"/>
          </p:nvPr>
        </p:nvSpPr>
        <p:spPr>
          <a:xfrm>
            <a:off x="277792" y="152588"/>
            <a:ext cx="8588416" cy="431289"/>
          </a:xfrm>
        </p:spPr>
        <p:txBody>
          <a:bodyPr/>
          <a:lstStyle/>
          <a:p>
            <a:pPr algn="l"/>
            <a:r>
              <a:rPr lang="en-GB" sz="2800"/>
              <a:t>Financial Appeals - Overview</a:t>
            </a:r>
          </a:p>
        </p:txBody>
      </p:sp>
      <p:sp>
        <p:nvSpPr>
          <p:cNvPr id="3" name="TextBox 2">
            <a:extLst>
              <a:ext uri="{FF2B5EF4-FFF2-40B4-BE49-F238E27FC236}">
                <a16:creationId xmlns:a16="http://schemas.microsoft.com/office/drawing/2014/main" id="{3218F221-FA64-903F-077A-2439DC48EE34}"/>
              </a:ext>
            </a:extLst>
          </p:cNvPr>
          <p:cNvSpPr txBox="1"/>
          <p:nvPr/>
        </p:nvSpPr>
        <p:spPr>
          <a:xfrm>
            <a:off x="277792" y="649224"/>
            <a:ext cx="8765624" cy="2031325"/>
          </a:xfrm>
          <a:prstGeom prst="rect">
            <a:avLst/>
          </a:prstGeom>
          <a:noFill/>
        </p:spPr>
        <p:txBody>
          <a:bodyPr wrap="square" rtlCol="0">
            <a:spAutoFit/>
          </a:bodyPr>
          <a:lstStyle/>
          <a:p>
            <a:r>
              <a:rPr lang="en-GB" sz="1400"/>
              <a:t>From April 2026 people who are paying towards their care will be able to appeal the outcome of their financial assessment.  This is an alternative to the Complaints process and will be managed by ACFS. </a:t>
            </a:r>
          </a:p>
          <a:p>
            <a:endParaRPr lang="en-GB" sz="500"/>
          </a:p>
          <a:p>
            <a:r>
              <a:rPr lang="en-GB" sz="1400" b="1"/>
              <a:t>There are 3 stages to the Financial Appeals Process:</a:t>
            </a:r>
          </a:p>
          <a:p>
            <a:endParaRPr lang="en-GB" sz="500"/>
          </a:p>
          <a:p>
            <a:endParaRPr lang="en-GB" sz="1400"/>
          </a:p>
          <a:p>
            <a:endParaRPr lang="en-GB" sz="1500"/>
          </a:p>
          <a:p>
            <a:endParaRPr lang="en-GB" sz="1500"/>
          </a:p>
          <a:p>
            <a:pPr marL="285750" indent="-285750">
              <a:buFont typeface="Wingdings" panose="05000000000000000000" pitchFamily="2" charset="2"/>
              <a:buChar char="ü"/>
            </a:pPr>
            <a:endParaRPr lang="en-GB" sz="1500"/>
          </a:p>
          <a:p>
            <a:pPr marL="285750" indent="-285750">
              <a:buFont typeface="Wingdings" panose="05000000000000000000" pitchFamily="2" charset="2"/>
              <a:buChar char="ü"/>
            </a:pPr>
            <a:endParaRPr lang="en-GB" sz="1500"/>
          </a:p>
        </p:txBody>
      </p:sp>
      <p:graphicFrame>
        <p:nvGraphicFramePr>
          <p:cNvPr id="5" name="Diagram 4">
            <a:extLst>
              <a:ext uri="{FF2B5EF4-FFF2-40B4-BE49-F238E27FC236}">
                <a16:creationId xmlns:a16="http://schemas.microsoft.com/office/drawing/2014/main" id="{CC34BD91-676E-27A5-04A2-6A3AE392581F}"/>
              </a:ext>
            </a:extLst>
          </p:cNvPr>
          <p:cNvGraphicFramePr/>
          <p:nvPr>
            <p:extLst>
              <p:ext uri="{D42A27DB-BD31-4B8C-83A1-F6EECF244321}">
                <p14:modId xmlns:p14="http://schemas.microsoft.com/office/powerpoint/2010/main" val="4176813105"/>
              </p:ext>
            </p:extLst>
          </p:nvPr>
        </p:nvGraphicFramePr>
        <p:xfrm>
          <a:off x="362924" y="1546290"/>
          <a:ext cx="8595360" cy="376542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7" name="TextBox 6">
            <a:extLst>
              <a:ext uri="{FF2B5EF4-FFF2-40B4-BE49-F238E27FC236}">
                <a16:creationId xmlns:a16="http://schemas.microsoft.com/office/drawing/2014/main" id="{B74D2D2F-BDBD-DE56-8063-C9B240E0A105}"/>
              </a:ext>
            </a:extLst>
          </p:cNvPr>
          <p:cNvSpPr txBox="1"/>
          <p:nvPr/>
        </p:nvSpPr>
        <p:spPr>
          <a:xfrm>
            <a:off x="1289304" y="4892040"/>
            <a:ext cx="7854696" cy="723275"/>
          </a:xfrm>
          <a:prstGeom prst="rect">
            <a:avLst/>
          </a:prstGeom>
          <a:noFill/>
        </p:spPr>
        <p:txBody>
          <a:bodyPr wrap="square">
            <a:spAutoFit/>
          </a:bodyPr>
          <a:lstStyle/>
          <a:p>
            <a:endParaRPr lang="en-GB" sz="500" i="1"/>
          </a:p>
          <a:p>
            <a:r>
              <a:rPr lang="en-GB" sz="1200" i="1"/>
              <a:t>If the person remains dissatisfied with the outcome of the panel, they will have to raise a complaint with the Local Government Social Care Ombudsman.</a:t>
            </a:r>
          </a:p>
          <a:p>
            <a:pPr algn="ctr"/>
            <a:endParaRPr lang="en-GB" sz="1200" i="1"/>
          </a:p>
        </p:txBody>
      </p:sp>
      <p:sp>
        <p:nvSpPr>
          <p:cNvPr id="8" name="TextBox 7">
            <a:extLst>
              <a:ext uri="{FF2B5EF4-FFF2-40B4-BE49-F238E27FC236}">
                <a16:creationId xmlns:a16="http://schemas.microsoft.com/office/drawing/2014/main" id="{37A6ED08-3F58-494A-DF53-107C1D1E2256}"/>
              </a:ext>
            </a:extLst>
          </p:cNvPr>
          <p:cNvSpPr txBox="1"/>
          <p:nvPr/>
        </p:nvSpPr>
        <p:spPr>
          <a:xfrm>
            <a:off x="733256" y="5517190"/>
            <a:ext cx="7854696" cy="276999"/>
          </a:xfrm>
          <a:prstGeom prst="rect">
            <a:avLst/>
          </a:prstGeom>
          <a:noFill/>
        </p:spPr>
        <p:txBody>
          <a:bodyPr wrap="square">
            <a:spAutoFit/>
          </a:bodyPr>
          <a:lstStyle/>
          <a:p>
            <a:pPr algn="ctr"/>
            <a:r>
              <a:rPr lang="en-GB" sz="1200" b="1" i="1"/>
              <a:t>If an appeal is upheld, it may result in a waiver request!</a:t>
            </a:r>
          </a:p>
        </p:txBody>
      </p:sp>
    </p:spTree>
    <p:extLst>
      <p:ext uri="{BB962C8B-B14F-4D97-AF65-F5344CB8AC3E}">
        <p14:creationId xmlns:p14="http://schemas.microsoft.com/office/powerpoint/2010/main" val="308412542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1222A8F-81B8-8777-7901-B07B0122A7C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04701E6-3EFF-1F9B-6C98-5A33170B0F03}"/>
              </a:ext>
            </a:extLst>
          </p:cNvPr>
          <p:cNvSpPr>
            <a:spLocks noGrp="1"/>
          </p:cNvSpPr>
          <p:nvPr>
            <p:ph type="title"/>
          </p:nvPr>
        </p:nvSpPr>
        <p:spPr>
          <a:xfrm>
            <a:off x="218356" y="216951"/>
            <a:ext cx="8588416" cy="431289"/>
          </a:xfrm>
        </p:spPr>
        <p:txBody>
          <a:bodyPr/>
          <a:lstStyle/>
          <a:p>
            <a:pPr algn="l"/>
            <a:r>
              <a:rPr lang="en-GB" sz="2800"/>
              <a:t>The “New” Waiver Process</a:t>
            </a:r>
          </a:p>
        </p:txBody>
      </p:sp>
      <p:sp>
        <p:nvSpPr>
          <p:cNvPr id="3" name="TextBox 2">
            <a:extLst>
              <a:ext uri="{FF2B5EF4-FFF2-40B4-BE49-F238E27FC236}">
                <a16:creationId xmlns:a16="http://schemas.microsoft.com/office/drawing/2014/main" id="{C978D24C-7111-24C0-4D17-3A4427850116}"/>
              </a:ext>
            </a:extLst>
          </p:cNvPr>
          <p:cNvSpPr txBox="1"/>
          <p:nvPr/>
        </p:nvSpPr>
        <p:spPr>
          <a:xfrm>
            <a:off x="374904" y="886968"/>
            <a:ext cx="8156448" cy="1200329"/>
          </a:xfrm>
          <a:prstGeom prst="rect">
            <a:avLst/>
          </a:prstGeom>
          <a:noFill/>
        </p:spPr>
        <p:txBody>
          <a:bodyPr wrap="square" rtlCol="0">
            <a:spAutoFit/>
          </a:bodyPr>
          <a:lstStyle/>
          <a:p>
            <a:endParaRPr lang="en-GB"/>
          </a:p>
          <a:p>
            <a:endParaRPr lang="en-GB"/>
          </a:p>
          <a:p>
            <a:pPr marL="285750" indent="-285750">
              <a:buFont typeface="Wingdings" panose="05000000000000000000" pitchFamily="2" charset="2"/>
              <a:buChar char="ü"/>
            </a:pPr>
            <a:endParaRPr lang="en-GB"/>
          </a:p>
          <a:p>
            <a:pPr marL="285750" indent="-285750">
              <a:buFont typeface="Wingdings" panose="05000000000000000000" pitchFamily="2" charset="2"/>
              <a:buChar char="ü"/>
            </a:pPr>
            <a:endParaRPr lang="en-GB"/>
          </a:p>
        </p:txBody>
      </p:sp>
      <p:sp>
        <p:nvSpPr>
          <p:cNvPr id="4" name="TextBox 3">
            <a:extLst>
              <a:ext uri="{FF2B5EF4-FFF2-40B4-BE49-F238E27FC236}">
                <a16:creationId xmlns:a16="http://schemas.microsoft.com/office/drawing/2014/main" id="{4AB5C5E0-5930-7BC3-233F-8DD6BBC88675}"/>
              </a:ext>
            </a:extLst>
          </p:cNvPr>
          <p:cNvSpPr txBox="1"/>
          <p:nvPr/>
        </p:nvSpPr>
        <p:spPr>
          <a:xfrm>
            <a:off x="227500" y="782121"/>
            <a:ext cx="8513064" cy="5724644"/>
          </a:xfrm>
          <a:prstGeom prst="rect">
            <a:avLst/>
          </a:prstGeom>
          <a:noFill/>
        </p:spPr>
        <p:txBody>
          <a:bodyPr wrap="square" rtlCol="0">
            <a:spAutoFit/>
          </a:bodyPr>
          <a:lstStyle/>
          <a:p>
            <a:r>
              <a:rPr lang="en-GB" sz="1600"/>
              <a:t>For all waiver requests, the following process applies:</a:t>
            </a:r>
          </a:p>
          <a:p>
            <a:endParaRPr lang="en-GB" sz="1000"/>
          </a:p>
          <a:p>
            <a:r>
              <a:rPr lang="en-GB" sz="1600" i="1"/>
              <a:t>Note – Before submitting a waiver request, ensure that Disability Related Expenditure has been considered and, if necessary, a referral has been made to the Benefits team. </a:t>
            </a:r>
          </a:p>
          <a:p>
            <a:endParaRPr lang="en-GB" sz="1600"/>
          </a:p>
          <a:p>
            <a:endParaRPr lang="en-GB" sz="1600"/>
          </a:p>
          <a:p>
            <a:endParaRPr lang="en-GB" sz="1600"/>
          </a:p>
          <a:p>
            <a:endParaRPr lang="en-GB" sz="1600"/>
          </a:p>
          <a:p>
            <a:endParaRPr lang="en-GB"/>
          </a:p>
          <a:p>
            <a:endParaRPr lang="en-GB"/>
          </a:p>
          <a:p>
            <a:r>
              <a:rPr lang="en-GB"/>
              <a:t> </a:t>
            </a:r>
          </a:p>
          <a:p>
            <a:endParaRPr lang="en-GB"/>
          </a:p>
          <a:p>
            <a:endParaRPr lang="en-GB"/>
          </a:p>
          <a:p>
            <a:endParaRPr lang="en-GB" sz="1400" i="1"/>
          </a:p>
          <a:p>
            <a:endParaRPr lang="en-GB" sz="1400" i="1"/>
          </a:p>
          <a:p>
            <a:endParaRPr lang="en-GB" sz="1400" i="1"/>
          </a:p>
          <a:p>
            <a:endParaRPr lang="en-GB" sz="1400" i="1"/>
          </a:p>
          <a:p>
            <a:endParaRPr lang="en-GB" sz="1400" i="1"/>
          </a:p>
          <a:p>
            <a:endParaRPr lang="en-GB" sz="1400" i="1"/>
          </a:p>
          <a:p>
            <a:endParaRPr lang="en-GB" sz="1400" i="1"/>
          </a:p>
          <a:p>
            <a:r>
              <a:rPr lang="en-GB" sz="1400" i="1"/>
              <a:t>The full process is included within the Financial Waiver Procedure document.</a:t>
            </a:r>
          </a:p>
          <a:p>
            <a:endParaRPr lang="en-GB"/>
          </a:p>
          <a:p>
            <a:endParaRPr lang="en-GB"/>
          </a:p>
        </p:txBody>
      </p:sp>
      <p:graphicFrame>
        <p:nvGraphicFramePr>
          <p:cNvPr id="5" name="Diagram 4">
            <a:extLst>
              <a:ext uri="{FF2B5EF4-FFF2-40B4-BE49-F238E27FC236}">
                <a16:creationId xmlns:a16="http://schemas.microsoft.com/office/drawing/2014/main" id="{2E50BCB5-A0D2-85EA-FBE2-4E151960102A}"/>
              </a:ext>
            </a:extLst>
          </p:cNvPr>
          <p:cNvGraphicFramePr/>
          <p:nvPr>
            <p:extLst>
              <p:ext uri="{D42A27DB-BD31-4B8C-83A1-F6EECF244321}">
                <p14:modId xmlns:p14="http://schemas.microsoft.com/office/powerpoint/2010/main" val="1828857744"/>
              </p:ext>
            </p:extLst>
          </p:nvPr>
        </p:nvGraphicFramePr>
        <p:xfrm>
          <a:off x="1144948" y="1404836"/>
          <a:ext cx="6111240" cy="2334136"/>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pic>
        <p:nvPicPr>
          <p:cNvPr id="8" name="Picture 7">
            <a:extLst>
              <a:ext uri="{FF2B5EF4-FFF2-40B4-BE49-F238E27FC236}">
                <a16:creationId xmlns:a16="http://schemas.microsoft.com/office/drawing/2014/main" id="{E533ABD3-212F-AB2D-82CF-736D4202FC84}"/>
              </a:ext>
            </a:extLst>
          </p:cNvPr>
          <p:cNvPicPr>
            <a:picLocks noChangeAspect="1"/>
          </p:cNvPicPr>
          <p:nvPr/>
        </p:nvPicPr>
        <p:blipFill>
          <a:blip r:embed="rId8"/>
          <a:stretch>
            <a:fillRect/>
          </a:stretch>
        </p:blipFill>
        <p:spPr>
          <a:xfrm>
            <a:off x="4572000" y="3555771"/>
            <a:ext cx="2029968" cy="1815097"/>
          </a:xfrm>
          <a:prstGeom prst="rect">
            <a:avLst/>
          </a:prstGeom>
        </p:spPr>
      </p:pic>
      <p:cxnSp>
        <p:nvCxnSpPr>
          <p:cNvPr id="14" name="Straight Arrow Connector 13">
            <a:extLst>
              <a:ext uri="{FF2B5EF4-FFF2-40B4-BE49-F238E27FC236}">
                <a16:creationId xmlns:a16="http://schemas.microsoft.com/office/drawing/2014/main" id="{87D827E1-52F9-C4A4-6DD7-E56D5C121828}"/>
              </a:ext>
            </a:extLst>
          </p:cNvPr>
          <p:cNvCxnSpPr>
            <a:cxnSpLocks/>
          </p:cNvCxnSpPr>
          <p:nvPr/>
        </p:nvCxnSpPr>
        <p:spPr>
          <a:xfrm>
            <a:off x="5522976" y="3163824"/>
            <a:ext cx="0" cy="391947"/>
          </a:xfrm>
          <a:prstGeom prst="straightConnector1">
            <a:avLst/>
          </a:prstGeom>
          <a:ln w="31750">
            <a:solidFill>
              <a:schemeClr val="bg2"/>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24977310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61140E-5355-5FBB-4801-43807BC9F4A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57CF215-BABC-8B72-8B9E-38D32047BF94}"/>
              </a:ext>
            </a:extLst>
          </p:cNvPr>
          <p:cNvSpPr>
            <a:spLocks noGrp="1"/>
          </p:cNvSpPr>
          <p:nvPr>
            <p:ph type="title"/>
          </p:nvPr>
        </p:nvSpPr>
        <p:spPr>
          <a:xfrm>
            <a:off x="208112" y="254511"/>
            <a:ext cx="8762152" cy="824481"/>
          </a:xfrm>
        </p:spPr>
        <p:txBody>
          <a:bodyPr/>
          <a:lstStyle/>
          <a:p>
            <a:pPr algn="l"/>
            <a:r>
              <a:rPr lang="en-GB" sz="2800"/>
              <a:t>Completing the Waiver Request Form in Mosaic….</a:t>
            </a:r>
          </a:p>
        </p:txBody>
      </p:sp>
      <p:sp>
        <p:nvSpPr>
          <p:cNvPr id="3" name="TextBox 2">
            <a:extLst>
              <a:ext uri="{FF2B5EF4-FFF2-40B4-BE49-F238E27FC236}">
                <a16:creationId xmlns:a16="http://schemas.microsoft.com/office/drawing/2014/main" id="{1E9DEDE7-2BF0-5FEA-0EB0-B92750E38EBF}"/>
              </a:ext>
            </a:extLst>
          </p:cNvPr>
          <p:cNvSpPr txBox="1"/>
          <p:nvPr/>
        </p:nvSpPr>
        <p:spPr>
          <a:xfrm>
            <a:off x="338327" y="4724324"/>
            <a:ext cx="8156448" cy="369332"/>
          </a:xfrm>
          <a:prstGeom prst="rect">
            <a:avLst/>
          </a:prstGeom>
          <a:noFill/>
        </p:spPr>
        <p:txBody>
          <a:bodyPr wrap="square" rtlCol="0">
            <a:spAutoFit/>
          </a:bodyPr>
          <a:lstStyle/>
          <a:p>
            <a:pPr algn="ctr"/>
            <a:r>
              <a:rPr lang="en-GB" b="1"/>
              <a:t>Victoria Boik</a:t>
            </a:r>
          </a:p>
        </p:txBody>
      </p:sp>
      <p:pic>
        <p:nvPicPr>
          <p:cNvPr id="2054" name="Picture 6" descr="1+ Thousand Tool Demo Royalty-Free Images, Stock Photos &amp; Pictures ...">
            <a:extLst>
              <a:ext uri="{FF2B5EF4-FFF2-40B4-BE49-F238E27FC236}">
                <a16:creationId xmlns:a16="http://schemas.microsoft.com/office/drawing/2014/main" id="{61265401-7EB7-D7D4-E04B-F807F8FD6383}"/>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b="7179"/>
          <a:stretch>
            <a:fillRect/>
          </a:stretch>
        </p:blipFill>
        <p:spPr bwMode="auto">
          <a:xfrm>
            <a:off x="1953907" y="1618489"/>
            <a:ext cx="4925289" cy="2889504"/>
          </a:xfrm>
          <a:prstGeom prst="rect">
            <a:avLst/>
          </a:prstGeom>
          <a:noFill/>
          <a:ln>
            <a:solidFill>
              <a:schemeClr val="bg2"/>
            </a:solidFill>
          </a:ln>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52522257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CCDE329-84F8-60EA-A5F6-AF793661896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4ACECF7-56D6-A2CC-5831-8E44E298CDF1}"/>
              </a:ext>
            </a:extLst>
          </p:cNvPr>
          <p:cNvSpPr>
            <a:spLocks noGrp="1"/>
          </p:cNvSpPr>
          <p:nvPr>
            <p:ph type="title"/>
          </p:nvPr>
        </p:nvSpPr>
        <p:spPr>
          <a:xfrm>
            <a:off x="208112" y="254511"/>
            <a:ext cx="8762152" cy="824481"/>
          </a:xfrm>
        </p:spPr>
        <p:txBody>
          <a:bodyPr/>
          <a:lstStyle/>
          <a:p>
            <a:pPr algn="l"/>
            <a:r>
              <a:rPr lang="en-GB" sz="2800"/>
              <a:t>Timeline / Next Steps</a:t>
            </a:r>
            <a:br>
              <a:rPr lang="en-GB" sz="2800"/>
            </a:br>
            <a:endParaRPr lang="en-GB" sz="2800"/>
          </a:p>
        </p:txBody>
      </p:sp>
      <p:graphicFrame>
        <p:nvGraphicFramePr>
          <p:cNvPr id="5" name="Table 4">
            <a:extLst>
              <a:ext uri="{FF2B5EF4-FFF2-40B4-BE49-F238E27FC236}">
                <a16:creationId xmlns:a16="http://schemas.microsoft.com/office/drawing/2014/main" id="{BAC773B3-E030-15AD-4086-BCD6B392B40C}"/>
              </a:ext>
            </a:extLst>
          </p:cNvPr>
          <p:cNvGraphicFramePr>
            <a:graphicFrameLocks noGrp="1"/>
          </p:cNvGraphicFramePr>
          <p:nvPr>
            <p:extLst>
              <p:ext uri="{D42A27DB-BD31-4B8C-83A1-F6EECF244321}">
                <p14:modId xmlns:p14="http://schemas.microsoft.com/office/powerpoint/2010/main" val="884495221"/>
              </p:ext>
            </p:extLst>
          </p:nvPr>
        </p:nvGraphicFramePr>
        <p:xfrm>
          <a:off x="408432" y="976376"/>
          <a:ext cx="8314944" cy="4023360"/>
        </p:xfrm>
        <a:graphic>
          <a:graphicData uri="http://schemas.openxmlformats.org/drawingml/2006/table">
            <a:tbl>
              <a:tblPr firstRow="1" bandRow="1">
                <a:tableStyleId>{5C22544A-7EE6-4342-B048-85BDC9FD1C3A}</a:tableStyleId>
              </a:tblPr>
              <a:tblGrid>
                <a:gridCol w="3294888">
                  <a:extLst>
                    <a:ext uri="{9D8B030D-6E8A-4147-A177-3AD203B41FA5}">
                      <a16:colId xmlns:a16="http://schemas.microsoft.com/office/drawing/2014/main" val="3320246651"/>
                    </a:ext>
                  </a:extLst>
                </a:gridCol>
                <a:gridCol w="5020056">
                  <a:extLst>
                    <a:ext uri="{9D8B030D-6E8A-4147-A177-3AD203B41FA5}">
                      <a16:colId xmlns:a16="http://schemas.microsoft.com/office/drawing/2014/main" val="3297573828"/>
                    </a:ext>
                  </a:extLst>
                </a:gridCol>
              </a:tblGrid>
              <a:tr h="370840">
                <a:tc>
                  <a:txBody>
                    <a:bodyPr/>
                    <a:lstStyle/>
                    <a:p>
                      <a:r>
                        <a:rPr lang="en-GB">
                          <a:solidFill>
                            <a:schemeClr val="tx1"/>
                          </a:solidFill>
                        </a:rPr>
                        <a:t>24</a:t>
                      </a:r>
                      <a:r>
                        <a:rPr lang="en-GB" baseline="30000">
                          <a:solidFill>
                            <a:schemeClr val="tx1"/>
                          </a:solidFill>
                        </a:rPr>
                        <a:t>th</a:t>
                      </a:r>
                      <a:r>
                        <a:rPr lang="en-GB">
                          <a:solidFill>
                            <a:schemeClr val="tx1"/>
                          </a:solidFill>
                        </a:rPr>
                        <a:t>, 25</a:t>
                      </a:r>
                      <a:r>
                        <a:rPr lang="en-GB" baseline="30000">
                          <a:solidFill>
                            <a:schemeClr val="tx1"/>
                          </a:solidFill>
                        </a:rPr>
                        <a:t>th</a:t>
                      </a:r>
                      <a:r>
                        <a:rPr lang="en-GB">
                          <a:solidFill>
                            <a:schemeClr val="tx1"/>
                          </a:solidFill>
                        </a:rPr>
                        <a:t> March &amp; 1</a:t>
                      </a:r>
                      <a:r>
                        <a:rPr lang="en-GB" baseline="30000">
                          <a:solidFill>
                            <a:schemeClr val="tx1"/>
                          </a:solidFill>
                        </a:rPr>
                        <a:t>st</a:t>
                      </a:r>
                      <a:r>
                        <a:rPr lang="en-GB">
                          <a:solidFill>
                            <a:schemeClr val="tx1"/>
                          </a:solidFill>
                        </a:rPr>
                        <a:t> April</a:t>
                      </a:r>
                    </a:p>
                  </a:txBody>
                  <a:tcPr/>
                </a:tc>
                <a:tc>
                  <a:txBody>
                    <a:bodyPr/>
                    <a:lstStyle/>
                    <a:p>
                      <a:r>
                        <a:rPr lang="en-GB" b="0">
                          <a:solidFill>
                            <a:schemeClr val="tx1"/>
                          </a:solidFill>
                        </a:rPr>
                        <a:t>Community Team Briefing Sessions</a:t>
                      </a:r>
                    </a:p>
                    <a:p>
                      <a:endParaRPr lang="en-GB" sz="500" b="0">
                        <a:solidFill>
                          <a:schemeClr val="tx1"/>
                        </a:solidFill>
                      </a:endParaRPr>
                    </a:p>
                  </a:txBody>
                  <a:tcPr/>
                </a:tc>
                <a:extLst>
                  <a:ext uri="{0D108BD9-81ED-4DB2-BD59-A6C34878D82A}">
                    <a16:rowId xmlns:a16="http://schemas.microsoft.com/office/drawing/2014/main" val="385914508"/>
                  </a:ext>
                </a:extLst>
              </a:tr>
              <a:tr h="133683">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800" b="1">
                          <a:solidFill>
                            <a:schemeClr val="tx1"/>
                          </a:solidFill>
                        </a:rPr>
                        <a:t>Wc 6</a:t>
                      </a:r>
                      <a:r>
                        <a:rPr lang="en-GB" sz="1800" b="1" baseline="30000">
                          <a:solidFill>
                            <a:schemeClr val="tx1"/>
                          </a:solidFill>
                        </a:rPr>
                        <a:t>th</a:t>
                      </a:r>
                      <a:r>
                        <a:rPr lang="en-GB" sz="1800" b="1">
                          <a:solidFill>
                            <a:schemeClr val="tx1"/>
                          </a:solidFill>
                        </a:rPr>
                        <a:t> April </a:t>
                      </a:r>
                    </a:p>
                  </a:txBody>
                  <a:tcPr/>
                </a:tc>
                <a:tc>
                  <a:txBody>
                    <a:bodyPr/>
                    <a:lstStyle/>
                    <a:p>
                      <a:r>
                        <a:rPr lang="en-GB" sz="1800" b="1">
                          <a:solidFill>
                            <a:schemeClr val="tx1"/>
                          </a:solidFill>
                        </a:rPr>
                        <a:t>Waiver Form Live in Mosaic.</a:t>
                      </a:r>
                    </a:p>
                    <a:p>
                      <a:endParaRPr lang="en-GB" sz="500">
                        <a:solidFill>
                          <a:schemeClr val="tx1"/>
                        </a:solidFill>
                      </a:endParaRPr>
                    </a:p>
                  </a:txBody>
                  <a:tcPr/>
                </a:tc>
                <a:extLst>
                  <a:ext uri="{0D108BD9-81ED-4DB2-BD59-A6C34878D82A}">
                    <a16:rowId xmlns:a16="http://schemas.microsoft.com/office/drawing/2014/main" val="1930891698"/>
                  </a:ext>
                </a:extLst>
              </a:tr>
              <a:tr h="370840">
                <a:tc>
                  <a:txBody>
                    <a:bodyPr/>
                    <a:lstStyle/>
                    <a:p>
                      <a:endParaRPr lang="en-GB" b="1">
                        <a:solidFill>
                          <a:schemeClr val="tx1"/>
                        </a:solidFill>
                      </a:endParaRPr>
                    </a:p>
                  </a:txBody>
                  <a:tcPr/>
                </a:tc>
                <a:tc>
                  <a:txBody>
                    <a:bodyPr/>
                    <a:lstStyle/>
                    <a:p>
                      <a:r>
                        <a:rPr lang="en-GB">
                          <a:solidFill>
                            <a:schemeClr val="tx1"/>
                          </a:solidFill>
                        </a:rPr>
                        <a:t>Briefing sessions – ACFS, Appointee &amp; Deputyship + any other teams who may request waivers. </a:t>
                      </a:r>
                    </a:p>
                    <a:p>
                      <a:endParaRPr lang="en-GB" sz="500">
                        <a:solidFill>
                          <a:schemeClr val="tx1"/>
                        </a:solidFill>
                      </a:endParaRPr>
                    </a:p>
                  </a:txBody>
                  <a:tcPr/>
                </a:tc>
                <a:extLst>
                  <a:ext uri="{0D108BD9-81ED-4DB2-BD59-A6C34878D82A}">
                    <a16:rowId xmlns:a16="http://schemas.microsoft.com/office/drawing/2014/main" val="1958221056"/>
                  </a:ext>
                </a:extLst>
              </a:tr>
              <a:tr h="370840">
                <a:tc>
                  <a:txBody>
                    <a:bodyPr/>
                    <a:lstStyle/>
                    <a:p>
                      <a:endParaRPr lang="en-GB" b="1">
                        <a:solidFill>
                          <a:schemeClr val="tx1"/>
                        </a:solidFill>
                      </a:endParaRPr>
                    </a:p>
                  </a:txBody>
                  <a:tcPr/>
                </a:tc>
                <a:tc>
                  <a:txBody>
                    <a:bodyPr/>
                    <a:lstStyle/>
                    <a:p>
                      <a:r>
                        <a:rPr lang="en-GB" sz="1800">
                          <a:solidFill>
                            <a:schemeClr val="tx1"/>
                          </a:solidFill>
                        </a:rPr>
                        <a:t>ASC Charging Policy, Hardship and Financial Appeals processes are live.</a:t>
                      </a:r>
                    </a:p>
                    <a:p>
                      <a:endParaRPr lang="en-GB" sz="500">
                        <a:solidFill>
                          <a:schemeClr val="tx1"/>
                        </a:solidFill>
                      </a:endParaRPr>
                    </a:p>
                  </a:txBody>
                  <a:tcPr/>
                </a:tc>
                <a:extLst>
                  <a:ext uri="{0D108BD9-81ED-4DB2-BD59-A6C34878D82A}">
                    <a16:rowId xmlns:a16="http://schemas.microsoft.com/office/drawing/2014/main" val="2251572792"/>
                  </a:ext>
                </a:extLst>
              </a:tr>
              <a:tr h="370840">
                <a:tc>
                  <a:txBody>
                    <a:bodyPr/>
                    <a:lstStyle/>
                    <a:p>
                      <a:endParaRPr lang="en-GB">
                        <a:solidFill>
                          <a:schemeClr val="tx1"/>
                        </a:solidFill>
                      </a:endParaRPr>
                    </a:p>
                  </a:txBody>
                  <a:tcPr/>
                </a:tc>
                <a:tc>
                  <a:txBody>
                    <a:bodyPr/>
                    <a:lstStyle/>
                    <a:p>
                      <a:r>
                        <a:rPr lang="en-GB">
                          <a:solidFill>
                            <a:schemeClr val="tx1"/>
                          </a:solidFill>
                        </a:rPr>
                        <a:t>Guidance &amp; procedure documents available, including guidance for waiver approvers. </a:t>
                      </a:r>
                    </a:p>
                    <a:p>
                      <a:endParaRPr lang="en-GB" sz="500">
                        <a:solidFill>
                          <a:schemeClr val="tx1"/>
                        </a:solidFill>
                      </a:endParaRPr>
                    </a:p>
                  </a:txBody>
                  <a:tcPr/>
                </a:tc>
                <a:extLst>
                  <a:ext uri="{0D108BD9-81ED-4DB2-BD59-A6C34878D82A}">
                    <a16:rowId xmlns:a16="http://schemas.microsoft.com/office/drawing/2014/main" val="2313656524"/>
                  </a:ext>
                </a:extLst>
              </a:tr>
              <a:tr h="370840">
                <a:tc>
                  <a:txBody>
                    <a:bodyPr/>
                    <a:lstStyle/>
                    <a:p>
                      <a:r>
                        <a:rPr lang="en-GB" sz="1800" b="1">
                          <a:solidFill>
                            <a:schemeClr val="tx1"/>
                          </a:solidFill>
                        </a:rPr>
                        <a:t>Date TBC </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a:solidFill>
                            <a:schemeClr val="tx1"/>
                          </a:solidFill>
                        </a:rPr>
                        <a:t>Waiver reporting (approved &amp; pending) to be made available within the BI Hub.</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GB" sz="500">
                        <a:solidFill>
                          <a:schemeClr val="tx1"/>
                        </a:solidFill>
                      </a:endParaRPr>
                    </a:p>
                  </a:txBody>
                  <a:tcPr/>
                </a:tc>
                <a:extLst>
                  <a:ext uri="{0D108BD9-81ED-4DB2-BD59-A6C34878D82A}">
                    <a16:rowId xmlns:a16="http://schemas.microsoft.com/office/drawing/2014/main" val="50761569"/>
                  </a:ext>
                </a:extLst>
              </a:tr>
            </a:tbl>
          </a:graphicData>
        </a:graphic>
      </p:graphicFrame>
    </p:spTree>
    <p:extLst>
      <p:ext uri="{BB962C8B-B14F-4D97-AF65-F5344CB8AC3E}">
        <p14:creationId xmlns:p14="http://schemas.microsoft.com/office/powerpoint/2010/main" val="26964644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5C4E70F-901C-B4DA-80DD-81FA4604B2B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73F4A9C-14DB-CB67-1635-E6A588A71468}"/>
              </a:ext>
            </a:extLst>
          </p:cNvPr>
          <p:cNvSpPr>
            <a:spLocks noGrp="1"/>
          </p:cNvSpPr>
          <p:nvPr>
            <p:ph type="title"/>
          </p:nvPr>
        </p:nvSpPr>
        <p:spPr>
          <a:xfrm>
            <a:off x="190924" y="172215"/>
            <a:ext cx="8762152" cy="541017"/>
          </a:xfrm>
        </p:spPr>
        <p:txBody>
          <a:bodyPr/>
          <a:lstStyle/>
          <a:p>
            <a:pPr algn="l"/>
            <a:r>
              <a:rPr lang="en-GB" sz="2800"/>
              <a:t>Further Guidance &amp; Information</a:t>
            </a:r>
          </a:p>
        </p:txBody>
      </p:sp>
      <p:sp>
        <p:nvSpPr>
          <p:cNvPr id="3" name="TextBox 2">
            <a:extLst>
              <a:ext uri="{FF2B5EF4-FFF2-40B4-BE49-F238E27FC236}">
                <a16:creationId xmlns:a16="http://schemas.microsoft.com/office/drawing/2014/main" id="{E22E4134-3077-69EE-991E-2738E20A56A3}"/>
              </a:ext>
            </a:extLst>
          </p:cNvPr>
          <p:cNvSpPr txBox="1"/>
          <p:nvPr/>
        </p:nvSpPr>
        <p:spPr>
          <a:xfrm>
            <a:off x="190924" y="886968"/>
            <a:ext cx="8762152" cy="5355312"/>
          </a:xfrm>
          <a:prstGeom prst="rect">
            <a:avLst/>
          </a:prstGeom>
          <a:noFill/>
        </p:spPr>
        <p:txBody>
          <a:bodyPr wrap="square" rtlCol="0">
            <a:spAutoFit/>
          </a:bodyPr>
          <a:lstStyle/>
          <a:p>
            <a:r>
              <a:rPr lang="en-GB" dirty="0"/>
              <a:t>Further information about the </a:t>
            </a:r>
            <a:r>
              <a:rPr lang="en-GB" b="1" dirty="0"/>
              <a:t>financial waiver process, </a:t>
            </a:r>
          </a:p>
          <a:p>
            <a:r>
              <a:rPr lang="en-GB" b="1" dirty="0"/>
              <a:t>procedures and guidance </a:t>
            </a:r>
            <a:r>
              <a:rPr lang="en-GB" dirty="0"/>
              <a:t>will be available within the ASCH </a:t>
            </a:r>
          </a:p>
          <a:p>
            <a:r>
              <a:rPr lang="en-GB" dirty="0"/>
              <a:t>Policy Library:</a:t>
            </a:r>
          </a:p>
          <a:p>
            <a:endParaRPr lang="en-GB" dirty="0"/>
          </a:p>
          <a:p>
            <a:pPr marL="285750" indent="-285750">
              <a:buFont typeface="Wingdings" panose="05000000000000000000" pitchFamily="2" charset="2"/>
              <a:buChar char="ü"/>
            </a:pPr>
            <a:r>
              <a:rPr lang="en-GB" b="1" i="1" dirty="0"/>
              <a:t>Financial Waivers Guidance </a:t>
            </a:r>
            <a:r>
              <a:rPr lang="en-GB" dirty="0"/>
              <a:t>– Link to follow</a:t>
            </a:r>
          </a:p>
          <a:p>
            <a:pPr marL="285750" indent="-285750">
              <a:buFont typeface="Wingdings" panose="05000000000000000000" pitchFamily="2" charset="2"/>
              <a:buChar char="ü"/>
            </a:pPr>
            <a:r>
              <a:rPr lang="en-GB" b="1" i="1" dirty="0"/>
              <a:t>Financial Waivers Procedure </a:t>
            </a:r>
            <a:r>
              <a:rPr lang="en-GB" i="1" dirty="0"/>
              <a:t>(including how to complete the waiver form in Mosaic)</a:t>
            </a:r>
            <a:r>
              <a:rPr lang="en-GB" dirty="0"/>
              <a:t> – Link to follow</a:t>
            </a:r>
          </a:p>
          <a:p>
            <a:pPr marL="285750" indent="-285750">
              <a:buFont typeface="Wingdings" panose="05000000000000000000" pitchFamily="2" charset="2"/>
              <a:buChar char="ü"/>
            </a:pPr>
            <a:r>
              <a:rPr lang="en-GB" b="1" i="1" dirty="0"/>
              <a:t>Financial Waivers Approval Procedure </a:t>
            </a:r>
            <a:r>
              <a:rPr lang="en-GB" dirty="0"/>
              <a:t>– Link to follow</a:t>
            </a:r>
          </a:p>
          <a:p>
            <a:endParaRPr lang="en-GB" dirty="0"/>
          </a:p>
          <a:p>
            <a:r>
              <a:rPr lang="en-GB" dirty="0"/>
              <a:t>Information relating to Financial </a:t>
            </a:r>
            <a:r>
              <a:rPr lang="en-GB" b="1" dirty="0"/>
              <a:t>Hardship, the Financial Appeals Process and Complaints</a:t>
            </a:r>
            <a:r>
              <a:rPr lang="en-GB" dirty="0"/>
              <a:t>, can be found at:</a:t>
            </a:r>
            <a:endParaRPr lang="en-GB" dirty="0">
              <a:solidFill>
                <a:srgbClr val="FF0000"/>
              </a:solidFill>
            </a:endParaRPr>
          </a:p>
          <a:p>
            <a:endParaRPr lang="en-GB" dirty="0">
              <a:hlinkClick r:id="rId2"/>
            </a:endParaRPr>
          </a:p>
          <a:p>
            <a:pPr marL="285750" indent="-285750">
              <a:buFont typeface="Wingdings" panose="05000000000000000000" pitchFamily="2" charset="2"/>
              <a:buChar char="ü"/>
            </a:pPr>
            <a:r>
              <a:rPr lang="en-GB" dirty="0">
                <a:hlinkClick r:id="rId2"/>
              </a:rPr>
              <a:t>Complaints and Information | Nottinghamshire County Council Intranet</a:t>
            </a:r>
            <a:endParaRPr lang="en-GB" dirty="0"/>
          </a:p>
          <a:p>
            <a:pPr marL="285750" indent="-285750">
              <a:buFont typeface="Wingdings" panose="05000000000000000000" pitchFamily="2" charset="2"/>
              <a:buChar char="ü"/>
            </a:pPr>
            <a:r>
              <a:rPr lang="en-GB" b="1" dirty="0"/>
              <a:t>ASCH Charging Policy </a:t>
            </a:r>
            <a:r>
              <a:rPr lang="en-GB" dirty="0"/>
              <a:t>– </a:t>
            </a:r>
          </a:p>
          <a:p>
            <a:pPr marL="285750" indent="-285750">
              <a:buFont typeface="Wingdings" panose="05000000000000000000" pitchFamily="2" charset="2"/>
              <a:buChar char="ü"/>
            </a:pPr>
            <a:r>
              <a:rPr lang="en-GB" b="1" dirty="0"/>
              <a:t>Hardship Form &amp; Guidance – </a:t>
            </a:r>
          </a:p>
          <a:p>
            <a:endParaRPr lang="en-GB" dirty="0">
              <a:solidFill>
                <a:srgbClr val="FF0000"/>
              </a:solidFill>
            </a:endParaRPr>
          </a:p>
          <a:p>
            <a:endParaRPr lang="en-GB" dirty="0">
              <a:solidFill>
                <a:srgbClr val="FF0000"/>
              </a:solidFill>
            </a:endParaRPr>
          </a:p>
          <a:p>
            <a:endParaRPr lang="en-GB" dirty="0"/>
          </a:p>
          <a:p>
            <a:pPr marL="285750" indent="-285750">
              <a:buFont typeface="Wingdings" panose="05000000000000000000" pitchFamily="2" charset="2"/>
              <a:buChar char="ü"/>
            </a:pPr>
            <a:endParaRPr lang="en-GB" dirty="0"/>
          </a:p>
        </p:txBody>
      </p:sp>
      <p:pic>
        <p:nvPicPr>
          <p:cNvPr id="5124" name="Picture 4" descr="Help, support, advice, guidance - wooden signpost with four arrows, sky ...">
            <a:extLst>
              <a:ext uri="{FF2B5EF4-FFF2-40B4-BE49-F238E27FC236}">
                <a16:creationId xmlns:a16="http://schemas.microsoft.com/office/drawing/2014/main" id="{1B18B49B-7359-C948-C255-58E358FD4D04}"/>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665976" y="172215"/>
            <a:ext cx="2287100" cy="1665729"/>
          </a:xfrm>
          <a:prstGeom prst="rect">
            <a:avLst/>
          </a:prstGeom>
          <a:noFill/>
          <a:extLst>
            <a:ext uri="{909E8E84-426E-40DD-AFC4-6F175D3DCCD1}">
              <a14:hiddenFill xmlns:a14="http://schemas.microsoft.com/office/drawing/2010/main">
                <a:solidFill>
                  <a:srgbClr val="FFFFFF"/>
                </a:solidFill>
              </a14:hiddenFill>
            </a:ext>
          </a:extLst>
        </p:spPr>
      </p:pic>
      <p:sp>
        <p:nvSpPr>
          <p:cNvPr id="5" name="Rectangle 2">
            <a:extLst>
              <a:ext uri="{FF2B5EF4-FFF2-40B4-BE49-F238E27FC236}">
                <a16:creationId xmlns:a16="http://schemas.microsoft.com/office/drawing/2014/main" id="{DC6F5410-1CCA-1EF6-9161-E06F6C6B207E}"/>
              </a:ext>
            </a:extLst>
          </p:cNvPr>
          <p:cNvSpPr>
            <a:spLocks noChangeArrowheads="1"/>
          </p:cNvSpPr>
          <p:nvPr/>
        </p:nvSpPr>
        <p:spPr bwMode="auto">
          <a:xfrm>
            <a:off x="3169920" y="4642104"/>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dirty="0">
                <a:ln>
                  <a:noFill/>
                </a:ln>
                <a:solidFill>
                  <a:schemeClr val="tx1"/>
                </a:solidFill>
                <a:effectLst/>
                <a:latin typeface="Arial" panose="020B0604020202020204" pitchFamily="34" charset="0"/>
                <a:hlinkClick r:id="rId4"/>
              </a:rPr>
              <a:t>Adult Social Care Charging Policy 2026-27</a:t>
            </a: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6" name="Rectangle 3">
            <a:extLst>
              <a:ext uri="{FF2B5EF4-FFF2-40B4-BE49-F238E27FC236}">
                <a16:creationId xmlns:a16="http://schemas.microsoft.com/office/drawing/2014/main" id="{0EFA5CBD-3AC3-8021-8157-0ABFCE74CFD0}"/>
              </a:ext>
            </a:extLst>
          </p:cNvPr>
          <p:cNvSpPr>
            <a:spLocks noChangeArrowheads="1"/>
          </p:cNvSpPr>
          <p:nvPr/>
        </p:nvSpPr>
        <p:spPr bwMode="auto">
          <a:xfrm>
            <a:off x="3686132" y="4910328"/>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dirty="0">
                <a:ln>
                  <a:noFill/>
                </a:ln>
                <a:solidFill>
                  <a:schemeClr val="tx1"/>
                </a:solidFill>
                <a:effectLst/>
                <a:latin typeface="Arial" panose="020B0604020202020204" pitchFamily="34" charset="0"/>
                <a:hlinkClick r:id="rId5"/>
              </a:rPr>
              <a:t>Flat Rate Charge Financial Hardship Form.docx</a:t>
            </a: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403286164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B58FF29-BEB4-0C00-B18E-AEA1470FF47C}"/>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3A39403C-4E38-EDC4-323D-5E6CB296707F}"/>
              </a:ext>
            </a:extLst>
          </p:cNvPr>
          <p:cNvPicPr>
            <a:picLocks noChangeAspect="1"/>
          </p:cNvPicPr>
          <p:nvPr/>
        </p:nvPicPr>
        <p:blipFill>
          <a:blip r:embed="rId3"/>
          <a:srcRect t="4821" b="12693"/>
          <a:stretch>
            <a:fillRect/>
          </a:stretch>
        </p:blipFill>
        <p:spPr>
          <a:xfrm>
            <a:off x="246887" y="602361"/>
            <a:ext cx="8705089" cy="4618863"/>
          </a:xfrm>
          <a:prstGeom prst="rect">
            <a:avLst/>
          </a:prstGeom>
          <a:noFill/>
        </p:spPr>
      </p:pic>
    </p:spTree>
    <p:extLst>
      <p:ext uri="{BB962C8B-B14F-4D97-AF65-F5344CB8AC3E}">
        <p14:creationId xmlns:p14="http://schemas.microsoft.com/office/powerpoint/2010/main" val="4004980810"/>
      </p:ext>
    </p:extLst>
  </p:cSld>
  <p:clrMapOvr>
    <a:masterClrMapping/>
  </p:clrMapOvr>
</p:sld>
</file>

<file path=ppt/theme/theme1.xml><?xml version="1.0" encoding="utf-8"?>
<a:theme xmlns:a="http://schemas.openxmlformats.org/drawingml/2006/main" name="Custom Design">
  <a:themeElements>
    <a:clrScheme name="Custom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Custom Design">
      <a:majorFont>
        <a:latin typeface="Arial Black"/>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raClrScheme>
      <a:clrScheme name="Custom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Custom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Custom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Custom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Custom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Custom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Custom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Custom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Custom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Custom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Custom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Custom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lcf76f155ced4ddcb4097134ff3c332f xmlns="ceed8849-d880-4e8d-8642-1b67c07aac90">
      <Terms xmlns="http://schemas.microsoft.com/office/infopath/2007/PartnerControls"/>
    </lcf76f155ced4ddcb4097134ff3c332f>
    <TaxCatchAll xmlns="12d37472-022e-4d0b-801e-b028ce26473b"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34E51B9811FF5F4FBAB77D622F3BFF7F" ma:contentTypeVersion="11" ma:contentTypeDescription="Create a new document." ma:contentTypeScope="" ma:versionID="10db368358844895dd1c4e10a91c32d6">
  <xsd:schema xmlns:xsd="http://www.w3.org/2001/XMLSchema" xmlns:xs="http://www.w3.org/2001/XMLSchema" xmlns:p="http://schemas.microsoft.com/office/2006/metadata/properties" xmlns:ns2="ceed8849-d880-4e8d-8642-1b67c07aac90" xmlns:ns3="12d37472-022e-4d0b-801e-b028ce26473b" targetNamespace="http://schemas.microsoft.com/office/2006/metadata/properties" ma:root="true" ma:fieldsID="9e35459669b4852a8806af3de0bea16a" ns2:_="" ns3:_="">
    <xsd:import namespace="ceed8849-d880-4e8d-8642-1b67c07aac90"/>
    <xsd:import namespace="12d37472-022e-4d0b-801e-b028ce26473b"/>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DateTaken" minOccurs="0"/>
                <xsd:element ref="ns2:lcf76f155ced4ddcb4097134ff3c332f" minOccurs="0"/>
                <xsd:element ref="ns3:TaxCatchAll" minOccurs="0"/>
                <xsd:element ref="ns2:MediaServiceOCR" minOccurs="0"/>
                <xsd:element ref="ns2:MediaServiceGenerationTime" minOccurs="0"/>
                <xsd:element ref="ns2:MediaServiceEventHashCode" minOccurs="0"/>
                <xsd:element ref="ns2:MediaLengthInSecond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ceed8849-d880-4e8d-8642-1b67c07aac90"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DateTaken" ma:index="11" nillable="true" ma:displayName="MediaServiceDateTaken" ma:hidden="true" ma:indexed="true" ma:internalName="MediaServiceDateTaken" ma:readOnly="true">
      <xsd:simpleType>
        <xsd:restriction base="dms:Text"/>
      </xsd:simpleType>
    </xsd:element>
    <xsd:element name="lcf76f155ced4ddcb4097134ff3c332f" ma:index="13" nillable="true" ma:taxonomy="true" ma:internalName="lcf76f155ced4ddcb4097134ff3c332f" ma:taxonomyFieldName="MediaServiceImageTags" ma:displayName="Image Tags" ma:readOnly="false" ma:fieldId="{5cf76f15-5ced-4ddc-b409-7134ff3c332f}" ma:taxonomyMulti="true" ma:sspId="12976cec-d0ce-485f-bc4a-34973482e79f" ma:termSetId="09814cd3-568e-fe90-9814-8d621ff8fb84" ma:anchorId="fba54fb3-c3e1-fe81-a776-ca4b69148c4d" ma:open="true" ma:isKeyword="false">
      <xsd:complexType>
        <xsd:sequence>
          <xsd:element ref="pc:Terms" minOccurs="0" maxOccurs="1"/>
        </xsd:sequence>
      </xsd:complexType>
    </xsd:element>
    <xsd:element name="MediaServiceOCR" ma:index="15" nillable="true" ma:displayName="Extracted Text" ma:internalName="MediaServiceOCR" ma:readOnly="true">
      <xsd:simpleType>
        <xsd:restriction base="dms:Note">
          <xsd:maxLength value="255"/>
        </xsd:restriction>
      </xsd:simpleType>
    </xsd:element>
    <xsd:element name="MediaServiceGenerationTime" ma:index="16" nillable="true" ma:displayName="MediaServiceGenerationTime" ma:hidden="true" ma:internalName="MediaServiceGenerationTime" ma:readOnly="true">
      <xsd:simpleType>
        <xsd:restriction base="dms:Text"/>
      </xsd:simpleType>
    </xsd:element>
    <xsd:element name="MediaServiceEventHashCode" ma:index="17" nillable="true" ma:displayName="MediaServiceEventHashCode" ma:hidden="true" ma:internalName="MediaServiceEventHashCode" ma:readOnly="true">
      <xsd:simpleType>
        <xsd:restriction base="dms:Text"/>
      </xsd:simpleType>
    </xsd:element>
    <xsd:element name="MediaLengthInSeconds" ma:index="18" nillable="true" ma:displayName="MediaLengthInSeconds" ma:hidden="true" ma:internalName="MediaLengthInSeconds" ma:readOnly="true">
      <xsd:simpleType>
        <xsd:restriction base="dms:Unknown"/>
      </xsd:simpleType>
    </xsd:element>
  </xsd:schema>
  <xsd:schema xmlns:xsd="http://www.w3.org/2001/XMLSchema" xmlns:xs="http://www.w3.org/2001/XMLSchema" xmlns:dms="http://schemas.microsoft.com/office/2006/documentManagement/types" xmlns:pc="http://schemas.microsoft.com/office/infopath/2007/PartnerControls" targetNamespace="12d37472-022e-4d0b-801e-b028ce26473b" elementFormDefault="qualified">
    <xsd:import namespace="http://schemas.microsoft.com/office/2006/documentManagement/types"/>
    <xsd:import namespace="http://schemas.microsoft.com/office/infopath/2007/PartnerControls"/>
    <xsd:element name="TaxCatchAll" ma:index="14" nillable="true" ma:displayName="Taxonomy Catch All Column" ma:hidden="true" ma:list="{c3124a5d-dc00-4ba1-b3b6-0945ff453f5a}" ma:internalName="TaxCatchAll" ma:showField="CatchAllData" ma:web="12d37472-022e-4d0b-801e-b028ce26473b">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7A997C6A-53BE-4114-B4EA-701137FB0AAC}">
  <ds:schemaRefs>
    <ds:schemaRef ds:uri="12d37472-022e-4d0b-801e-b028ce26473b"/>
    <ds:schemaRef ds:uri="ceed8849-d880-4e8d-8642-1b67c07aac90"/>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openxmlformats.org/package/2006/metadata/core-properties"/>
    <ds:schemaRef ds:uri="http://www.w3.org/XML/1998/namespace"/>
  </ds:schemaRefs>
</ds:datastoreItem>
</file>

<file path=customXml/itemProps2.xml><?xml version="1.0" encoding="utf-8"?>
<ds:datastoreItem xmlns:ds="http://schemas.openxmlformats.org/officeDocument/2006/customXml" ds:itemID="{4774B18C-41FC-44C2-8B69-965DE1EA34FA}">
  <ds:schemaRefs>
    <ds:schemaRef ds:uri="http://schemas.microsoft.com/sharepoint/v3/contenttype/forms"/>
  </ds:schemaRefs>
</ds:datastoreItem>
</file>

<file path=customXml/itemProps3.xml><?xml version="1.0" encoding="utf-8"?>
<ds:datastoreItem xmlns:ds="http://schemas.openxmlformats.org/officeDocument/2006/customXml" ds:itemID="{C2F3239D-0D57-465D-8C0B-26ED20DABCBA}">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ceed8849-d880-4e8d-8642-1b67c07aac90"/>
    <ds:schemaRef ds:uri="12d37472-022e-4d0b-801e-b028ce26473b"/>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Metadata/LabelInfo.xml><?xml version="1.0" encoding="utf-8"?>
<clbl:labelList xmlns:clbl="http://schemas.microsoft.com/office/2020/mipLabelMetadata">
  <clbl:label id="{8fd7c08e-9c24-436d-a6ad-a8ecb8394d49}" enabled="1" method="Standard" siteId="{6e5a37bb-a961-4e4f-baae-2798a2245f30}" removed="0"/>
</clbl:labelList>
</file>

<file path=docProps/app.xml><?xml version="1.0" encoding="utf-8"?>
<Properties xmlns="http://schemas.openxmlformats.org/officeDocument/2006/extended-properties" xmlns:vt="http://schemas.openxmlformats.org/officeDocument/2006/docPropsVTypes">
  <Template>PowerPoint Template</Template>
  <TotalTime>32</TotalTime>
  <Words>1755</Words>
  <Application>Microsoft Office PowerPoint</Application>
  <PresentationFormat>On-screen Show (4:3)</PresentationFormat>
  <Paragraphs>210</Paragraphs>
  <Slides>14</Slides>
  <Notes>13</Notes>
  <HiddenSlides>0</HiddenSlides>
  <MMClips>0</MMClips>
  <ScaleCrop>false</ScaleCrop>
  <HeadingPairs>
    <vt:vector size="6" baseType="variant">
      <vt:variant>
        <vt:lpstr>Fonts Used</vt:lpstr>
      </vt:variant>
      <vt:variant>
        <vt:i4>6</vt:i4>
      </vt:variant>
      <vt:variant>
        <vt:lpstr>Theme</vt:lpstr>
      </vt:variant>
      <vt:variant>
        <vt:i4>2</vt:i4>
      </vt:variant>
      <vt:variant>
        <vt:lpstr>Slide Titles</vt:lpstr>
      </vt:variant>
      <vt:variant>
        <vt:i4>14</vt:i4>
      </vt:variant>
    </vt:vector>
  </HeadingPairs>
  <TitlesOfParts>
    <vt:vector size="22" baseType="lpstr">
      <vt:lpstr>Aptos</vt:lpstr>
      <vt:lpstr>Arial</vt:lpstr>
      <vt:lpstr>Arial Black</vt:lpstr>
      <vt:lpstr>Calibri</vt:lpstr>
      <vt:lpstr>Calibri Light</vt:lpstr>
      <vt:lpstr>Wingdings</vt:lpstr>
      <vt:lpstr>Custom Design</vt:lpstr>
      <vt:lpstr>Office Theme</vt:lpstr>
      <vt:lpstr>Adult Social Care Charging Policy  Waivers, Hardship &amp; Financial Appeals Process </vt:lpstr>
      <vt:lpstr>Introduction &amp; Background</vt:lpstr>
      <vt:lpstr>Definitions</vt:lpstr>
      <vt:lpstr>What’s New?</vt:lpstr>
      <vt:lpstr>How it all fits together….</vt:lpstr>
      <vt:lpstr>Financial Hardship </vt:lpstr>
      <vt:lpstr>Financial Hardship Process - Overview</vt:lpstr>
      <vt:lpstr>Hardship Criteria </vt:lpstr>
      <vt:lpstr>Financial Appeals - Overview</vt:lpstr>
      <vt:lpstr>The “New” Waiver Process</vt:lpstr>
      <vt:lpstr>Completing the Waiver Request Form in Mosaic….</vt:lpstr>
      <vt:lpstr>Timeline / Next Steps </vt:lpstr>
      <vt:lpstr>Further Guidance &amp; Information</vt:lpstr>
      <vt:lpstr>PowerPoint Presentation</vt:lpstr>
    </vt:vector>
  </TitlesOfParts>
  <Company>NCC</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 Title</dc:title>
  <dc:subject>Information and Communications</dc:subject>
  <dc:creator>Scarlet McCourt</dc:creator>
  <cp:lastModifiedBy>Jane Hodgkinson</cp:lastModifiedBy>
  <cp:revision>3</cp:revision>
  <dcterms:created xsi:type="dcterms:W3CDTF">2017-07-03T13:03:55Z</dcterms:created>
  <dcterms:modified xsi:type="dcterms:W3CDTF">2026-04-16T10:58:49Z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0x01010034E51B9811FF5F4FBAB77D622F3BFF7F</vt:lpwstr>
  </property>
  <property fmtid="{D5CDD505-2E9C-101B-9397-08002B2CF9AE}" pid="3" name="MediaServiceImageTags">
    <vt:lpwstr/>
  </property>
</Properties>
</file>