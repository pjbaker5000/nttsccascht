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
  </p:notesMasterIdLst>
  <p:sldIdLst>
    <p:sldId id="256" r:id="rId2"/>
    <p:sldId id="267" r:id="rId3"/>
    <p:sldId id="271" r:id="rId4"/>
    <p:sldId id="260" r:id="rId5"/>
    <p:sldId id="263"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A7FA72-3C9D-47B3-94BC-01FE427DC27D}" v="1092" dt="2025-03-28T13:30:33.5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43" autoAdjust="0"/>
    <p:restoredTop sz="94660"/>
  </p:normalViewPr>
  <p:slideViewPr>
    <p:cSldViewPr snapToGrid="0">
      <p:cViewPr varScale="1">
        <p:scale>
          <a:sx n="82" d="100"/>
          <a:sy n="82" d="100"/>
        </p:scale>
        <p:origin x="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9F114B-2846-4A80-A5CE-39911074E044}"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6BFCF85-04C3-4ED5-8884-4B5996C0254E}">
      <dgm:prSet/>
      <dgm:spPr/>
      <dgm:t>
        <a:bodyPr/>
        <a:lstStyle/>
        <a:p>
          <a:pPr>
            <a:lnSpc>
              <a:spcPct val="100000"/>
            </a:lnSpc>
          </a:pPr>
          <a:r>
            <a:rPr lang="en-GB" b="1" dirty="0"/>
            <a:t>Partnership Working </a:t>
          </a:r>
          <a:r>
            <a:rPr lang="en-GB" dirty="0"/>
            <a:t>- Working collaboratively with our internal and external partners to further develop joined-up working to maximise outcomes and reduce duplication.</a:t>
          </a:r>
          <a:endParaRPr lang="en-US" dirty="0"/>
        </a:p>
      </dgm:t>
    </dgm:pt>
    <dgm:pt modelId="{84AC2D1C-6FF6-4A83-82AA-82DE9710F5DA}" type="parTrans" cxnId="{7A4809EE-7D1A-455E-A9C5-36ABB36B33C9}">
      <dgm:prSet/>
      <dgm:spPr/>
      <dgm:t>
        <a:bodyPr/>
        <a:lstStyle/>
        <a:p>
          <a:endParaRPr lang="en-US"/>
        </a:p>
      </dgm:t>
    </dgm:pt>
    <dgm:pt modelId="{D64ECBAA-55F6-4421-9DBE-4C6655B51E01}" type="sibTrans" cxnId="{7A4809EE-7D1A-455E-A9C5-36ABB36B33C9}">
      <dgm:prSet/>
      <dgm:spPr/>
      <dgm:t>
        <a:bodyPr/>
        <a:lstStyle/>
        <a:p>
          <a:endParaRPr lang="en-US"/>
        </a:p>
      </dgm:t>
    </dgm:pt>
    <dgm:pt modelId="{6E1DE786-7FE1-46C4-87FE-6D1DD99706F6}">
      <dgm:prSet/>
      <dgm:spPr/>
      <dgm:t>
        <a:bodyPr/>
        <a:lstStyle/>
        <a:p>
          <a:pPr>
            <a:lnSpc>
              <a:spcPct val="100000"/>
            </a:lnSpc>
          </a:pPr>
          <a:r>
            <a:rPr lang="en-GB" b="1" dirty="0"/>
            <a:t>Data Collection </a:t>
          </a:r>
          <a:r>
            <a:rPr lang="en-GB" dirty="0"/>
            <a:t>- To develop Mosaic Data collection and scope – to include the broader goals and achievements of the people we support, to better evidence the positive impacts and outcomes our service achieves.</a:t>
          </a:r>
          <a:endParaRPr lang="en-US" dirty="0"/>
        </a:p>
      </dgm:t>
    </dgm:pt>
    <dgm:pt modelId="{857A4E94-791B-4D39-A814-061D163E07C6}" type="parTrans" cxnId="{D0BCAAFA-33FD-4D4E-886C-216D7EF55EC5}">
      <dgm:prSet/>
      <dgm:spPr/>
      <dgm:t>
        <a:bodyPr/>
        <a:lstStyle/>
        <a:p>
          <a:endParaRPr lang="en-US"/>
        </a:p>
      </dgm:t>
    </dgm:pt>
    <dgm:pt modelId="{56843B55-4343-4553-A19D-264D6510FA9F}" type="sibTrans" cxnId="{D0BCAAFA-33FD-4D4E-886C-216D7EF55EC5}">
      <dgm:prSet/>
      <dgm:spPr/>
      <dgm:t>
        <a:bodyPr/>
        <a:lstStyle/>
        <a:p>
          <a:endParaRPr lang="en-US"/>
        </a:p>
      </dgm:t>
    </dgm:pt>
    <dgm:pt modelId="{0E13274B-4EF2-4155-BF96-E47D35138102}">
      <dgm:prSet/>
      <dgm:spPr/>
      <dgm:t>
        <a:bodyPr/>
        <a:lstStyle/>
        <a:p>
          <a:pPr>
            <a:lnSpc>
              <a:spcPct val="100000"/>
            </a:lnSpc>
          </a:pPr>
          <a:r>
            <a:rPr lang="en-GB" b="1" dirty="0"/>
            <a:t>Co-produce feedback </a:t>
          </a:r>
          <a:r>
            <a:rPr lang="en-GB" dirty="0"/>
            <a:t>- To develop and co-produce a more simplified and effective way of gathering feedback, to inform operational decisions and celebrate our successes.</a:t>
          </a:r>
          <a:endParaRPr lang="en-US" dirty="0"/>
        </a:p>
      </dgm:t>
    </dgm:pt>
    <dgm:pt modelId="{609265B7-FAF7-41F3-A222-4037D8BE1AA8}" type="parTrans" cxnId="{F24DC480-60E2-4935-8349-8F86057C3A86}">
      <dgm:prSet/>
      <dgm:spPr/>
      <dgm:t>
        <a:bodyPr/>
        <a:lstStyle/>
        <a:p>
          <a:endParaRPr lang="en-US"/>
        </a:p>
      </dgm:t>
    </dgm:pt>
    <dgm:pt modelId="{64041C5D-CEF1-421E-A8BA-8AE7EA83E97F}" type="sibTrans" cxnId="{F24DC480-60E2-4935-8349-8F86057C3A86}">
      <dgm:prSet/>
      <dgm:spPr/>
      <dgm:t>
        <a:bodyPr/>
        <a:lstStyle/>
        <a:p>
          <a:endParaRPr lang="en-US"/>
        </a:p>
      </dgm:t>
    </dgm:pt>
    <dgm:pt modelId="{CD386288-EEB3-4394-A481-A807A3BDF3FF}">
      <dgm:prSet/>
      <dgm:spPr/>
      <dgm:t>
        <a:bodyPr/>
        <a:lstStyle/>
        <a:p>
          <a:pPr>
            <a:lnSpc>
              <a:spcPct val="100000"/>
            </a:lnSpc>
          </a:pPr>
          <a:r>
            <a:rPr lang="en-GB" b="1" dirty="0"/>
            <a:t>Simplify Referral Process </a:t>
          </a:r>
          <a:r>
            <a:rPr lang="en-GB" dirty="0"/>
            <a:t>- To launch a Mosaic driven referral process to speed up and simplify routes into our service.</a:t>
          </a:r>
          <a:endParaRPr lang="en-US" dirty="0"/>
        </a:p>
      </dgm:t>
    </dgm:pt>
    <dgm:pt modelId="{AE6FDA4B-451A-484B-86B0-1D99C5190C41}" type="parTrans" cxnId="{984848A2-B73D-4FBD-85A6-41D443C6B5F7}">
      <dgm:prSet/>
      <dgm:spPr/>
      <dgm:t>
        <a:bodyPr/>
        <a:lstStyle/>
        <a:p>
          <a:endParaRPr lang="en-US"/>
        </a:p>
      </dgm:t>
    </dgm:pt>
    <dgm:pt modelId="{8D54AB9D-F59F-45C8-AF9C-A24617AF84BB}" type="sibTrans" cxnId="{984848A2-B73D-4FBD-85A6-41D443C6B5F7}">
      <dgm:prSet/>
      <dgm:spPr/>
      <dgm:t>
        <a:bodyPr/>
        <a:lstStyle/>
        <a:p>
          <a:endParaRPr lang="en-US"/>
        </a:p>
      </dgm:t>
    </dgm:pt>
    <dgm:pt modelId="{0C378E79-29A1-4200-961B-74CD20F89592}">
      <dgm:prSet/>
      <dgm:spPr/>
      <dgm:t>
        <a:bodyPr/>
        <a:lstStyle/>
        <a:p>
          <a:pPr>
            <a:lnSpc>
              <a:spcPct val="100000"/>
            </a:lnSpc>
          </a:pPr>
          <a:r>
            <a:rPr lang="en-GB" b="1" dirty="0"/>
            <a:t>Employer Engagement </a:t>
          </a:r>
          <a:r>
            <a:rPr lang="en-GB" dirty="0"/>
            <a:t>- To collaborate with partners (B/Farm, Achievement Service, ICDS) to develop a more cohesive and mutually beneficial Countywide marketing and employer engagement strategy.</a:t>
          </a:r>
          <a:endParaRPr lang="en-US" dirty="0"/>
        </a:p>
      </dgm:t>
    </dgm:pt>
    <dgm:pt modelId="{15DE309C-3BE6-4080-AF65-8A140BFC81F4}" type="parTrans" cxnId="{DEB92DC4-0797-4052-9DBD-8BB0ED71F70A}">
      <dgm:prSet/>
      <dgm:spPr/>
      <dgm:t>
        <a:bodyPr/>
        <a:lstStyle/>
        <a:p>
          <a:endParaRPr lang="en-US"/>
        </a:p>
      </dgm:t>
    </dgm:pt>
    <dgm:pt modelId="{791AA051-53FF-4F38-9269-7FB4F8D91F63}" type="sibTrans" cxnId="{DEB92DC4-0797-4052-9DBD-8BB0ED71F70A}">
      <dgm:prSet/>
      <dgm:spPr/>
      <dgm:t>
        <a:bodyPr/>
        <a:lstStyle/>
        <a:p>
          <a:endParaRPr lang="en-US"/>
        </a:p>
      </dgm:t>
    </dgm:pt>
    <dgm:pt modelId="{A263FE65-BAEC-4135-B79C-34D0EAFB4FDF}">
      <dgm:prSet/>
      <dgm:spPr/>
      <dgm:t>
        <a:bodyPr/>
        <a:lstStyle/>
        <a:p>
          <a:pPr>
            <a:lnSpc>
              <a:spcPct val="100000"/>
            </a:lnSpc>
          </a:pPr>
          <a:r>
            <a:rPr lang="en-GB" b="1" dirty="0"/>
            <a:t>Overhaul the </a:t>
          </a:r>
          <a:r>
            <a:rPr lang="en-GB" b="1" dirty="0" err="1"/>
            <a:t>i-work</a:t>
          </a:r>
          <a:r>
            <a:rPr lang="en-GB" b="1" dirty="0"/>
            <a:t> process - </a:t>
          </a:r>
          <a:r>
            <a:rPr lang="en-GB" b="0" dirty="0"/>
            <a:t>M</a:t>
          </a:r>
          <a:r>
            <a:rPr lang="en-GB" dirty="0"/>
            <a:t>aintain the continuous development of our service to ensure it remains dynamic enough to respond to local changes and pressures whilst maintaining our strength-based focus.</a:t>
          </a:r>
          <a:endParaRPr lang="en-US" dirty="0"/>
        </a:p>
      </dgm:t>
    </dgm:pt>
    <dgm:pt modelId="{E156F543-1F0E-4498-85BC-59AC9F632C20}" type="parTrans" cxnId="{09AE2239-6D75-427A-BE1E-BE74BB168549}">
      <dgm:prSet/>
      <dgm:spPr/>
      <dgm:t>
        <a:bodyPr/>
        <a:lstStyle/>
        <a:p>
          <a:endParaRPr lang="en-US"/>
        </a:p>
      </dgm:t>
    </dgm:pt>
    <dgm:pt modelId="{F468F0E3-999C-4E09-8D15-D57C51E9BDC9}" type="sibTrans" cxnId="{09AE2239-6D75-427A-BE1E-BE74BB168549}">
      <dgm:prSet/>
      <dgm:spPr/>
      <dgm:t>
        <a:bodyPr/>
        <a:lstStyle/>
        <a:p>
          <a:endParaRPr lang="en-US"/>
        </a:p>
      </dgm:t>
    </dgm:pt>
    <dgm:pt modelId="{C50F2FA5-A3C4-471A-AA70-9C43D25BBF08}" type="pres">
      <dgm:prSet presAssocID="{C39F114B-2846-4A80-A5CE-39911074E044}" presName="root" presStyleCnt="0">
        <dgm:presLayoutVars>
          <dgm:dir/>
          <dgm:resizeHandles val="exact"/>
        </dgm:presLayoutVars>
      </dgm:prSet>
      <dgm:spPr/>
    </dgm:pt>
    <dgm:pt modelId="{7BB1BF86-8FEE-4214-8920-34417F880193}" type="pres">
      <dgm:prSet presAssocID="{A6BFCF85-04C3-4ED5-8884-4B5996C0254E}" presName="compNode" presStyleCnt="0"/>
      <dgm:spPr/>
    </dgm:pt>
    <dgm:pt modelId="{28E7A767-5794-4070-892F-485568B0C844}" type="pres">
      <dgm:prSet presAssocID="{A6BFCF85-04C3-4ED5-8884-4B5996C0254E}" presName="bgRect" presStyleLbl="bgShp" presStyleIdx="0" presStyleCnt="6"/>
      <dgm:spPr/>
    </dgm:pt>
    <dgm:pt modelId="{225E750C-49AC-455E-A088-CCD838F5877B}" type="pres">
      <dgm:prSet presAssocID="{A6BFCF85-04C3-4ED5-8884-4B5996C0254E}" presName="iconRect" presStyleLbl="node1" presStyleIdx="0" presStyleCnt="6"/>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Handshake outline"/>
        </a:ext>
      </dgm:extLst>
    </dgm:pt>
    <dgm:pt modelId="{C96D9B55-F6F4-427E-B65B-F094972200EB}" type="pres">
      <dgm:prSet presAssocID="{A6BFCF85-04C3-4ED5-8884-4B5996C0254E}" presName="spaceRect" presStyleCnt="0"/>
      <dgm:spPr/>
    </dgm:pt>
    <dgm:pt modelId="{9CF05EE5-C82C-47D8-86D3-7A9F0CF3F568}" type="pres">
      <dgm:prSet presAssocID="{A6BFCF85-04C3-4ED5-8884-4B5996C0254E}" presName="parTx" presStyleLbl="revTx" presStyleIdx="0" presStyleCnt="6">
        <dgm:presLayoutVars>
          <dgm:chMax val="0"/>
          <dgm:chPref val="0"/>
        </dgm:presLayoutVars>
      </dgm:prSet>
      <dgm:spPr/>
    </dgm:pt>
    <dgm:pt modelId="{A2C0E4B1-4336-49DD-8C25-E15C7615D6EF}" type="pres">
      <dgm:prSet presAssocID="{D64ECBAA-55F6-4421-9DBE-4C6655B51E01}" presName="sibTrans" presStyleCnt="0"/>
      <dgm:spPr/>
    </dgm:pt>
    <dgm:pt modelId="{AC745F5B-3F95-473C-84DE-02D31E6D6F76}" type="pres">
      <dgm:prSet presAssocID="{6E1DE786-7FE1-46C4-87FE-6D1DD99706F6}" presName="compNode" presStyleCnt="0"/>
      <dgm:spPr/>
    </dgm:pt>
    <dgm:pt modelId="{B8EFE4B5-7E13-4BE8-A28C-075F7125DC0C}" type="pres">
      <dgm:prSet presAssocID="{6E1DE786-7FE1-46C4-87FE-6D1DD99706F6}" presName="bgRect" presStyleLbl="bgShp" presStyleIdx="1" presStyleCnt="6" custScaleY="160114"/>
      <dgm:spPr/>
    </dgm:pt>
    <dgm:pt modelId="{A6907A25-AC7B-498A-A289-172FE88A59CD}" type="pres">
      <dgm:prSet presAssocID="{6E1DE786-7FE1-46C4-87FE-6D1DD99706F6}" presName="iconRect" presStyleLbl="node1" presStyleIdx="1" presStyleCnt="6"/>
      <dgm:spPr>
        <a:blipFill rotWithShape="1">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Group outline"/>
        </a:ext>
      </dgm:extLst>
    </dgm:pt>
    <dgm:pt modelId="{9165F2A0-CBC6-4646-826B-A0F5B359A8AD}" type="pres">
      <dgm:prSet presAssocID="{6E1DE786-7FE1-46C4-87FE-6D1DD99706F6}" presName="spaceRect" presStyleCnt="0"/>
      <dgm:spPr/>
    </dgm:pt>
    <dgm:pt modelId="{59F6577D-CD1A-430F-9053-D070C497DBEE}" type="pres">
      <dgm:prSet presAssocID="{6E1DE786-7FE1-46C4-87FE-6D1DD99706F6}" presName="parTx" presStyleLbl="revTx" presStyleIdx="1" presStyleCnt="6">
        <dgm:presLayoutVars>
          <dgm:chMax val="0"/>
          <dgm:chPref val="0"/>
        </dgm:presLayoutVars>
      </dgm:prSet>
      <dgm:spPr/>
    </dgm:pt>
    <dgm:pt modelId="{E64308CB-E680-4B69-B1A1-5D03AD1C25B9}" type="pres">
      <dgm:prSet presAssocID="{56843B55-4343-4553-A19D-264D6510FA9F}" presName="sibTrans" presStyleCnt="0"/>
      <dgm:spPr/>
    </dgm:pt>
    <dgm:pt modelId="{5F5738BA-E0A3-43D9-907D-422A53D53BC8}" type="pres">
      <dgm:prSet presAssocID="{0E13274B-4EF2-4155-BF96-E47D35138102}" presName="compNode" presStyleCnt="0"/>
      <dgm:spPr/>
    </dgm:pt>
    <dgm:pt modelId="{FF90B4D7-D8C0-4348-98E1-B715458F8539}" type="pres">
      <dgm:prSet presAssocID="{0E13274B-4EF2-4155-BF96-E47D35138102}" presName="bgRect" presStyleLbl="bgShp" presStyleIdx="2" presStyleCnt="6" custScaleY="189016"/>
      <dgm:spPr/>
    </dgm:pt>
    <dgm:pt modelId="{A5FFEB1F-9991-44C6-A7A8-D6BBEC913ADB}" type="pres">
      <dgm:prSet presAssocID="{0E13274B-4EF2-4155-BF96-E47D35138102}"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BBD09DEB-E899-4E52-98D3-0C49DA5E04DC}" type="pres">
      <dgm:prSet presAssocID="{0E13274B-4EF2-4155-BF96-E47D35138102}" presName="spaceRect" presStyleCnt="0"/>
      <dgm:spPr/>
    </dgm:pt>
    <dgm:pt modelId="{DB9B1E1C-9306-4539-AA36-2128D2D1432C}" type="pres">
      <dgm:prSet presAssocID="{0E13274B-4EF2-4155-BF96-E47D35138102}" presName="parTx" presStyleLbl="revTx" presStyleIdx="2" presStyleCnt="6" custScaleX="98363" custScaleY="113813">
        <dgm:presLayoutVars>
          <dgm:chMax val="0"/>
          <dgm:chPref val="0"/>
        </dgm:presLayoutVars>
      </dgm:prSet>
      <dgm:spPr/>
    </dgm:pt>
    <dgm:pt modelId="{E4759A49-B467-49CC-8EA9-F3098E901500}" type="pres">
      <dgm:prSet presAssocID="{64041C5D-CEF1-421E-A8BA-8AE7EA83E97F}" presName="sibTrans" presStyleCnt="0"/>
      <dgm:spPr/>
    </dgm:pt>
    <dgm:pt modelId="{9D87B6CA-819E-4458-8DF8-033A158CDC6D}" type="pres">
      <dgm:prSet presAssocID="{CD386288-EEB3-4394-A481-A807A3BDF3FF}" presName="compNode" presStyleCnt="0"/>
      <dgm:spPr/>
    </dgm:pt>
    <dgm:pt modelId="{CB43E1AB-7C2F-4491-9B7F-A4EF2B652591}" type="pres">
      <dgm:prSet presAssocID="{CD386288-EEB3-4394-A481-A807A3BDF3FF}" presName="bgRect" presStyleLbl="bgShp" presStyleIdx="3" presStyleCnt="6"/>
      <dgm:spPr/>
    </dgm:pt>
    <dgm:pt modelId="{B62B7567-D05C-46F3-BCA0-5C4FDE22DBB6}" type="pres">
      <dgm:prSet presAssocID="{CD386288-EEB3-4394-A481-A807A3BDF3FF}"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User Network"/>
        </a:ext>
      </dgm:extLst>
    </dgm:pt>
    <dgm:pt modelId="{92748EE0-8344-4C84-8532-6C7C1CA6037E}" type="pres">
      <dgm:prSet presAssocID="{CD386288-EEB3-4394-A481-A807A3BDF3FF}" presName="spaceRect" presStyleCnt="0"/>
      <dgm:spPr/>
    </dgm:pt>
    <dgm:pt modelId="{021EB72A-8C70-4C72-BB01-9347A8599146}" type="pres">
      <dgm:prSet presAssocID="{CD386288-EEB3-4394-A481-A807A3BDF3FF}" presName="parTx" presStyleLbl="revTx" presStyleIdx="3" presStyleCnt="6">
        <dgm:presLayoutVars>
          <dgm:chMax val="0"/>
          <dgm:chPref val="0"/>
        </dgm:presLayoutVars>
      </dgm:prSet>
      <dgm:spPr/>
    </dgm:pt>
    <dgm:pt modelId="{2F60C57C-07B1-41BE-A619-B9C0D9600823}" type="pres">
      <dgm:prSet presAssocID="{8D54AB9D-F59F-45C8-AF9C-A24617AF84BB}" presName="sibTrans" presStyleCnt="0"/>
      <dgm:spPr/>
    </dgm:pt>
    <dgm:pt modelId="{0F0EEE1F-7EAC-4A89-822D-3AA8AA63FA3B}" type="pres">
      <dgm:prSet presAssocID="{0C378E79-29A1-4200-961B-74CD20F89592}" presName="compNode" presStyleCnt="0"/>
      <dgm:spPr/>
    </dgm:pt>
    <dgm:pt modelId="{474A0F21-A2E4-4444-8347-D6F0C800DC2B}" type="pres">
      <dgm:prSet presAssocID="{0C378E79-29A1-4200-961B-74CD20F89592}" presName="bgRect" presStyleLbl="bgShp" presStyleIdx="4" presStyleCnt="6" custScaleY="145479"/>
      <dgm:spPr/>
    </dgm:pt>
    <dgm:pt modelId="{EE232155-2A82-40D6-A448-7568CE59FA15}" type="pres">
      <dgm:prSet presAssocID="{0C378E79-29A1-4200-961B-74CD20F89592}" presName="iconRect" presStyleLbl="node1" presStyleIdx="4" presStyleCnt="6"/>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Meeting outline"/>
        </a:ext>
      </dgm:extLst>
    </dgm:pt>
    <dgm:pt modelId="{094E3328-4468-491B-9FCB-8909FFEDAC08}" type="pres">
      <dgm:prSet presAssocID="{0C378E79-29A1-4200-961B-74CD20F89592}" presName="spaceRect" presStyleCnt="0"/>
      <dgm:spPr/>
    </dgm:pt>
    <dgm:pt modelId="{3838E745-4B50-446B-86A4-B1BD8AEE6D99}" type="pres">
      <dgm:prSet presAssocID="{0C378E79-29A1-4200-961B-74CD20F89592}" presName="parTx" presStyleLbl="revTx" presStyleIdx="4" presStyleCnt="6" custScaleY="110346">
        <dgm:presLayoutVars>
          <dgm:chMax val="0"/>
          <dgm:chPref val="0"/>
        </dgm:presLayoutVars>
      </dgm:prSet>
      <dgm:spPr/>
    </dgm:pt>
    <dgm:pt modelId="{F1CCFDF2-0A07-4A05-9C34-9C561DD43DDD}" type="pres">
      <dgm:prSet presAssocID="{791AA051-53FF-4F38-9269-7FB4F8D91F63}" presName="sibTrans" presStyleCnt="0"/>
      <dgm:spPr/>
    </dgm:pt>
    <dgm:pt modelId="{AA9D040D-ABED-4FEE-BDF8-95DECAE3D6F8}" type="pres">
      <dgm:prSet presAssocID="{A263FE65-BAEC-4135-B79C-34D0EAFB4FDF}" presName="compNode" presStyleCnt="0"/>
      <dgm:spPr/>
    </dgm:pt>
    <dgm:pt modelId="{E04B3BC5-335C-400B-B8CA-3AACFB162E5B}" type="pres">
      <dgm:prSet presAssocID="{A263FE65-BAEC-4135-B79C-34D0EAFB4FDF}" presName="bgRect" presStyleLbl="bgShp" presStyleIdx="5" presStyleCnt="6" custScaleY="141169"/>
      <dgm:spPr/>
    </dgm:pt>
    <dgm:pt modelId="{F4F4A5B5-97A7-4CB5-BBC9-9A7C03C671D7}" type="pres">
      <dgm:prSet presAssocID="{A263FE65-BAEC-4135-B79C-34D0EAFB4FDF}" presName="iconRect" presStyleLbl="node1" presStyleIdx="5" presStyleCnt="6"/>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dgm:spPr>
      <dgm:extLst>
        <a:ext uri="{E40237B7-FDA0-4F09-8148-C483321AD2D9}">
          <dgm14:cNvPr xmlns:dgm14="http://schemas.microsoft.com/office/drawing/2010/diagram" id="0" name="" descr="Business Growth outline"/>
        </a:ext>
      </dgm:extLst>
    </dgm:pt>
    <dgm:pt modelId="{C88AC829-D56E-406E-8ADB-E9D414F6137A}" type="pres">
      <dgm:prSet presAssocID="{A263FE65-BAEC-4135-B79C-34D0EAFB4FDF}" presName="spaceRect" presStyleCnt="0"/>
      <dgm:spPr/>
    </dgm:pt>
    <dgm:pt modelId="{88BC6BEB-D1FF-4A8C-94BC-06275F069635}" type="pres">
      <dgm:prSet presAssocID="{A263FE65-BAEC-4135-B79C-34D0EAFB4FDF}" presName="parTx" presStyleLbl="revTx" presStyleIdx="5" presStyleCnt="6" custScaleX="100303" custScaleY="117264">
        <dgm:presLayoutVars>
          <dgm:chMax val="0"/>
          <dgm:chPref val="0"/>
        </dgm:presLayoutVars>
      </dgm:prSet>
      <dgm:spPr/>
    </dgm:pt>
  </dgm:ptLst>
  <dgm:cxnLst>
    <dgm:cxn modelId="{B4C0CD18-ED35-4E5D-9B07-DE4CBF22B0C2}" type="presOf" srcId="{A6BFCF85-04C3-4ED5-8884-4B5996C0254E}" destId="{9CF05EE5-C82C-47D8-86D3-7A9F0CF3F568}" srcOrd="0" destOrd="0" presId="urn:microsoft.com/office/officeart/2018/2/layout/IconVerticalSolidList"/>
    <dgm:cxn modelId="{F8978625-79C5-4A31-99F4-236C6EE55A59}" type="presOf" srcId="{6E1DE786-7FE1-46C4-87FE-6D1DD99706F6}" destId="{59F6577D-CD1A-430F-9053-D070C497DBEE}" srcOrd="0" destOrd="0" presId="urn:microsoft.com/office/officeart/2018/2/layout/IconVerticalSolidList"/>
    <dgm:cxn modelId="{69798A31-6173-471B-A123-5AEDE1AF5509}" type="presOf" srcId="{C39F114B-2846-4A80-A5CE-39911074E044}" destId="{C50F2FA5-A3C4-471A-AA70-9C43D25BBF08}" srcOrd="0" destOrd="0" presId="urn:microsoft.com/office/officeart/2018/2/layout/IconVerticalSolidList"/>
    <dgm:cxn modelId="{09AE2239-6D75-427A-BE1E-BE74BB168549}" srcId="{C39F114B-2846-4A80-A5CE-39911074E044}" destId="{A263FE65-BAEC-4135-B79C-34D0EAFB4FDF}" srcOrd="5" destOrd="0" parTransId="{E156F543-1F0E-4498-85BC-59AC9F632C20}" sibTransId="{F468F0E3-999C-4E09-8D15-D57C51E9BDC9}"/>
    <dgm:cxn modelId="{ECDD727C-AF2F-4214-9616-5890911D48AD}" type="presOf" srcId="{A263FE65-BAEC-4135-B79C-34D0EAFB4FDF}" destId="{88BC6BEB-D1FF-4A8C-94BC-06275F069635}" srcOrd="0" destOrd="0" presId="urn:microsoft.com/office/officeart/2018/2/layout/IconVerticalSolidList"/>
    <dgm:cxn modelId="{F24DC480-60E2-4935-8349-8F86057C3A86}" srcId="{C39F114B-2846-4A80-A5CE-39911074E044}" destId="{0E13274B-4EF2-4155-BF96-E47D35138102}" srcOrd="2" destOrd="0" parTransId="{609265B7-FAF7-41F3-A222-4037D8BE1AA8}" sibTransId="{64041C5D-CEF1-421E-A8BA-8AE7EA83E97F}"/>
    <dgm:cxn modelId="{CB7C2CA1-DE8A-4330-92BA-8C4FB5D29483}" type="presOf" srcId="{0E13274B-4EF2-4155-BF96-E47D35138102}" destId="{DB9B1E1C-9306-4539-AA36-2128D2D1432C}" srcOrd="0" destOrd="0" presId="urn:microsoft.com/office/officeart/2018/2/layout/IconVerticalSolidList"/>
    <dgm:cxn modelId="{984848A2-B73D-4FBD-85A6-41D443C6B5F7}" srcId="{C39F114B-2846-4A80-A5CE-39911074E044}" destId="{CD386288-EEB3-4394-A481-A807A3BDF3FF}" srcOrd="3" destOrd="0" parTransId="{AE6FDA4B-451A-484B-86B0-1D99C5190C41}" sibTransId="{8D54AB9D-F59F-45C8-AF9C-A24617AF84BB}"/>
    <dgm:cxn modelId="{DEB92DC4-0797-4052-9DBD-8BB0ED71F70A}" srcId="{C39F114B-2846-4A80-A5CE-39911074E044}" destId="{0C378E79-29A1-4200-961B-74CD20F89592}" srcOrd="4" destOrd="0" parTransId="{15DE309C-3BE6-4080-AF65-8A140BFC81F4}" sibTransId="{791AA051-53FF-4F38-9269-7FB4F8D91F63}"/>
    <dgm:cxn modelId="{9739E1ED-54F1-49DB-8467-4F2361EA7C43}" type="presOf" srcId="{0C378E79-29A1-4200-961B-74CD20F89592}" destId="{3838E745-4B50-446B-86A4-B1BD8AEE6D99}" srcOrd="0" destOrd="0" presId="urn:microsoft.com/office/officeart/2018/2/layout/IconVerticalSolidList"/>
    <dgm:cxn modelId="{7A4809EE-7D1A-455E-A9C5-36ABB36B33C9}" srcId="{C39F114B-2846-4A80-A5CE-39911074E044}" destId="{A6BFCF85-04C3-4ED5-8884-4B5996C0254E}" srcOrd="0" destOrd="0" parTransId="{84AC2D1C-6FF6-4A83-82AA-82DE9710F5DA}" sibTransId="{D64ECBAA-55F6-4421-9DBE-4C6655B51E01}"/>
    <dgm:cxn modelId="{A9ABC8F6-2AC7-455F-863E-E66EADECC25D}" type="presOf" srcId="{CD386288-EEB3-4394-A481-A807A3BDF3FF}" destId="{021EB72A-8C70-4C72-BB01-9347A8599146}" srcOrd="0" destOrd="0" presId="urn:microsoft.com/office/officeart/2018/2/layout/IconVerticalSolidList"/>
    <dgm:cxn modelId="{D0BCAAFA-33FD-4D4E-886C-216D7EF55EC5}" srcId="{C39F114B-2846-4A80-A5CE-39911074E044}" destId="{6E1DE786-7FE1-46C4-87FE-6D1DD99706F6}" srcOrd="1" destOrd="0" parTransId="{857A4E94-791B-4D39-A814-061D163E07C6}" sibTransId="{56843B55-4343-4553-A19D-264D6510FA9F}"/>
    <dgm:cxn modelId="{A74E1B25-A949-4B80-9F8D-CB86A0999759}" type="presParOf" srcId="{C50F2FA5-A3C4-471A-AA70-9C43D25BBF08}" destId="{7BB1BF86-8FEE-4214-8920-34417F880193}" srcOrd="0" destOrd="0" presId="urn:microsoft.com/office/officeart/2018/2/layout/IconVerticalSolidList"/>
    <dgm:cxn modelId="{81896DA9-794D-40EA-9D02-12989DBD10C0}" type="presParOf" srcId="{7BB1BF86-8FEE-4214-8920-34417F880193}" destId="{28E7A767-5794-4070-892F-485568B0C844}" srcOrd="0" destOrd="0" presId="urn:microsoft.com/office/officeart/2018/2/layout/IconVerticalSolidList"/>
    <dgm:cxn modelId="{FEC2511C-2DE0-47AB-94EA-F7C7B81130B1}" type="presParOf" srcId="{7BB1BF86-8FEE-4214-8920-34417F880193}" destId="{225E750C-49AC-455E-A088-CCD838F5877B}" srcOrd="1" destOrd="0" presId="urn:microsoft.com/office/officeart/2018/2/layout/IconVerticalSolidList"/>
    <dgm:cxn modelId="{B8E11FB1-AD77-491D-B897-F4F80D419265}" type="presParOf" srcId="{7BB1BF86-8FEE-4214-8920-34417F880193}" destId="{C96D9B55-F6F4-427E-B65B-F094972200EB}" srcOrd="2" destOrd="0" presId="urn:microsoft.com/office/officeart/2018/2/layout/IconVerticalSolidList"/>
    <dgm:cxn modelId="{84F307C2-DD14-4DAE-BB98-3CC57642EDF3}" type="presParOf" srcId="{7BB1BF86-8FEE-4214-8920-34417F880193}" destId="{9CF05EE5-C82C-47D8-86D3-7A9F0CF3F568}" srcOrd="3" destOrd="0" presId="urn:microsoft.com/office/officeart/2018/2/layout/IconVerticalSolidList"/>
    <dgm:cxn modelId="{89CD0448-05F8-4CA8-9535-99905D8FDECD}" type="presParOf" srcId="{C50F2FA5-A3C4-471A-AA70-9C43D25BBF08}" destId="{A2C0E4B1-4336-49DD-8C25-E15C7615D6EF}" srcOrd="1" destOrd="0" presId="urn:microsoft.com/office/officeart/2018/2/layout/IconVerticalSolidList"/>
    <dgm:cxn modelId="{6F5C4D40-C4FB-4AB8-B31C-47A03F9286E6}" type="presParOf" srcId="{C50F2FA5-A3C4-471A-AA70-9C43D25BBF08}" destId="{AC745F5B-3F95-473C-84DE-02D31E6D6F76}" srcOrd="2" destOrd="0" presId="urn:microsoft.com/office/officeart/2018/2/layout/IconVerticalSolidList"/>
    <dgm:cxn modelId="{C8C9405C-001F-4441-B4A5-466C36158352}" type="presParOf" srcId="{AC745F5B-3F95-473C-84DE-02D31E6D6F76}" destId="{B8EFE4B5-7E13-4BE8-A28C-075F7125DC0C}" srcOrd="0" destOrd="0" presId="urn:microsoft.com/office/officeart/2018/2/layout/IconVerticalSolidList"/>
    <dgm:cxn modelId="{7DB0DE4C-A7B4-4E3F-868B-79E16FA40109}" type="presParOf" srcId="{AC745F5B-3F95-473C-84DE-02D31E6D6F76}" destId="{A6907A25-AC7B-498A-A289-172FE88A59CD}" srcOrd="1" destOrd="0" presId="urn:microsoft.com/office/officeart/2018/2/layout/IconVerticalSolidList"/>
    <dgm:cxn modelId="{7A637C8E-6207-4894-9392-E0D23F6269DF}" type="presParOf" srcId="{AC745F5B-3F95-473C-84DE-02D31E6D6F76}" destId="{9165F2A0-CBC6-4646-826B-A0F5B359A8AD}" srcOrd="2" destOrd="0" presId="urn:microsoft.com/office/officeart/2018/2/layout/IconVerticalSolidList"/>
    <dgm:cxn modelId="{A255AB5A-6138-404B-9802-786E77A6A479}" type="presParOf" srcId="{AC745F5B-3F95-473C-84DE-02D31E6D6F76}" destId="{59F6577D-CD1A-430F-9053-D070C497DBEE}" srcOrd="3" destOrd="0" presId="urn:microsoft.com/office/officeart/2018/2/layout/IconVerticalSolidList"/>
    <dgm:cxn modelId="{B81FAA3B-8BED-4512-93B2-9FC9892538F0}" type="presParOf" srcId="{C50F2FA5-A3C4-471A-AA70-9C43D25BBF08}" destId="{E64308CB-E680-4B69-B1A1-5D03AD1C25B9}" srcOrd="3" destOrd="0" presId="urn:microsoft.com/office/officeart/2018/2/layout/IconVerticalSolidList"/>
    <dgm:cxn modelId="{54B64FBF-7B0D-40A1-BDD6-B583DE2D4B41}" type="presParOf" srcId="{C50F2FA5-A3C4-471A-AA70-9C43D25BBF08}" destId="{5F5738BA-E0A3-43D9-907D-422A53D53BC8}" srcOrd="4" destOrd="0" presId="urn:microsoft.com/office/officeart/2018/2/layout/IconVerticalSolidList"/>
    <dgm:cxn modelId="{2AB32B5B-A4B1-405E-90F2-E58F695DF0C3}" type="presParOf" srcId="{5F5738BA-E0A3-43D9-907D-422A53D53BC8}" destId="{FF90B4D7-D8C0-4348-98E1-B715458F8539}" srcOrd="0" destOrd="0" presId="urn:microsoft.com/office/officeart/2018/2/layout/IconVerticalSolidList"/>
    <dgm:cxn modelId="{BCFF9739-4546-4EA0-8731-713F9764AF0C}" type="presParOf" srcId="{5F5738BA-E0A3-43D9-907D-422A53D53BC8}" destId="{A5FFEB1F-9991-44C6-A7A8-D6BBEC913ADB}" srcOrd="1" destOrd="0" presId="urn:microsoft.com/office/officeart/2018/2/layout/IconVerticalSolidList"/>
    <dgm:cxn modelId="{C8CF4217-1391-41DD-A076-F04EA8E587D4}" type="presParOf" srcId="{5F5738BA-E0A3-43D9-907D-422A53D53BC8}" destId="{BBD09DEB-E899-4E52-98D3-0C49DA5E04DC}" srcOrd="2" destOrd="0" presId="urn:microsoft.com/office/officeart/2018/2/layout/IconVerticalSolidList"/>
    <dgm:cxn modelId="{0D2E53B1-C349-4205-BE32-F7FC98B038D4}" type="presParOf" srcId="{5F5738BA-E0A3-43D9-907D-422A53D53BC8}" destId="{DB9B1E1C-9306-4539-AA36-2128D2D1432C}" srcOrd="3" destOrd="0" presId="urn:microsoft.com/office/officeart/2018/2/layout/IconVerticalSolidList"/>
    <dgm:cxn modelId="{0A6A5490-F3EB-4BAF-8820-C471F1372542}" type="presParOf" srcId="{C50F2FA5-A3C4-471A-AA70-9C43D25BBF08}" destId="{E4759A49-B467-49CC-8EA9-F3098E901500}" srcOrd="5" destOrd="0" presId="urn:microsoft.com/office/officeart/2018/2/layout/IconVerticalSolidList"/>
    <dgm:cxn modelId="{503BA28C-7669-439C-8071-6096ABE50981}" type="presParOf" srcId="{C50F2FA5-A3C4-471A-AA70-9C43D25BBF08}" destId="{9D87B6CA-819E-4458-8DF8-033A158CDC6D}" srcOrd="6" destOrd="0" presId="urn:microsoft.com/office/officeart/2018/2/layout/IconVerticalSolidList"/>
    <dgm:cxn modelId="{111B2569-8D4B-4BBF-A1A7-67D8DBA778C1}" type="presParOf" srcId="{9D87B6CA-819E-4458-8DF8-033A158CDC6D}" destId="{CB43E1AB-7C2F-4491-9B7F-A4EF2B652591}" srcOrd="0" destOrd="0" presId="urn:microsoft.com/office/officeart/2018/2/layout/IconVerticalSolidList"/>
    <dgm:cxn modelId="{0A798EDE-EDF2-4726-914F-B4935821DF77}" type="presParOf" srcId="{9D87B6CA-819E-4458-8DF8-033A158CDC6D}" destId="{B62B7567-D05C-46F3-BCA0-5C4FDE22DBB6}" srcOrd="1" destOrd="0" presId="urn:microsoft.com/office/officeart/2018/2/layout/IconVerticalSolidList"/>
    <dgm:cxn modelId="{A099B520-63AC-4B65-A62F-8385CDE97F73}" type="presParOf" srcId="{9D87B6CA-819E-4458-8DF8-033A158CDC6D}" destId="{92748EE0-8344-4C84-8532-6C7C1CA6037E}" srcOrd="2" destOrd="0" presId="urn:microsoft.com/office/officeart/2018/2/layout/IconVerticalSolidList"/>
    <dgm:cxn modelId="{F9495292-75DD-4024-B912-50FCDEAB171C}" type="presParOf" srcId="{9D87B6CA-819E-4458-8DF8-033A158CDC6D}" destId="{021EB72A-8C70-4C72-BB01-9347A8599146}" srcOrd="3" destOrd="0" presId="urn:microsoft.com/office/officeart/2018/2/layout/IconVerticalSolidList"/>
    <dgm:cxn modelId="{A630D275-1E11-4694-95A2-EC794B78591D}" type="presParOf" srcId="{C50F2FA5-A3C4-471A-AA70-9C43D25BBF08}" destId="{2F60C57C-07B1-41BE-A619-B9C0D9600823}" srcOrd="7" destOrd="0" presId="urn:microsoft.com/office/officeart/2018/2/layout/IconVerticalSolidList"/>
    <dgm:cxn modelId="{60C0A8FA-24B4-4B8A-AB1A-105BA872F234}" type="presParOf" srcId="{C50F2FA5-A3C4-471A-AA70-9C43D25BBF08}" destId="{0F0EEE1F-7EAC-4A89-822D-3AA8AA63FA3B}" srcOrd="8" destOrd="0" presId="urn:microsoft.com/office/officeart/2018/2/layout/IconVerticalSolidList"/>
    <dgm:cxn modelId="{9AF87256-C21F-4A18-898E-E090153885BE}" type="presParOf" srcId="{0F0EEE1F-7EAC-4A89-822D-3AA8AA63FA3B}" destId="{474A0F21-A2E4-4444-8347-D6F0C800DC2B}" srcOrd="0" destOrd="0" presId="urn:microsoft.com/office/officeart/2018/2/layout/IconVerticalSolidList"/>
    <dgm:cxn modelId="{14CB9193-EC2B-4E30-8F05-5A16420DF9AF}" type="presParOf" srcId="{0F0EEE1F-7EAC-4A89-822D-3AA8AA63FA3B}" destId="{EE232155-2A82-40D6-A448-7568CE59FA15}" srcOrd="1" destOrd="0" presId="urn:microsoft.com/office/officeart/2018/2/layout/IconVerticalSolidList"/>
    <dgm:cxn modelId="{E39BB4CE-5510-4BFD-90F0-EAF27EB889F1}" type="presParOf" srcId="{0F0EEE1F-7EAC-4A89-822D-3AA8AA63FA3B}" destId="{094E3328-4468-491B-9FCB-8909FFEDAC08}" srcOrd="2" destOrd="0" presId="urn:microsoft.com/office/officeart/2018/2/layout/IconVerticalSolidList"/>
    <dgm:cxn modelId="{99A1AA94-08AE-4F22-AD89-3143F2137B5F}" type="presParOf" srcId="{0F0EEE1F-7EAC-4A89-822D-3AA8AA63FA3B}" destId="{3838E745-4B50-446B-86A4-B1BD8AEE6D99}" srcOrd="3" destOrd="0" presId="urn:microsoft.com/office/officeart/2018/2/layout/IconVerticalSolidList"/>
    <dgm:cxn modelId="{3D074D79-8950-4C56-9D28-D73605E21E6C}" type="presParOf" srcId="{C50F2FA5-A3C4-471A-AA70-9C43D25BBF08}" destId="{F1CCFDF2-0A07-4A05-9C34-9C561DD43DDD}" srcOrd="9" destOrd="0" presId="urn:microsoft.com/office/officeart/2018/2/layout/IconVerticalSolidList"/>
    <dgm:cxn modelId="{DC4C8447-48C2-458F-98E0-4A47EB5E8043}" type="presParOf" srcId="{C50F2FA5-A3C4-471A-AA70-9C43D25BBF08}" destId="{AA9D040D-ABED-4FEE-BDF8-95DECAE3D6F8}" srcOrd="10" destOrd="0" presId="urn:microsoft.com/office/officeart/2018/2/layout/IconVerticalSolidList"/>
    <dgm:cxn modelId="{0EC05AB4-8FF4-480B-8450-220D6AAEC4A4}" type="presParOf" srcId="{AA9D040D-ABED-4FEE-BDF8-95DECAE3D6F8}" destId="{E04B3BC5-335C-400B-B8CA-3AACFB162E5B}" srcOrd="0" destOrd="0" presId="urn:microsoft.com/office/officeart/2018/2/layout/IconVerticalSolidList"/>
    <dgm:cxn modelId="{A6E7073C-33CA-4D6E-AAF2-77DEAEAE49D9}" type="presParOf" srcId="{AA9D040D-ABED-4FEE-BDF8-95DECAE3D6F8}" destId="{F4F4A5B5-97A7-4CB5-BBC9-9A7C03C671D7}" srcOrd="1" destOrd="0" presId="urn:microsoft.com/office/officeart/2018/2/layout/IconVerticalSolidList"/>
    <dgm:cxn modelId="{D49E63D1-0A3B-45DB-A3F3-D6EF2BF656D3}" type="presParOf" srcId="{AA9D040D-ABED-4FEE-BDF8-95DECAE3D6F8}" destId="{C88AC829-D56E-406E-8ADB-E9D414F6137A}" srcOrd="2" destOrd="0" presId="urn:microsoft.com/office/officeart/2018/2/layout/IconVerticalSolidList"/>
    <dgm:cxn modelId="{4B696B0E-FA64-4750-A38D-81CB65E877DD}" type="presParOf" srcId="{AA9D040D-ABED-4FEE-BDF8-95DECAE3D6F8}" destId="{88BC6BEB-D1FF-4A8C-94BC-06275F06963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E7A767-5794-4070-892F-485568B0C844}">
      <dsp:nvSpPr>
        <dsp:cNvPr id="0" name=""/>
        <dsp:cNvSpPr/>
      </dsp:nvSpPr>
      <dsp:spPr>
        <a:xfrm>
          <a:off x="0" y="223562"/>
          <a:ext cx="10058399" cy="459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5E750C-49AC-455E-A088-CCD838F5877B}">
      <dsp:nvSpPr>
        <dsp:cNvPr id="0" name=""/>
        <dsp:cNvSpPr/>
      </dsp:nvSpPr>
      <dsp:spPr>
        <a:xfrm>
          <a:off x="139006" y="326955"/>
          <a:ext cx="252986" cy="25273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F05EE5-C82C-47D8-86D3-7A9F0CF3F568}">
      <dsp:nvSpPr>
        <dsp:cNvPr id="0" name=""/>
        <dsp:cNvSpPr/>
      </dsp:nvSpPr>
      <dsp:spPr>
        <a:xfrm>
          <a:off x="530998" y="223562"/>
          <a:ext cx="9475316" cy="531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229" tIns="56229" rIns="56229" bIns="56229" numCol="1" spcCol="1270" anchor="ctr" anchorCtr="0">
          <a:noAutofit/>
        </a:bodyPr>
        <a:lstStyle/>
        <a:p>
          <a:pPr marL="0" lvl="0" indent="0" algn="l" defTabSz="622300">
            <a:lnSpc>
              <a:spcPct val="100000"/>
            </a:lnSpc>
            <a:spcBef>
              <a:spcPct val="0"/>
            </a:spcBef>
            <a:spcAft>
              <a:spcPct val="35000"/>
            </a:spcAft>
            <a:buNone/>
          </a:pPr>
          <a:r>
            <a:rPr lang="en-GB" sz="1400" b="1" kern="1200" dirty="0"/>
            <a:t>Partnership Working </a:t>
          </a:r>
          <a:r>
            <a:rPr lang="en-GB" sz="1400" kern="1200" dirty="0"/>
            <a:t>- Working collaboratively with our internal and external partners to further develop joined-up working to maximise outcomes and reduce duplication.</a:t>
          </a:r>
          <a:endParaRPr lang="en-US" sz="1400" kern="1200" dirty="0"/>
        </a:p>
      </dsp:txBody>
      <dsp:txXfrm>
        <a:off x="530998" y="223562"/>
        <a:ext cx="9475316" cy="531300"/>
      </dsp:txXfrm>
    </dsp:sp>
    <dsp:sp modelId="{B8EFE4B5-7E13-4BE8-A28C-075F7125DC0C}">
      <dsp:nvSpPr>
        <dsp:cNvPr id="0" name=""/>
        <dsp:cNvSpPr/>
      </dsp:nvSpPr>
      <dsp:spPr>
        <a:xfrm>
          <a:off x="0" y="887688"/>
          <a:ext cx="10058399" cy="73576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907A25-AC7B-498A-A289-172FE88A59CD}">
      <dsp:nvSpPr>
        <dsp:cNvPr id="0" name=""/>
        <dsp:cNvSpPr/>
      </dsp:nvSpPr>
      <dsp:spPr>
        <a:xfrm>
          <a:off x="139006" y="1129201"/>
          <a:ext cx="252986" cy="252738"/>
        </a:xfrm>
        <a:prstGeom prst="rect">
          <a:avLst/>
        </a:prstGeom>
        <a:blipFill rotWithShape="1">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9F6577D-CD1A-430F-9053-D070C497DBEE}">
      <dsp:nvSpPr>
        <dsp:cNvPr id="0" name=""/>
        <dsp:cNvSpPr/>
      </dsp:nvSpPr>
      <dsp:spPr>
        <a:xfrm>
          <a:off x="530998" y="1025808"/>
          <a:ext cx="9487327" cy="531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229" tIns="56229" rIns="56229" bIns="56229" numCol="1" spcCol="1270" anchor="ctr" anchorCtr="0">
          <a:noAutofit/>
        </a:bodyPr>
        <a:lstStyle/>
        <a:p>
          <a:pPr marL="0" lvl="0" indent="0" algn="l" defTabSz="622300">
            <a:lnSpc>
              <a:spcPct val="100000"/>
            </a:lnSpc>
            <a:spcBef>
              <a:spcPct val="0"/>
            </a:spcBef>
            <a:spcAft>
              <a:spcPct val="35000"/>
            </a:spcAft>
            <a:buNone/>
          </a:pPr>
          <a:r>
            <a:rPr lang="en-GB" sz="1400" b="1" kern="1200" dirty="0"/>
            <a:t>Data Collection </a:t>
          </a:r>
          <a:r>
            <a:rPr lang="en-GB" sz="1400" kern="1200" dirty="0"/>
            <a:t>- To develop Mosaic Data collection and scope – to include the broader goals and achievements of the people we support, to better evidence the positive impacts and outcomes our service achieves.</a:t>
          </a:r>
          <a:endParaRPr lang="en-US" sz="1400" kern="1200" dirty="0"/>
        </a:p>
      </dsp:txBody>
      <dsp:txXfrm>
        <a:off x="530998" y="1025808"/>
        <a:ext cx="9487327" cy="531300"/>
      </dsp:txXfrm>
    </dsp:sp>
    <dsp:sp modelId="{FF90B4D7-D8C0-4348-98E1-B715458F8539}">
      <dsp:nvSpPr>
        <dsp:cNvPr id="0" name=""/>
        <dsp:cNvSpPr/>
      </dsp:nvSpPr>
      <dsp:spPr>
        <a:xfrm>
          <a:off x="0" y="1756278"/>
          <a:ext cx="10058399" cy="86857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FFEB1F-9991-44C6-A7A8-D6BBEC913ADB}">
      <dsp:nvSpPr>
        <dsp:cNvPr id="0" name=""/>
        <dsp:cNvSpPr/>
      </dsp:nvSpPr>
      <dsp:spPr>
        <a:xfrm>
          <a:off x="139006" y="2064196"/>
          <a:ext cx="252986" cy="2527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9B1E1C-9306-4539-AA36-2128D2D1432C}">
      <dsp:nvSpPr>
        <dsp:cNvPr id="0" name=""/>
        <dsp:cNvSpPr/>
      </dsp:nvSpPr>
      <dsp:spPr>
        <a:xfrm>
          <a:off x="608652" y="1924109"/>
          <a:ext cx="9332019" cy="604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229" tIns="56229" rIns="56229" bIns="56229" numCol="1" spcCol="1270" anchor="ctr" anchorCtr="0">
          <a:noAutofit/>
        </a:bodyPr>
        <a:lstStyle/>
        <a:p>
          <a:pPr marL="0" lvl="0" indent="0" algn="l" defTabSz="622300">
            <a:lnSpc>
              <a:spcPct val="100000"/>
            </a:lnSpc>
            <a:spcBef>
              <a:spcPct val="0"/>
            </a:spcBef>
            <a:spcAft>
              <a:spcPct val="35000"/>
            </a:spcAft>
            <a:buNone/>
          </a:pPr>
          <a:r>
            <a:rPr lang="en-GB" sz="1400" b="1" kern="1200" dirty="0"/>
            <a:t>Co-produce feedback </a:t>
          </a:r>
          <a:r>
            <a:rPr lang="en-GB" sz="1400" kern="1200" dirty="0"/>
            <a:t>- To develop and co-produce a more simplified and effective way of gathering feedback, to inform operational decisions and celebrate our successes.</a:t>
          </a:r>
          <a:endParaRPr lang="en-US" sz="1400" kern="1200" dirty="0"/>
        </a:p>
      </dsp:txBody>
      <dsp:txXfrm>
        <a:off x="608652" y="1924109"/>
        <a:ext cx="9332019" cy="604689"/>
      </dsp:txXfrm>
    </dsp:sp>
    <dsp:sp modelId="{CB43E1AB-7C2F-4491-9B7F-A4EF2B652591}">
      <dsp:nvSpPr>
        <dsp:cNvPr id="0" name=""/>
        <dsp:cNvSpPr/>
      </dsp:nvSpPr>
      <dsp:spPr>
        <a:xfrm>
          <a:off x="0" y="2757679"/>
          <a:ext cx="10058399" cy="45952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2B7567-D05C-46F3-BCA0-5C4FDE22DBB6}">
      <dsp:nvSpPr>
        <dsp:cNvPr id="0" name=""/>
        <dsp:cNvSpPr/>
      </dsp:nvSpPr>
      <dsp:spPr>
        <a:xfrm>
          <a:off x="139006" y="2861073"/>
          <a:ext cx="252986" cy="2527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1EB72A-8C70-4C72-BB01-9347A8599146}">
      <dsp:nvSpPr>
        <dsp:cNvPr id="0" name=""/>
        <dsp:cNvSpPr/>
      </dsp:nvSpPr>
      <dsp:spPr>
        <a:xfrm>
          <a:off x="530998" y="2757679"/>
          <a:ext cx="9487327" cy="531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229" tIns="56229" rIns="56229" bIns="56229" numCol="1" spcCol="1270" anchor="ctr" anchorCtr="0">
          <a:noAutofit/>
        </a:bodyPr>
        <a:lstStyle/>
        <a:p>
          <a:pPr marL="0" lvl="0" indent="0" algn="l" defTabSz="622300">
            <a:lnSpc>
              <a:spcPct val="100000"/>
            </a:lnSpc>
            <a:spcBef>
              <a:spcPct val="0"/>
            </a:spcBef>
            <a:spcAft>
              <a:spcPct val="35000"/>
            </a:spcAft>
            <a:buNone/>
          </a:pPr>
          <a:r>
            <a:rPr lang="en-GB" sz="1400" b="1" kern="1200" dirty="0"/>
            <a:t>Simplify Referral Process </a:t>
          </a:r>
          <a:r>
            <a:rPr lang="en-GB" sz="1400" kern="1200" dirty="0"/>
            <a:t>- To launch a Mosaic driven referral process to speed up and simplify routes into our service.</a:t>
          </a:r>
          <a:endParaRPr lang="en-US" sz="1400" kern="1200" dirty="0"/>
        </a:p>
      </dsp:txBody>
      <dsp:txXfrm>
        <a:off x="530998" y="2757679"/>
        <a:ext cx="9487327" cy="531300"/>
      </dsp:txXfrm>
    </dsp:sp>
    <dsp:sp modelId="{474A0F21-A2E4-4444-8347-D6F0C800DC2B}">
      <dsp:nvSpPr>
        <dsp:cNvPr id="0" name=""/>
        <dsp:cNvSpPr/>
      </dsp:nvSpPr>
      <dsp:spPr>
        <a:xfrm>
          <a:off x="0" y="3421805"/>
          <a:ext cx="10058399" cy="6685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232155-2A82-40D6-A448-7568CE59FA15}">
      <dsp:nvSpPr>
        <dsp:cNvPr id="0" name=""/>
        <dsp:cNvSpPr/>
      </dsp:nvSpPr>
      <dsp:spPr>
        <a:xfrm>
          <a:off x="139006" y="3629692"/>
          <a:ext cx="252986" cy="252738"/>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38E745-4B50-446B-86A4-B1BD8AEE6D99}">
      <dsp:nvSpPr>
        <dsp:cNvPr id="0" name=""/>
        <dsp:cNvSpPr/>
      </dsp:nvSpPr>
      <dsp:spPr>
        <a:xfrm>
          <a:off x="530998" y="3498815"/>
          <a:ext cx="9487327" cy="5862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229" tIns="56229" rIns="56229" bIns="56229" numCol="1" spcCol="1270" anchor="ctr" anchorCtr="0">
          <a:noAutofit/>
        </a:bodyPr>
        <a:lstStyle/>
        <a:p>
          <a:pPr marL="0" lvl="0" indent="0" algn="l" defTabSz="622300">
            <a:lnSpc>
              <a:spcPct val="100000"/>
            </a:lnSpc>
            <a:spcBef>
              <a:spcPct val="0"/>
            </a:spcBef>
            <a:spcAft>
              <a:spcPct val="35000"/>
            </a:spcAft>
            <a:buNone/>
          </a:pPr>
          <a:r>
            <a:rPr lang="en-GB" sz="1400" b="1" kern="1200" dirty="0"/>
            <a:t>Employer Engagement </a:t>
          </a:r>
          <a:r>
            <a:rPr lang="en-GB" sz="1400" kern="1200" dirty="0"/>
            <a:t>- To collaborate with partners (B/Farm, Achievement Service, ICDS) to develop a more cohesive and mutually beneficial Countywide marketing and employer engagement strategy.</a:t>
          </a:r>
          <a:endParaRPr lang="en-US" sz="1400" kern="1200" dirty="0"/>
        </a:p>
      </dsp:txBody>
      <dsp:txXfrm>
        <a:off x="530998" y="3498815"/>
        <a:ext cx="9487327" cy="586268"/>
      </dsp:txXfrm>
    </dsp:sp>
    <dsp:sp modelId="{E04B3BC5-335C-400B-B8CA-3AACFB162E5B}">
      <dsp:nvSpPr>
        <dsp:cNvPr id="0" name=""/>
        <dsp:cNvSpPr/>
      </dsp:nvSpPr>
      <dsp:spPr>
        <a:xfrm>
          <a:off x="0" y="4223143"/>
          <a:ext cx="10058399" cy="6487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F4A5B5-97A7-4CB5-BBC9-9A7C03C671D7}">
      <dsp:nvSpPr>
        <dsp:cNvPr id="0" name=""/>
        <dsp:cNvSpPr/>
      </dsp:nvSpPr>
      <dsp:spPr>
        <a:xfrm>
          <a:off x="139006" y="4421127"/>
          <a:ext cx="252986" cy="252738"/>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BC6BEB-D1FF-4A8C-94BC-06275F069635}">
      <dsp:nvSpPr>
        <dsp:cNvPr id="0" name=""/>
        <dsp:cNvSpPr/>
      </dsp:nvSpPr>
      <dsp:spPr>
        <a:xfrm>
          <a:off x="516625" y="4271872"/>
          <a:ext cx="9516074" cy="6230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229" tIns="56229" rIns="56229" bIns="56229" numCol="1" spcCol="1270" anchor="ctr" anchorCtr="0">
          <a:noAutofit/>
        </a:bodyPr>
        <a:lstStyle/>
        <a:p>
          <a:pPr marL="0" lvl="0" indent="0" algn="l" defTabSz="622300">
            <a:lnSpc>
              <a:spcPct val="100000"/>
            </a:lnSpc>
            <a:spcBef>
              <a:spcPct val="0"/>
            </a:spcBef>
            <a:spcAft>
              <a:spcPct val="35000"/>
            </a:spcAft>
            <a:buNone/>
          </a:pPr>
          <a:r>
            <a:rPr lang="en-GB" sz="1400" b="1" kern="1200" dirty="0"/>
            <a:t>Overhaul the </a:t>
          </a:r>
          <a:r>
            <a:rPr lang="en-GB" sz="1400" b="1" kern="1200" dirty="0" err="1"/>
            <a:t>i-work</a:t>
          </a:r>
          <a:r>
            <a:rPr lang="en-GB" sz="1400" b="1" kern="1200" dirty="0"/>
            <a:t> process - </a:t>
          </a:r>
          <a:r>
            <a:rPr lang="en-GB" sz="1400" b="0" kern="1200" dirty="0"/>
            <a:t>M</a:t>
          </a:r>
          <a:r>
            <a:rPr lang="en-GB" sz="1400" kern="1200" dirty="0"/>
            <a:t>aintain the continuous development of our service to ensure it remains dynamic enough to respond to local changes and pressures whilst maintaining our strength-based focus.</a:t>
          </a:r>
          <a:endParaRPr lang="en-US" sz="1400" kern="1200" dirty="0"/>
        </a:p>
      </dsp:txBody>
      <dsp:txXfrm>
        <a:off x="516625" y="4271872"/>
        <a:ext cx="9516074" cy="62302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3D3B8-57B4-44BA-872E-A7530AAB1D6B}" type="datetimeFigureOut">
              <a:rPr lang="en-GB" smtClean="0"/>
              <a:t>20/11/2025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2C0CA1-B96D-445C-A19B-9DDE4AF91368}" type="slidenum">
              <a:rPr lang="en-GB" smtClean="0"/>
              <a:t>‹#›</a:t>
            </a:fld>
            <a:endParaRPr lang="en-GB"/>
          </a:p>
        </p:txBody>
      </p:sp>
    </p:spTree>
    <p:extLst>
      <p:ext uri="{BB962C8B-B14F-4D97-AF65-F5344CB8AC3E}">
        <p14:creationId xmlns:p14="http://schemas.microsoft.com/office/powerpoint/2010/main" val="3706169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500"/>
              </a:spcBef>
              <a:spcAft>
                <a:spcPts val="1000"/>
              </a:spcAft>
            </a:pPr>
            <a:endParaRPr lang="en-GB" dirty="0"/>
          </a:p>
        </p:txBody>
      </p:sp>
      <p:sp>
        <p:nvSpPr>
          <p:cNvPr id="4" name="Slide Number Placeholder 3"/>
          <p:cNvSpPr>
            <a:spLocks noGrp="1"/>
          </p:cNvSpPr>
          <p:nvPr>
            <p:ph type="sldNum" sz="quarter" idx="5"/>
          </p:nvPr>
        </p:nvSpPr>
        <p:spPr/>
        <p:txBody>
          <a:bodyPr/>
          <a:lstStyle/>
          <a:p>
            <a:fld id="{8C6944B6-5CFE-4D8C-BE53-F86667C7C6DB}" type="slidenum">
              <a:rPr lang="en-GB" smtClean="0"/>
              <a:t>2</a:t>
            </a:fld>
            <a:endParaRPr lang="en-GB"/>
          </a:p>
        </p:txBody>
      </p:sp>
    </p:spTree>
    <p:extLst>
      <p:ext uri="{BB962C8B-B14F-4D97-AF65-F5344CB8AC3E}">
        <p14:creationId xmlns:p14="http://schemas.microsoft.com/office/powerpoint/2010/main" val="1969534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500"/>
              </a:spcBef>
              <a:spcAft>
                <a:spcPts val="1000"/>
              </a:spcAft>
            </a:pPr>
            <a:endParaRPr lang="en-GB" dirty="0"/>
          </a:p>
        </p:txBody>
      </p:sp>
      <p:sp>
        <p:nvSpPr>
          <p:cNvPr id="4" name="Slide Number Placeholder 3"/>
          <p:cNvSpPr>
            <a:spLocks noGrp="1"/>
          </p:cNvSpPr>
          <p:nvPr>
            <p:ph type="sldNum" sz="quarter" idx="5"/>
          </p:nvPr>
        </p:nvSpPr>
        <p:spPr/>
        <p:txBody>
          <a:bodyPr/>
          <a:lstStyle/>
          <a:p>
            <a:fld id="{8C6944B6-5CFE-4D8C-BE53-F86667C7C6DB}" type="slidenum">
              <a:rPr lang="en-GB" smtClean="0"/>
              <a:t>3</a:t>
            </a:fld>
            <a:endParaRPr lang="en-GB"/>
          </a:p>
        </p:txBody>
      </p:sp>
    </p:spTree>
    <p:extLst>
      <p:ext uri="{BB962C8B-B14F-4D97-AF65-F5344CB8AC3E}">
        <p14:creationId xmlns:p14="http://schemas.microsoft.com/office/powerpoint/2010/main" val="4263924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6944B6-5CFE-4D8C-BE53-F86667C7C6DB}" type="slidenum">
              <a:rPr lang="en-GB" smtClean="0"/>
              <a:t>4</a:t>
            </a:fld>
            <a:endParaRPr lang="en-GB"/>
          </a:p>
        </p:txBody>
      </p:sp>
    </p:spTree>
    <p:extLst>
      <p:ext uri="{BB962C8B-B14F-4D97-AF65-F5344CB8AC3E}">
        <p14:creationId xmlns:p14="http://schemas.microsoft.com/office/powerpoint/2010/main" val="40412949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C6944B6-5CFE-4D8C-BE53-F86667C7C6DB}" type="slidenum">
              <a:rPr lang="en-GB" smtClean="0"/>
              <a:t>5</a:t>
            </a:fld>
            <a:endParaRPr lang="en-GB"/>
          </a:p>
        </p:txBody>
      </p:sp>
    </p:spTree>
    <p:extLst>
      <p:ext uri="{BB962C8B-B14F-4D97-AF65-F5344CB8AC3E}">
        <p14:creationId xmlns:p14="http://schemas.microsoft.com/office/powerpoint/2010/main" val="6411129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GB"/>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GB"/>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GB"/>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GB"/>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GB"/>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GB"/>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GB"/>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GB"/>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GB"/>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GB"/>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GB"/>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GB"/>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GB"/>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GB"/>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GB"/>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GB"/>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GB"/>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GB"/>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GB"/>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GB"/>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GB"/>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GB"/>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GB"/>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GB"/>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GB"/>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11/20/2025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EC4BD-24BB-0C2E-F25C-DCAF064A0EF6}"/>
              </a:ext>
            </a:extLst>
          </p:cNvPr>
          <p:cNvSpPr>
            <a:spLocks noGrp="1"/>
          </p:cNvSpPr>
          <p:nvPr>
            <p:ph type="ctrTitle"/>
          </p:nvPr>
        </p:nvSpPr>
        <p:spPr/>
        <p:txBody>
          <a:bodyPr/>
          <a:lstStyle/>
          <a:p>
            <a:r>
              <a:rPr lang="en-GB" dirty="0" err="1"/>
              <a:t>i-work</a:t>
            </a:r>
            <a:r>
              <a:rPr lang="en-GB" dirty="0"/>
              <a:t> Storyboard</a:t>
            </a:r>
          </a:p>
        </p:txBody>
      </p:sp>
      <p:sp>
        <p:nvSpPr>
          <p:cNvPr id="3" name="Subtitle 2">
            <a:extLst>
              <a:ext uri="{FF2B5EF4-FFF2-40B4-BE49-F238E27FC236}">
                <a16:creationId xmlns:a16="http://schemas.microsoft.com/office/drawing/2014/main" id="{1267D55B-8135-C579-D576-61B0960D3311}"/>
              </a:ext>
            </a:extLst>
          </p:cNvPr>
          <p:cNvSpPr>
            <a:spLocks noGrp="1"/>
          </p:cNvSpPr>
          <p:nvPr>
            <p:ph type="subTitle" idx="1"/>
          </p:nvPr>
        </p:nvSpPr>
        <p:spPr/>
        <p:txBody>
          <a:bodyPr>
            <a:normAutofit fontScale="92500" lnSpcReduction="10000"/>
          </a:bodyPr>
          <a:lstStyle/>
          <a:p>
            <a:r>
              <a:rPr lang="en-GB" sz="4000" dirty="0"/>
              <a:t>Supporting adults with a learning disability / autism into paid work.</a:t>
            </a:r>
          </a:p>
        </p:txBody>
      </p:sp>
    </p:spTree>
    <p:extLst>
      <p:ext uri="{BB962C8B-B14F-4D97-AF65-F5344CB8AC3E}">
        <p14:creationId xmlns:p14="http://schemas.microsoft.com/office/powerpoint/2010/main" val="4280518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886E7-F8B1-581D-32AF-EE84D5288F39}"/>
              </a:ext>
            </a:extLst>
          </p:cNvPr>
          <p:cNvSpPr>
            <a:spLocks noGrp="1"/>
          </p:cNvSpPr>
          <p:nvPr>
            <p:ph type="title"/>
          </p:nvPr>
        </p:nvSpPr>
        <p:spPr>
          <a:xfrm>
            <a:off x="640080" y="1243013"/>
            <a:ext cx="3324286" cy="4371974"/>
          </a:xfrm>
        </p:spPr>
        <p:txBody>
          <a:bodyPr>
            <a:normAutofit/>
          </a:bodyPr>
          <a:lstStyle/>
          <a:p>
            <a:r>
              <a:rPr lang="en-GB" sz="3600" b="1" dirty="0">
                <a:solidFill>
                  <a:schemeClr val="tx2"/>
                </a:solidFill>
              </a:rPr>
              <a:t>Our Approach:</a:t>
            </a:r>
            <a:br>
              <a:rPr lang="en-GB" sz="3600" b="1" dirty="0">
                <a:solidFill>
                  <a:schemeClr val="tx2"/>
                </a:solidFill>
              </a:rPr>
            </a:br>
            <a:r>
              <a:rPr lang="en-GB" sz="3600" b="1" dirty="0">
                <a:solidFill>
                  <a:schemeClr val="tx2"/>
                </a:solidFill>
              </a:rPr>
              <a:t>Pre-work</a:t>
            </a:r>
          </a:p>
        </p:txBody>
      </p:sp>
      <p:sp>
        <p:nvSpPr>
          <p:cNvPr id="3" name="Content Placeholder 2">
            <a:extLst>
              <a:ext uri="{FF2B5EF4-FFF2-40B4-BE49-F238E27FC236}">
                <a16:creationId xmlns:a16="http://schemas.microsoft.com/office/drawing/2014/main" id="{E975A678-C7AA-81D9-2924-E13ED32789E4}"/>
              </a:ext>
            </a:extLst>
          </p:cNvPr>
          <p:cNvSpPr>
            <a:spLocks noGrp="1"/>
          </p:cNvSpPr>
          <p:nvPr>
            <p:ph idx="1"/>
          </p:nvPr>
        </p:nvSpPr>
        <p:spPr>
          <a:xfrm>
            <a:off x="4157932" y="555094"/>
            <a:ext cx="7235492" cy="5479946"/>
          </a:xfrm>
        </p:spPr>
        <p:txBody>
          <a:bodyPr vert="horz" lIns="91440" tIns="45720" rIns="91440" bIns="45720" rtlCol="0" anchor="ctr">
            <a:normAutofit lnSpcReduction="10000"/>
          </a:bodyPr>
          <a:lstStyle/>
          <a:p>
            <a:endParaRPr lang="en-GB" sz="1400" dirty="0">
              <a:solidFill>
                <a:schemeClr val="tx2"/>
              </a:solidFill>
            </a:endParaRPr>
          </a:p>
          <a:p>
            <a:r>
              <a:rPr lang="en-GB" sz="1600" dirty="0">
                <a:solidFill>
                  <a:schemeClr val="tx2"/>
                </a:solidFill>
              </a:rPr>
              <a:t>We are a Countywide service that supports adults with autism and learning disabilities into paid work. </a:t>
            </a:r>
          </a:p>
          <a:p>
            <a:r>
              <a:rPr lang="en-GB" sz="1600" dirty="0">
                <a:solidFill>
                  <a:schemeClr val="tx2"/>
                </a:solidFill>
              </a:rPr>
              <a:t>We follow a strength-based approach, working with the person to identify career choices and ‘job-match’ to suit their skills, aspirations and circumstances. We encourage independence and ownership throughout a person’s employment journey.  </a:t>
            </a:r>
          </a:p>
          <a:p>
            <a:r>
              <a:rPr lang="en-GB" sz="1600" dirty="0">
                <a:solidFill>
                  <a:schemeClr val="tx2"/>
                </a:solidFill>
              </a:rPr>
              <a:t>We work in collaboration with partnership agencies including  NCC’s benefits team, the Department of Work &amp; Pensions, Project Search and Brooke Farm to ensure the person can make informed decisions about their employment and life. </a:t>
            </a:r>
          </a:p>
          <a:p>
            <a:r>
              <a:rPr lang="en-GB" sz="1600" dirty="0">
                <a:solidFill>
                  <a:schemeClr val="tx2"/>
                </a:solidFill>
              </a:rPr>
              <a:t>We work with people to search for vacancies, compile CV’s, apply for jobs and offer interview training and support. We may also discuss the benefits of </a:t>
            </a:r>
            <a:r>
              <a:rPr lang="en-GB" sz="1600" dirty="0">
                <a:solidFill>
                  <a:schemeClr val="tx1"/>
                </a:solidFill>
              </a:rPr>
              <a:t>work-experience, taster sessions </a:t>
            </a:r>
            <a:r>
              <a:rPr lang="en-GB" sz="1600" dirty="0">
                <a:solidFill>
                  <a:schemeClr val="tx2"/>
                </a:solidFill>
              </a:rPr>
              <a:t>or voluntary placements to help build the confidence and experience of the jobseeker.</a:t>
            </a:r>
          </a:p>
          <a:p>
            <a:r>
              <a:rPr lang="en-GB" sz="1600" dirty="0">
                <a:solidFill>
                  <a:schemeClr val="tx2"/>
                </a:solidFill>
              </a:rPr>
              <a:t>We support people to learn their job, establish work routines and socialisation with colleagues. We may also negotiate reasonable adjustments and co-produce resources to support independent working.</a:t>
            </a:r>
            <a:endParaRPr lang="en-GB" sz="1400" dirty="0">
              <a:solidFill>
                <a:schemeClr val="tx2"/>
              </a:solidFill>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GB" sz="1400" dirty="0">
              <a:solidFill>
                <a:schemeClr val="tx2"/>
              </a:solidFill>
            </a:endParaRPr>
          </a:p>
        </p:txBody>
      </p:sp>
    </p:spTree>
    <p:extLst>
      <p:ext uri="{BB962C8B-B14F-4D97-AF65-F5344CB8AC3E}">
        <p14:creationId xmlns:p14="http://schemas.microsoft.com/office/powerpoint/2010/main" val="167598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886E7-F8B1-581D-32AF-EE84D5288F39}"/>
              </a:ext>
            </a:extLst>
          </p:cNvPr>
          <p:cNvSpPr>
            <a:spLocks noGrp="1"/>
          </p:cNvSpPr>
          <p:nvPr>
            <p:ph type="title"/>
          </p:nvPr>
        </p:nvSpPr>
        <p:spPr>
          <a:xfrm>
            <a:off x="640080" y="1243013"/>
            <a:ext cx="3855720" cy="4371974"/>
          </a:xfrm>
        </p:spPr>
        <p:txBody>
          <a:bodyPr>
            <a:normAutofit/>
          </a:bodyPr>
          <a:lstStyle/>
          <a:p>
            <a:r>
              <a:rPr lang="en-GB" sz="3600" b="1" dirty="0">
                <a:solidFill>
                  <a:schemeClr val="tx2"/>
                </a:solidFill>
              </a:rPr>
              <a:t>Our Approach:</a:t>
            </a:r>
            <a:br>
              <a:rPr lang="en-GB" sz="3600" b="1" dirty="0">
                <a:solidFill>
                  <a:schemeClr val="tx2"/>
                </a:solidFill>
              </a:rPr>
            </a:br>
            <a:r>
              <a:rPr lang="en-GB" b="1" dirty="0">
                <a:solidFill>
                  <a:schemeClr val="tx2"/>
                </a:solidFill>
              </a:rPr>
              <a:t>In </a:t>
            </a:r>
            <a:r>
              <a:rPr lang="en-GB" sz="3600" b="1" dirty="0">
                <a:solidFill>
                  <a:schemeClr val="tx2"/>
                </a:solidFill>
              </a:rPr>
              <a:t>work</a:t>
            </a:r>
          </a:p>
        </p:txBody>
      </p:sp>
      <p:sp>
        <p:nvSpPr>
          <p:cNvPr id="3" name="Content Placeholder 2">
            <a:extLst>
              <a:ext uri="{FF2B5EF4-FFF2-40B4-BE49-F238E27FC236}">
                <a16:creationId xmlns:a16="http://schemas.microsoft.com/office/drawing/2014/main" id="{E975A678-C7AA-81D9-2924-E13ED32789E4}"/>
              </a:ext>
            </a:extLst>
          </p:cNvPr>
          <p:cNvSpPr>
            <a:spLocks noGrp="1"/>
          </p:cNvSpPr>
          <p:nvPr>
            <p:ph idx="1"/>
          </p:nvPr>
        </p:nvSpPr>
        <p:spPr>
          <a:xfrm>
            <a:off x="4153145" y="569456"/>
            <a:ext cx="7596032" cy="5865850"/>
          </a:xfrm>
        </p:spPr>
        <p:txBody>
          <a:bodyPr vert="horz" lIns="91440" tIns="45720" rIns="91440" bIns="45720" rtlCol="0" anchor="ctr">
            <a:normAutofit fontScale="92500" lnSpcReduction="20000"/>
          </a:bodyPr>
          <a:lstStyle/>
          <a:p>
            <a:endParaRPr lang="en-GB" sz="1400" dirty="0">
              <a:solidFill>
                <a:schemeClr val="tx2"/>
              </a:solidFill>
            </a:endParaRPr>
          </a:p>
          <a:p>
            <a:r>
              <a:rPr lang="en-GB" sz="1600" dirty="0">
                <a:solidFill>
                  <a:schemeClr val="tx2"/>
                </a:solidFill>
              </a:rPr>
              <a:t>We follow the ‘Place, train and fade’ model of supported employment. This model fosters employee’s independence in the workplace. </a:t>
            </a:r>
          </a:p>
          <a:p>
            <a:r>
              <a:rPr lang="en-GB" sz="1600" b="1" dirty="0">
                <a:solidFill>
                  <a:schemeClr val="tx2"/>
                </a:solidFill>
              </a:rPr>
              <a:t>Place</a:t>
            </a:r>
            <a:r>
              <a:rPr lang="en-GB" sz="1600" dirty="0">
                <a:solidFill>
                  <a:schemeClr val="tx2"/>
                </a:solidFill>
              </a:rPr>
              <a:t> - we offer support with travel training to and from the persons place of work and the completion of company inductions.  This may include workplace familiarisation, understanding and adhering to company policies, the completion of any mandatory training, identifying individualised job coaching support and social integration with work colleagues.  </a:t>
            </a:r>
          </a:p>
          <a:p>
            <a:r>
              <a:rPr lang="en-GB" sz="1600" b="1" dirty="0">
                <a:solidFill>
                  <a:schemeClr val="tx2"/>
                </a:solidFill>
              </a:rPr>
              <a:t>Train</a:t>
            </a:r>
            <a:r>
              <a:rPr lang="en-GB" sz="1600" dirty="0">
                <a:solidFill>
                  <a:schemeClr val="tx2"/>
                </a:solidFill>
              </a:rPr>
              <a:t> - we collaborate with individuals and their employer to understand the job role and business needs.  By observing and assessing we can gauge the appropriate level of job coaching support required,  co-produce any additional  resources and provide advice to all parties to promote greater independence, encouraging natural in-work support.</a:t>
            </a:r>
          </a:p>
          <a:p>
            <a:r>
              <a:rPr lang="en-GB" sz="1600" b="1" dirty="0">
                <a:solidFill>
                  <a:schemeClr val="tx2"/>
                </a:solidFill>
              </a:rPr>
              <a:t>Fade</a:t>
            </a:r>
            <a:r>
              <a:rPr lang="en-GB" sz="1600" dirty="0">
                <a:solidFill>
                  <a:schemeClr val="tx2"/>
                </a:solidFill>
              </a:rPr>
              <a:t> - when people are working independently, we gradually reduce the level of direct support leading to the withdrawal  of employment support. We remain available for the person and / or the employer to contact to help maintain / retain or progress in their employment. </a:t>
            </a:r>
          </a:p>
          <a:p>
            <a:r>
              <a:rPr lang="en-GB" sz="1600" b="1" dirty="0">
                <a:solidFill>
                  <a:schemeClr val="tx2"/>
                </a:solidFill>
              </a:rPr>
              <a:t>Retention</a:t>
            </a:r>
            <a:r>
              <a:rPr lang="en-GB" sz="1600" dirty="0">
                <a:solidFill>
                  <a:schemeClr val="tx2"/>
                </a:solidFill>
              </a:rPr>
              <a:t>  - this can include support with changes to work tasks or routines, changes in personnel, performance related issues, staff appraisals,  further training or disciplinary matters. We also support people to progress or develop in their career and if they are experiencing job insecurities.  </a:t>
            </a:r>
          </a:p>
          <a:p>
            <a:r>
              <a:rPr lang="en-GB" sz="1600" b="1" dirty="0">
                <a:solidFill>
                  <a:schemeClr val="tx2"/>
                </a:solidFill>
              </a:rPr>
              <a:t>Employer Engagement </a:t>
            </a:r>
            <a:r>
              <a:rPr lang="en-GB" sz="1600" dirty="0">
                <a:solidFill>
                  <a:schemeClr val="tx2"/>
                </a:solidFill>
              </a:rPr>
              <a:t>- We support the employer – co-producing training (for staff and organisations) and help with reasonable adjustments. We work closely with team members, line managers, HR and other relevant departments to facilitate independent working and natural supports to thrive in the workplace.</a:t>
            </a:r>
          </a:p>
        </p:txBody>
      </p:sp>
    </p:spTree>
    <p:extLst>
      <p:ext uri="{BB962C8B-B14F-4D97-AF65-F5344CB8AC3E}">
        <p14:creationId xmlns:p14="http://schemas.microsoft.com/office/powerpoint/2010/main" val="1996482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2D43-1B61-8FA2-A64F-490724A16154}"/>
              </a:ext>
            </a:extLst>
          </p:cNvPr>
          <p:cNvSpPr>
            <a:spLocks noGrp="1"/>
          </p:cNvSpPr>
          <p:nvPr>
            <p:ph type="title"/>
          </p:nvPr>
        </p:nvSpPr>
        <p:spPr>
          <a:xfrm>
            <a:off x="640080" y="1243013"/>
            <a:ext cx="3855720" cy="4371974"/>
          </a:xfrm>
        </p:spPr>
        <p:txBody>
          <a:bodyPr>
            <a:normAutofit/>
          </a:bodyPr>
          <a:lstStyle/>
          <a:p>
            <a:r>
              <a:rPr lang="en-GB" sz="3600" b="1">
                <a:solidFill>
                  <a:schemeClr val="tx2"/>
                </a:solidFill>
              </a:rPr>
              <a:t>Our Impact</a:t>
            </a:r>
          </a:p>
        </p:txBody>
      </p:sp>
      <p:sp>
        <p:nvSpPr>
          <p:cNvPr id="3" name="Content Placeholder 2">
            <a:extLst>
              <a:ext uri="{FF2B5EF4-FFF2-40B4-BE49-F238E27FC236}">
                <a16:creationId xmlns:a16="http://schemas.microsoft.com/office/drawing/2014/main" id="{BD02841A-8437-D1F0-4872-6CACD07B4E59}"/>
              </a:ext>
            </a:extLst>
          </p:cNvPr>
          <p:cNvSpPr>
            <a:spLocks noGrp="1"/>
          </p:cNvSpPr>
          <p:nvPr>
            <p:ph idx="1"/>
          </p:nvPr>
        </p:nvSpPr>
        <p:spPr>
          <a:xfrm>
            <a:off x="6172200" y="804672"/>
            <a:ext cx="5221224" cy="5230368"/>
          </a:xfrm>
        </p:spPr>
        <p:txBody>
          <a:bodyPr vert="horz" lIns="91440" tIns="45720" rIns="91440" bIns="45720" rtlCol="0" anchor="ctr">
            <a:normAutofit/>
          </a:bodyPr>
          <a:lstStyle/>
          <a:p>
            <a:pPr marL="0" indent="0">
              <a:buNone/>
            </a:pPr>
            <a:endParaRPr lang="en-GB" sz="1500" dirty="0">
              <a:solidFill>
                <a:schemeClr val="tx2"/>
              </a:solidFill>
              <a:cs typeface="Calibri" panose="020F0502020204030204"/>
            </a:endParaRPr>
          </a:p>
          <a:p>
            <a:pPr marL="0" indent="0">
              <a:buNone/>
            </a:pPr>
            <a:endParaRPr lang="en-GB" sz="1500" dirty="0">
              <a:solidFill>
                <a:schemeClr val="tx2"/>
              </a:solidFill>
              <a:cs typeface="Calibri" panose="020F0502020204030204"/>
            </a:endParaRPr>
          </a:p>
          <a:p>
            <a:pPr marL="0" indent="0">
              <a:buNone/>
            </a:pPr>
            <a:endParaRPr lang="en-GB" sz="1500">
              <a:solidFill>
                <a:schemeClr val="tx2"/>
              </a:solidFill>
              <a:cs typeface="Calibri" panose="020F0502020204030204"/>
            </a:endParaRPr>
          </a:p>
          <a:p>
            <a:pPr marL="0" indent="0">
              <a:buNone/>
            </a:pPr>
            <a:r>
              <a:rPr lang="en-GB" sz="1500">
                <a:solidFill>
                  <a:schemeClr val="tx2"/>
                </a:solidFill>
                <a:cs typeface="Calibri" panose="020F0502020204030204"/>
              </a:rPr>
              <a:t> </a:t>
            </a:r>
            <a:endParaRPr lang="en-GB" sz="1500" dirty="0">
              <a:solidFill>
                <a:schemeClr val="tx2"/>
              </a:solidFill>
              <a:cs typeface="Calibri" panose="020F0502020204030204"/>
            </a:endParaRPr>
          </a:p>
          <a:p>
            <a:endParaRPr lang="en-GB" sz="1500" dirty="0">
              <a:solidFill>
                <a:schemeClr val="tx2"/>
              </a:solidFill>
              <a:cs typeface="Calibri" panose="020F0502020204030204"/>
            </a:endParaRPr>
          </a:p>
          <a:p>
            <a:endParaRPr lang="en-GB" sz="1500" dirty="0">
              <a:solidFill>
                <a:schemeClr val="tx2"/>
              </a:solidFill>
              <a:ea typeface="Calibri"/>
              <a:cs typeface="Calibri" panose="020F0502020204030204"/>
            </a:endParaRPr>
          </a:p>
          <a:p>
            <a:pPr marL="0" indent="0">
              <a:buNone/>
            </a:pPr>
            <a:endParaRPr lang="en-GB" sz="1500" dirty="0">
              <a:solidFill>
                <a:schemeClr val="tx2"/>
              </a:solidFill>
              <a:cs typeface="Calibri" panose="020F0502020204030204"/>
            </a:endParaRPr>
          </a:p>
        </p:txBody>
      </p:sp>
      <p:sp>
        <p:nvSpPr>
          <p:cNvPr id="5" name="TextBox 4">
            <a:extLst>
              <a:ext uri="{FF2B5EF4-FFF2-40B4-BE49-F238E27FC236}">
                <a16:creationId xmlns:a16="http://schemas.microsoft.com/office/drawing/2014/main" id="{6E21F2DF-809F-A0E1-AD1C-06CCC16094BD}"/>
              </a:ext>
            </a:extLst>
          </p:cNvPr>
          <p:cNvSpPr txBox="1"/>
          <p:nvPr/>
        </p:nvSpPr>
        <p:spPr>
          <a:xfrm>
            <a:off x="3674853" y="603849"/>
            <a:ext cx="8117456" cy="6340197"/>
          </a:xfrm>
          <a:prstGeom prst="rect">
            <a:avLst/>
          </a:prstGeom>
          <a:noFill/>
        </p:spPr>
        <p:txBody>
          <a:bodyPr wrap="square">
            <a:spAutoFit/>
          </a:bodyPr>
          <a:lstStyle/>
          <a:p>
            <a:r>
              <a:rPr lang="en-GB" sz="1400" b="1" dirty="0">
                <a:solidFill>
                  <a:schemeClr val="tx2"/>
                </a:solidFill>
                <a:cs typeface="Calibri" panose="020F0502020204030204"/>
              </a:rPr>
              <a:t>Other support requirements may decrease </a:t>
            </a:r>
            <a:r>
              <a:rPr lang="en-GB" sz="1400" dirty="0">
                <a:solidFill>
                  <a:schemeClr val="tx2"/>
                </a:solidFill>
                <a:cs typeface="Calibri" panose="020F0502020204030204"/>
              </a:rPr>
              <a:t>- People’s health and wellbeing improves when they are in employment. People become more financially independent and social and personal relationships are made or improved. There is an increase in confidence and self-worth, pride and sense of purpose. People’s use of other support services can decrease as their independence increases.</a:t>
            </a:r>
          </a:p>
          <a:p>
            <a:endParaRPr lang="en-GB" sz="1400" dirty="0">
              <a:solidFill>
                <a:schemeClr val="tx2"/>
              </a:solidFill>
              <a:cs typeface="Calibri" panose="020F0502020204030204"/>
            </a:endParaRPr>
          </a:p>
          <a:p>
            <a:r>
              <a:rPr lang="en-GB" sz="1400" b="1" dirty="0">
                <a:solidFill>
                  <a:schemeClr val="tx2"/>
                </a:solidFill>
                <a:cs typeface="Calibri" panose="020F0502020204030204"/>
              </a:rPr>
              <a:t>People develop new skills </a:t>
            </a:r>
            <a:r>
              <a:rPr lang="en-GB" sz="1400" dirty="0">
                <a:solidFill>
                  <a:schemeClr val="tx2"/>
                </a:solidFill>
                <a:cs typeface="Calibri" panose="020F0502020204030204"/>
              </a:rPr>
              <a:t>– Including independent travel, time and financial management, team working, work-based learning and qualifications, following instruction, self-governance and socialisation skills.</a:t>
            </a:r>
          </a:p>
          <a:p>
            <a:endParaRPr lang="en-GB" sz="1400" dirty="0">
              <a:solidFill>
                <a:schemeClr val="tx2"/>
              </a:solidFill>
              <a:cs typeface="Calibri" panose="020F0502020204030204"/>
            </a:endParaRPr>
          </a:p>
          <a:p>
            <a:r>
              <a:rPr lang="en-GB" sz="1400" b="1" dirty="0">
                <a:solidFill>
                  <a:schemeClr val="tx2"/>
                </a:solidFill>
                <a:cs typeface="Calibri" panose="020F0502020204030204"/>
              </a:rPr>
              <a:t>Outcomes</a:t>
            </a:r>
            <a:r>
              <a:rPr lang="en-GB" sz="1400" dirty="0">
                <a:solidFill>
                  <a:schemeClr val="tx2"/>
                </a:solidFill>
                <a:cs typeface="Calibri" panose="020F0502020204030204"/>
              </a:rPr>
              <a:t> – we actively support 120 people in paid work across the county. Our time is split between maintaining / retaining these and brokering new opportunities.</a:t>
            </a:r>
          </a:p>
          <a:p>
            <a:r>
              <a:rPr lang="en-GB" sz="1400" dirty="0">
                <a:solidFill>
                  <a:schemeClr val="tx2"/>
                </a:solidFill>
                <a:cs typeface="Calibri" panose="020F0502020204030204"/>
              </a:rPr>
              <a:t>We are working with a further 179 people across the county who are at various stages of their journey into employment.</a:t>
            </a:r>
          </a:p>
          <a:p>
            <a:r>
              <a:rPr lang="en-GB" sz="1400" dirty="0">
                <a:solidFill>
                  <a:schemeClr val="tx2"/>
                </a:solidFill>
                <a:cs typeface="Calibri" panose="020F0502020204030204"/>
              </a:rPr>
              <a:t>In 24/25 we supported the achievement of 812 pre-work goals and 636 in-work goals.</a:t>
            </a:r>
          </a:p>
          <a:p>
            <a:endParaRPr lang="en-GB" sz="1400" dirty="0">
              <a:solidFill>
                <a:schemeClr val="tx2"/>
              </a:solidFill>
              <a:cs typeface="Calibri" panose="020F0502020204030204"/>
            </a:endParaRPr>
          </a:p>
          <a:p>
            <a:r>
              <a:rPr lang="en-GB" sz="1400" b="1" dirty="0">
                <a:solidFill>
                  <a:schemeClr val="tx2"/>
                </a:solidFill>
                <a:cs typeface="Calibri" panose="020F0502020204030204"/>
              </a:rPr>
              <a:t>Impact on local businesses </a:t>
            </a:r>
            <a:r>
              <a:rPr lang="en-GB" sz="1400" dirty="0">
                <a:solidFill>
                  <a:schemeClr val="tx2"/>
                </a:solidFill>
                <a:cs typeface="Calibri" panose="020F0502020204030204"/>
              </a:rPr>
              <a:t>– We help lower recruitment and training costs, we offer training to organisations to develop, reinforce or improve diversity and inclusion in the workplace and often present for employer engagement.</a:t>
            </a:r>
          </a:p>
          <a:p>
            <a:endParaRPr lang="en-GB" sz="1400" dirty="0">
              <a:solidFill>
                <a:schemeClr val="tx2"/>
              </a:solidFill>
              <a:cs typeface="Calibri" panose="020F0502020204030204"/>
            </a:endParaRPr>
          </a:p>
          <a:p>
            <a:r>
              <a:rPr lang="en-GB" sz="1400" b="1" dirty="0">
                <a:solidFill>
                  <a:schemeClr val="tx2"/>
                </a:solidFill>
                <a:cs typeface="Calibri" panose="020F0502020204030204"/>
              </a:rPr>
              <a:t>Feedback</a:t>
            </a:r>
            <a:r>
              <a:rPr lang="en-GB" sz="1400" dirty="0">
                <a:solidFill>
                  <a:schemeClr val="tx2"/>
                </a:solidFill>
                <a:cs typeface="Calibri" panose="020F0502020204030204"/>
              </a:rPr>
              <a:t> - We use positive and constructive feedback from jobseekers, carers, employees and employers about our service so we can provide the best support possible and continue to evolve best practice in a dynamic way.</a:t>
            </a:r>
          </a:p>
          <a:p>
            <a:endParaRPr lang="en-GB" sz="1400" dirty="0">
              <a:solidFill>
                <a:schemeClr val="tx2"/>
              </a:solidFill>
              <a:cs typeface="Calibri" panose="020F0502020204030204"/>
            </a:endParaRPr>
          </a:p>
          <a:p>
            <a:r>
              <a:rPr lang="en-GB" sz="1400" b="1" dirty="0">
                <a:solidFill>
                  <a:schemeClr val="tx2"/>
                </a:solidFill>
                <a:cs typeface="Calibri" panose="020F0502020204030204"/>
              </a:rPr>
              <a:t>Reporting</a:t>
            </a:r>
            <a:r>
              <a:rPr lang="en-GB" sz="1400" dirty="0">
                <a:solidFill>
                  <a:schemeClr val="tx2"/>
                </a:solidFill>
                <a:cs typeface="Calibri" panose="020F0502020204030204"/>
              </a:rPr>
              <a:t> - We have designed and implemented a system to measure all employment outcomes across the county and multiple services to improve reporting and to inform operational and planning decisions at local and countywide levels.</a:t>
            </a:r>
          </a:p>
          <a:p>
            <a:endParaRPr lang="en-GB" sz="1400" dirty="0">
              <a:solidFill>
                <a:schemeClr val="tx2"/>
              </a:solidFill>
              <a:cs typeface="Calibri" panose="020F0502020204030204"/>
            </a:endParaRPr>
          </a:p>
        </p:txBody>
      </p:sp>
    </p:spTree>
    <p:extLst>
      <p:ext uri="{BB962C8B-B14F-4D97-AF65-F5344CB8AC3E}">
        <p14:creationId xmlns:p14="http://schemas.microsoft.com/office/powerpoint/2010/main" val="1803397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2D43-1B61-8FA2-A64F-490724A16154}"/>
              </a:ext>
            </a:extLst>
          </p:cNvPr>
          <p:cNvSpPr>
            <a:spLocks noGrp="1"/>
          </p:cNvSpPr>
          <p:nvPr>
            <p:ph type="title"/>
          </p:nvPr>
        </p:nvSpPr>
        <p:spPr>
          <a:xfrm>
            <a:off x="1179226" y="603627"/>
            <a:ext cx="9833548" cy="658169"/>
          </a:xfrm>
        </p:spPr>
        <p:txBody>
          <a:bodyPr anchor="b">
            <a:normAutofit fontScale="90000"/>
          </a:bodyPr>
          <a:lstStyle/>
          <a:p>
            <a:pPr algn="ctr"/>
            <a:r>
              <a:rPr lang="en-GB" sz="4800" b="1">
                <a:solidFill>
                  <a:schemeClr val="tx2"/>
                </a:solidFill>
              </a:rPr>
              <a:t>Our Future</a:t>
            </a:r>
            <a:endParaRPr lang="en-GB" sz="4800" b="1" dirty="0">
              <a:solidFill>
                <a:schemeClr val="tx2"/>
              </a:solidFill>
            </a:endParaRPr>
          </a:p>
        </p:txBody>
      </p:sp>
      <p:graphicFrame>
        <p:nvGraphicFramePr>
          <p:cNvPr id="101" name="Content Placeholder 2">
            <a:extLst>
              <a:ext uri="{FF2B5EF4-FFF2-40B4-BE49-F238E27FC236}">
                <a16:creationId xmlns:a16="http://schemas.microsoft.com/office/drawing/2014/main" id="{379134CF-3144-DF29-2E44-EBBD0BF8CAFA}"/>
              </a:ext>
            </a:extLst>
          </p:cNvPr>
          <p:cNvGraphicFramePr>
            <a:graphicFrameLocks noGrp="1"/>
          </p:cNvGraphicFramePr>
          <p:nvPr>
            <p:ph idx="1"/>
            <p:extLst>
              <p:ext uri="{D42A27DB-BD31-4B8C-83A1-F6EECF244321}">
                <p14:modId xmlns:p14="http://schemas.microsoft.com/office/powerpoint/2010/main" val="3003865198"/>
              </p:ext>
            </p:extLst>
          </p:nvPr>
        </p:nvGraphicFramePr>
        <p:xfrm>
          <a:off x="1052423" y="1135913"/>
          <a:ext cx="10058399" cy="51184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8881051"/>
      </p:ext>
    </p:extLst>
  </p:cSld>
  <p:clrMapOvr>
    <a:masterClrMapping/>
  </p:clrMapOvr>
</p:sld>
</file>

<file path=ppt/theme/theme1.xml><?xml version="1.0" encoding="utf-8"?>
<a:theme xmlns:a="http://schemas.openxmlformats.org/drawingml/2006/main" name="Wisp">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fd7c08e-9c24-436d-a6ad-a8ecb8394d49}" enabled="1" method="Standard" siteId="{6e5a37bb-a961-4e4f-baae-2798a2245f30}" removed="0"/>
</clbl:labelList>
</file>

<file path=docProps/app.xml><?xml version="1.0" encoding="utf-8"?>
<Properties xmlns="http://schemas.openxmlformats.org/officeDocument/2006/extended-properties" xmlns:vt="http://schemas.openxmlformats.org/officeDocument/2006/docPropsVTypes">
  <Template>TM02892315[[fn=Wisp]]</Template>
  <TotalTime>980</TotalTime>
  <Words>920</Words>
  <Application>Microsoft Office PowerPoint</Application>
  <PresentationFormat>Widescreen</PresentationFormat>
  <Paragraphs>47</Paragraphs>
  <Slides>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Arial</vt:lpstr>
      <vt:lpstr>Calibri</vt:lpstr>
      <vt:lpstr>Century Gothic</vt:lpstr>
      <vt:lpstr>Wingdings 3</vt:lpstr>
      <vt:lpstr>Wisp</vt:lpstr>
      <vt:lpstr>i-work Storyboard</vt:lpstr>
      <vt:lpstr>Our Approach: Pre-work</vt:lpstr>
      <vt:lpstr>Our Approach: In work</vt:lpstr>
      <vt:lpstr>Our Impact</vt:lpstr>
      <vt:lpstr>Our Future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Darren Stapleton</dc:creator>
  <cp:lastModifiedBy>David Rew</cp:lastModifiedBy>
  <cp:revision>8</cp:revision>
  <dcterms:created xsi:type="dcterms:W3CDTF">2025-03-04T10:48:59Z</dcterms:created>
  <dcterms:modified xsi:type="dcterms:W3CDTF">2025-11-20T22:39:17Z</dcterms:modified>
</cp:coreProperties>
</file>