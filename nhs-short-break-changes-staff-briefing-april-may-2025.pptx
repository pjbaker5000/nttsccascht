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695" r:id="rId5"/>
  </p:sldMasterIdLst>
  <p:notesMasterIdLst>
    <p:notesMasterId r:id="rId28"/>
  </p:notesMasterIdLst>
  <p:sldIdLst>
    <p:sldId id="259" r:id="rId6"/>
    <p:sldId id="270" r:id="rId7"/>
    <p:sldId id="271" r:id="rId8"/>
    <p:sldId id="272" r:id="rId9"/>
    <p:sldId id="273" r:id="rId10"/>
    <p:sldId id="280" r:id="rId11"/>
    <p:sldId id="279" r:id="rId12"/>
    <p:sldId id="275" r:id="rId13"/>
    <p:sldId id="276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78" r:id="rId25"/>
    <p:sldId id="269" r:id="rId26"/>
    <p:sldId id="263" r:id="rId27"/>
  </p:sldIdLst>
  <p:sldSz cx="12192000" cy="6858000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80523" autoAdjust="0"/>
  </p:normalViewPr>
  <p:slideViewPr>
    <p:cSldViewPr snapToGrid="0">
      <p:cViewPr varScale="1">
        <p:scale>
          <a:sx n="59" d="100"/>
          <a:sy n="59" d="100"/>
        </p:scale>
        <p:origin x="93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B880E4-FAE8-4F73-BB12-38E7CBF7AF14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C692B03-7C9C-4BF9-85AA-CB829A06A8BA}">
      <dgm:prSet custT="1"/>
      <dgm:spPr/>
      <dgm:t>
        <a:bodyPr/>
        <a:lstStyle/>
        <a:p>
          <a:r>
            <a:rPr lang="en-GB" sz="2000" dirty="0"/>
            <a:t> Carer Conversation identifies need for breaks.  Offered NHS Short Breaks scheme </a:t>
          </a:r>
        </a:p>
        <a:p>
          <a:r>
            <a:rPr lang="en-GB" sz="2000" dirty="0"/>
            <a:t>(eligibility checked)</a:t>
          </a:r>
          <a:endParaRPr lang="en-US" sz="2000" dirty="0"/>
        </a:p>
      </dgm:t>
    </dgm:pt>
    <dgm:pt modelId="{5180ACE9-009D-46A3-B995-9CA7A751A888}" type="parTrans" cxnId="{3EA7A028-A1C7-4C0D-910B-F737422A8EC0}">
      <dgm:prSet/>
      <dgm:spPr/>
      <dgm:t>
        <a:bodyPr/>
        <a:lstStyle/>
        <a:p>
          <a:endParaRPr lang="en-US"/>
        </a:p>
      </dgm:t>
    </dgm:pt>
    <dgm:pt modelId="{521B9D36-1D08-4987-8BC1-C4B8CB6733CF}" type="sibTrans" cxnId="{3EA7A028-A1C7-4C0D-910B-F737422A8EC0}">
      <dgm:prSet/>
      <dgm:spPr/>
      <dgm:t>
        <a:bodyPr/>
        <a:lstStyle/>
        <a:p>
          <a:endParaRPr lang="en-US"/>
        </a:p>
      </dgm:t>
    </dgm:pt>
    <dgm:pt modelId="{BD0204CE-0B90-4C3D-B48B-6C0C812CFA8B}">
      <dgm:prSet custT="1"/>
      <dgm:spPr/>
      <dgm:t>
        <a:bodyPr/>
        <a:lstStyle/>
        <a:p>
          <a:r>
            <a:rPr lang="en-US" sz="2000" dirty="0"/>
            <a:t>Agree the budget amount based on the carers needs (most will be £650)</a:t>
          </a:r>
        </a:p>
      </dgm:t>
    </dgm:pt>
    <dgm:pt modelId="{466BAC37-17EC-4884-B532-B03E316C90AD}" type="parTrans" cxnId="{F98F82E6-172B-4836-A83D-DB64DDB644E3}">
      <dgm:prSet/>
      <dgm:spPr/>
      <dgm:t>
        <a:bodyPr/>
        <a:lstStyle/>
        <a:p>
          <a:endParaRPr lang="en-US"/>
        </a:p>
      </dgm:t>
    </dgm:pt>
    <dgm:pt modelId="{1E8DF19E-CB08-474C-8E56-3B6128B09B32}" type="sibTrans" cxnId="{F98F82E6-172B-4836-A83D-DB64DDB644E3}">
      <dgm:prSet/>
      <dgm:spPr/>
      <dgm:t>
        <a:bodyPr/>
        <a:lstStyle/>
        <a:p>
          <a:endParaRPr lang="en-US"/>
        </a:p>
      </dgm:t>
    </dgm:pt>
    <dgm:pt modelId="{98A681D3-EDDD-472F-B121-E058D8EEA0E0}">
      <dgm:prSet custT="1"/>
      <dgm:spPr/>
      <dgm:t>
        <a:bodyPr/>
        <a:lstStyle/>
        <a:p>
          <a:r>
            <a:rPr lang="en-US" sz="2000" dirty="0"/>
            <a:t>Provider and dates identified for breaks.  Confirmation of rates being at NCC Banded/contracted rates</a:t>
          </a:r>
        </a:p>
      </dgm:t>
    </dgm:pt>
    <dgm:pt modelId="{DDDAF1D7-2BC9-4F1B-AEB8-9862B9213A6D}" type="parTrans" cxnId="{30929063-B753-4F97-90DE-EA6B11390D5A}">
      <dgm:prSet/>
      <dgm:spPr/>
      <dgm:t>
        <a:bodyPr/>
        <a:lstStyle/>
        <a:p>
          <a:endParaRPr lang="en-US"/>
        </a:p>
      </dgm:t>
    </dgm:pt>
    <dgm:pt modelId="{C1425A4B-1EE2-488C-A8A0-F6BC8E046ADC}" type="sibTrans" cxnId="{30929063-B753-4F97-90DE-EA6B11390D5A}">
      <dgm:prSet/>
      <dgm:spPr/>
      <dgm:t>
        <a:bodyPr/>
        <a:lstStyle/>
        <a:p>
          <a:endParaRPr lang="en-US"/>
        </a:p>
      </dgm:t>
    </dgm:pt>
    <dgm:pt modelId="{E3D380D2-67F7-4242-A22D-402809F451CE}">
      <dgm:prSet custT="1"/>
      <dgm:spPr/>
      <dgm:t>
        <a:bodyPr/>
        <a:lstStyle/>
        <a:p>
          <a:r>
            <a:rPr lang="en-GB" sz="2000" dirty="0"/>
            <a:t>Complete the NHS Short Breaks step with provider, dates and break costs</a:t>
          </a:r>
          <a:endParaRPr lang="en-US" sz="2000" dirty="0"/>
        </a:p>
      </dgm:t>
    </dgm:pt>
    <dgm:pt modelId="{8C801BD2-CFDE-44F5-B17E-AF7B8E792D0C}" type="parTrans" cxnId="{61673442-D0A9-43BC-93D9-F0DE1450AC87}">
      <dgm:prSet/>
      <dgm:spPr/>
      <dgm:t>
        <a:bodyPr/>
        <a:lstStyle/>
        <a:p>
          <a:endParaRPr lang="en-US"/>
        </a:p>
      </dgm:t>
    </dgm:pt>
    <dgm:pt modelId="{D59B2E9C-81EA-4384-8A84-EE7C8E8B76D5}" type="sibTrans" cxnId="{61673442-D0A9-43BC-93D9-F0DE1450AC87}">
      <dgm:prSet/>
      <dgm:spPr/>
      <dgm:t>
        <a:bodyPr/>
        <a:lstStyle/>
        <a:p>
          <a:endParaRPr lang="en-US"/>
        </a:p>
      </dgm:t>
    </dgm:pt>
    <dgm:pt modelId="{89CBC9EE-7985-4975-A958-EB6B8EC2D8D2}" type="pres">
      <dgm:prSet presAssocID="{EAB880E4-FAE8-4F73-BB12-38E7CBF7AF14}" presName="Name0" presStyleCnt="0">
        <dgm:presLayoutVars>
          <dgm:dir/>
          <dgm:animLvl val="lvl"/>
          <dgm:resizeHandles val="exact"/>
        </dgm:presLayoutVars>
      </dgm:prSet>
      <dgm:spPr/>
    </dgm:pt>
    <dgm:pt modelId="{5E747DFA-DCE9-4C3D-AFF9-03BD7B6FEDFC}" type="pres">
      <dgm:prSet presAssocID="{E3D380D2-67F7-4242-A22D-402809F451CE}" presName="boxAndChildren" presStyleCnt="0"/>
      <dgm:spPr/>
    </dgm:pt>
    <dgm:pt modelId="{8F0F6F33-0BE9-4185-9748-F26585E99DC5}" type="pres">
      <dgm:prSet presAssocID="{E3D380D2-67F7-4242-A22D-402809F451CE}" presName="parentTextBox" presStyleLbl="node1" presStyleIdx="0" presStyleCnt="4"/>
      <dgm:spPr/>
    </dgm:pt>
    <dgm:pt modelId="{5F57B47E-8B66-45A0-82A7-E994CC83B31A}" type="pres">
      <dgm:prSet presAssocID="{C1425A4B-1EE2-488C-A8A0-F6BC8E046ADC}" presName="sp" presStyleCnt="0"/>
      <dgm:spPr/>
    </dgm:pt>
    <dgm:pt modelId="{F475951D-84BC-44E7-9996-491D9AE24F89}" type="pres">
      <dgm:prSet presAssocID="{98A681D3-EDDD-472F-B121-E058D8EEA0E0}" presName="arrowAndChildren" presStyleCnt="0"/>
      <dgm:spPr/>
    </dgm:pt>
    <dgm:pt modelId="{A93FDFF1-B157-489A-9260-ACD7784B0422}" type="pres">
      <dgm:prSet presAssocID="{98A681D3-EDDD-472F-B121-E058D8EEA0E0}" presName="parentTextArrow" presStyleLbl="node1" presStyleIdx="1" presStyleCnt="4" custLinFactNeighborX="425" custLinFactNeighborY="-2096"/>
      <dgm:spPr/>
    </dgm:pt>
    <dgm:pt modelId="{EF85F070-7ED2-44A0-834D-ADB845EB58CA}" type="pres">
      <dgm:prSet presAssocID="{1E8DF19E-CB08-474C-8E56-3B6128B09B32}" presName="sp" presStyleCnt="0"/>
      <dgm:spPr/>
    </dgm:pt>
    <dgm:pt modelId="{871EE6F1-6400-442A-92F2-7D5489A3EC3A}" type="pres">
      <dgm:prSet presAssocID="{BD0204CE-0B90-4C3D-B48B-6C0C812CFA8B}" presName="arrowAndChildren" presStyleCnt="0"/>
      <dgm:spPr/>
    </dgm:pt>
    <dgm:pt modelId="{CEBCECD8-4487-4197-8D03-FDBD5AC803D8}" type="pres">
      <dgm:prSet presAssocID="{BD0204CE-0B90-4C3D-B48B-6C0C812CFA8B}" presName="parentTextArrow" presStyleLbl="node1" presStyleIdx="2" presStyleCnt="4"/>
      <dgm:spPr/>
    </dgm:pt>
    <dgm:pt modelId="{D1B35B3F-8805-4F68-A147-0BBA3FBC6577}" type="pres">
      <dgm:prSet presAssocID="{521B9D36-1D08-4987-8BC1-C4B8CB6733CF}" presName="sp" presStyleCnt="0"/>
      <dgm:spPr/>
    </dgm:pt>
    <dgm:pt modelId="{1712D2DC-BF41-4EDE-846A-EFC47412A18E}" type="pres">
      <dgm:prSet presAssocID="{0C692B03-7C9C-4BF9-85AA-CB829A06A8BA}" presName="arrowAndChildren" presStyleCnt="0"/>
      <dgm:spPr/>
    </dgm:pt>
    <dgm:pt modelId="{9A413C09-0009-4B68-B064-794D5AF1A5A8}" type="pres">
      <dgm:prSet presAssocID="{0C692B03-7C9C-4BF9-85AA-CB829A06A8BA}" presName="parentTextArrow" presStyleLbl="node1" presStyleIdx="3" presStyleCnt="4" custLinFactNeighborX="-21983" custLinFactNeighborY="-45080"/>
      <dgm:spPr/>
    </dgm:pt>
  </dgm:ptLst>
  <dgm:cxnLst>
    <dgm:cxn modelId="{3EA7A028-A1C7-4C0D-910B-F737422A8EC0}" srcId="{EAB880E4-FAE8-4F73-BB12-38E7CBF7AF14}" destId="{0C692B03-7C9C-4BF9-85AA-CB829A06A8BA}" srcOrd="0" destOrd="0" parTransId="{5180ACE9-009D-46A3-B995-9CA7A751A888}" sibTransId="{521B9D36-1D08-4987-8BC1-C4B8CB6733CF}"/>
    <dgm:cxn modelId="{92C0933E-5AB9-475B-80EA-B3F671D55280}" type="presOf" srcId="{E3D380D2-67F7-4242-A22D-402809F451CE}" destId="{8F0F6F33-0BE9-4185-9748-F26585E99DC5}" srcOrd="0" destOrd="0" presId="urn:microsoft.com/office/officeart/2005/8/layout/process4"/>
    <dgm:cxn modelId="{61673442-D0A9-43BC-93D9-F0DE1450AC87}" srcId="{EAB880E4-FAE8-4F73-BB12-38E7CBF7AF14}" destId="{E3D380D2-67F7-4242-A22D-402809F451CE}" srcOrd="3" destOrd="0" parTransId="{8C801BD2-CFDE-44F5-B17E-AF7B8E792D0C}" sibTransId="{D59B2E9C-81EA-4384-8A84-EE7C8E8B76D5}"/>
    <dgm:cxn modelId="{30929063-B753-4F97-90DE-EA6B11390D5A}" srcId="{EAB880E4-FAE8-4F73-BB12-38E7CBF7AF14}" destId="{98A681D3-EDDD-472F-B121-E058D8EEA0E0}" srcOrd="2" destOrd="0" parTransId="{DDDAF1D7-2BC9-4F1B-AEB8-9862B9213A6D}" sibTransId="{C1425A4B-1EE2-488C-A8A0-F6BC8E046ADC}"/>
    <dgm:cxn modelId="{2E65D39E-9189-4E92-9B9D-7A09969411D8}" type="presOf" srcId="{EAB880E4-FAE8-4F73-BB12-38E7CBF7AF14}" destId="{89CBC9EE-7985-4975-A958-EB6B8EC2D8D2}" srcOrd="0" destOrd="0" presId="urn:microsoft.com/office/officeart/2005/8/layout/process4"/>
    <dgm:cxn modelId="{8B4AD6A5-BD0B-40D4-815F-863DE92EB762}" type="presOf" srcId="{98A681D3-EDDD-472F-B121-E058D8EEA0E0}" destId="{A93FDFF1-B157-489A-9260-ACD7784B0422}" srcOrd="0" destOrd="0" presId="urn:microsoft.com/office/officeart/2005/8/layout/process4"/>
    <dgm:cxn modelId="{F98F82E6-172B-4836-A83D-DB64DDB644E3}" srcId="{EAB880E4-FAE8-4F73-BB12-38E7CBF7AF14}" destId="{BD0204CE-0B90-4C3D-B48B-6C0C812CFA8B}" srcOrd="1" destOrd="0" parTransId="{466BAC37-17EC-4884-B532-B03E316C90AD}" sibTransId="{1E8DF19E-CB08-474C-8E56-3B6128B09B32}"/>
    <dgm:cxn modelId="{86DDF5EA-29B9-4C56-8148-D68F9F089C8F}" type="presOf" srcId="{BD0204CE-0B90-4C3D-B48B-6C0C812CFA8B}" destId="{CEBCECD8-4487-4197-8D03-FDBD5AC803D8}" srcOrd="0" destOrd="0" presId="urn:microsoft.com/office/officeart/2005/8/layout/process4"/>
    <dgm:cxn modelId="{D1E060FA-C71B-4D08-BC02-CD06C8637105}" type="presOf" srcId="{0C692B03-7C9C-4BF9-85AA-CB829A06A8BA}" destId="{9A413C09-0009-4B68-B064-794D5AF1A5A8}" srcOrd="0" destOrd="0" presId="urn:microsoft.com/office/officeart/2005/8/layout/process4"/>
    <dgm:cxn modelId="{6B0F0823-8ECD-4C0B-B605-A9472A51FCA4}" type="presParOf" srcId="{89CBC9EE-7985-4975-A958-EB6B8EC2D8D2}" destId="{5E747DFA-DCE9-4C3D-AFF9-03BD7B6FEDFC}" srcOrd="0" destOrd="0" presId="urn:microsoft.com/office/officeart/2005/8/layout/process4"/>
    <dgm:cxn modelId="{3E71C837-7D0A-41D2-BD27-C6170CBD6E93}" type="presParOf" srcId="{5E747DFA-DCE9-4C3D-AFF9-03BD7B6FEDFC}" destId="{8F0F6F33-0BE9-4185-9748-F26585E99DC5}" srcOrd="0" destOrd="0" presId="urn:microsoft.com/office/officeart/2005/8/layout/process4"/>
    <dgm:cxn modelId="{3712BA5B-063B-421C-9AB2-818E2CB66668}" type="presParOf" srcId="{89CBC9EE-7985-4975-A958-EB6B8EC2D8D2}" destId="{5F57B47E-8B66-45A0-82A7-E994CC83B31A}" srcOrd="1" destOrd="0" presId="urn:microsoft.com/office/officeart/2005/8/layout/process4"/>
    <dgm:cxn modelId="{1051619E-0289-4342-9AD9-75D5A25CDB06}" type="presParOf" srcId="{89CBC9EE-7985-4975-A958-EB6B8EC2D8D2}" destId="{F475951D-84BC-44E7-9996-491D9AE24F89}" srcOrd="2" destOrd="0" presId="urn:microsoft.com/office/officeart/2005/8/layout/process4"/>
    <dgm:cxn modelId="{91529EFD-E6CD-4B8A-A9AB-B70E6C0CCB3F}" type="presParOf" srcId="{F475951D-84BC-44E7-9996-491D9AE24F89}" destId="{A93FDFF1-B157-489A-9260-ACD7784B0422}" srcOrd="0" destOrd="0" presId="urn:microsoft.com/office/officeart/2005/8/layout/process4"/>
    <dgm:cxn modelId="{43B128E3-B24E-4384-86A2-144BE5994C19}" type="presParOf" srcId="{89CBC9EE-7985-4975-A958-EB6B8EC2D8D2}" destId="{EF85F070-7ED2-44A0-834D-ADB845EB58CA}" srcOrd="3" destOrd="0" presId="urn:microsoft.com/office/officeart/2005/8/layout/process4"/>
    <dgm:cxn modelId="{FBD5482C-9E1A-4C6B-B963-399C9675D847}" type="presParOf" srcId="{89CBC9EE-7985-4975-A958-EB6B8EC2D8D2}" destId="{871EE6F1-6400-442A-92F2-7D5489A3EC3A}" srcOrd="4" destOrd="0" presId="urn:microsoft.com/office/officeart/2005/8/layout/process4"/>
    <dgm:cxn modelId="{3CF3CB97-F660-49C4-A883-5517770CC535}" type="presParOf" srcId="{871EE6F1-6400-442A-92F2-7D5489A3EC3A}" destId="{CEBCECD8-4487-4197-8D03-FDBD5AC803D8}" srcOrd="0" destOrd="0" presId="urn:microsoft.com/office/officeart/2005/8/layout/process4"/>
    <dgm:cxn modelId="{78BAB893-49EB-464B-984E-2BCABB06D7FB}" type="presParOf" srcId="{89CBC9EE-7985-4975-A958-EB6B8EC2D8D2}" destId="{D1B35B3F-8805-4F68-A147-0BBA3FBC6577}" srcOrd="5" destOrd="0" presId="urn:microsoft.com/office/officeart/2005/8/layout/process4"/>
    <dgm:cxn modelId="{554291F9-C2A7-4DC5-8423-8CB555C27019}" type="presParOf" srcId="{89CBC9EE-7985-4975-A958-EB6B8EC2D8D2}" destId="{1712D2DC-BF41-4EDE-846A-EFC47412A18E}" srcOrd="6" destOrd="0" presId="urn:microsoft.com/office/officeart/2005/8/layout/process4"/>
    <dgm:cxn modelId="{3BD8BEF7-5516-40C9-BA30-5E1E14DE689C}" type="presParOf" srcId="{1712D2DC-BF41-4EDE-846A-EFC47412A18E}" destId="{9A413C09-0009-4B68-B064-794D5AF1A5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572B0C-7D35-4F78-BC0A-951DAB8D0FF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5514B6-573A-4027-9DC0-EC02682A272E}">
      <dgm:prSet/>
      <dgm:spPr/>
      <dgm:t>
        <a:bodyPr/>
        <a:lstStyle/>
        <a:p>
          <a:r>
            <a:rPr lang="en-GB" dirty="0"/>
            <a:t>Guidance documents available – Resource Hub</a:t>
          </a:r>
          <a:endParaRPr lang="en-US" dirty="0"/>
        </a:p>
      </dgm:t>
    </dgm:pt>
    <dgm:pt modelId="{C889A456-F6AA-4E34-91CF-132FE55876BE}" type="parTrans" cxnId="{6D0891EB-3FC0-4A89-BF5C-5A9B66A5E7B3}">
      <dgm:prSet/>
      <dgm:spPr/>
      <dgm:t>
        <a:bodyPr/>
        <a:lstStyle/>
        <a:p>
          <a:endParaRPr lang="en-US"/>
        </a:p>
      </dgm:t>
    </dgm:pt>
    <dgm:pt modelId="{E3D1C401-0117-4024-B3F9-3EABF004C3EF}" type="sibTrans" cxnId="{6D0891EB-3FC0-4A89-BF5C-5A9B66A5E7B3}">
      <dgm:prSet/>
      <dgm:spPr/>
      <dgm:t>
        <a:bodyPr/>
        <a:lstStyle/>
        <a:p>
          <a:endParaRPr lang="en-US"/>
        </a:p>
      </dgm:t>
    </dgm:pt>
    <dgm:pt modelId="{7927CCE5-A232-41A2-93F3-6CB6644D7507}">
      <dgm:prSet/>
      <dgm:spPr/>
      <dgm:t>
        <a:bodyPr/>
        <a:lstStyle/>
        <a:p>
          <a:r>
            <a:rPr lang="en-US" dirty="0"/>
            <a:t>Recording of the briefing – Resource Hub </a:t>
          </a:r>
        </a:p>
      </dgm:t>
    </dgm:pt>
    <dgm:pt modelId="{9DD9015B-D0F6-4331-9C9D-E4CA1784435E}" type="parTrans" cxnId="{35B0E2A1-F315-483E-BA21-426D7B22B3CE}">
      <dgm:prSet/>
      <dgm:spPr/>
      <dgm:t>
        <a:bodyPr/>
        <a:lstStyle/>
        <a:p>
          <a:endParaRPr lang="en-US"/>
        </a:p>
      </dgm:t>
    </dgm:pt>
    <dgm:pt modelId="{281B7A8F-7E01-47AD-9CEC-233D84BCFD09}" type="sibTrans" cxnId="{35B0E2A1-F315-483E-BA21-426D7B22B3CE}">
      <dgm:prSet/>
      <dgm:spPr/>
      <dgm:t>
        <a:bodyPr/>
        <a:lstStyle/>
        <a:p>
          <a:endParaRPr lang="en-US"/>
        </a:p>
      </dgm:t>
    </dgm:pt>
    <dgm:pt modelId="{DEAA72D3-77AE-453F-8A51-C3DBA60C302D}">
      <dgm:prSet/>
      <dgm:spPr/>
      <dgm:t>
        <a:bodyPr/>
        <a:lstStyle/>
        <a:p>
          <a:r>
            <a:rPr lang="en-US" dirty="0"/>
            <a:t>Peer support from Carer Champions</a:t>
          </a:r>
        </a:p>
      </dgm:t>
    </dgm:pt>
    <dgm:pt modelId="{3D711AC0-54DA-44D7-80CC-5D144F733CF3}" type="parTrans" cxnId="{033CB60E-B58E-4AD6-9C60-1872ADEE526B}">
      <dgm:prSet/>
      <dgm:spPr/>
      <dgm:t>
        <a:bodyPr/>
        <a:lstStyle/>
        <a:p>
          <a:endParaRPr lang="en-US"/>
        </a:p>
      </dgm:t>
    </dgm:pt>
    <dgm:pt modelId="{1297C5AA-97DB-48AD-88B9-847CC32D87B6}" type="sibTrans" cxnId="{033CB60E-B58E-4AD6-9C60-1872ADEE526B}">
      <dgm:prSet/>
      <dgm:spPr/>
      <dgm:t>
        <a:bodyPr/>
        <a:lstStyle/>
        <a:p>
          <a:endParaRPr lang="en-US"/>
        </a:p>
      </dgm:t>
    </dgm:pt>
    <dgm:pt modelId="{81BA39C4-5513-4E53-8F1C-E2AA030B31AA}">
      <dgm:prSet/>
      <dgm:spPr/>
      <dgm:t>
        <a:bodyPr/>
        <a:lstStyle/>
        <a:p>
          <a:r>
            <a:rPr lang="en-GB" dirty="0"/>
            <a:t>Team meetings/huddles - share peer to peer experiences</a:t>
          </a:r>
          <a:endParaRPr lang="en-US" dirty="0"/>
        </a:p>
      </dgm:t>
    </dgm:pt>
    <dgm:pt modelId="{E92327D5-9522-4C18-BFF7-D5E48DA0C529}" type="parTrans" cxnId="{670BAB37-77B6-430D-A2A0-56BF7CEA2517}">
      <dgm:prSet/>
      <dgm:spPr/>
      <dgm:t>
        <a:bodyPr/>
        <a:lstStyle/>
        <a:p>
          <a:endParaRPr lang="en-US"/>
        </a:p>
      </dgm:t>
    </dgm:pt>
    <dgm:pt modelId="{17FB6C94-8560-4413-A5EE-46463418283D}" type="sibTrans" cxnId="{670BAB37-77B6-430D-A2A0-56BF7CEA2517}">
      <dgm:prSet/>
      <dgm:spPr/>
      <dgm:t>
        <a:bodyPr/>
        <a:lstStyle/>
        <a:p>
          <a:endParaRPr lang="en-US"/>
        </a:p>
      </dgm:t>
    </dgm:pt>
    <dgm:pt modelId="{0ED9B354-038F-44FB-B81B-03DEEFAFA6CB}">
      <dgm:prSet/>
      <dgm:spPr/>
      <dgm:t>
        <a:bodyPr/>
        <a:lstStyle/>
        <a:p>
          <a:r>
            <a:rPr lang="en-GB" dirty="0"/>
            <a:t>Lisa Talma-Smith – Service Improvement Team Officer</a:t>
          </a:r>
        </a:p>
        <a:p>
          <a:r>
            <a:rPr lang="en-GB" dirty="0"/>
            <a:t>Dan Godley – Senior Commissioning Officer</a:t>
          </a:r>
          <a:endParaRPr lang="en-US" dirty="0"/>
        </a:p>
      </dgm:t>
    </dgm:pt>
    <dgm:pt modelId="{B52BB7C1-5438-48F1-BCED-5CBF3FA3F855}" type="sibTrans" cxnId="{B5B9CE41-014A-407B-AD72-1A68081B0651}">
      <dgm:prSet/>
      <dgm:spPr/>
      <dgm:t>
        <a:bodyPr/>
        <a:lstStyle/>
        <a:p>
          <a:endParaRPr lang="en-US"/>
        </a:p>
      </dgm:t>
    </dgm:pt>
    <dgm:pt modelId="{50F4F075-D185-4524-83E1-BF8226B205BA}" type="parTrans" cxnId="{B5B9CE41-014A-407B-AD72-1A68081B0651}">
      <dgm:prSet/>
      <dgm:spPr/>
      <dgm:t>
        <a:bodyPr/>
        <a:lstStyle/>
        <a:p>
          <a:endParaRPr lang="en-US"/>
        </a:p>
      </dgm:t>
    </dgm:pt>
    <dgm:pt modelId="{DBA9BE79-263E-47D2-B31C-5D8A65E40DC2}" type="pres">
      <dgm:prSet presAssocID="{AA572B0C-7D35-4F78-BC0A-951DAB8D0FFB}" presName="linear" presStyleCnt="0">
        <dgm:presLayoutVars>
          <dgm:animLvl val="lvl"/>
          <dgm:resizeHandles val="exact"/>
        </dgm:presLayoutVars>
      </dgm:prSet>
      <dgm:spPr/>
    </dgm:pt>
    <dgm:pt modelId="{DF83F15F-18C6-412B-A9D8-6C464329D4CB}" type="pres">
      <dgm:prSet presAssocID="{835514B6-573A-4027-9DC0-EC02682A27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71D5C25-86E6-43A6-B143-CAF671B1F5A9}" type="pres">
      <dgm:prSet presAssocID="{E3D1C401-0117-4024-B3F9-3EABF004C3EF}" presName="spacer" presStyleCnt="0"/>
      <dgm:spPr/>
    </dgm:pt>
    <dgm:pt modelId="{1842CFC2-1615-419E-8E0A-FAFD8C562978}" type="pres">
      <dgm:prSet presAssocID="{7927CCE5-A232-41A2-93F3-6CB6644D750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72A6F2-8EE3-44CA-8211-FE57BA6B2E47}" type="pres">
      <dgm:prSet presAssocID="{281B7A8F-7E01-47AD-9CEC-233D84BCFD09}" presName="spacer" presStyleCnt="0"/>
      <dgm:spPr/>
    </dgm:pt>
    <dgm:pt modelId="{5A4EF303-266F-4D24-9B5E-35CDD87FAF42}" type="pres">
      <dgm:prSet presAssocID="{DEAA72D3-77AE-453F-8A51-C3DBA60C302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A43FCFD-E3C9-4170-8314-A50DD72ECD55}" type="pres">
      <dgm:prSet presAssocID="{1297C5AA-97DB-48AD-88B9-847CC32D87B6}" presName="spacer" presStyleCnt="0"/>
      <dgm:spPr/>
    </dgm:pt>
    <dgm:pt modelId="{10F366AD-771B-4C37-B1C4-22C12F57AD8A}" type="pres">
      <dgm:prSet presAssocID="{81BA39C4-5513-4E53-8F1C-E2AA030B31A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DB40839-3A0B-444E-8348-851146C88363}" type="pres">
      <dgm:prSet presAssocID="{17FB6C94-8560-4413-A5EE-46463418283D}" presName="spacer" presStyleCnt="0"/>
      <dgm:spPr/>
    </dgm:pt>
    <dgm:pt modelId="{433A3788-4F43-490C-896A-90391123E633}" type="pres">
      <dgm:prSet presAssocID="{0ED9B354-038F-44FB-B81B-03DEEFAFA6CB}" presName="parentText" presStyleLbl="node1" presStyleIdx="4" presStyleCnt="5" custScaleY="157556" custLinFactNeighborX="192">
        <dgm:presLayoutVars>
          <dgm:chMax val="0"/>
          <dgm:bulletEnabled val="1"/>
        </dgm:presLayoutVars>
      </dgm:prSet>
      <dgm:spPr/>
    </dgm:pt>
  </dgm:ptLst>
  <dgm:cxnLst>
    <dgm:cxn modelId="{AA3E9B0D-6185-49AE-A92F-A2B34FC7A4FC}" type="presOf" srcId="{0ED9B354-038F-44FB-B81B-03DEEFAFA6CB}" destId="{433A3788-4F43-490C-896A-90391123E633}" srcOrd="0" destOrd="0" presId="urn:microsoft.com/office/officeart/2005/8/layout/vList2"/>
    <dgm:cxn modelId="{033CB60E-B58E-4AD6-9C60-1872ADEE526B}" srcId="{AA572B0C-7D35-4F78-BC0A-951DAB8D0FFB}" destId="{DEAA72D3-77AE-453F-8A51-C3DBA60C302D}" srcOrd="2" destOrd="0" parTransId="{3D711AC0-54DA-44D7-80CC-5D144F733CF3}" sibTransId="{1297C5AA-97DB-48AD-88B9-847CC32D87B6}"/>
    <dgm:cxn modelId="{DFF6CE16-2CB0-4E0F-A266-1D3BC154AFE7}" type="presOf" srcId="{AA572B0C-7D35-4F78-BC0A-951DAB8D0FFB}" destId="{DBA9BE79-263E-47D2-B31C-5D8A65E40DC2}" srcOrd="0" destOrd="0" presId="urn:microsoft.com/office/officeart/2005/8/layout/vList2"/>
    <dgm:cxn modelId="{510EB41D-FEE5-4375-923D-D0C98A996719}" type="presOf" srcId="{835514B6-573A-4027-9DC0-EC02682A272E}" destId="{DF83F15F-18C6-412B-A9D8-6C464329D4CB}" srcOrd="0" destOrd="0" presId="urn:microsoft.com/office/officeart/2005/8/layout/vList2"/>
    <dgm:cxn modelId="{670BAB37-77B6-430D-A2A0-56BF7CEA2517}" srcId="{AA572B0C-7D35-4F78-BC0A-951DAB8D0FFB}" destId="{81BA39C4-5513-4E53-8F1C-E2AA030B31AA}" srcOrd="3" destOrd="0" parTransId="{E92327D5-9522-4C18-BFF7-D5E48DA0C529}" sibTransId="{17FB6C94-8560-4413-A5EE-46463418283D}"/>
    <dgm:cxn modelId="{B5B9CE41-014A-407B-AD72-1A68081B0651}" srcId="{AA572B0C-7D35-4F78-BC0A-951DAB8D0FFB}" destId="{0ED9B354-038F-44FB-B81B-03DEEFAFA6CB}" srcOrd="4" destOrd="0" parTransId="{50F4F075-D185-4524-83E1-BF8226B205BA}" sibTransId="{B52BB7C1-5438-48F1-BCED-5CBF3FA3F855}"/>
    <dgm:cxn modelId="{D764AE4F-8F3B-44F9-936F-2A6EAAE15624}" type="presOf" srcId="{7927CCE5-A232-41A2-93F3-6CB6644D7507}" destId="{1842CFC2-1615-419E-8E0A-FAFD8C562978}" srcOrd="0" destOrd="0" presId="urn:microsoft.com/office/officeart/2005/8/layout/vList2"/>
    <dgm:cxn modelId="{0F1AB371-E335-4BBD-86D6-3C175C731549}" type="presOf" srcId="{DEAA72D3-77AE-453F-8A51-C3DBA60C302D}" destId="{5A4EF303-266F-4D24-9B5E-35CDD87FAF42}" srcOrd="0" destOrd="0" presId="urn:microsoft.com/office/officeart/2005/8/layout/vList2"/>
    <dgm:cxn modelId="{EBE0219F-43FD-42DE-BF1C-7F95C2CB11BB}" type="presOf" srcId="{81BA39C4-5513-4E53-8F1C-E2AA030B31AA}" destId="{10F366AD-771B-4C37-B1C4-22C12F57AD8A}" srcOrd="0" destOrd="0" presId="urn:microsoft.com/office/officeart/2005/8/layout/vList2"/>
    <dgm:cxn modelId="{35B0E2A1-F315-483E-BA21-426D7B22B3CE}" srcId="{AA572B0C-7D35-4F78-BC0A-951DAB8D0FFB}" destId="{7927CCE5-A232-41A2-93F3-6CB6644D7507}" srcOrd="1" destOrd="0" parTransId="{9DD9015B-D0F6-4331-9C9D-E4CA1784435E}" sibTransId="{281B7A8F-7E01-47AD-9CEC-233D84BCFD09}"/>
    <dgm:cxn modelId="{6D0891EB-3FC0-4A89-BF5C-5A9B66A5E7B3}" srcId="{AA572B0C-7D35-4F78-BC0A-951DAB8D0FFB}" destId="{835514B6-573A-4027-9DC0-EC02682A272E}" srcOrd="0" destOrd="0" parTransId="{C889A456-F6AA-4E34-91CF-132FE55876BE}" sibTransId="{E3D1C401-0117-4024-B3F9-3EABF004C3EF}"/>
    <dgm:cxn modelId="{9BAF6E72-093F-4284-A2C7-9F0C1E9C378E}" type="presParOf" srcId="{DBA9BE79-263E-47D2-B31C-5D8A65E40DC2}" destId="{DF83F15F-18C6-412B-A9D8-6C464329D4CB}" srcOrd="0" destOrd="0" presId="urn:microsoft.com/office/officeart/2005/8/layout/vList2"/>
    <dgm:cxn modelId="{1381453A-391B-43D8-B0BB-044EA0661E4C}" type="presParOf" srcId="{DBA9BE79-263E-47D2-B31C-5D8A65E40DC2}" destId="{471D5C25-86E6-43A6-B143-CAF671B1F5A9}" srcOrd="1" destOrd="0" presId="urn:microsoft.com/office/officeart/2005/8/layout/vList2"/>
    <dgm:cxn modelId="{D457E706-3C3E-4FDA-8B70-1299813C1153}" type="presParOf" srcId="{DBA9BE79-263E-47D2-B31C-5D8A65E40DC2}" destId="{1842CFC2-1615-419E-8E0A-FAFD8C562978}" srcOrd="2" destOrd="0" presId="urn:microsoft.com/office/officeart/2005/8/layout/vList2"/>
    <dgm:cxn modelId="{F178DC9E-E184-4B45-A602-E0C2F09091A1}" type="presParOf" srcId="{DBA9BE79-263E-47D2-B31C-5D8A65E40DC2}" destId="{B472A6F2-8EE3-44CA-8211-FE57BA6B2E47}" srcOrd="3" destOrd="0" presId="urn:microsoft.com/office/officeart/2005/8/layout/vList2"/>
    <dgm:cxn modelId="{077DE9B1-DED8-4D4C-A445-5C98CE6E02CD}" type="presParOf" srcId="{DBA9BE79-263E-47D2-B31C-5D8A65E40DC2}" destId="{5A4EF303-266F-4D24-9B5E-35CDD87FAF42}" srcOrd="4" destOrd="0" presId="urn:microsoft.com/office/officeart/2005/8/layout/vList2"/>
    <dgm:cxn modelId="{79ACAA63-8BE1-465C-89C5-1DA6296D437C}" type="presParOf" srcId="{DBA9BE79-263E-47D2-B31C-5D8A65E40DC2}" destId="{0A43FCFD-E3C9-4170-8314-A50DD72ECD55}" srcOrd="5" destOrd="0" presId="urn:microsoft.com/office/officeart/2005/8/layout/vList2"/>
    <dgm:cxn modelId="{985F7A8C-4172-44CC-9653-328FDB2226DD}" type="presParOf" srcId="{DBA9BE79-263E-47D2-B31C-5D8A65E40DC2}" destId="{10F366AD-771B-4C37-B1C4-22C12F57AD8A}" srcOrd="6" destOrd="0" presId="urn:microsoft.com/office/officeart/2005/8/layout/vList2"/>
    <dgm:cxn modelId="{15682D2F-7886-4299-AD96-05C35BBFCE96}" type="presParOf" srcId="{DBA9BE79-263E-47D2-B31C-5D8A65E40DC2}" destId="{ADB40839-3A0B-444E-8348-851146C88363}" srcOrd="7" destOrd="0" presId="urn:microsoft.com/office/officeart/2005/8/layout/vList2"/>
    <dgm:cxn modelId="{CBEC4BD2-5611-45E2-BDCE-73050F7B1B2F}" type="presParOf" srcId="{DBA9BE79-263E-47D2-B31C-5D8A65E40DC2}" destId="{433A3788-4F43-490C-896A-90391123E63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F6F33-0BE9-4185-9748-F26585E99DC5}">
      <dsp:nvSpPr>
        <dsp:cNvPr id="0" name=""/>
        <dsp:cNvSpPr/>
      </dsp:nvSpPr>
      <dsp:spPr>
        <a:xfrm>
          <a:off x="0" y="3357542"/>
          <a:ext cx="10234149" cy="73454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Complete the NHS Short Breaks step with provider, dates and break costs</a:t>
          </a:r>
          <a:endParaRPr lang="en-US" sz="2000" kern="1200" dirty="0"/>
        </a:p>
      </dsp:txBody>
      <dsp:txXfrm>
        <a:off x="0" y="3357542"/>
        <a:ext cx="10234149" cy="734548"/>
      </dsp:txXfrm>
    </dsp:sp>
    <dsp:sp modelId="{A93FDFF1-B157-489A-9260-ACD7784B0422}">
      <dsp:nvSpPr>
        <dsp:cNvPr id="0" name=""/>
        <dsp:cNvSpPr/>
      </dsp:nvSpPr>
      <dsp:spPr>
        <a:xfrm rot="10800000">
          <a:off x="0" y="2215146"/>
          <a:ext cx="10234149" cy="1129735"/>
        </a:xfrm>
        <a:prstGeom prst="upArrowCallout">
          <a:avLst/>
        </a:prstGeom>
        <a:solidFill>
          <a:schemeClr val="accent5">
            <a:hueOff val="-561544"/>
            <a:satOff val="-2648"/>
            <a:lumOff val="6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Provider and dates identified for breaks.  Confirmation of rates being at NCC Banded/contracted rates</a:t>
          </a:r>
        </a:p>
      </dsp:txBody>
      <dsp:txXfrm rot="10800000">
        <a:off x="0" y="2215146"/>
        <a:ext cx="10234149" cy="734068"/>
      </dsp:txXfrm>
    </dsp:sp>
    <dsp:sp modelId="{CEBCECD8-4487-4197-8D03-FDBD5AC803D8}">
      <dsp:nvSpPr>
        <dsp:cNvPr id="0" name=""/>
        <dsp:cNvSpPr/>
      </dsp:nvSpPr>
      <dsp:spPr>
        <a:xfrm rot="10800000">
          <a:off x="0" y="1120108"/>
          <a:ext cx="10234149" cy="1129735"/>
        </a:xfrm>
        <a:prstGeom prst="upArrowCallout">
          <a:avLst/>
        </a:prstGeom>
        <a:solidFill>
          <a:schemeClr val="accent5">
            <a:hueOff val="-1123087"/>
            <a:satOff val="-5296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Agree the budget amount based on the carers needs (most will be £650)</a:t>
          </a:r>
        </a:p>
      </dsp:txBody>
      <dsp:txXfrm rot="10800000">
        <a:off x="0" y="1120108"/>
        <a:ext cx="10234149" cy="734068"/>
      </dsp:txXfrm>
    </dsp:sp>
    <dsp:sp modelId="{9A413C09-0009-4B68-B064-794D5AF1A5A8}">
      <dsp:nvSpPr>
        <dsp:cNvPr id="0" name=""/>
        <dsp:cNvSpPr/>
      </dsp:nvSpPr>
      <dsp:spPr>
        <a:xfrm rot="10800000">
          <a:off x="0" y="0"/>
          <a:ext cx="10234149" cy="1129735"/>
        </a:xfrm>
        <a:prstGeom prst="upArrowCallou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 Carer Conversation identifies need for breaks.  Offered NHS Short Breaks scheme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(eligibility checked)</a:t>
          </a:r>
          <a:endParaRPr lang="en-US" sz="2000" kern="1200" dirty="0"/>
        </a:p>
      </dsp:txBody>
      <dsp:txXfrm rot="10800000">
        <a:off x="0" y="0"/>
        <a:ext cx="10234149" cy="734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3F15F-18C6-412B-A9D8-6C464329D4CB}">
      <dsp:nvSpPr>
        <dsp:cNvPr id="0" name=""/>
        <dsp:cNvSpPr/>
      </dsp:nvSpPr>
      <dsp:spPr>
        <a:xfrm>
          <a:off x="0" y="89877"/>
          <a:ext cx="6589068" cy="83362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Guidance documents available – Resource Hub</a:t>
          </a:r>
          <a:endParaRPr lang="en-US" sz="1900" kern="1200" dirty="0"/>
        </a:p>
      </dsp:txBody>
      <dsp:txXfrm>
        <a:off x="40694" y="130571"/>
        <a:ext cx="6507680" cy="752236"/>
      </dsp:txXfrm>
    </dsp:sp>
    <dsp:sp modelId="{1842CFC2-1615-419E-8E0A-FAFD8C562978}">
      <dsp:nvSpPr>
        <dsp:cNvPr id="0" name=""/>
        <dsp:cNvSpPr/>
      </dsp:nvSpPr>
      <dsp:spPr>
        <a:xfrm>
          <a:off x="0" y="978222"/>
          <a:ext cx="6589068" cy="833624"/>
        </a:xfrm>
        <a:prstGeom prst="roundRect">
          <a:avLst/>
        </a:prstGeom>
        <a:gradFill rotWithShape="0">
          <a:gsLst>
            <a:gs pos="0">
              <a:schemeClr val="accent2">
                <a:hueOff val="-848244"/>
                <a:satOff val="2796"/>
                <a:lumOff val="29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848244"/>
                <a:satOff val="2796"/>
                <a:lumOff val="29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848244"/>
                <a:satOff val="2796"/>
                <a:lumOff val="29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Recording of the briefing – Resource Hub </a:t>
          </a:r>
        </a:p>
      </dsp:txBody>
      <dsp:txXfrm>
        <a:off x="40694" y="1018916"/>
        <a:ext cx="6507680" cy="752236"/>
      </dsp:txXfrm>
    </dsp:sp>
    <dsp:sp modelId="{5A4EF303-266F-4D24-9B5E-35CDD87FAF42}">
      <dsp:nvSpPr>
        <dsp:cNvPr id="0" name=""/>
        <dsp:cNvSpPr/>
      </dsp:nvSpPr>
      <dsp:spPr>
        <a:xfrm>
          <a:off x="0" y="1866567"/>
          <a:ext cx="6589068" cy="833624"/>
        </a:xfrm>
        <a:prstGeom prst="roundRect">
          <a:avLst/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Peer support from Carer Champions</a:t>
          </a:r>
        </a:p>
      </dsp:txBody>
      <dsp:txXfrm>
        <a:off x="40694" y="1907261"/>
        <a:ext cx="6507680" cy="752236"/>
      </dsp:txXfrm>
    </dsp:sp>
    <dsp:sp modelId="{10F366AD-771B-4C37-B1C4-22C12F57AD8A}">
      <dsp:nvSpPr>
        <dsp:cNvPr id="0" name=""/>
        <dsp:cNvSpPr/>
      </dsp:nvSpPr>
      <dsp:spPr>
        <a:xfrm>
          <a:off x="0" y="2754912"/>
          <a:ext cx="6589068" cy="833624"/>
        </a:xfrm>
        <a:prstGeom prst="roundRect">
          <a:avLst/>
        </a:prstGeom>
        <a:gradFill rotWithShape="0">
          <a:gsLst>
            <a:gs pos="0">
              <a:schemeClr val="accent2">
                <a:hueOff val="-2544732"/>
                <a:satOff val="8389"/>
                <a:lumOff val="897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544732"/>
                <a:satOff val="8389"/>
                <a:lumOff val="897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544732"/>
                <a:satOff val="8389"/>
                <a:lumOff val="897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Team meetings/huddles - share peer to peer experiences</a:t>
          </a:r>
          <a:endParaRPr lang="en-US" sz="1900" kern="1200" dirty="0"/>
        </a:p>
      </dsp:txBody>
      <dsp:txXfrm>
        <a:off x="40694" y="2795606"/>
        <a:ext cx="6507680" cy="752236"/>
      </dsp:txXfrm>
    </dsp:sp>
    <dsp:sp modelId="{433A3788-4F43-490C-896A-90391123E633}">
      <dsp:nvSpPr>
        <dsp:cNvPr id="0" name=""/>
        <dsp:cNvSpPr/>
      </dsp:nvSpPr>
      <dsp:spPr>
        <a:xfrm>
          <a:off x="0" y="3643257"/>
          <a:ext cx="6589068" cy="1313426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Lisa Talma-Smith – Service Improvement Team Officer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Dan Godley – Senior Commissioning Officer</a:t>
          </a:r>
          <a:endParaRPr lang="en-US" sz="1900" kern="1200" dirty="0"/>
        </a:p>
      </dsp:txBody>
      <dsp:txXfrm>
        <a:off x="64116" y="3707373"/>
        <a:ext cx="6460836" cy="1185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B00DE-7AE9-42B0-9493-286A149C2BDD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F68B-D2AE-46E4-9EAB-EC71B8E2D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58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D17D-521D-33FC-5787-672C368E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4059F-08EF-8F2A-9C19-C823AD05F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B698E-9F86-9413-6E9F-4CAACDB2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647CE-A138-4B77-1A37-0CAB7E150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42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7C80-EF51-3630-C5F4-409878DC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20072-D054-2F0F-7440-F1786330F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17ED8-F156-3178-4579-DC27E6A87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C68B1-BBA9-DE75-2D7C-93EDFD41B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34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69C49-2635-E879-D141-3C445A17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39746-D034-C48D-034F-6B2E4B4B7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8DDCB-7C2A-6E6C-3C8E-B51E9EDF3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3FDDA-F4AA-8FEE-BC95-33E676845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55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4EE4-3038-66F8-58FB-DF05B0C5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38196-2277-1A8B-BDB4-475F8E575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66EE1-7960-E22B-FC81-0AA2A7C17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0829-0980-3A92-D8C6-0CE88FE2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973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03920-8DCB-3245-6DE6-BC2F8943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0A58D-FB8D-1C71-3AA1-DBC777244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A41C7-370C-C9A4-5F18-7A26C1FA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6793-06FD-89F1-7BF1-F7C4A9159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977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A380-4181-A2C8-7055-002FD4B1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925FB-33EC-4F42-905F-8895B24EF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9F280-620F-D514-BB99-C1746AD6F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AB31-3E54-DAAF-CDFC-F8DD7CA1D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254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AE38-77D2-296F-A4D4-AA8A328D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0C1C2-F63B-3288-4A91-883A11387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694D8-6BA9-B56C-E3F6-2BD7299B7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84F76-E721-7B58-7724-46E8440EC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448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8ECB-B017-AFDD-73AB-7732B441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9CE0B-4631-3976-CBB9-8AEC44D60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2CBA4-D722-CEDC-49E6-0218B24DF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8D545-05BD-6663-55D7-16595A626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958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B6C4-4C64-CF71-9051-DC7CF7A6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CF454-38D4-71A4-5179-5195674D7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1705F-C18A-FCAF-35D0-6DFCF96DC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78F02-2CB9-A3CB-E235-7FB55886D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457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FAE9-A4C1-7B98-3088-204D7A1D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2ADE1-44A7-5475-70C5-34E98292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36065-CCAB-F1ED-3CEF-03A9BDA10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92138-A418-AE31-E2B8-C03E85DAE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707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2E8B-DEE2-BD9A-9DDB-0EBE26C9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37B62-28CF-1741-EDF4-E0BE92EFA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35D75-DE4D-4472-B42C-11C8B0772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F50F8-B488-8E55-73E8-76D0149A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227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B625-6DB2-C488-0494-E1B97984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05BD8-E54B-9EA8-CE67-2EFC37360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81B05-77E8-0BD7-7154-576F6DF33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C3395-F0EF-2B94-1E36-5AC6C2D2C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228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CD7D-A8B4-DA3A-73CE-FE1C9F12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C8512-54CF-FC6D-875B-48DE9A2B1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20C7F-1FAC-065A-ED4E-6F1C4DEA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04744-A413-A32C-FE41-16EF666FF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567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673B-BBE1-660B-1057-D0D8B53E5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08165-881C-B54D-8CFD-163C7BB29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D8C38-E4FB-2BAE-1753-509EB7C1C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78DCE-09A7-E80E-0220-52271AF84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117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EC70-78DF-3811-2AAE-E1F13691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A629F-3747-9F36-AE11-4317D2C9D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18DCD-0AA8-0513-A002-125ADA883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D1EE9-C742-7189-F01F-5C99367B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481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1AE8-2BD4-FFED-A1F8-EA5B0E33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FC35C-50CB-FE1C-4073-974E05E11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4ED1E-F1F5-07F9-D067-03AA189EF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5AF26-AF9A-3B4D-32A9-16D5CAE8A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086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44EE-71D3-2D91-AAFF-AEE0F8B4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AB390-4C12-B402-EC5C-590DF5DF7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AC199-3AA7-62B9-FEE1-C8C6F0DB4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862BA-A1ED-2356-A5C6-8D217691A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23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0121F-03F4-F6C9-A32A-DF77C90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4E1AF-28F5-AC58-1E30-15ED9A275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A213C-14BB-F25A-5B72-2140CDF5E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86526-9D4B-206A-9ADC-838F38FAB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094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5CDE9-5522-4909-4D2C-F614B4EC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13A09-89FE-4537-1AB0-DB82A58A4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461B1-10FF-DED4-2308-0D3012417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C289B-D0CF-27EA-9EC4-EB178A847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143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6581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6F68B-D2AE-46E4-9EAB-EC71B8E2DB7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66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63689"/>
            <a:ext cx="10363200" cy="1470025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GB" altLang="en-US" noProof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319463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GB" altLang="en-US" noProof="0"/>
          </a:p>
        </p:txBody>
      </p:sp>
      <p:pic>
        <p:nvPicPr>
          <p:cNvPr id="5" name="Picture 14" descr="PowerPoint Banner Small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5500"/>
            <a:ext cx="12192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30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875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43026"/>
            <a:ext cx="5384800" cy="432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3026"/>
            <a:ext cx="5384800" cy="432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81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21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52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07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198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110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41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395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395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186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14" descr="PowerPoint Banner Small">
            <a:extLst>
              <a:ext uri="{FF2B5EF4-FFF2-40B4-BE49-F238E27FC236}">
                <a16:creationId xmlns:a16="http://schemas.microsoft.com/office/drawing/2014/main" id="{7B7272D4-36C0-AE2A-885C-439C2FC866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5500"/>
            <a:ext cx="12192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859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62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249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67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9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914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08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4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97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417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21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6"/>
            <a:ext cx="10972800" cy="432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Text here (level one)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pic>
        <p:nvPicPr>
          <p:cNvPr id="10254" name="Picture 14" descr="PowerPoint Banner Small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5500"/>
            <a:ext cx="12192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4" descr="PowerPoint Banner Small">
            <a:extLst>
              <a:ext uri="{FF2B5EF4-FFF2-40B4-BE49-F238E27FC236}">
                <a16:creationId xmlns:a16="http://schemas.microsoft.com/office/drawing/2014/main" id="{E90158A4-6C53-95C1-D4B8-4B7FE12AEF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5500"/>
            <a:ext cx="12192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34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dan.godley@nottscc.gov.uk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lisa.talma-smith@nottscc.gov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09800" y="1151498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sz="6000" dirty="0"/>
              <a:t>NHS Short Breaks for Carers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970387"/>
            <a:ext cx="6400800" cy="1190163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GB" altLang="en-US" sz="3200" b="1" dirty="0"/>
              <a:t>ASCH Staff Briefings</a:t>
            </a:r>
          </a:p>
          <a:p>
            <a:pPr algn="ctr"/>
            <a:r>
              <a:rPr lang="en-GB" altLang="en-US" sz="3200" dirty="0"/>
              <a:t>April/May 2025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CE69A1A-1799-B689-FCB6-47B6B0C26B58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0" y="2621523"/>
            <a:ext cx="6400800" cy="72812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en-GB" altLang="en-US" sz="3200" b="1" dirty="0"/>
              <a:t>OVERVIEW OF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DFD6-AA28-6844-FD33-42042B79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5323-14F1-EF55-4F8F-6BAC65B8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dirty="0"/>
              <a:t>1. Introduction and Overview of the session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02C3EE-5A82-9E2D-3548-DBF5C167B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CHANGES – overview of what has changed and why</a:t>
            </a:r>
          </a:p>
          <a:p>
            <a:r>
              <a:rPr lang="en-GB" dirty="0"/>
              <a:t>IMPORTANT INFORMATION – budget allocation, contracted and banded rates, use of DP’s, and PA’s, provider payments etc.</a:t>
            </a:r>
          </a:p>
          <a:p>
            <a:r>
              <a:rPr lang="en-GB" dirty="0"/>
              <a:t>NEW SHORT BREAKS STEPS – Mosaic screens of the new form</a:t>
            </a:r>
          </a:p>
          <a:p>
            <a:r>
              <a:rPr lang="en-GB" dirty="0"/>
              <a:t>SERVICE PLACEMENT TEAM – processes and key information</a:t>
            </a:r>
          </a:p>
          <a:p>
            <a:r>
              <a:rPr lang="en-GB" dirty="0"/>
              <a:t>QUESTION AND ANSWER SESSION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463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59A9-CCBB-D714-FACE-74FC3AC2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1AF8-3CA1-3819-9FC0-14E19B2E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 anchor="t">
            <a:normAutofit/>
          </a:bodyPr>
          <a:lstStyle/>
          <a:p>
            <a:r>
              <a:rPr lang="en-GB" dirty="0"/>
              <a:t>2. KEY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C48EED-513C-0AEA-1CDC-7D316C839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894114"/>
            <a:ext cx="11639006" cy="389273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Transfer of overall budget and administration of short breaks scheme from health (Nottingham and Nottinghamshire ICB) to NCC ASCH for 2025/26 onwards</a:t>
            </a:r>
          </a:p>
          <a:p>
            <a:r>
              <a:rPr lang="en-GB" dirty="0"/>
              <a:t>ICB (Carers Breaks team), stopped receiving requests from 1 April 2025</a:t>
            </a:r>
          </a:p>
          <a:p>
            <a:pPr marL="0" indent="0">
              <a:buNone/>
            </a:pPr>
            <a:r>
              <a:rPr lang="en-GB" dirty="0"/>
              <a:t>This means that:</a:t>
            </a:r>
          </a:p>
          <a:p>
            <a:r>
              <a:rPr lang="en-GB" dirty="0"/>
              <a:t>ASCH workers are now responsible for agreeing and commissioning short breaks for eligible carers</a:t>
            </a:r>
          </a:p>
          <a:p>
            <a:r>
              <a:rPr lang="en-GB" dirty="0"/>
              <a:t>£229k transferred over from the ICB to NCC ASCH Better Care Fund (for carers) for 2025/26</a:t>
            </a:r>
          </a:p>
          <a:p>
            <a:r>
              <a:rPr lang="en-GB" dirty="0"/>
              <a:t>Carers in Bassetlaw can have access to the wider scheme </a:t>
            </a:r>
          </a:p>
          <a:p>
            <a:r>
              <a:rPr lang="en-GB" dirty="0"/>
              <a:t>Agreeing and commissioning breaks will be much easier and quicker </a:t>
            </a:r>
          </a:p>
          <a:p>
            <a:r>
              <a:rPr lang="en-GB" dirty="0"/>
              <a:t>Providers will get paid based on commissioned activity in Mosaic (quicker and easier processes for providers)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624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35FA-53D6-6587-6D6F-4E7A6607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7B5D-86F2-B5D4-547C-9889C31231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0185" y="347663"/>
            <a:ext cx="9604375" cy="587375"/>
          </a:xfrm>
        </p:spPr>
        <p:txBody>
          <a:bodyPr anchor="t">
            <a:normAutofit/>
          </a:bodyPr>
          <a:lstStyle/>
          <a:p>
            <a:r>
              <a:rPr lang="en-GB"/>
              <a:t>3. important INFORMATION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C3FE35-21C9-B89F-03DA-5A0F411B2F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6207" y="1057864"/>
            <a:ext cx="10463348" cy="4794295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The current annual budget allocation amounts will remain the same (£650 high level needs and £1300 complex level) </a:t>
            </a:r>
          </a:p>
          <a:p>
            <a:r>
              <a:rPr lang="en-GB" sz="2400" dirty="0"/>
              <a:t>Budget amount to be set against current NCC contracted rates (‘Banded’ residential and hourly for home-based care).  </a:t>
            </a:r>
            <a:r>
              <a:rPr lang="en-GB" sz="2400" b="1" u="sng" dirty="0"/>
              <a:t>Providers should be charging LA rates</a:t>
            </a:r>
            <a:r>
              <a:rPr lang="en-GB" sz="2400" u="sng" dirty="0"/>
              <a:t> </a:t>
            </a:r>
            <a:r>
              <a:rPr lang="en-GB" sz="2400" dirty="0"/>
              <a:t>– opportunity to bring these costs back in line</a:t>
            </a:r>
          </a:p>
          <a:p>
            <a:r>
              <a:rPr lang="en-GB" sz="2400" b="1" dirty="0"/>
              <a:t>Allocated budget will only be used to pay against contracted rates</a:t>
            </a:r>
          </a:p>
          <a:p>
            <a:r>
              <a:rPr lang="en-GB" sz="2400" dirty="0"/>
              <a:t>People who are fully funded CHC and/or Fasttrack are NOT eligible for the scheme, however those that are part funded can access the scheme (subject to other criteria)</a:t>
            </a:r>
          </a:p>
          <a:p>
            <a:r>
              <a:rPr lang="en-GB" sz="2400" dirty="0"/>
              <a:t>Providers set-up on Mosaic (i.e. contracted to NCC) are only to be used. </a:t>
            </a:r>
          </a:p>
        </p:txBody>
      </p:sp>
    </p:spTree>
    <p:extLst>
      <p:ext uri="{BB962C8B-B14F-4D97-AF65-F5344CB8AC3E}">
        <p14:creationId xmlns:p14="http://schemas.microsoft.com/office/powerpoint/2010/main" val="371230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79FF-F7B5-5F59-32CA-D457A84F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7A6C-A102-4113-7985-F4BE03BD87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0185" y="347663"/>
            <a:ext cx="9604375" cy="587375"/>
          </a:xfrm>
        </p:spPr>
        <p:txBody>
          <a:bodyPr anchor="t">
            <a:normAutofit/>
          </a:bodyPr>
          <a:lstStyle/>
          <a:p>
            <a:r>
              <a:rPr lang="en-GB" dirty="0"/>
              <a:t>3. important INFORMATION (2)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C0B4D8-688E-F621-B032-18AC794725E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4584" y="1031852"/>
            <a:ext cx="10032274" cy="4794295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/>
              <a:t>The offer of using the budget as a Direct Payment to pay for care support in a residential care home is </a:t>
            </a:r>
            <a:r>
              <a:rPr lang="en-GB" sz="2400" b="1" dirty="0"/>
              <a:t>no longer available</a:t>
            </a:r>
          </a:p>
          <a:p>
            <a:r>
              <a:rPr lang="en-GB" sz="2400" dirty="0"/>
              <a:t>Requests for overnight breaks in an external residential care home can only be commissioned with providers on the NCC Ageing Well Care Home Framework.</a:t>
            </a:r>
          </a:p>
          <a:p>
            <a:r>
              <a:rPr lang="en-GB" sz="2400" dirty="0"/>
              <a:t>Carers can continue to take their NHS Short Break budget as a Direct Payment with a home care agency (at NCC contracted rates or agreed DP rate for that area if not contracted) </a:t>
            </a:r>
          </a:p>
          <a:p>
            <a:r>
              <a:rPr lang="en-GB" sz="2400" dirty="0"/>
              <a:t>Use of family members or friends for support – carer has to inform that person that it is their responsibility to inform HMRC and/or DWP of the additional income they receive (February 2025)</a:t>
            </a:r>
          </a:p>
          <a:p>
            <a:r>
              <a:rPr lang="en-GB" sz="2400" dirty="0"/>
              <a:t>Workers should include a short summary of the details of the break (including DP’s)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94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EFF8A-ABFF-2764-38B6-55EDBDCDF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40CE-CE9D-9BA3-6C47-2BFCE3965C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0185" y="347663"/>
            <a:ext cx="9604375" cy="587375"/>
          </a:xfrm>
        </p:spPr>
        <p:txBody>
          <a:bodyPr anchor="t">
            <a:normAutofit/>
          </a:bodyPr>
          <a:lstStyle/>
          <a:p>
            <a:r>
              <a:rPr lang="en-GB" dirty="0"/>
              <a:t>3. important INFORMATION (3)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A0BF3E-0A5A-1D9D-C3D4-8E53FEDF89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4584" y="1031852"/>
            <a:ext cx="10032274" cy="4794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BUDGET ALLOCATION AMOUNT:</a:t>
            </a:r>
            <a:endParaRPr lang="en-GB" sz="2200" dirty="0"/>
          </a:p>
          <a:p>
            <a:r>
              <a:rPr lang="en-GB" sz="2400" dirty="0"/>
              <a:t>Two amounts - £650 for ‘High Impact’ and £1300 for ‘Extremely High Impact’</a:t>
            </a:r>
          </a:p>
          <a:p>
            <a:r>
              <a:rPr lang="en-GB" sz="2400" dirty="0"/>
              <a:t>Budget originally to cover the cost of up to one weeks’ stay in a residential care setting.  £650 to purchase replacement/respite care where the cared for person has medium or high level needs and £1300 for those who need more specialist support due to complex needs</a:t>
            </a:r>
          </a:p>
          <a:p>
            <a:r>
              <a:rPr lang="en-GB" sz="2400" dirty="0"/>
              <a:t>Those carers who are eligible to receive the higher budget should be the exception and the cared-for person should be known to us due to their level of need and be receiving support in their own right</a:t>
            </a:r>
          </a:p>
          <a:p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36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BBCA-1FF2-806E-58C6-07A35ED5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8211-80D2-94B3-D627-48B91E733F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0185" y="347663"/>
            <a:ext cx="9604375" cy="587375"/>
          </a:xfrm>
        </p:spPr>
        <p:txBody>
          <a:bodyPr anchor="t">
            <a:normAutofit/>
          </a:bodyPr>
          <a:lstStyle/>
          <a:p>
            <a:r>
              <a:rPr lang="en-GB" dirty="0"/>
              <a:t>3. important INFORMATION (4)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272D35-9722-0517-671A-BBAD72A7DE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4584" y="1031852"/>
            <a:ext cx="10032274" cy="47942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400" dirty="0"/>
              <a:t>TOP-UP’s</a:t>
            </a:r>
          </a:p>
          <a:p>
            <a:r>
              <a:rPr lang="en-GB" sz="2400" dirty="0"/>
              <a:t>All providers should be accepting referrals for breaks based on the following:</a:t>
            </a:r>
          </a:p>
          <a:p>
            <a:pPr lvl="1"/>
            <a:r>
              <a:rPr lang="en-GB" sz="2200" dirty="0"/>
              <a:t>Banded rates for care homes on the NCC Ageing Well Care Home Framework</a:t>
            </a:r>
          </a:p>
          <a:p>
            <a:pPr lvl="1"/>
            <a:r>
              <a:rPr lang="en-GB" sz="2200" dirty="0"/>
              <a:t>Agreed contracted home care hourly rates for that provider and district</a:t>
            </a:r>
          </a:p>
          <a:p>
            <a:pPr lvl="1"/>
            <a:r>
              <a:rPr lang="en-GB" sz="2200" dirty="0"/>
              <a:t>Day Care sessional rates (low level needs for MIS) as per Day Care provider framework </a:t>
            </a:r>
          </a:p>
          <a:p>
            <a:r>
              <a:rPr lang="en-GB" sz="2400" dirty="0"/>
              <a:t>Where providers are insisting on charging more than the contracted rate, brokerage of the break should be considered</a:t>
            </a:r>
          </a:p>
          <a:p>
            <a:r>
              <a:rPr lang="en-GB" sz="2400" dirty="0"/>
              <a:t>If the carer still wants to use a particular provider for the short break, then the carer/family would be expected to fund the additional short-fall (this should be clear in the additional information on the step)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624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04B0-3913-02F5-6CB1-6EEDA92E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2245-9F6F-9C3A-8CE4-C0B311772D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301364"/>
            <a:ext cx="9604375" cy="587375"/>
          </a:xfrm>
        </p:spPr>
        <p:txBody>
          <a:bodyPr anchor="t">
            <a:normAutofit/>
          </a:bodyPr>
          <a:lstStyle/>
          <a:p>
            <a:pPr algn="ctr"/>
            <a:r>
              <a:rPr lang="en-GB" dirty="0"/>
              <a:t>4. new mosaic short breaks steps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87CAB53-B9A3-D8B4-511E-3E5F8DF12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606977"/>
              </p:ext>
            </p:extLst>
          </p:nvPr>
        </p:nvGraphicFramePr>
        <p:xfrm>
          <a:off x="935420" y="1213857"/>
          <a:ext cx="1023414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592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B82F-A761-148C-A23C-DE3CFB5A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D3D7-BDCD-6BD3-F0AF-6EE0A65658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8533" y="301364"/>
            <a:ext cx="9604375" cy="587375"/>
          </a:xfrm>
        </p:spPr>
        <p:txBody>
          <a:bodyPr anchor="t">
            <a:normAutofit/>
          </a:bodyPr>
          <a:lstStyle/>
          <a:p>
            <a:pPr algn="ctr"/>
            <a:r>
              <a:rPr lang="en-GB" dirty="0"/>
              <a:t>4.1 new mosaic short breaks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58FC2B-0E04-F80C-7D7C-BCD516811D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79863" y="1031852"/>
            <a:ext cx="10032274" cy="4794295"/>
          </a:xfrm>
        </p:spPr>
        <p:txBody>
          <a:bodyPr>
            <a:normAutofit/>
          </a:bodyPr>
          <a:lstStyle/>
          <a:p>
            <a:r>
              <a:rPr lang="en-GB" sz="3200" dirty="0"/>
              <a:t>Talk through the screens to demo what the new steps look like</a:t>
            </a:r>
          </a:p>
          <a:p>
            <a:r>
              <a:rPr lang="en-GB" sz="3200" dirty="0"/>
              <a:t>Show some screen shot examples of what ‘good’ looks like</a:t>
            </a:r>
          </a:p>
          <a:p>
            <a:r>
              <a:rPr lang="en-GB" sz="3200" dirty="0"/>
              <a:t>Examples included for residential care, home based care, day care and Direct Payments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221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0D1E-46A8-A032-AB93-7B8AAE29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0DBF36-C69A-0705-F5E0-C40E6D080027}"/>
              </a:ext>
            </a:extLst>
          </p:cNvPr>
          <p:cNvSpPr txBox="1"/>
          <p:nvPr/>
        </p:nvSpPr>
        <p:spPr>
          <a:xfrm>
            <a:off x="286473" y="308924"/>
            <a:ext cx="11751198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376"/>
              </a:lnSpc>
              <a:spcAft>
                <a:spcPts val="800"/>
              </a:spcAft>
              <a:buNone/>
            </a:pPr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Examples of a care home stay.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376"/>
              </a:lnSpc>
              <a:spcAft>
                <a:spcPts val="800"/>
              </a:spcAft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When a break is being commissioned for anything 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more than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 the £650 amount, you would commission one weeks stay.  This would enable the carer to use all the budget rather than working out the cost per night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6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3B98CB-2B51-5431-7C6B-11798333F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05" y="1165869"/>
            <a:ext cx="11551534" cy="346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37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9EA9-7D6D-5004-1E32-3616587A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EF410C5-AEC9-7A23-0F79-4A9C635A1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739"/>
            <a:ext cx="12192000" cy="359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7B22B7-89C4-7BC4-1D51-224C1E820AE1}"/>
              </a:ext>
            </a:extLst>
          </p:cNvPr>
          <p:cNvSpPr txBox="1"/>
          <p:nvPr/>
        </p:nvSpPr>
        <p:spPr>
          <a:xfrm>
            <a:off x="81022" y="3861083"/>
            <a:ext cx="12110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As the above is only staying for 6 nights, the addition cost for the carer would be calculated as follows: 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A5A90-C78B-6957-9306-6669EF8711DD}"/>
              </a:ext>
            </a:extLst>
          </p:cNvPr>
          <p:cNvSpPr txBox="1"/>
          <p:nvPr/>
        </p:nvSpPr>
        <p:spPr>
          <a:xfrm>
            <a:off x="2265745" y="4387600"/>
            <a:ext cx="6105644" cy="141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376"/>
              </a:lnSpc>
              <a:spcAft>
                <a:spcPts val="800"/>
              </a:spcAft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Weekly ‘Banded’ rate:	£814.32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376"/>
              </a:lnSpc>
              <a:spcAft>
                <a:spcPts val="800"/>
              </a:spcAft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Pro-rata (x 6):		£697.99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376"/>
              </a:lnSpc>
              <a:spcAft>
                <a:spcPts val="800"/>
              </a:spcAft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Less NHS budget:		£650.00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376"/>
              </a:lnSpc>
              <a:spcAft>
                <a:spcPts val="800"/>
              </a:spcAft>
            </a:pPr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Additional cost:		£  47.99</a:t>
            </a:r>
            <a:endParaRPr lang="en-GB" b="1" dirty="0">
              <a:solidFill>
                <a:srgbClr val="000000"/>
              </a:solidFill>
              <a:latin typeface="Aptos"/>
            </a:endParaRPr>
          </a:p>
          <a:p>
            <a:pPr algn="l" rtl="0" fontAlgn="base">
              <a:lnSpc>
                <a:spcPts val="1376"/>
              </a:lnSpc>
              <a:spcAft>
                <a:spcPts val="800"/>
              </a:spcAft>
            </a:pPr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(to be met by carer/family) </a:t>
            </a:r>
            <a:endParaRPr lang="en-GB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728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65F8-5602-8EF3-1602-3E09CD40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9C4F90-D68B-454C-8198-7D4931D6AB6A}"/>
              </a:ext>
            </a:extLst>
          </p:cNvPr>
          <p:cNvSpPr txBox="1"/>
          <p:nvPr/>
        </p:nvSpPr>
        <p:spPr>
          <a:xfrm>
            <a:off x="193876" y="239396"/>
            <a:ext cx="11797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Using the budget to part-fund breaks</a:t>
            </a:r>
          </a:p>
          <a:p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If you are only using part of the </a:t>
            </a:r>
            <a:r>
              <a:rPr lang="en-GB" dirty="0">
                <a:solidFill>
                  <a:srgbClr val="000000"/>
                </a:solidFill>
                <a:latin typeface="Aptos"/>
              </a:rPr>
              <a:t>NHS short breaks budget 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towards a break, you’ll need to enter the actual dates of the break duration (for example 2 nights), however 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you still need to input the weekly contracted/banded rate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. Divide the rate by 7 then multiply by 2 to calculate the cost of the break amount</a:t>
            </a:r>
            <a:r>
              <a:rPr lang="en-GB" dirty="0">
                <a:solidFill>
                  <a:srgbClr val="000000"/>
                </a:solidFill>
                <a:latin typeface="Aptos"/>
              </a:rPr>
              <a:t> (see example screen shot below)</a:t>
            </a:r>
            <a:endParaRPr lang="en-GB" dirty="0"/>
          </a:p>
        </p:txBody>
      </p:sp>
      <p:pic>
        <p:nvPicPr>
          <p:cNvPr id="3078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6D87DE0-E07F-C4FA-9442-7AC507476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8" y="1547812"/>
            <a:ext cx="11991372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855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EA9D-55D7-1140-F267-7ACA7216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4C5D53-B5AD-9AE9-709A-B77974159668}"/>
              </a:ext>
            </a:extLst>
          </p:cNvPr>
          <p:cNvSpPr txBox="1"/>
          <p:nvPr/>
        </p:nvSpPr>
        <p:spPr>
          <a:xfrm>
            <a:off x="193876" y="239396"/>
            <a:ext cx="11797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Using the £1300 budget to fund breaks less than two-weeks</a:t>
            </a:r>
          </a:p>
          <a:p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The example below shows the details of if the carer has been allocated the higher rate budget of £1300, but is using the budget to fund less than 2 weeks (14 nights) – budget remaining = £136.69</a:t>
            </a:r>
            <a:endParaRPr lang="en-GB" dirty="0"/>
          </a:p>
        </p:txBody>
      </p:sp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A5BDCF-5700-D83C-2C2B-978BD9336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8" y="1637506"/>
            <a:ext cx="11991372" cy="358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34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3648-2F2D-8818-6F52-86AA0337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8A5D10-DA83-C0A8-E8C7-0EF2834B8ACF}"/>
              </a:ext>
            </a:extLst>
          </p:cNvPr>
          <p:cNvSpPr txBox="1"/>
          <p:nvPr/>
        </p:nvSpPr>
        <p:spPr>
          <a:xfrm>
            <a:off x="193876" y="239396"/>
            <a:ext cx="11797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Using the £1300 budget to fund a two-week stay</a:t>
            </a:r>
          </a:p>
          <a:p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The example below shows the details of where a 2 week stay is requested using the higher rate budget of £1300 towards the cost of the stay.  Carer/family would need to fund the short-fall of £328.64</a:t>
            </a:r>
            <a:endParaRPr lang="en-GB" dirty="0"/>
          </a:p>
        </p:txBody>
      </p:sp>
      <p:pic>
        <p:nvPicPr>
          <p:cNvPr id="5122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CF1251C-413B-7045-696D-ED8043906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8" y="1493316"/>
            <a:ext cx="11991372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14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8CB7-49EF-8D4A-6322-AE0B30FB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340D9B-3CD8-18B0-A5D9-808F52A0582E}"/>
              </a:ext>
            </a:extLst>
          </p:cNvPr>
          <p:cNvSpPr txBox="1"/>
          <p:nvPr/>
        </p:nvSpPr>
        <p:spPr>
          <a:xfrm>
            <a:off x="193876" y="239396"/>
            <a:ext cx="11797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Using the £1300 budget to fund a 12-night stay</a:t>
            </a:r>
          </a:p>
          <a:p>
            <a:r>
              <a:rPr lang="en-GB" sz="1800" b="0" i="0" dirty="0">
                <a:solidFill>
                  <a:srgbClr val="000000"/>
                </a:solidFill>
                <a:effectLst/>
                <a:latin typeface="Aptos"/>
              </a:rPr>
              <a:t>The example below shows the details of where a 12-night stay is requested using the higher rate budget of £1300 towards the cost of the stay.  Carer/family would need to fund the short-fall of £95.98</a:t>
            </a:r>
            <a:endParaRPr lang="en-GB" dirty="0"/>
          </a:p>
        </p:txBody>
      </p:sp>
      <p:pic>
        <p:nvPicPr>
          <p:cNvPr id="6146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EA245A-8F3E-73C6-7580-C6F942A49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8" y="1470818"/>
            <a:ext cx="11991372" cy="391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526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87F5-B6D7-562D-A0C9-DF70C083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082115-5AFF-D9EF-3D8B-1789C9260B7C}"/>
              </a:ext>
            </a:extLst>
          </p:cNvPr>
          <p:cNvSpPr txBox="1"/>
          <p:nvPr/>
        </p:nvSpPr>
        <p:spPr>
          <a:xfrm>
            <a:off x="193876" y="239396"/>
            <a:ext cx="11797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Contracted Home-Based Care</a:t>
            </a:r>
          </a:p>
          <a:p>
            <a:r>
              <a:rPr lang="en-GB" dirty="0">
                <a:solidFill>
                  <a:srgbClr val="000000"/>
                </a:solidFill>
                <a:latin typeface="Aptos"/>
              </a:rPr>
              <a:t>The break duration is requested in the total number of hours per week, at the providers contracted hourly rate for that district area.  This example shows request for 2 weeks’ support at £124.39 per week</a:t>
            </a:r>
            <a:endParaRPr lang="en-GB" dirty="0"/>
          </a:p>
        </p:txBody>
      </p:sp>
      <p:pic>
        <p:nvPicPr>
          <p:cNvPr id="7170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6B1D20-93AF-B966-B797-DD2C004EB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8" y="1538287"/>
            <a:ext cx="11991372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16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257B1-DEF5-3039-6C77-F23B8EE8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9CF2D1-C67E-DBFF-5173-68F8685EEFE5}"/>
              </a:ext>
            </a:extLst>
          </p:cNvPr>
          <p:cNvSpPr txBox="1"/>
          <p:nvPr/>
        </p:nvSpPr>
        <p:spPr>
          <a:xfrm>
            <a:off x="193876" y="239396"/>
            <a:ext cx="11797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Contracted Day Care</a:t>
            </a:r>
          </a:p>
          <a:p>
            <a:r>
              <a:rPr lang="en-GB" dirty="0">
                <a:solidFill>
                  <a:srgbClr val="000000"/>
                </a:solidFill>
                <a:latin typeface="Aptos"/>
              </a:rPr>
              <a:t>The break duration is requested in sessions – 1 session is half a day.  This example shows request for 5 sessions:</a:t>
            </a:r>
            <a:endParaRPr lang="en-GB" dirty="0"/>
          </a:p>
        </p:txBody>
      </p:sp>
      <p:pic>
        <p:nvPicPr>
          <p:cNvPr id="8194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2D7971-30A9-3DFE-F5BB-5A9C5D8C5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75" y="1151199"/>
            <a:ext cx="11797495" cy="380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608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2C2A9-6D8B-E230-22DC-6C7D715A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DBAB35-B0F4-CB0B-EB37-925F4011A8A3}"/>
              </a:ext>
            </a:extLst>
          </p:cNvPr>
          <p:cNvSpPr txBox="1"/>
          <p:nvPr/>
        </p:nvSpPr>
        <p:spPr>
          <a:xfrm>
            <a:off x="193876" y="239396"/>
            <a:ext cx="11797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Direct Payment – Home-care Agency</a:t>
            </a:r>
          </a:p>
          <a:p>
            <a:endParaRPr lang="en-GB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21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FFE909-9B02-8172-826D-E57DA2112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49" y="1304241"/>
            <a:ext cx="11910349" cy="338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968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967A-9D65-2642-0536-26A6E55D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396F69-2F1B-765E-6E2F-D2164C957781}"/>
              </a:ext>
            </a:extLst>
          </p:cNvPr>
          <p:cNvSpPr txBox="1"/>
          <p:nvPr/>
        </p:nvSpPr>
        <p:spPr>
          <a:xfrm>
            <a:off x="193876" y="239396"/>
            <a:ext cx="11797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000000"/>
                </a:solidFill>
                <a:effectLst/>
                <a:latin typeface="Aptos"/>
              </a:rPr>
              <a:t>Direct Payment – Use of Family Member as a PA</a:t>
            </a:r>
          </a:p>
          <a:p>
            <a:endParaRPr lang="en-GB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0242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42B70E-7F2F-17BC-002D-55C326ABB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76" y="1039430"/>
            <a:ext cx="11797496" cy="384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17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F6F2-DF24-0ECD-2CAC-2265B13D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D438-5BAD-A55C-A391-9A20D2CF61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3812" y="2477405"/>
            <a:ext cx="9604375" cy="587375"/>
          </a:xfrm>
        </p:spPr>
        <p:txBody>
          <a:bodyPr anchor="t">
            <a:normAutofit/>
          </a:bodyPr>
          <a:lstStyle/>
          <a:p>
            <a:pPr algn="ctr"/>
            <a:r>
              <a:rPr lang="en-GB" dirty="0"/>
              <a:t>6. Question and answer session</a:t>
            </a:r>
          </a:p>
        </p:txBody>
      </p:sp>
    </p:spTree>
    <p:extLst>
      <p:ext uri="{BB962C8B-B14F-4D97-AF65-F5344CB8AC3E}">
        <p14:creationId xmlns:p14="http://schemas.microsoft.com/office/powerpoint/2010/main" val="2650608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5A95-FE2B-443D-8AD7-517379A5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96" y="1412431"/>
            <a:ext cx="3273099" cy="2247117"/>
          </a:xfrm>
        </p:spPr>
        <p:txBody>
          <a:bodyPr anchor="ctr">
            <a:normAutofit/>
          </a:bodyPr>
          <a:lstStyle/>
          <a:p>
            <a:r>
              <a:rPr lang="en-GB" sz="3800" dirty="0"/>
              <a:t>Additional Support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7BF8B0-8EF3-4DB7-AD1B-F56A52BC6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135403"/>
              </p:ext>
            </p:extLst>
          </p:nvPr>
        </p:nvGraphicFramePr>
        <p:xfrm>
          <a:off x="5043488" y="555586"/>
          <a:ext cx="6589069" cy="5046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2526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2B81-2D71-4195-AEB4-8D6644FA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732" y="1938231"/>
            <a:ext cx="3509233" cy="3774813"/>
          </a:xfrm>
        </p:spPr>
        <p:txBody>
          <a:bodyPr anchor="ctr">
            <a:normAutofit/>
          </a:bodyPr>
          <a:lstStyle/>
          <a:p>
            <a:r>
              <a:rPr lang="en-GB" dirty="0"/>
              <a:t>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48FB-9D49-4A0E-8E0E-0535B4EC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735" y="2016623"/>
            <a:ext cx="6180881" cy="361802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Dan Godley – Senior Commissioning Officer</a:t>
            </a:r>
          </a:p>
          <a:p>
            <a:pPr marL="400050" lvl="1" indent="0" algn="ctr">
              <a:buNone/>
            </a:pPr>
            <a:r>
              <a:rPr lang="en-GB" sz="2000" dirty="0">
                <a:hlinkClick r:id="rId3"/>
              </a:rPr>
              <a:t>dan.godley@nottscc.gov.uk</a:t>
            </a:r>
            <a:r>
              <a:rPr lang="en-GB" sz="2000" dirty="0"/>
              <a:t> </a:t>
            </a:r>
          </a:p>
          <a:p>
            <a:pPr marL="400050" lvl="1" indent="0" algn="ctr">
              <a:buNone/>
            </a:pPr>
            <a:r>
              <a:rPr lang="en-GB" sz="2000" dirty="0"/>
              <a:t>0115 977 4596</a:t>
            </a:r>
          </a:p>
          <a:p>
            <a:r>
              <a:rPr lang="en-GB" sz="2400" dirty="0"/>
              <a:t>Lisa Talma-Smith – Service Improvement Team Officer</a:t>
            </a:r>
          </a:p>
          <a:p>
            <a:pPr marL="400050" lvl="1" indent="0" algn="ctr">
              <a:buNone/>
            </a:pPr>
            <a:r>
              <a:rPr lang="en-GB" sz="2000" dirty="0">
                <a:hlinkClick r:id="rId4"/>
              </a:rPr>
              <a:t>lisa.talma-smith@nottscc.gov.uk</a:t>
            </a:r>
            <a:r>
              <a:rPr lang="en-GB" sz="2000" dirty="0"/>
              <a:t>  </a:t>
            </a:r>
          </a:p>
          <a:p>
            <a:pPr marL="400050" lvl="1" indent="0" algn="ctr">
              <a:buNone/>
            </a:pPr>
            <a:r>
              <a:rPr lang="en-GB" sz="2000" dirty="0"/>
              <a:t>0115 977 2815</a:t>
            </a:r>
          </a:p>
        </p:txBody>
      </p:sp>
    </p:spTree>
    <p:extLst>
      <p:ext uri="{BB962C8B-B14F-4D97-AF65-F5344CB8AC3E}">
        <p14:creationId xmlns:p14="http://schemas.microsoft.com/office/powerpoint/2010/main" val="38467719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0882D285008B449534F1CC8720F8A5" ma:contentTypeVersion="21" ma:contentTypeDescription="Create a new document." ma:contentTypeScope="" ma:versionID="0ae6f048e1ebbd2b0a7bd327b7fd7668">
  <xsd:schema xmlns:xsd="http://www.w3.org/2001/XMLSchema" xmlns:xs="http://www.w3.org/2001/XMLSchema" xmlns:p="http://schemas.microsoft.com/office/2006/metadata/properties" xmlns:ns2="7f7c714c-a929-4ba2-820d-d24d9401169e" xmlns:ns3="9e8feb4a-2e94-44b3-a528-01d62593f1ac" xmlns:ns4="88cc1ac3-d661-4513-9676-173c55b04fe2" targetNamespace="http://schemas.microsoft.com/office/2006/metadata/properties" ma:root="true" ma:fieldsID="bb03ce7e60d0d6a81f229b070e2b0d5c" ns2:_="" ns3:_="" ns4:_="">
    <xsd:import namespace="7f7c714c-a929-4ba2-820d-d24d9401169e"/>
    <xsd:import namespace="9e8feb4a-2e94-44b3-a528-01d62593f1ac"/>
    <xsd:import namespace="88cc1ac3-d661-4513-9676-173c55b04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ocumentTyp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Status" minOccurs="0"/>
                <xsd:element ref="ns2:MediaServiceSearchProperties" minOccurs="0"/>
                <xsd:element ref="ns2:VersionNo_x002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7c714c-a929-4ba2-820d-d24d940116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ocumentType" ma:index="18" nillable="true" ma:displayName="Document Type" ma:format="Dropdown" ma:internalName="DocumentType">
      <xsd:simpleType>
        <xsd:restriction base="dms:Text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2976cec-d0ce-485f-bc4a-34973482e7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Status" ma:index="26" nillable="true" ma:displayName="Status" ma:internalName="Status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VersionNo_x002e_" ma:index="28" nillable="true" ma:displayName="Version No." ma:description="Document version number to be recorded " ma:format="Dropdown" ma:internalName="VersionNo_x002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8feb4a-2e94-44b3-a528-01d62593f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1ac3-d661-4513-9676-173c55b04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82c74ed-626c-4d89-8498-f621f8e93123}" ma:internalName="TaxCatchAll" ma:showField="CatchAllData" ma:web="9e8feb4a-2e94-44b3-a528-01d62593f1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sionNo_x002e_ xmlns="7f7c714c-a929-4ba2-820d-d24d9401169e" xsi:nil="true"/>
    <Status xmlns="7f7c714c-a929-4ba2-820d-d24d9401169e" xsi:nil="true"/>
    <TaxCatchAll xmlns="88cc1ac3-d661-4513-9676-173c55b04fe2" xsi:nil="true"/>
    <lcf76f155ced4ddcb4097134ff3c332f xmlns="7f7c714c-a929-4ba2-820d-d24d9401169e">
      <Terms xmlns="http://schemas.microsoft.com/office/infopath/2007/PartnerControls"/>
    </lcf76f155ced4ddcb4097134ff3c332f>
    <DocumentType xmlns="7f7c714c-a929-4ba2-820d-d24d9401169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33A81E-EAA0-4BB8-9E20-91A0BCDA7453}"/>
</file>

<file path=customXml/itemProps2.xml><?xml version="1.0" encoding="utf-8"?>
<ds:datastoreItem xmlns:ds="http://schemas.openxmlformats.org/officeDocument/2006/customXml" ds:itemID="{CA857A5F-43B8-49DB-B684-AF13043EFA47}">
  <ds:schemaRefs>
    <ds:schemaRef ds:uri="8d417daa-a7d2-4819-a690-f155032cfc60"/>
    <ds:schemaRef ds:uri="dcd941f3-1c22-45b0-8655-889b7bafcd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56125D-9746-4E92-A05E-04CD60B6147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fd7c08e-9c24-436d-a6ad-a8ecb8394d49}" enabled="1" method="Standard" siteId="{6e5a37bb-a961-4e4f-baae-2798a2245f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5757</TotalTime>
  <Words>1349</Words>
  <Application>Microsoft Office PowerPoint</Application>
  <PresentationFormat>Widescreen</PresentationFormat>
  <Paragraphs>112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Arial Black</vt:lpstr>
      <vt:lpstr>Calibri</vt:lpstr>
      <vt:lpstr>Gill Sans MT</vt:lpstr>
      <vt:lpstr>Segoe UI</vt:lpstr>
      <vt:lpstr>Custom Design</vt:lpstr>
      <vt:lpstr>Gallery</vt:lpstr>
      <vt:lpstr>NHS Short Breaks for Carers</vt:lpstr>
      <vt:lpstr>1. Introduction and Overview of the session</vt:lpstr>
      <vt:lpstr>2. KEY CHANGES</vt:lpstr>
      <vt:lpstr>3. important INFORMATION</vt:lpstr>
      <vt:lpstr>3. important INFORMATION (2)</vt:lpstr>
      <vt:lpstr>3. important INFORMATION (3)</vt:lpstr>
      <vt:lpstr>3. important INFORMATION (4)</vt:lpstr>
      <vt:lpstr>4. new mosaic short breaks steps</vt:lpstr>
      <vt:lpstr>4.1 new mosaic short breaks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Question and answer session</vt:lpstr>
      <vt:lpstr>Additional Support</vt:lpstr>
      <vt:lpstr>contacts</vt:lpstr>
    </vt:vector>
  </TitlesOfParts>
  <Company>NCC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Information and Communications</dc:subject>
  <dc:creator>Scarlet McCourt</dc:creator>
  <cp:lastModifiedBy>Helen Manser</cp:lastModifiedBy>
  <cp:revision>40</cp:revision>
  <dcterms:created xsi:type="dcterms:W3CDTF">2017-07-03T13:03:55Z</dcterms:created>
  <dcterms:modified xsi:type="dcterms:W3CDTF">2025-06-03T16:16:27Z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0x010100260882D285008B449534F1CC8720F8A5</vt:lpwstr>
  </property>
</Properties>
</file>