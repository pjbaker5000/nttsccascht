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59" r:id="rId2"/>
    <p:sldId id="260" r:id="rId3"/>
    <p:sldId id="261" r:id="rId4"/>
    <p:sldId id="262" r:id="rId5"/>
    <p:sldId id="263" r:id="rId6"/>
    <p:sldId id="264" r:id="rId7"/>
    <p:sldId id="265" r:id="rId8"/>
    <p:sldId id="266" r:id="rId9"/>
    <p:sldId id="267" r:id="rId10"/>
    <p:sldId id="268" r:id="rId11"/>
    <p:sldId id="269" r:id="rId12"/>
    <p:sldId id="286" r:id="rId13"/>
    <p:sldId id="287" r:id="rId14"/>
    <p:sldId id="270" r:id="rId15"/>
    <p:sldId id="271" r:id="rId16"/>
    <p:sldId id="272" r:id="rId17"/>
    <p:sldId id="285" r:id="rId18"/>
    <p:sldId id="273" r:id="rId19"/>
    <p:sldId id="282" r:id="rId20"/>
    <p:sldId id="274" r:id="rId21"/>
    <p:sldId id="275" r:id="rId22"/>
    <p:sldId id="276" r:id="rId23"/>
    <p:sldId id="277" r:id="rId24"/>
    <p:sldId id="278" r:id="rId25"/>
    <p:sldId id="279" r:id="rId26"/>
    <p:sldId id="280" r:id="rId27"/>
    <p:sldId id="281" r:id="rId28"/>
    <p:sldId id="283" r:id="rId29"/>
    <p:sldId id="284" r:id="rId30"/>
  </p:sldIdLst>
  <p:sldSz cx="9144000" cy="6858000" type="screen4x3"/>
  <p:notesSz cx="6797675" cy="9926638"/>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Direct Payment Calculator" id="{60221E79-0FF8-4EF5-B482-33DB1AE42B61}">
          <p14:sldIdLst>
            <p14:sldId id="259"/>
          </p14:sldIdLst>
        </p14:section>
        <p14:section name="When will it change" id="{C91778D6-E9A8-4EBA-A9C1-021C58D9EC84}">
          <p14:sldIdLst>
            <p14:sldId id="260"/>
          </p14:sldIdLst>
        </p14:section>
        <p14:section name="What has changed" id="{4A0B1341-9932-4A73-95A2-1600F84BCAB5}">
          <p14:sldIdLst>
            <p14:sldId id="261"/>
            <p14:sldId id="262"/>
          </p14:sldIdLst>
        </p14:section>
        <p14:section name="How to find the new DP Calculator" id="{3CD0D387-6192-4763-BFC1-F5510CACD556}">
          <p14:sldIdLst>
            <p14:sldId id="263"/>
            <p14:sldId id="264"/>
          </p14:sldIdLst>
        </p14:section>
        <p14:section name="Completing the DP Calculator" id="{680173EB-F8BF-44C8-BCB7-0C7307FA47A4}">
          <p14:sldIdLst>
            <p14:sldId id="265"/>
          </p14:sldIdLst>
        </p14:section>
        <p14:section name="Agency / Self-Employed PA's" id="{2B833763-6551-4AFF-B6D4-F997FB6C8E56}">
          <p14:sldIdLst>
            <p14:sldId id="266"/>
            <p14:sldId id="267"/>
          </p14:sldIdLst>
        </p14:section>
        <p14:section name="Bank Holiday Rates" id="{860F985C-7218-41CD-AC48-4EAB4EE882F8}">
          <p14:sldIdLst>
            <p14:sldId id="268"/>
            <p14:sldId id="269"/>
          </p14:sldIdLst>
        </p14:section>
        <p14:section name="Average hourly rate" id="{C7015B37-9597-4F48-B366-F034408FE7C6}">
          <p14:sldIdLst>
            <p14:sldId id="286"/>
            <p14:sldId id="287"/>
          </p14:sldIdLst>
        </p14:section>
        <p14:section name="Day Services" id="{B45700CD-69DC-4F84-9223-D66E92068452}">
          <p14:sldIdLst>
            <p14:sldId id="270"/>
          </p14:sldIdLst>
        </p14:section>
        <p14:section name="Employed PA's" id="{1D868D22-BAFB-49E2-801F-DC7B6956AF5B}">
          <p14:sldIdLst>
            <p14:sldId id="271"/>
            <p14:sldId id="272"/>
          </p14:sldIdLst>
        </p14:section>
        <p14:section name="PA rate checker" id="{831B8EFF-4C7C-46D9-9906-5DEC404AEDA8}">
          <p14:sldIdLst>
            <p14:sldId id="285"/>
          </p14:sldIdLst>
        </p14:section>
        <p14:section name="Direct Payment Support Service" id="{C1AF88AC-AC7E-4215-A587-0165FEC26665}">
          <p14:sldIdLst>
            <p14:sldId id="273"/>
            <p14:sldId id="282"/>
          </p14:sldIdLst>
        </p14:section>
        <p14:section name="Summary Section" id="{59C101A5-F05F-4A62-A4FC-B96F24A2CAF0}">
          <p14:sldIdLst>
            <p14:sldId id="274"/>
          </p14:sldIdLst>
        </p14:section>
        <p14:section name="Cost Section 9 CASP" id="{9FA9371B-9E91-42DA-9E90-45287D8E40C6}">
          <p14:sldIdLst>
            <p14:sldId id="275"/>
            <p14:sldId id="276"/>
          </p14:sldIdLst>
        </p14:section>
        <p14:section name="Multiple Changes to support" id="{414001D8-67D4-454A-9146-B64D8134001D}">
          <p14:sldIdLst>
            <p14:sldId id="277"/>
            <p14:sldId id="278"/>
            <p14:sldId id="279"/>
            <p14:sldId id="280"/>
          </p14:sldIdLst>
        </p14:section>
        <p14:section name="How to PDF DP Calculator" id="{E2A65A20-CD39-4E11-A0CF-E699596F8520}">
          <p14:sldIdLst>
            <p14:sldId id="281"/>
          </p14:sldIdLst>
        </p14:section>
        <p14:section name="Uplifts" id="{8E40E933-DEA6-4B0C-8050-CADB49DBA9F5}">
          <p14:sldIdLst>
            <p14:sldId id="283"/>
          </p14:sldIdLst>
        </p14:section>
        <p14:section name="DIT rules for commissioning" id="{355E6A04-8BF4-4810-8F69-BF6D81EA8F16}">
          <p14:sldIdLst>
            <p14:sldId id="28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9" autoAdjust="0"/>
    <p:restoredTop sz="94660" autoAdjust="0"/>
  </p:normalViewPr>
  <p:slideViewPr>
    <p:cSldViewPr snapToGrid="0">
      <p:cViewPr varScale="1">
        <p:scale>
          <a:sx n="80" d="100"/>
          <a:sy n="80" d="100"/>
        </p:scale>
        <p:origin x="712" y="4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1563688"/>
            <a:ext cx="7772400" cy="1470025"/>
          </a:xfrm>
        </p:spPr>
        <p:txBody>
          <a:bodyPr/>
          <a:lstStyle>
            <a:lvl1pPr>
              <a:defRPr sz="4800"/>
            </a:lvl1pPr>
          </a:lstStyle>
          <a:p>
            <a:pPr lvl="0"/>
            <a:r>
              <a:rPr lang="en-US" altLang="en-US" noProof="0"/>
              <a:t>Click to edit Master title style</a:t>
            </a:r>
            <a:endParaRPr lang="en-GB" altLang="en-US" noProof="0"/>
          </a:p>
        </p:txBody>
      </p:sp>
      <p:sp>
        <p:nvSpPr>
          <p:cNvPr id="11267" name="Rectangle 3"/>
          <p:cNvSpPr>
            <a:spLocks noGrp="1" noChangeArrowheads="1"/>
          </p:cNvSpPr>
          <p:nvPr>
            <p:ph type="subTitle" idx="1"/>
          </p:nvPr>
        </p:nvSpPr>
        <p:spPr>
          <a:xfrm>
            <a:off x="1371600" y="3319463"/>
            <a:ext cx="6400800" cy="1752600"/>
          </a:xfrm>
        </p:spPr>
        <p:txBody>
          <a:bodyPr/>
          <a:lstStyle>
            <a:lvl1pPr marL="0" indent="0" algn="ctr">
              <a:buFontTx/>
              <a:buNone/>
              <a:defRPr/>
            </a:lvl1pPr>
          </a:lstStyle>
          <a:p>
            <a:pPr lvl="0"/>
            <a:r>
              <a:rPr lang="en-US" altLang="en-US" noProof="0"/>
              <a:t>Click to edit Master subtitle style</a:t>
            </a:r>
            <a:endParaRPr lang="en-GB" altLang="en-US" noProof="0"/>
          </a:p>
        </p:txBody>
      </p:sp>
      <p:pic>
        <p:nvPicPr>
          <p:cNvPr id="5" name="Picture 14" descr="PowerPoint Banner Small"/>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905500"/>
            <a:ext cx="9144000" cy="95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33300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258756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343025"/>
            <a:ext cx="4038600" cy="432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343025"/>
            <a:ext cx="4038600" cy="432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33810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43218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32528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9075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21989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44110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29415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39591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3959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46186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bwMode="auto">
          <a:xfrm>
            <a:off x="457200" y="1343025"/>
            <a:ext cx="8229600" cy="432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Text here (level one)</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51" name="Rectangle 1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pic>
        <p:nvPicPr>
          <p:cNvPr id="10254" name="Picture 14" descr="PowerPoint Banner Small"/>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905500"/>
            <a:ext cx="9144000" cy="95250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1" fontAlgn="base" hangingPunct="1">
        <a:spcBef>
          <a:spcPct val="0"/>
        </a:spcBef>
        <a:spcAft>
          <a:spcPct val="0"/>
        </a:spcAft>
        <a:defRPr sz="3600" kern="1200">
          <a:solidFill>
            <a:schemeClr val="tx1"/>
          </a:solidFill>
          <a:latin typeface="+mj-lt"/>
          <a:ea typeface="+mj-ea"/>
          <a:cs typeface="+mj-cs"/>
        </a:defRPr>
      </a:lvl1pPr>
      <a:lvl2pPr algn="ctr" rtl="0" eaLnBrk="1" fontAlgn="base" hangingPunct="1">
        <a:spcBef>
          <a:spcPct val="0"/>
        </a:spcBef>
        <a:spcAft>
          <a:spcPct val="0"/>
        </a:spcAft>
        <a:defRPr sz="3600">
          <a:solidFill>
            <a:schemeClr val="tx1"/>
          </a:solidFill>
          <a:latin typeface="Arial Black" panose="020B0A04020102020204" pitchFamily="34" charset="0"/>
        </a:defRPr>
      </a:lvl2pPr>
      <a:lvl3pPr algn="ctr" rtl="0" eaLnBrk="1" fontAlgn="base" hangingPunct="1">
        <a:spcBef>
          <a:spcPct val="0"/>
        </a:spcBef>
        <a:spcAft>
          <a:spcPct val="0"/>
        </a:spcAft>
        <a:defRPr sz="3600">
          <a:solidFill>
            <a:schemeClr val="tx1"/>
          </a:solidFill>
          <a:latin typeface="Arial Black" panose="020B0A04020102020204" pitchFamily="34" charset="0"/>
        </a:defRPr>
      </a:lvl3pPr>
      <a:lvl4pPr algn="ctr" rtl="0" eaLnBrk="1" fontAlgn="base" hangingPunct="1">
        <a:spcBef>
          <a:spcPct val="0"/>
        </a:spcBef>
        <a:spcAft>
          <a:spcPct val="0"/>
        </a:spcAft>
        <a:defRPr sz="3600">
          <a:solidFill>
            <a:schemeClr val="tx1"/>
          </a:solidFill>
          <a:latin typeface="Arial Black" panose="020B0A04020102020204" pitchFamily="34" charset="0"/>
        </a:defRPr>
      </a:lvl4pPr>
      <a:lvl5pPr algn="ctr" rtl="0" eaLnBrk="1" fontAlgn="base" hangingPunct="1">
        <a:spcBef>
          <a:spcPct val="0"/>
        </a:spcBef>
        <a:spcAft>
          <a:spcPct val="0"/>
        </a:spcAft>
        <a:defRPr sz="3600">
          <a:solidFill>
            <a:schemeClr val="tx1"/>
          </a:solidFill>
          <a:latin typeface="Arial Black" panose="020B0A04020102020204" pitchFamily="34" charset="0"/>
        </a:defRPr>
      </a:lvl5pPr>
      <a:lvl6pPr marL="457200" algn="ctr" rtl="0" eaLnBrk="1" fontAlgn="base" hangingPunct="1">
        <a:spcBef>
          <a:spcPct val="0"/>
        </a:spcBef>
        <a:spcAft>
          <a:spcPct val="0"/>
        </a:spcAft>
        <a:defRPr sz="3600">
          <a:solidFill>
            <a:schemeClr val="tx1"/>
          </a:solidFill>
          <a:latin typeface="Arial Black" panose="020B0A04020102020204" pitchFamily="34" charset="0"/>
        </a:defRPr>
      </a:lvl6pPr>
      <a:lvl7pPr marL="914400" algn="ctr" rtl="0" eaLnBrk="1" fontAlgn="base" hangingPunct="1">
        <a:spcBef>
          <a:spcPct val="0"/>
        </a:spcBef>
        <a:spcAft>
          <a:spcPct val="0"/>
        </a:spcAft>
        <a:defRPr sz="3600">
          <a:solidFill>
            <a:schemeClr val="tx1"/>
          </a:solidFill>
          <a:latin typeface="Arial Black" panose="020B0A04020102020204" pitchFamily="34" charset="0"/>
        </a:defRPr>
      </a:lvl7pPr>
      <a:lvl8pPr marL="1371600" algn="ctr" rtl="0" eaLnBrk="1" fontAlgn="base" hangingPunct="1">
        <a:spcBef>
          <a:spcPct val="0"/>
        </a:spcBef>
        <a:spcAft>
          <a:spcPct val="0"/>
        </a:spcAft>
        <a:defRPr sz="3600">
          <a:solidFill>
            <a:schemeClr val="tx1"/>
          </a:solidFill>
          <a:latin typeface="Arial Black" panose="020B0A04020102020204" pitchFamily="34" charset="0"/>
        </a:defRPr>
      </a:lvl8pPr>
      <a:lvl9pPr marL="1828800" algn="ctr" rtl="0" eaLnBrk="1" fontAlgn="base" hangingPunct="1">
        <a:spcBef>
          <a:spcPct val="0"/>
        </a:spcBef>
        <a:spcAft>
          <a:spcPct val="0"/>
        </a:spcAft>
        <a:defRPr sz="3600">
          <a:solidFill>
            <a:schemeClr val="tx1"/>
          </a:solidFill>
          <a:latin typeface="Arial Black" panose="020B0A040201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home.nottscc.gov.uk/working/departments/asch/promoting-independence-care-act/home-car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home.nottscc.gov.uk/media/2890121/directpaymenttop-upagreement.docx" TargetMode="External"/><Relationship Id="rId2" Type="http://schemas.openxmlformats.org/officeDocument/2006/relationships/hyperlink" Target="file:///C:\Users\nm142\Downloads\direct-payments-staff-guidance-updated-oct2020v1.docx"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ctrTitle"/>
          </p:nvPr>
        </p:nvSpPr>
        <p:spPr>
          <a:xfrm>
            <a:off x="741459" y="604299"/>
            <a:ext cx="7772400" cy="2886323"/>
          </a:xfrm>
        </p:spPr>
        <p:txBody>
          <a:bodyPr/>
          <a:lstStyle/>
          <a:p>
            <a:r>
              <a:rPr lang="en-GB" altLang="en-US" dirty="0"/>
              <a:t>Direct Payment Calculator built in Mosaic Care and Support Plan</a:t>
            </a:r>
          </a:p>
        </p:txBody>
      </p:sp>
      <p:sp>
        <p:nvSpPr>
          <p:cNvPr id="8197" name="Rectangle 5"/>
          <p:cNvSpPr>
            <a:spLocks noGrp="1" noChangeArrowheads="1"/>
          </p:cNvSpPr>
          <p:nvPr>
            <p:ph type="subTitle" idx="1"/>
          </p:nvPr>
        </p:nvSpPr>
        <p:spPr>
          <a:xfrm>
            <a:off x="1371600" y="3869801"/>
            <a:ext cx="6400800" cy="1752600"/>
          </a:xfrm>
        </p:spPr>
        <p:txBody>
          <a:bodyPr/>
          <a:lstStyle/>
          <a:p>
            <a:r>
              <a:rPr lang="en-GB" altLang="en-US" dirty="0"/>
              <a:t>The Direct Payment Enquiries 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ln/>
        </p:spPr>
        <p:txBody>
          <a:bodyPr/>
          <a:lstStyle/>
          <a:p>
            <a:r>
              <a:rPr lang="en-US" altLang="en-US" dirty="0"/>
              <a:t>What has changed?</a:t>
            </a:r>
          </a:p>
        </p:txBody>
      </p:sp>
      <p:sp>
        <p:nvSpPr>
          <p:cNvPr id="27651" name="Rectangle 3"/>
          <p:cNvSpPr>
            <a:spLocks noGrp="1" noChangeArrowheads="1"/>
          </p:cNvSpPr>
          <p:nvPr>
            <p:ph type="body" idx="1"/>
          </p:nvPr>
        </p:nvSpPr>
        <p:spPr/>
        <p:txBody>
          <a:bodyPr/>
          <a:lstStyle/>
          <a:p>
            <a:r>
              <a:rPr lang="en-GB" altLang="en-US" dirty="0"/>
              <a:t>From </a:t>
            </a:r>
            <a:r>
              <a:rPr lang="en-GB" altLang="en-US" b="1" dirty="0"/>
              <a:t>15</a:t>
            </a:r>
            <a:r>
              <a:rPr lang="en-GB" altLang="en-US" b="1" baseline="30000" dirty="0"/>
              <a:t>th</a:t>
            </a:r>
            <a:r>
              <a:rPr lang="en-GB" altLang="en-US" b="1" dirty="0"/>
              <a:t> November 2021 </a:t>
            </a:r>
            <a:r>
              <a:rPr lang="en-GB" altLang="en-US" dirty="0"/>
              <a:t>the Direct Payment Calculator will be available in the Care and support plan and the Review of Care and support plan. </a:t>
            </a:r>
          </a:p>
          <a:p>
            <a:r>
              <a:rPr lang="en-GB" altLang="en-US" dirty="0"/>
              <a:t>From </a:t>
            </a:r>
            <a:r>
              <a:rPr lang="en-GB" altLang="en-US" b="1" dirty="0"/>
              <a:t>31</a:t>
            </a:r>
            <a:r>
              <a:rPr lang="en-GB" altLang="en-US" b="1" baseline="30000" dirty="0"/>
              <a:t>st</a:t>
            </a:r>
            <a:r>
              <a:rPr lang="en-GB" altLang="en-US" b="1" dirty="0"/>
              <a:t> December 2021 </a:t>
            </a:r>
            <a:r>
              <a:rPr lang="en-GB" altLang="en-US" dirty="0"/>
              <a:t>the excel version will </a:t>
            </a:r>
            <a:r>
              <a:rPr lang="en-GB" altLang="en-US" u="sng" dirty="0"/>
              <a:t>not </a:t>
            </a:r>
            <a:r>
              <a:rPr lang="en-GB" altLang="en-US" dirty="0"/>
              <a:t>be available  </a:t>
            </a:r>
          </a:p>
        </p:txBody>
      </p:sp>
      <p:sp>
        <p:nvSpPr>
          <p:cNvPr id="27652" name="Text Box 4"/>
          <p:cNvSpPr txBox="1">
            <a:spLocks noChangeArrowheads="1"/>
          </p:cNvSpPr>
          <p:nvPr/>
        </p:nvSpPr>
        <p:spPr bwMode="auto">
          <a:xfrm>
            <a:off x="2976563" y="6057900"/>
            <a:ext cx="59721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GB" altLang="en-US" sz="3200">
                <a:solidFill>
                  <a:schemeClr val="bg1"/>
                </a:solidFill>
              </a:rPr>
              <a:t>Presentation title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2A13C-9D9A-48BD-B9B5-882A583958A9}"/>
              </a:ext>
            </a:extLst>
          </p:cNvPr>
          <p:cNvSpPr>
            <a:spLocks noGrp="1"/>
          </p:cNvSpPr>
          <p:nvPr>
            <p:ph type="title"/>
          </p:nvPr>
        </p:nvSpPr>
        <p:spPr/>
        <p:txBody>
          <a:bodyPr/>
          <a:lstStyle/>
          <a:p>
            <a:r>
              <a:rPr lang="en-GB" dirty="0"/>
              <a:t>What has changed?</a:t>
            </a:r>
          </a:p>
        </p:txBody>
      </p:sp>
      <p:sp>
        <p:nvSpPr>
          <p:cNvPr id="3" name="Content Placeholder 2">
            <a:extLst>
              <a:ext uri="{FF2B5EF4-FFF2-40B4-BE49-F238E27FC236}">
                <a16:creationId xmlns:a16="http://schemas.microsoft.com/office/drawing/2014/main" id="{0E385C95-13E1-4C23-9D98-FD577CBBF604}"/>
              </a:ext>
            </a:extLst>
          </p:cNvPr>
          <p:cNvSpPr>
            <a:spLocks noGrp="1"/>
          </p:cNvSpPr>
          <p:nvPr>
            <p:ph idx="1"/>
          </p:nvPr>
        </p:nvSpPr>
        <p:spPr/>
        <p:txBody>
          <a:bodyPr/>
          <a:lstStyle/>
          <a:p>
            <a:pPr marL="0" indent="0">
              <a:buNone/>
            </a:pPr>
            <a:r>
              <a:rPr lang="en-GB" sz="2800" dirty="0"/>
              <a:t>The Mosaic version of the DP Calculator is an improved version of the excel version;</a:t>
            </a:r>
          </a:p>
          <a:p>
            <a:r>
              <a:rPr lang="en-GB" sz="2800" dirty="0"/>
              <a:t>It will now work out the average hourly rate for agencies that charge different rates for different length of calls and/or bank holidays/weekends</a:t>
            </a:r>
          </a:p>
          <a:p>
            <a:r>
              <a:rPr lang="en-GB" sz="2800" dirty="0"/>
              <a:t>You do not need to complete a Direct Payment Calculator for each change where there are multiple changes in one step</a:t>
            </a:r>
          </a:p>
          <a:p>
            <a:endParaRPr lang="en-GB" sz="2800" dirty="0"/>
          </a:p>
          <a:p>
            <a:endParaRPr lang="en-GB" dirty="0"/>
          </a:p>
          <a:p>
            <a:endParaRPr lang="en-GB" dirty="0"/>
          </a:p>
        </p:txBody>
      </p:sp>
    </p:spTree>
    <p:extLst>
      <p:ext uri="{BB962C8B-B14F-4D97-AF65-F5344CB8AC3E}">
        <p14:creationId xmlns:p14="http://schemas.microsoft.com/office/powerpoint/2010/main" val="3574140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D4166-5887-4B69-BB25-4D5D189DBF19}"/>
              </a:ext>
            </a:extLst>
          </p:cNvPr>
          <p:cNvSpPr>
            <a:spLocks noGrp="1"/>
          </p:cNvSpPr>
          <p:nvPr>
            <p:ph type="title"/>
          </p:nvPr>
        </p:nvSpPr>
        <p:spPr>
          <a:xfrm>
            <a:off x="457200" y="274637"/>
            <a:ext cx="8229600" cy="1291769"/>
          </a:xfrm>
        </p:spPr>
        <p:txBody>
          <a:bodyPr/>
          <a:lstStyle/>
          <a:p>
            <a:r>
              <a:rPr lang="en-GB" dirty="0"/>
              <a:t>When is a DP Calculator required?</a:t>
            </a:r>
          </a:p>
        </p:txBody>
      </p:sp>
      <p:sp>
        <p:nvSpPr>
          <p:cNvPr id="3" name="Content Placeholder 2">
            <a:extLst>
              <a:ext uri="{FF2B5EF4-FFF2-40B4-BE49-F238E27FC236}">
                <a16:creationId xmlns:a16="http://schemas.microsoft.com/office/drawing/2014/main" id="{FF5B6751-C1BB-4976-B095-657408F00E4C}"/>
              </a:ext>
            </a:extLst>
          </p:cNvPr>
          <p:cNvSpPr>
            <a:spLocks noGrp="1"/>
          </p:cNvSpPr>
          <p:nvPr>
            <p:ph idx="1"/>
          </p:nvPr>
        </p:nvSpPr>
        <p:spPr>
          <a:xfrm>
            <a:off x="457200" y="1502797"/>
            <a:ext cx="8229600" cy="4167753"/>
          </a:xfrm>
        </p:spPr>
        <p:txBody>
          <a:bodyPr/>
          <a:lstStyle/>
          <a:p>
            <a:r>
              <a:rPr lang="en-GB" dirty="0"/>
              <a:t>A DP Calculator is </a:t>
            </a:r>
            <a:r>
              <a:rPr lang="en-GB" b="1" dirty="0"/>
              <a:t>always</a:t>
            </a:r>
            <a:r>
              <a:rPr lang="en-GB" dirty="0"/>
              <a:t> required where a Personal Assistant is used for support</a:t>
            </a:r>
          </a:p>
          <a:p>
            <a:r>
              <a:rPr lang="en-GB" dirty="0"/>
              <a:t>You </a:t>
            </a:r>
            <a:r>
              <a:rPr lang="en-GB" b="1" dirty="0"/>
              <a:t>do not </a:t>
            </a:r>
            <a:r>
              <a:rPr lang="en-GB" dirty="0"/>
              <a:t>need a DP Calculator where you are using an Agency/Day Service only (It can be completed to support with calculating variable rates to provide an average hourly rate)</a:t>
            </a:r>
          </a:p>
        </p:txBody>
      </p:sp>
    </p:spTree>
    <p:extLst>
      <p:ext uri="{BB962C8B-B14F-4D97-AF65-F5344CB8AC3E}">
        <p14:creationId xmlns:p14="http://schemas.microsoft.com/office/powerpoint/2010/main" val="3054860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867B2-52C1-443C-854C-F0BF35D8FD54}"/>
              </a:ext>
            </a:extLst>
          </p:cNvPr>
          <p:cNvSpPr>
            <a:spLocks noGrp="1"/>
          </p:cNvSpPr>
          <p:nvPr>
            <p:ph type="title"/>
          </p:nvPr>
        </p:nvSpPr>
        <p:spPr/>
        <p:txBody>
          <a:bodyPr/>
          <a:lstStyle/>
          <a:p>
            <a:r>
              <a:rPr lang="en-GB" dirty="0"/>
              <a:t>Where is the DP Calculator?</a:t>
            </a:r>
          </a:p>
        </p:txBody>
      </p:sp>
      <p:sp>
        <p:nvSpPr>
          <p:cNvPr id="3" name="Content Placeholder 2">
            <a:extLst>
              <a:ext uri="{FF2B5EF4-FFF2-40B4-BE49-F238E27FC236}">
                <a16:creationId xmlns:a16="http://schemas.microsoft.com/office/drawing/2014/main" id="{A0BF46EE-82B2-4F48-87FB-D6E8410B846F}"/>
              </a:ext>
            </a:extLst>
          </p:cNvPr>
          <p:cNvSpPr>
            <a:spLocks noGrp="1"/>
          </p:cNvSpPr>
          <p:nvPr>
            <p:ph idx="1"/>
          </p:nvPr>
        </p:nvSpPr>
        <p:spPr/>
        <p:txBody>
          <a:bodyPr/>
          <a:lstStyle/>
          <a:p>
            <a:pPr marL="0" indent="0">
              <a:buNone/>
            </a:pPr>
            <a:r>
              <a:rPr lang="en-GB" dirty="0"/>
              <a:t>Care and Support Plan/Review of Care and Support Plan </a:t>
            </a:r>
            <a:r>
              <a:rPr lang="en-GB" b="1" dirty="0"/>
              <a:t>Section 8 – DP Calculator </a:t>
            </a:r>
          </a:p>
          <a:p>
            <a:pPr marL="0" indent="0">
              <a:buNone/>
            </a:pPr>
            <a:endParaRPr lang="en-GB" b="1" dirty="0"/>
          </a:p>
        </p:txBody>
      </p:sp>
      <p:pic>
        <p:nvPicPr>
          <p:cNvPr id="4" name="Picture 3">
            <a:extLst>
              <a:ext uri="{FF2B5EF4-FFF2-40B4-BE49-F238E27FC236}">
                <a16:creationId xmlns:a16="http://schemas.microsoft.com/office/drawing/2014/main" id="{CC4E5927-EF85-4DE3-9721-59FFBB6C4B29}"/>
              </a:ext>
            </a:extLst>
          </p:cNvPr>
          <p:cNvPicPr>
            <a:picLocks noChangeAspect="1"/>
          </p:cNvPicPr>
          <p:nvPr/>
        </p:nvPicPr>
        <p:blipFill>
          <a:blip r:embed="rId2"/>
          <a:stretch>
            <a:fillRect/>
          </a:stretch>
        </p:blipFill>
        <p:spPr>
          <a:xfrm>
            <a:off x="1132845" y="2486025"/>
            <a:ext cx="7018622" cy="3093781"/>
          </a:xfrm>
          <a:prstGeom prst="rect">
            <a:avLst/>
          </a:prstGeom>
        </p:spPr>
      </p:pic>
      <p:sp>
        <p:nvSpPr>
          <p:cNvPr id="5" name="Rectangle 4">
            <a:extLst>
              <a:ext uri="{FF2B5EF4-FFF2-40B4-BE49-F238E27FC236}">
                <a16:creationId xmlns:a16="http://schemas.microsoft.com/office/drawing/2014/main" id="{0E31AB0D-C9F1-40ED-9A8A-A79745EEE39B}"/>
              </a:ext>
            </a:extLst>
          </p:cNvPr>
          <p:cNvSpPr/>
          <p:nvPr/>
        </p:nvSpPr>
        <p:spPr>
          <a:xfrm>
            <a:off x="1068149" y="4919958"/>
            <a:ext cx="1440382" cy="2427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32529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9AEDF-6054-4363-BC9B-B43185E96C05}"/>
              </a:ext>
            </a:extLst>
          </p:cNvPr>
          <p:cNvSpPr>
            <a:spLocks noGrp="1"/>
          </p:cNvSpPr>
          <p:nvPr>
            <p:ph type="title"/>
          </p:nvPr>
        </p:nvSpPr>
        <p:spPr/>
        <p:txBody>
          <a:bodyPr/>
          <a:lstStyle/>
          <a:p>
            <a:r>
              <a:rPr lang="en-GB" dirty="0"/>
              <a:t>How do I access the DP Calculator?</a:t>
            </a:r>
          </a:p>
        </p:txBody>
      </p:sp>
      <p:sp>
        <p:nvSpPr>
          <p:cNvPr id="3" name="Content Placeholder 2">
            <a:extLst>
              <a:ext uri="{FF2B5EF4-FFF2-40B4-BE49-F238E27FC236}">
                <a16:creationId xmlns:a16="http://schemas.microsoft.com/office/drawing/2014/main" id="{0AC0B24F-83CC-4330-99D7-D84D50F36A96}"/>
              </a:ext>
            </a:extLst>
          </p:cNvPr>
          <p:cNvSpPr>
            <a:spLocks noGrp="1"/>
          </p:cNvSpPr>
          <p:nvPr>
            <p:ph idx="1"/>
          </p:nvPr>
        </p:nvSpPr>
        <p:spPr/>
        <p:txBody>
          <a:bodyPr/>
          <a:lstStyle/>
          <a:p>
            <a:pPr lvl="0">
              <a:lnSpc>
                <a:spcPct val="107000"/>
              </a:lnSpc>
              <a:buFont typeface="Symbol" panose="05050102010706020507" pitchFamily="18" charset="2"/>
              <a:buChar char=""/>
            </a:pPr>
            <a:r>
              <a:rPr lang="en-GB" sz="1600" dirty="0">
                <a:ea typeface="Calibri" panose="020F0502020204030204" pitchFamily="34" charset="0"/>
                <a:cs typeface="Times New Roman" panose="02020603050405020304" pitchFamily="18" charset="0"/>
              </a:rPr>
              <a:t>Open a Care and Support Assessment / review of care and support assessment</a:t>
            </a:r>
          </a:p>
          <a:p>
            <a:pPr lvl="0">
              <a:lnSpc>
                <a:spcPct val="107000"/>
              </a:lnSpc>
              <a:buFont typeface="Symbol" panose="05050102010706020507" pitchFamily="18" charset="2"/>
              <a:buChar char=""/>
            </a:pPr>
            <a:r>
              <a:rPr lang="en-GB" sz="1600" dirty="0">
                <a:ea typeface="Calibri" panose="020F0502020204030204" pitchFamily="34" charset="0"/>
                <a:cs typeface="Times New Roman" panose="02020603050405020304" pitchFamily="18" charset="0"/>
              </a:rPr>
              <a:t>Add the Care and Support Plan / Review of care and support plan</a:t>
            </a:r>
          </a:p>
          <a:p>
            <a:pPr lvl="0">
              <a:lnSpc>
                <a:spcPct val="107000"/>
              </a:lnSpc>
              <a:buFont typeface="Symbol" panose="05050102010706020507" pitchFamily="18" charset="2"/>
              <a:buChar char=""/>
            </a:pPr>
            <a:r>
              <a:rPr lang="en-GB" sz="1600" dirty="0">
                <a:ea typeface="Calibri" panose="020F0502020204030204" pitchFamily="34" charset="0"/>
                <a:cs typeface="Times New Roman" panose="02020603050405020304" pitchFamily="18" charset="0"/>
              </a:rPr>
              <a:t>Complete section 7 my support, with the DP package information such as how will the DP be managed, what support will be purchased and Agency name if required. You will be able to see/use the DP Calculator at any time, but the DP Calculator tab will be </a:t>
            </a:r>
            <a:r>
              <a:rPr lang="en-GB" sz="1600" b="1" dirty="0">
                <a:ea typeface="Calibri" panose="020F0502020204030204" pitchFamily="34" charset="0"/>
                <a:cs typeface="Times New Roman" panose="02020603050405020304" pitchFamily="18" charset="0"/>
              </a:rPr>
              <a:t>mandatory where a PA is used</a:t>
            </a:r>
            <a:r>
              <a:rPr lang="en-GB" sz="1600" dirty="0">
                <a:ea typeface="Calibri" panose="020F0502020204030204" pitchFamily="34" charset="0"/>
                <a:cs typeface="Times New Roman" panose="02020603050405020304" pitchFamily="18" charset="0"/>
              </a:rPr>
              <a:t>/selected in section 7.</a:t>
            </a:r>
          </a:p>
          <a:p>
            <a:pPr lvl="0">
              <a:lnSpc>
                <a:spcPct val="107000"/>
              </a:lnSpc>
              <a:buFont typeface="Symbol" panose="05050102010706020507" pitchFamily="18" charset="2"/>
              <a:buChar char=""/>
            </a:pPr>
            <a:r>
              <a:rPr lang="en-GB" sz="1600" dirty="0">
                <a:ea typeface="Calibri" panose="020F0502020204030204" pitchFamily="34" charset="0"/>
                <a:cs typeface="Times New Roman" panose="02020603050405020304" pitchFamily="18" charset="0"/>
              </a:rPr>
              <a:t>Section 8 DP Calculator, start date required (most recent/current change only)</a:t>
            </a:r>
          </a:p>
          <a:p>
            <a:pPr lvl="0">
              <a:lnSpc>
                <a:spcPct val="107000"/>
              </a:lnSpc>
              <a:buFont typeface="Symbol" panose="05050102010706020507" pitchFamily="18" charset="2"/>
              <a:buChar char=""/>
            </a:pPr>
            <a:r>
              <a:rPr lang="en-GB" sz="1600" dirty="0">
                <a:ea typeface="Calibri" panose="020F0502020204030204" pitchFamily="34" charset="0"/>
                <a:cs typeface="Times New Roman" panose="02020603050405020304" pitchFamily="18" charset="0"/>
              </a:rPr>
              <a:t>Please select which services are going to be used, multiple options can be selected Agency/Self Employed PA’s, or Day services, Employed PA’s or any other weekly service which will then expand new sections out to be completed</a:t>
            </a:r>
          </a:p>
          <a:p>
            <a:pPr lvl="0">
              <a:lnSpc>
                <a:spcPct val="107000"/>
              </a:lnSpc>
              <a:spcAft>
                <a:spcPts val="800"/>
              </a:spcAft>
              <a:buFont typeface="Symbol" panose="05050102010706020507" pitchFamily="18" charset="2"/>
              <a:buChar char=""/>
            </a:pPr>
            <a:r>
              <a:rPr lang="en-GB" sz="1600" dirty="0">
                <a:ea typeface="Calibri" panose="020F0502020204030204" pitchFamily="34" charset="0"/>
                <a:cs typeface="Times New Roman" panose="02020603050405020304" pitchFamily="18" charset="0"/>
              </a:rPr>
              <a:t>Section 9 – Costs - Please complete the DPSS (if any) on this tab </a:t>
            </a:r>
            <a:r>
              <a:rPr lang="en-GB" sz="1600" b="1" u="sng" dirty="0">
                <a:ea typeface="Calibri" panose="020F0502020204030204" pitchFamily="34" charset="0"/>
                <a:cs typeface="Times New Roman" panose="02020603050405020304" pitchFamily="18" charset="0"/>
              </a:rPr>
              <a:t>before </a:t>
            </a:r>
            <a:r>
              <a:rPr lang="en-GB" sz="1600" dirty="0">
                <a:ea typeface="Calibri" panose="020F0502020204030204" pitchFamily="34" charset="0"/>
                <a:cs typeface="Times New Roman" panose="02020603050405020304" pitchFamily="18" charset="0"/>
              </a:rPr>
              <a:t>you complete the DP Calculator tab, as the DPSS costs pull through so that this is calculated in the personal budget, but NOT the total on-going costs</a:t>
            </a:r>
          </a:p>
          <a:p>
            <a:endParaRPr lang="en-GB" dirty="0"/>
          </a:p>
        </p:txBody>
      </p:sp>
    </p:spTree>
    <p:extLst>
      <p:ext uri="{BB962C8B-B14F-4D97-AF65-F5344CB8AC3E}">
        <p14:creationId xmlns:p14="http://schemas.microsoft.com/office/powerpoint/2010/main" val="3094277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45B54-4498-4196-B4D5-A03836F6BC02}"/>
              </a:ext>
            </a:extLst>
          </p:cNvPr>
          <p:cNvSpPr>
            <a:spLocks noGrp="1"/>
          </p:cNvSpPr>
          <p:nvPr>
            <p:ph type="title"/>
          </p:nvPr>
        </p:nvSpPr>
        <p:spPr/>
        <p:txBody>
          <a:bodyPr/>
          <a:lstStyle/>
          <a:p>
            <a:r>
              <a:rPr lang="en-GB" dirty="0"/>
              <a:t>If the DP Calculator is NOT required</a:t>
            </a:r>
          </a:p>
        </p:txBody>
      </p:sp>
      <p:sp>
        <p:nvSpPr>
          <p:cNvPr id="3" name="Content Placeholder 2">
            <a:extLst>
              <a:ext uri="{FF2B5EF4-FFF2-40B4-BE49-F238E27FC236}">
                <a16:creationId xmlns:a16="http://schemas.microsoft.com/office/drawing/2014/main" id="{689E42E5-53C8-4577-8AEA-13398FC0CC37}"/>
              </a:ext>
            </a:extLst>
          </p:cNvPr>
          <p:cNvSpPr>
            <a:spLocks noGrp="1"/>
          </p:cNvSpPr>
          <p:nvPr>
            <p:ph idx="1"/>
          </p:nvPr>
        </p:nvSpPr>
        <p:spPr/>
        <p:txBody>
          <a:bodyPr/>
          <a:lstStyle/>
          <a:p>
            <a:pPr marL="0" indent="0">
              <a:buNone/>
            </a:pPr>
            <a:r>
              <a:rPr lang="en-GB" sz="1600" dirty="0"/>
              <a:t>Where the DP Calculator is showing as mandatory but you do not have a PA or DPSS provider in place, please input the start date of the DP into the DP Calculator, and select not applicable to the contracted DPSS question:</a:t>
            </a:r>
          </a:p>
          <a:p>
            <a:pPr marL="0" indent="0">
              <a:buNone/>
            </a:pPr>
            <a:endParaRPr lang="en-GB" sz="1600" dirty="0"/>
          </a:p>
        </p:txBody>
      </p:sp>
      <p:pic>
        <p:nvPicPr>
          <p:cNvPr id="4" name="Picture 3">
            <a:extLst>
              <a:ext uri="{FF2B5EF4-FFF2-40B4-BE49-F238E27FC236}">
                <a16:creationId xmlns:a16="http://schemas.microsoft.com/office/drawing/2014/main" id="{5F0A3968-B56C-4A6C-80B5-3168708B25C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09070"/>
            <a:ext cx="4894580" cy="3178175"/>
          </a:xfrm>
          <a:prstGeom prst="rect">
            <a:avLst/>
          </a:prstGeom>
          <a:noFill/>
          <a:ln>
            <a:noFill/>
          </a:ln>
        </p:spPr>
      </p:pic>
    </p:spTree>
    <p:extLst>
      <p:ext uri="{BB962C8B-B14F-4D97-AF65-F5344CB8AC3E}">
        <p14:creationId xmlns:p14="http://schemas.microsoft.com/office/powerpoint/2010/main" val="3648072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6BC8A-CE81-4DCB-A723-654A324D25AD}"/>
              </a:ext>
            </a:extLst>
          </p:cNvPr>
          <p:cNvSpPr>
            <a:spLocks noGrp="1"/>
          </p:cNvSpPr>
          <p:nvPr>
            <p:ph type="title"/>
          </p:nvPr>
        </p:nvSpPr>
        <p:spPr/>
        <p:txBody>
          <a:bodyPr/>
          <a:lstStyle/>
          <a:p>
            <a:r>
              <a:rPr lang="en-GB" dirty="0"/>
              <a:t>Agencies and Self employed PA’s</a:t>
            </a:r>
          </a:p>
        </p:txBody>
      </p:sp>
      <p:pic>
        <p:nvPicPr>
          <p:cNvPr id="4" name="Content Placeholder 3">
            <a:extLst>
              <a:ext uri="{FF2B5EF4-FFF2-40B4-BE49-F238E27FC236}">
                <a16:creationId xmlns:a16="http://schemas.microsoft.com/office/drawing/2014/main" id="{9CE3A826-DBCC-4807-A874-D3AE239D91FE}"/>
              </a:ext>
            </a:extLst>
          </p:cNvPr>
          <p:cNvPicPr>
            <a:picLocks noGrp="1" noChangeAspect="1"/>
          </p:cNvPicPr>
          <p:nvPr>
            <p:ph sz="half" idx="1"/>
          </p:nvPr>
        </p:nvPicPr>
        <p:blipFill>
          <a:blip r:embed="rId2"/>
          <a:stretch>
            <a:fillRect/>
          </a:stretch>
        </p:blipFill>
        <p:spPr>
          <a:xfrm>
            <a:off x="554376" y="1343025"/>
            <a:ext cx="3844248" cy="4327525"/>
          </a:xfrm>
          <a:prstGeom prst="rect">
            <a:avLst/>
          </a:prstGeom>
        </p:spPr>
      </p:pic>
      <p:sp>
        <p:nvSpPr>
          <p:cNvPr id="5" name="Content Placeholder 4">
            <a:extLst>
              <a:ext uri="{FF2B5EF4-FFF2-40B4-BE49-F238E27FC236}">
                <a16:creationId xmlns:a16="http://schemas.microsoft.com/office/drawing/2014/main" id="{3FF4922D-AD91-43CA-A7E0-6BFFEB201EBF}"/>
              </a:ext>
            </a:extLst>
          </p:cNvPr>
          <p:cNvSpPr>
            <a:spLocks noGrp="1"/>
          </p:cNvSpPr>
          <p:nvPr>
            <p:ph sz="half" idx="2"/>
          </p:nvPr>
        </p:nvSpPr>
        <p:spPr/>
        <p:txBody>
          <a:bodyPr/>
          <a:lstStyle/>
          <a:p>
            <a:pPr marL="0" indent="0">
              <a:lnSpc>
                <a:spcPct val="107000"/>
              </a:lnSpc>
              <a:spcAft>
                <a:spcPts val="800"/>
              </a:spcAft>
              <a:buNone/>
            </a:pPr>
            <a:r>
              <a:rPr lang="en-GB" sz="1800" dirty="0">
                <a:ea typeface="Calibri" panose="020F0502020204030204" pitchFamily="34" charset="0"/>
                <a:cs typeface="Times New Roman" panose="02020603050405020304" pitchFamily="18" charset="0"/>
              </a:rPr>
              <a:t>Please click </a:t>
            </a:r>
            <a:r>
              <a:rPr lang="en-GB" sz="1800" dirty="0">
                <a:highlight>
                  <a:srgbClr val="FFFF00"/>
                </a:highlight>
                <a:ea typeface="Calibri" panose="020F0502020204030204" pitchFamily="34" charset="0"/>
                <a:cs typeface="Times New Roman" panose="02020603050405020304" pitchFamily="18" charset="0"/>
              </a:rPr>
              <a:t>add</a:t>
            </a:r>
            <a:r>
              <a:rPr lang="en-GB" sz="1800" dirty="0">
                <a:ea typeface="Calibri" panose="020F0502020204030204" pitchFamily="34" charset="0"/>
                <a:cs typeface="Times New Roman" panose="02020603050405020304" pitchFamily="18" charset="0"/>
              </a:rPr>
              <a:t> to input the Agency/Self-employed PA name, day (weekday, evening, weekend where rates are different), length of call (15/30/45/60mins) the rate per call, the number of visits per week (NOT HOURS), the number of carers, this will then work out the costs/total hours for you, please remember to click refresh each time you add a service.</a:t>
            </a:r>
          </a:p>
          <a:p>
            <a:pPr marL="0" indent="0">
              <a:buNone/>
            </a:pPr>
            <a:endParaRPr lang="en-GB" dirty="0"/>
          </a:p>
        </p:txBody>
      </p:sp>
    </p:spTree>
    <p:extLst>
      <p:ext uri="{BB962C8B-B14F-4D97-AF65-F5344CB8AC3E}">
        <p14:creationId xmlns:p14="http://schemas.microsoft.com/office/powerpoint/2010/main" val="1796362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713A1-9E3B-451B-8A85-BDD863B0D415}"/>
              </a:ext>
            </a:extLst>
          </p:cNvPr>
          <p:cNvSpPr>
            <a:spLocks noGrp="1"/>
          </p:cNvSpPr>
          <p:nvPr>
            <p:ph type="title"/>
          </p:nvPr>
        </p:nvSpPr>
        <p:spPr>
          <a:xfrm>
            <a:off x="457200" y="274638"/>
            <a:ext cx="8229600" cy="2068894"/>
          </a:xfrm>
        </p:spPr>
        <p:txBody>
          <a:bodyPr/>
          <a:lstStyle/>
          <a:p>
            <a:pPr>
              <a:lnSpc>
                <a:spcPct val="107000"/>
              </a:lnSpc>
              <a:spcAft>
                <a:spcPts val="800"/>
              </a:spcAft>
            </a:pPr>
            <a:r>
              <a:rPr lang="en-GB" dirty="0"/>
              <a:t>Agencies and Self employed PA’s</a:t>
            </a:r>
            <a:br>
              <a:rPr lang="en-GB" dirty="0"/>
            </a:br>
            <a:r>
              <a:rPr lang="en-GB" sz="1600" dirty="0">
                <a:latin typeface="+mn-lt"/>
                <a:ea typeface="Calibri" panose="020F0502020204030204" pitchFamily="34" charset="0"/>
                <a:cs typeface="Times New Roman" panose="02020603050405020304" pitchFamily="18" charset="0"/>
              </a:rPr>
              <a:t>You can add as many different rates as required and as many separate calls, these will all be added into the total costs/total hours</a:t>
            </a:r>
            <a:br>
              <a:rPr lang="en-GB" sz="1400" dirty="0">
                <a:latin typeface="Calibri" panose="020F0502020204030204" pitchFamily="34" charset="0"/>
                <a:ea typeface="Calibri" panose="020F0502020204030204" pitchFamily="34" charset="0"/>
                <a:cs typeface="Times New Roman" panose="02020603050405020304" pitchFamily="18" charset="0"/>
              </a:rPr>
            </a:br>
            <a:endParaRPr lang="en-GB" sz="1400" dirty="0"/>
          </a:p>
        </p:txBody>
      </p:sp>
      <p:pic>
        <p:nvPicPr>
          <p:cNvPr id="5" name="Content Placeholder 4">
            <a:extLst>
              <a:ext uri="{FF2B5EF4-FFF2-40B4-BE49-F238E27FC236}">
                <a16:creationId xmlns:a16="http://schemas.microsoft.com/office/drawing/2014/main" id="{71C6197F-6930-4886-9A6A-1B4C4170C3CC}"/>
              </a:ext>
            </a:extLst>
          </p:cNvPr>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00478" y="2343532"/>
            <a:ext cx="4301590" cy="3490826"/>
          </a:xfrm>
          <a:prstGeom prst="rect">
            <a:avLst/>
          </a:prstGeom>
          <a:noFill/>
          <a:ln>
            <a:noFill/>
          </a:ln>
        </p:spPr>
      </p:pic>
      <p:pic>
        <p:nvPicPr>
          <p:cNvPr id="6" name="Content Placeholder 5">
            <a:extLst>
              <a:ext uri="{FF2B5EF4-FFF2-40B4-BE49-F238E27FC236}">
                <a16:creationId xmlns:a16="http://schemas.microsoft.com/office/drawing/2014/main" id="{B0A9D926-AF26-4546-8599-7A39D6975FED}"/>
              </a:ext>
            </a:extLst>
          </p:cNvPr>
          <p:cNvPicPr>
            <a:picLocks noGrp="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402068" y="2343532"/>
            <a:ext cx="4741932" cy="2948659"/>
          </a:xfrm>
          <a:prstGeom prst="rect">
            <a:avLst/>
          </a:prstGeom>
          <a:noFill/>
          <a:ln>
            <a:noFill/>
          </a:ln>
        </p:spPr>
      </p:pic>
    </p:spTree>
    <p:extLst>
      <p:ext uri="{BB962C8B-B14F-4D97-AF65-F5344CB8AC3E}">
        <p14:creationId xmlns:p14="http://schemas.microsoft.com/office/powerpoint/2010/main" val="2380943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280C-D46B-42A0-8B65-9C477E356E50}"/>
              </a:ext>
            </a:extLst>
          </p:cNvPr>
          <p:cNvSpPr>
            <a:spLocks noGrp="1"/>
          </p:cNvSpPr>
          <p:nvPr>
            <p:ph type="title"/>
          </p:nvPr>
        </p:nvSpPr>
        <p:spPr/>
        <p:txBody>
          <a:bodyPr/>
          <a:lstStyle/>
          <a:p>
            <a:r>
              <a:rPr lang="en-GB" dirty="0"/>
              <a:t>Bank Holiday hours/rates </a:t>
            </a:r>
          </a:p>
        </p:txBody>
      </p:sp>
      <p:sp>
        <p:nvSpPr>
          <p:cNvPr id="5" name="Content Placeholder 4">
            <a:extLst>
              <a:ext uri="{FF2B5EF4-FFF2-40B4-BE49-F238E27FC236}">
                <a16:creationId xmlns:a16="http://schemas.microsoft.com/office/drawing/2014/main" id="{48BB3994-1D35-494C-9837-DE7CA8834B63}"/>
              </a:ext>
            </a:extLst>
          </p:cNvPr>
          <p:cNvSpPr>
            <a:spLocks noGrp="1"/>
          </p:cNvSpPr>
          <p:nvPr>
            <p:ph sz="half" idx="1"/>
          </p:nvPr>
        </p:nvSpPr>
        <p:spPr/>
        <p:txBody>
          <a:bodyPr/>
          <a:lstStyle/>
          <a:p>
            <a:pPr marL="0" indent="0">
              <a:buNone/>
            </a:pPr>
            <a:r>
              <a:rPr lang="en-GB" sz="1600" dirty="0"/>
              <a:t>There are currently 8 bank holidays in a year and we always work out the bank holiday costs based on the full 8 days of the year. The bank holiday hours of support is the total annual hours allocated for this. If someone usually has a total of 2.5 hours a day you times this by 8 days to give you a total of 20 bank holiday hours. Some providers charge different rates on Xmas/New Year, so you would put 5 x normal day hours through at one rate, and then 2 x normal day hours at the different rate. You will need to know what the normal hourly rate is to complete this section:</a:t>
            </a:r>
          </a:p>
          <a:p>
            <a:endParaRPr lang="en-GB" dirty="0"/>
          </a:p>
        </p:txBody>
      </p:sp>
      <p:pic>
        <p:nvPicPr>
          <p:cNvPr id="7" name="Content Placeholder 6">
            <a:extLst>
              <a:ext uri="{FF2B5EF4-FFF2-40B4-BE49-F238E27FC236}">
                <a16:creationId xmlns:a16="http://schemas.microsoft.com/office/drawing/2014/main" id="{70626A94-1F90-4E1C-96CC-6C6F0EF56833}"/>
              </a:ext>
            </a:extLst>
          </p:cNvPr>
          <p:cNvPicPr>
            <a:picLocks noGrp="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572000" y="1480843"/>
            <a:ext cx="4458712" cy="3083066"/>
          </a:xfrm>
          <a:prstGeom prst="rect">
            <a:avLst/>
          </a:prstGeom>
          <a:noFill/>
          <a:ln>
            <a:noFill/>
          </a:ln>
        </p:spPr>
      </p:pic>
    </p:spTree>
    <p:extLst>
      <p:ext uri="{BB962C8B-B14F-4D97-AF65-F5344CB8AC3E}">
        <p14:creationId xmlns:p14="http://schemas.microsoft.com/office/powerpoint/2010/main" val="1792699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0548F-D0C5-4C79-9F13-4279ED6530FE}"/>
              </a:ext>
            </a:extLst>
          </p:cNvPr>
          <p:cNvSpPr>
            <a:spLocks noGrp="1"/>
          </p:cNvSpPr>
          <p:nvPr>
            <p:ph type="title"/>
          </p:nvPr>
        </p:nvSpPr>
        <p:spPr/>
        <p:txBody>
          <a:bodyPr/>
          <a:lstStyle/>
          <a:p>
            <a:r>
              <a:rPr lang="en-GB" dirty="0"/>
              <a:t>Bank Holiday hours/rates </a:t>
            </a:r>
          </a:p>
        </p:txBody>
      </p:sp>
      <p:sp>
        <p:nvSpPr>
          <p:cNvPr id="4" name="Content Placeholder 3">
            <a:extLst>
              <a:ext uri="{FF2B5EF4-FFF2-40B4-BE49-F238E27FC236}">
                <a16:creationId xmlns:a16="http://schemas.microsoft.com/office/drawing/2014/main" id="{72BFCC74-9C7D-46AF-AE2D-14458C4B20A4}"/>
              </a:ext>
            </a:extLst>
          </p:cNvPr>
          <p:cNvSpPr>
            <a:spLocks noGrp="1"/>
          </p:cNvSpPr>
          <p:nvPr>
            <p:ph sz="half" idx="2"/>
          </p:nvPr>
        </p:nvSpPr>
        <p:spPr/>
        <p:txBody>
          <a:bodyPr/>
          <a:lstStyle/>
          <a:p>
            <a:pPr marL="0" indent="0">
              <a:lnSpc>
                <a:spcPct val="107000"/>
              </a:lnSpc>
              <a:spcAft>
                <a:spcPts val="800"/>
              </a:spcAft>
              <a:buNone/>
            </a:pPr>
            <a:r>
              <a:rPr lang="en-GB" sz="1600" dirty="0">
                <a:ea typeface="Calibri" panose="020F0502020204030204" pitchFamily="34" charset="0"/>
                <a:cs typeface="Times New Roman" panose="02020603050405020304" pitchFamily="18" charset="0"/>
              </a:rPr>
              <a:t>Once you have completed all support via a DP onto the DP Calculator, please refresh the totals then complete the cost section with the costs as per calculated for you and pulled through as a summary to the top of the cost section.</a:t>
            </a:r>
          </a:p>
          <a:p>
            <a:pPr marL="0" indent="0">
              <a:lnSpc>
                <a:spcPct val="107000"/>
              </a:lnSpc>
              <a:spcAft>
                <a:spcPts val="800"/>
              </a:spcAft>
              <a:buNone/>
            </a:pPr>
            <a:endParaRPr lang="en-GB" sz="1800" dirty="0">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pic>
        <p:nvPicPr>
          <p:cNvPr id="5" name="Content Placeholder 4">
            <a:extLst>
              <a:ext uri="{FF2B5EF4-FFF2-40B4-BE49-F238E27FC236}">
                <a16:creationId xmlns:a16="http://schemas.microsoft.com/office/drawing/2014/main" id="{FA9FE601-D558-4598-B4F7-DBF295FCE10F}"/>
              </a:ext>
            </a:extLst>
          </p:cNvPr>
          <p:cNvPicPr>
            <a:picLocks noGrp="1"/>
          </p:cNvPicPr>
          <p:nvPr>
            <p:ph sz="half" idx="1"/>
          </p:nvPr>
        </p:nvPicPr>
        <p:blipFill>
          <a:blip r:embed="rId2"/>
          <a:stretch>
            <a:fillRect/>
          </a:stretch>
        </p:blipFill>
        <p:spPr>
          <a:xfrm>
            <a:off x="0" y="1417638"/>
            <a:ext cx="4648200" cy="3230158"/>
          </a:xfrm>
          <a:prstGeom prst="rect">
            <a:avLst/>
          </a:prstGeom>
        </p:spPr>
      </p:pic>
      <p:pic>
        <p:nvPicPr>
          <p:cNvPr id="6" name="Picture 5">
            <a:extLst>
              <a:ext uri="{FF2B5EF4-FFF2-40B4-BE49-F238E27FC236}">
                <a16:creationId xmlns:a16="http://schemas.microsoft.com/office/drawing/2014/main" id="{1B2594B5-E159-43B5-AB58-6166C468FB3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961685"/>
            <a:ext cx="4495799" cy="2924193"/>
          </a:xfrm>
          <a:prstGeom prst="rect">
            <a:avLst/>
          </a:prstGeom>
          <a:noFill/>
          <a:ln>
            <a:noFill/>
          </a:ln>
        </p:spPr>
      </p:pic>
    </p:spTree>
    <p:extLst>
      <p:ext uri="{BB962C8B-B14F-4D97-AF65-F5344CB8AC3E}">
        <p14:creationId xmlns:p14="http://schemas.microsoft.com/office/powerpoint/2010/main" val="943910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B95D6-54F7-43A9-94FF-BEA53C5C7D5E}"/>
              </a:ext>
            </a:extLst>
          </p:cNvPr>
          <p:cNvSpPr>
            <a:spLocks noGrp="1"/>
          </p:cNvSpPr>
          <p:nvPr>
            <p:ph type="title"/>
          </p:nvPr>
        </p:nvSpPr>
        <p:spPr/>
        <p:txBody>
          <a:bodyPr/>
          <a:lstStyle/>
          <a:p>
            <a:r>
              <a:rPr lang="en-GB" dirty="0"/>
              <a:t>Average hourly rate </a:t>
            </a:r>
          </a:p>
        </p:txBody>
      </p:sp>
      <p:sp>
        <p:nvSpPr>
          <p:cNvPr id="3" name="Content Placeholder 2">
            <a:extLst>
              <a:ext uri="{FF2B5EF4-FFF2-40B4-BE49-F238E27FC236}">
                <a16:creationId xmlns:a16="http://schemas.microsoft.com/office/drawing/2014/main" id="{70467987-6D19-400B-B446-16847C4E4C97}"/>
              </a:ext>
            </a:extLst>
          </p:cNvPr>
          <p:cNvSpPr>
            <a:spLocks noGrp="1"/>
          </p:cNvSpPr>
          <p:nvPr>
            <p:ph idx="1"/>
          </p:nvPr>
        </p:nvSpPr>
        <p:spPr/>
        <p:txBody>
          <a:bodyPr/>
          <a:lstStyle/>
          <a:p>
            <a:pPr marL="0" indent="0">
              <a:buNone/>
            </a:pPr>
            <a:r>
              <a:rPr lang="en-GB" sz="1600" dirty="0"/>
              <a:t>Where an agency is used some may charge different rates for different lengths of calls or days, this section firstly works out the average hourly rate. You then have to tick to ensure you have checked this average hourly rate against the Home Based Care managed rates for your district; </a:t>
            </a:r>
            <a:r>
              <a:rPr lang="en-GB" sz="1600" b="1" u="sng" dirty="0">
                <a:hlinkClick r:id="rId2"/>
              </a:rPr>
              <a:t>http://home.nottscc.gov.uk/working/departments/asch/promoting-independence-care-act/home-care</a:t>
            </a:r>
            <a:r>
              <a:rPr lang="en-GB" sz="1600" b="1" dirty="0"/>
              <a:t> </a:t>
            </a:r>
            <a:endParaRPr lang="en-GB" sz="1600" dirty="0"/>
          </a:p>
          <a:p>
            <a:pPr marL="0" indent="0">
              <a:buNone/>
            </a:pPr>
            <a:endParaRPr lang="en-GB" sz="1600" dirty="0"/>
          </a:p>
        </p:txBody>
      </p:sp>
      <p:pic>
        <p:nvPicPr>
          <p:cNvPr id="5" name="Content Placeholder 4">
            <a:extLst>
              <a:ext uri="{FF2B5EF4-FFF2-40B4-BE49-F238E27FC236}">
                <a16:creationId xmlns:a16="http://schemas.microsoft.com/office/drawing/2014/main" id="{8B86DF88-BDD3-42F3-903B-7A0E83BBADAF}"/>
              </a:ext>
            </a:extLst>
          </p:cNvPr>
          <p:cNvPicPr>
            <a:picLocks noGrp="1" noChangeAspect="1"/>
          </p:cNvPicPr>
          <p:nvPr>
            <p:ph sz="half" idx="4294967295"/>
          </p:nvPr>
        </p:nvPicPr>
        <p:blipFill>
          <a:blip r:embed="rId3"/>
          <a:stretch>
            <a:fillRect/>
          </a:stretch>
        </p:blipFill>
        <p:spPr>
          <a:xfrm>
            <a:off x="1455061" y="3135313"/>
            <a:ext cx="6369050" cy="2379662"/>
          </a:xfrm>
          <a:prstGeom prst="rect">
            <a:avLst/>
          </a:prstGeom>
        </p:spPr>
      </p:pic>
      <p:sp>
        <p:nvSpPr>
          <p:cNvPr id="6" name="Rectangle 5">
            <a:extLst>
              <a:ext uri="{FF2B5EF4-FFF2-40B4-BE49-F238E27FC236}">
                <a16:creationId xmlns:a16="http://schemas.microsoft.com/office/drawing/2014/main" id="{D4195DA2-5B21-4E8E-82D7-F47D1AD43C0C}"/>
              </a:ext>
            </a:extLst>
          </p:cNvPr>
          <p:cNvSpPr/>
          <p:nvPr/>
        </p:nvSpPr>
        <p:spPr>
          <a:xfrm>
            <a:off x="1733384" y="4603805"/>
            <a:ext cx="5812404" cy="739472"/>
          </a:xfrm>
          <a:prstGeom prst="rect">
            <a:avLst/>
          </a:prstGeom>
          <a:noFill/>
          <a:ln w="317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7847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500D-AD7A-4514-8D7C-6BCE94CBB91C}"/>
              </a:ext>
            </a:extLst>
          </p:cNvPr>
          <p:cNvSpPr>
            <a:spLocks noGrp="1"/>
          </p:cNvSpPr>
          <p:nvPr>
            <p:ph type="title"/>
          </p:nvPr>
        </p:nvSpPr>
        <p:spPr>
          <a:xfrm>
            <a:off x="457200" y="0"/>
            <a:ext cx="8229600" cy="801113"/>
          </a:xfrm>
        </p:spPr>
        <p:txBody>
          <a:bodyPr/>
          <a:lstStyle/>
          <a:p>
            <a:r>
              <a:rPr lang="en-GB" dirty="0"/>
              <a:t>Average hourly rate – top up</a:t>
            </a:r>
          </a:p>
        </p:txBody>
      </p:sp>
      <p:sp>
        <p:nvSpPr>
          <p:cNvPr id="3" name="Content Placeholder 2">
            <a:extLst>
              <a:ext uri="{FF2B5EF4-FFF2-40B4-BE49-F238E27FC236}">
                <a16:creationId xmlns:a16="http://schemas.microsoft.com/office/drawing/2014/main" id="{8005EAAD-D627-47BA-A9E2-D9444D84D259}"/>
              </a:ext>
            </a:extLst>
          </p:cNvPr>
          <p:cNvSpPr>
            <a:spLocks noGrp="1"/>
          </p:cNvSpPr>
          <p:nvPr>
            <p:ph idx="1"/>
          </p:nvPr>
        </p:nvSpPr>
        <p:spPr>
          <a:xfrm>
            <a:off x="151075" y="683812"/>
            <a:ext cx="8913412" cy="5128591"/>
          </a:xfrm>
        </p:spPr>
        <p:txBody>
          <a:bodyPr/>
          <a:lstStyle/>
          <a:p>
            <a:pPr marL="0" indent="0">
              <a:buNone/>
            </a:pPr>
            <a:r>
              <a:rPr lang="en-GB" sz="1600" dirty="0"/>
              <a:t>If the average hourly rate is higher than the managed Home Based Care provider rates for your district then manager approval will be required. If this is not approved then a top-up to the Direct Payment may be required, for more information please see;</a:t>
            </a:r>
          </a:p>
          <a:p>
            <a:pPr marL="0" indent="0">
              <a:buNone/>
            </a:pPr>
            <a:r>
              <a:rPr lang="en-GB" sz="1600" b="1" dirty="0"/>
              <a:t>Section 6.7.1, page 49 </a:t>
            </a:r>
            <a:r>
              <a:rPr lang="en-GB" sz="1600" b="1" u="sng" dirty="0">
                <a:hlinkClick r:id="rId2"/>
              </a:rPr>
              <a:t>Direct Payments Staff Guidance</a:t>
            </a:r>
            <a:endParaRPr lang="en-GB" sz="1600" dirty="0"/>
          </a:p>
          <a:p>
            <a:pPr marL="0" indent="0">
              <a:buNone/>
            </a:pPr>
            <a:r>
              <a:rPr lang="en-GB" sz="1600" b="1" dirty="0"/>
              <a:t>What happens if the person with a DP chooses a more expensive provider than an equivalent managed service available? </a:t>
            </a:r>
            <a:endParaRPr lang="en-GB" sz="1600" dirty="0"/>
          </a:p>
          <a:p>
            <a:pPr marL="0" indent="0">
              <a:buNone/>
            </a:pPr>
            <a:r>
              <a:rPr lang="en-GB" sz="1600" dirty="0"/>
              <a:t>Where it has been evidenced that all of the assessed needs can be met through an equivalent</a:t>
            </a:r>
            <a:r>
              <a:rPr lang="en-GB" sz="1600" b="1" dirty="0"/>
              <a:t> available </a:t>
            </a:r>
            <a:r>
              <a:rPr lang="en-GB" sz="1600" dirty="0"/>
              <a:t>managed</a:t>
            </a:r>
            <a:r>
              <a:rPr lang="en-GB" sz="1600" b="1" dirty="0"/>
              <a:t> </a:t>
            </a:r>
            <a:r>
              <a:rPr lang="en-GB" sz="1600" dirty="0"/>
              <a:t>provider, an individual does have the right to use a more expensive provider and can choose to top-up the difference to their Direct Payment, this would be the difference between the chosen provider’s average hourly rate and the highest managed service whether that be lead or additional provider for that area. You will need to have to have spoken to the Manged providers and evidence the managed service had the capacity and availability to take on the package by recording this as a case note. The DP Recipient then must sign and complete a Top Up Agreement :- </a:t>
            </a:r>
            <a:r>
              <a:rPr lang="en-GB" sz="1600" u="sng" dirty="0">
                <a:hlinkClick r:id="rId3" tooltip="DirectPaymentTop-upAgreement.docx"/>
              </a:rPr>
              <a:t>direct payment Top-up Agreement</a:t>
            </a:r>
            <a:r>
              <a:rPr lang="en-GB" sz="1600" dirty="0"/>
              <a:t> which should be uploaded onto Mosaic as evidence that the individual is both aware and in agreement of paying towards the service.  This needs to be reviewed annually as the managed services rates uplift and a top-up may not then apply. You should record the information on the cost section of the CASP under the voluntary DP Top-up, however it will be down to the individual to make this payment directly to the provider.</a:t>
            </a:r>
          </a:p>
          <a:p>
            <a:pPr marL="0" indent="0">
              <a:buNone/>
            </a:pPr>
            <a:endParaRPr lang="en-GB" dirty="0"/>
          </a:p>
        </p:txBody>
      </p:sp>
    </p:spTree>
    <p:extLst>
      <p:ext uri="{BB962C8B-B14F-4D97-AF65-F5344CB8AC3E}">
        <p14:creationId xmlns:p14="http://schemas.microsoft.com/office/powerpoint/2010/main" val="3827658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7BD04-7D3E-465E-848F-B118AF77E1D7}"/>
              </a:ext>
            </a:extLst>
          </p:cNvPr>
          <p:cNvSpPr>
            <a:spLocks noGrp="1"/>
          </p:cNvSpPr>
          <p:nvPr>
            <p:ph type="title"/>
          </p:nvPr>
        </p:nvSpPr>
        <p:spPr>
          <a:xfrm>
            <a:off x="457200" y="-1"/>
            <a:ext cx="8229600" cy="1308083"/>
          </a:xfrm>
        </p:spPr>
        <p:txBody>
          <a:bodyPr/>
          <a:lstStyle/>
          <a:p>
            <a:r>
              <a:rPr lang="en-GB" dirty="0"/>
              <a:t>Day Services </a:t>
            </a:r>
            <a:br>
              <a:rPr lang="en-GB" dirty="0"/>
            </a:br>
            <a:r>
              <a:rPr lang="en-GB" sz="1600" dirty="0">
                <a:latin typeface="+mn-lt"/>
              </a:rPr>
              <a:t>Please click </a:t>
            </a:r>
            <a:r>
              <a:rPr lang="en-GB" sz="1600" dirty="0">
                <a:highlight>
                  <a:srgbClr val="FFFF00"/>
                </a:highlight>
                <a:latin typeface="+mn-lt"/>
              </a:rPr>
              <a:t>add</a:t>
            </a:r>
            <a:r>
              <a:rPr lang="en-GB" sz="1600" dirty="0">
                <a:latin typeface="+mn-lt"/>
              </a:rPr>
              <a:t> to add the Day Service Name, cost per session and sessions per week, this will the calculate the total cost and include this in the total cost summary</a:t>
            </a:r>
            <a:br>
              <a:rPr lang="en-GB" sz="1600" dirty="0"/>
            </a:br>
            <a:endParaRPr lang="en-GB" sz="1600" dirty="0"/>
          </a:p>
        </p:txBody>
      </p:sp>
      <p:pic>
        <p:nvPicPr>
          <p:cNvPr id="6" name="Content Placeholder 5">
            <a:extLst>
              <a:ext uri="{FF2B5EF4-FFF2-40B4-BE49-F238E27FC236}">
                <a16:creationId xmlns:a16="http://schemas.microsoft.com/office/drawing/2014/main" id="{70BBB633-1585-46A4-9342-6D5AF948AC04}"/>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357" y="1308082"/>
            <a:ext cx="5181833" cy="1113843"/>
          </a:xfrm>
          <a:prstGeom prst="rect">
            <a:avLst/>
          </a:prstGeom>
          <a:noFill/>
          <a:ln>
            <a:noFill/>
          </a:ln>
        </p:spPr>
      </p:pic>
      <p:pic>
        <p:nvPicPr>
          <p:cNvPr id="7" name="Picture 6">
            <a:extLst>
              <a:ext uri="{FF2B5EF4-FFF2-40B4-BE49-F238E27FC236}">
                <a16:creationId xmlns:a16="http://schemas.microsoft.com/office/drawing/2014/main" id="{597F1BD4-9E9A-4E1D-A91E-5CD926A7372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0356" y="2421925"/>
            <a:ext cx="5181833" cy="2376792"/>
          </a:xfrm>
          <a:prstGeom prst="rect">
            <a:avLst/>
          </a:prstGeom>
          <a:noFill/>
          <a:ln>
            <a:noFill/>
          </a:ln>
        </p:spPr>
      </p:pic>
      <p:pic>
        <p:nvPicPr>
          <p:cNvPr id="8" name="Picture 7">
            <a:extLst>
              <a:ext uri="{FF2B5EF4-FFF2-40B4-BE49-F238E27FC236}">
                <a16:creationId xmlns:a16="http://schemas.microsoft.com/office/drawing/2014/main" id="{73007F51-B4A6-4705-B330-D91C8703C74B}"/>
              </a:ext>
            </a:extLst>
          </p:cNvPr>
          <p:cNvPicPr/>
          <p:nvPr/>
        </p:nvPicPr>
        <p:blipFill>
          <a:blip r:embed="rId4"/>
          <a:stretch>
            <a:fillRect/>
          </a:stretch>
        </p:blipFill>
        <p:spPr>
          <a:xfrm>
            <a:off x="0" y="4725748"/>
            <a:ext cx="5656333" cy="1186812"/>
          </a:xfrm>
          <a:prstGeom prst="rect">
            <a:avLst/>
          </a:prstGeom>
        </p:spPr>
      </p:pic>
    </p:spTree>
    <p:extLst>
      <p:ext uri="{BB962C8B-B14F-4D97-AF65-F5344CB8AC3E}">
        <p14:creationId xmlns:p14="http://schemas.microsoft.com/office/powerpoint/2010/main" val="3656900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1A18C-85A3-4C38-90D2-EF7DEBA6E655}"/>
              </a:ext>
            </a:extLst>
          </p:cNvPr>
          <p:cNvSpPr>
            <a:spLocks noGrp="1"/>
          </p:cNvSpPr>
          <p:nvPr>
            <p:ph type="title"/>
          </p:nvPr>
        </p:nvSpPr>
        <p:spPr/>
        <p:txBody>
          <a:bodyPr/>
          <a:lstStyle/>
          <a:p>
            <a:pPr>
              <a:lnSpc>
                <a:spcPct val="107000"/>
              </a:lnSpc>
              <a:spcAft>
                <a:spcPts val="800"/>
              </a:spcAft>
            </a:pPr>
            <a:r>
              <a:rPr lang="en-GB" b="1" dirty="0">
                <a:latin typeface="Calibri" panose="020F0502020204030204" pitchFamily="34" charset="0"/>
                <a:ea typeface="Calibri" panose="020F0502020204030204" pitchFamily="34" charset="0"/>
                <a:cs typeface="Times New Roman" panose="02020603050405020304" pitchFamily="18" charset="0"/>
              </a:rPr>
              <a:t>Employing a PA/PAs</a:t>
            </a:r>
            <a:br>
              <a:rPr lang="en-GB" sz="2800" dirty="0">
                <a:latin typeface="Calibri" panose="020F0502020204030204" pitchFamily="34" charset="0"/>
                <a:ea typeface="Calibri" panose="020F0502020204030204" pitchFamily="34" charset="0"/>
                <a:cs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EC125E31-1049-4D41-B72D-4BA87E3CE788}"/>
              </a:ext>
            </a:extLst>
          </p:cNvPr>
          <p:cNvSpPr>
            <a:spLocks noGrp="1"/>
          </p:cNvSpPr>
          <p:nvPr>
            <p:ph sz="half" idx="1"/>
          </p:nvPr>
        </p:nvSpPr>
        <p:spPr>
          <a:xfrm>
            <a:off x="457200" y="922351"/>
            <a:ext cx="4038600" cy="4748199"/>
          </a:xfrm>
        </p:spPr>
        <p:txBody>
          <a:bodyPr/>
          <a:lstStyle/>
          <a:p>
            <a:pPr marL="0" indent="0">
              <a:lnSpc>
                <a:spcPct val="107000"/>
              </a:lnSpc>
              <a:spcAft>
                <a:spcPts val="800"/>
              </a:spcAft>
              <a:buNone/>
            </a:pPr>
            <a:r>
              <a:rPr lang="en-GB" sz="1400" b="1" dirty="0">
                <a:ea typeface="Calibri" panose="020F0502020204030204" pitchFamily="34" charset="0"/>
                <a:cs typeface="Times New Roman" panose="02020603050405020304" pitchFamily="18" charset="0"/>
              </a:rPr>
              <a:t>The mandatory fields where a PA is employed are – PA Name, Holiday cover arrangements, Employers Liability, and is a DPSS being used, this is because these are requirements for an Employed PA.</a:t>
            </a:r>
            <a:endParaRPr lang="en-GB" sz="1400" dirty="0">
              <a:ea typeface="Calibri" panose="020F0502020204030204" pitchFamily="34" charset="0"/>
              <a:cs typeface="Times New Roman" panose="02020603050405020304" pitchFamily="18" charset="0"/>
            </a:endParaRPr>
          </a:p>
          <a:p>
            <a:pPr marL="0" indent="0">
              <a:lnSpc>
                <a:spcPct val="107000"/>
              </a:lnSpc>
              <a:spcAft>
                <a:spcPts val="800"/>
              </a:spcAft>
              <a:buNone/>
            </a:pPr>
            <a:r>
              <a:rPr lang="en-GB" sz="1400" dirty="0">
                <a:ea typeface="Calibri" panose="020F0502020204030204" pitchFamily="34" charset="0"/>
                <a:cs typeface="Times New Roman" panose="02020603050405020304" pitchFamily="18" charset="0"/>
              </a:rPr>
              <a:t>We have tried to copy over all the information from the Excel DP Calculator PA table, some information might not be relevant, please only input information in the relevant boxes, </a:t>
            </a:r>
            <a:r>
              <a:rPr lang="en-GB" sz="1400" b="1" dirty="0">
                <a:ea typeface="Calibri" panose="020F0502020204030204" pitchFamily="34" charset="0"/>
                <a:cs typeface="Times New Roman" panose="02020603050405020304" pitchFamily="18" charset="0"/>
              </a:rPr>
              <a:t>we do NOT need 0 to be input at all</a:t>
            </a:r>
            <a:r>
              <a:rPr lang="en-GB" sz="1400" dirty="0">
                <a:ea typeface="Calibri" panose="020F0502020204030204" pitchFamily="34" charset="0"/>
                <a:cs typeface="Times New Roman" panose="02020603050405020304" pitchFamily="18" charset="0"/>
              </a:rPr>
              <a:t>. You can only input information into the white boxes, the slightly greyed out boxes are going to calculate figures for you.</a:t>
            </a:r>
          </a:p>
          <a:p>
            <a:endParaRPr lang="en-GB" dirty="0"/>
          </a:p>
        </p:txBody>
      </p:sp>
      <p:sp>
        <p:nvSpPr>
          <p:cNvPr id="5" name="Content Placeholder 4">
            <a:extLst>
              <a:ext uri="{FF2B5EF4-FFF2-40B4-BE49-F238E27FC236}">
                <a16:creationId xmlns:a16="http://schemas.microsoft.com/office/drawing/2014/main" id="{42ADB355-3E7A-4F26-8696-736E1B3180FC}"/>
              </a:ext>
            </a:extLst>
          </p:cNvPr>
          <p:cNvSpPr>
            <a:spLocks noGrp="1"/>
          </p:cNvSpPr>
          <p:nvPr>
            <p:ph sz="half" idx="2"/>
          </p:nvPr>
        </p:nvSpPr>
        <p:spPr/>
        <p:txBody>
          <a:bodyPr/>
          <a:lstStyle/>
          <a:p>
            <a:endParaRPr lang="en-GB" dirty="0"/>
          </a:p>
        </p:txBody>
      </p:sp>
      <p:pic>
        <p:nvPicPr>
          <p:cNvPr id="4" name="Picture 3">
            <a:extLst>
              <a:ext uri="{FF2B5EF4-FFF2-40B4-BE49-F238E27FC236}">
                <a16:creationId xmlns:a16="http://schemas.microsoft.com/office/drawing/2014/main" id="{DC81C04D-26B2-4DE2-90C9-A2B580DD93C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648199" y="1343024"/>
            <a:ext cx="3955111" cy="3920739"/>
          </a:xfrm>
          <a:prstGeom prst="rect">
            <a:avLst/>
          </a:prstGeom>
          <a:noFill/>
          <a:ln>
            <a:noFill/>
          </a:ln>
        </p:spPr>
      </p:pic>
      <p:pic>
        <p:nvPicPr>
          <p:cNvPr id="6" name="Picture 5">
            <a:extLst>
              <a:ext uri="{FF2B5EF4-FFF2-40B4-BE49-F238E27FC236}">
                <a16:creationId xmlns:a16="http://schemas.microsoft.com/office/drawing/2014/main" id="{17C305E7-CB26-4A05-B3BF-4C3B07875889}"/>
              </a:ext>
            </a:extLst>
          </p:cNvPr>
          <p:cNvPicPr/>
          <p:nvPr/>
        </p:nvPicPr>
        <p:blipFill>
          <a:blip r:embed="rId3"/>
          <a:stretch>
            <a:fillRect/>
          </a:stretch>
        </p:blipFill>
        <p:spPr>
          <a:xfrm>
            <a:off x="198929" y="4205892"/>
            <a:ext cx="4373071" cy="1464658"/>
          </a:xfrm>
          <a:prstGeom prst="rect">
            <a:avLst/>
          </a:prstGeom>
        </p:spPr>
      </p:pic>
    </p:spTree>
    <p:extLst>
      <p:ext uri="{BB962C8B-B14F-4D97-AF65-F5344CB8AC3E}">
        <p14:creationId xmlns:p14="http://schemas.microsoft.com/office/powerpoint/2010/main" val="3349899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128D7-B321-4BD8-B77A-2E7EE3174F55}"/>
              </a:ext>
            </a:extLst>
          </p:cNvPr>
          <p:cNvSpPr>
            <a:spLocks noGrp="1"/>
          </p:cNvSpPr>
          <p:nvPr>
            <p:ph type="title"/>
          </p:nvPr>
        </p:nvSpPr>
        <p:spPr/>
        <p:txBody>
          <a:bodyPr/>
          <a:lstStyle/>
          <a:p>
            <a:r>
              <a:rPr lang="en-GB" b="1" dirty="0">
                <a:latin typeface="Calibri" panose="020F0502020204030204" pitchFamily="34" charset="0"/>
                <a:ea typeface="Calibri" panose="020F0502020204030204" pitchFamily="34" charset="0"/>
                <a:cs typeface="Times New Roman" panose="02020603050405020304" pitchFamily="18" charset="0"/>
              </a:rPr>
              <a:t>Employing a PA/PAs</a:t>
            </a:r>
            <a:endParaRPr lang="en-GB" dirty="0"/>
          </a:p>
        </p:txBody>
      </p:sp>
      <p:sp>
        <p:nvSpPr>
          <p:cNvPr id="3" name="Content Placeholder 2">
            <a:extLst>
              <a:ext uri="{FF2B5EF4-FFF2-40B4-BE49-F238E27FC236}">
                <a16:creationId xmlns:a16="http://schemas.microsoft.com/office/drawing/2014/main" id="{CCCDE61E-CBBD-4D17-9D65-71F525C34738}"/>
              </a:ext>
            </a:extLst>
          </p:cNvPr>
          <p:cNvSpPr>
            <a:spLocks noGrp="1"/>
          </p:cNvSpPr>
          <p:nvPr>
            <p:ph sz="half" idx="1"/>
          </p:nvPr>
        </p:nvSpPr>
        <p:spPr/>
        <p:txBody>
          <a:bodyPr/>
          <a:lstStyle/>
          <a:p>
            <a:pPr marL="0" indent="0">
              <a:lnSpc>
                <a:spcPct val="107000"/>
              </a:lnSpc>
              <a:spcAft>
                <a:spcPts val="800"/>
              </a:spcAft>
              <a:buNone/>
            </a:pPr>
            <a:r>
              <a:rPr lang="en-GB" sz="1600" dirty="0">
                <a:ea typeface="Calibri" panose="020F0502020204030204" pitchFamily="34" charset="0"/>
                <a:cs typeface="Times New Roman" panose="02020603050405020304" pitchFamily="18" charset="0"/>
              </a:rPr>
              <a:t>Where there is more than 1 PA Employed, you will need to add a new line for each PA</a:t>
            </a:r>
          </a:p>
          <a:p>
            <a:pPr marL="0" indent="0">
              <a:lnSpc>
                <a:spcPct val="107000"/>
              </a:lnSpc>
              <a:spcAft>
                <a:spcPts val="800"/>
              </a:spcAft>
              <a:buNone/>
            </a:pPr>
            <a:r>
              <a:rPr lang="en-GB" sz="1600" dirty="0">
                <a:ea typeface="Calibri" panose="020F0502020204030204" pitchFamily="34" charset="0"/>
                <a:cs typeface="Times New Roman" panose="02020603050405020304" pitchFamily="18" charset="0"/>
              </a:rPr>
              <a:t>Please state whether the Employers Liability insurance has been set up Yes/No – it is a requirement where a PA is employed. The answer to this question will determine whether a one off should be calculated for the initial set up of the insurance or not, where this has NOT been set up and a one off is required, the worker will need to ensure this is put onto the one off section in the Cost section 9 of the plan to be commissioned by DIT.</a:t>
            </a:r>
          </a:p>
          <a:p>
            <a:endParaRPr lang="en-GB" dirty="0"/>
          </a:p>
        </p:txBody>
      </p:sp>
      <p:pic>
        <p:nvPicPr>
          <p:cNvPr id="5" name="Content Placeholder 4">
            <a:extLst>
              <a:ext uri="{FF2B5EF4-FFF2-40B4-BE49-F238E27FC236}">
                <a16:creationId xmlns:a16="http://schemas.microsoft.com/office/drawing/2014/main" id="{7B3ACF4C-C2C4-45DE-B21B-F389FA16EA6E}"/>
              </a:ext>
            </a:extLst>
          </p:cNvPr>
          <p:cNvPicPr>
            <a:picLocks noGrp="1"/>
          </p:cNvPicPr>
          <p:nvPr>
            <p:ph sz="half" idx="2"/>
          </p:nvPr>
        </p:nvPicPr>
        <p:blipFill>
          <a:blip r:embed="rId2"/>
          <a:stretch>
            <a:fillRect/>
          </a:stretch>
        </p:blipFill>
        <p:spPr>
          <a:xfrm>
            <a:off x="4648202" y="1480842"/>
            <a:ext cx="4152898" cy="3697584"/>
          </a:xfrm>
          <a:prstGeom prst="rect">
            <a:avLst/>
          </a:prstGeom>
        </p:spPr>
      </p:pic>
    </p:spTree>
    <p:extLst>
      <p:ext uri="{BB962C8B-B14F-4D97-AF65-F5344CB8AC3E}">
        <p14:creationId xmlns:p14="http://schemas.microsoft.com/office/powerpoint/2010/main" val="3535208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9D11D-AD50-4216-9B27-24B8644E7DFE}"/>
              </a:ext>
            </a:extLst>
          </p:cNvPr>
          <p:cNvSpPr>
            <a:spLocks noGrp="1"/>
          </p:cNvSpPr>
          <p:nvPr>
            <p:ph type="title"/>
          </p:nvPr>
        </p:nvSpPr>
        <p:spPr>
          <a:xfrm>
            <a:off x="457200" y="80920"/>
            <a:ext cx="8229600" cy="833480"/>
          </a:xfrm>
        </p:spPr>
        <p:txBody>
          <a:bodyPr/>
          <a:lstStyle/>
          <a:p>
            <a:r>
              <a:rPr lang="en-GB" dirty="0"/>
              <a:t>Personal Assistant rate checker </a:t>
            </a:r>
          </a:p>
        </p:txBody>
      </p:sp>
      <p:sp>
        <p:nvSpPr>
          <p:cNvPr id="6" name="Content Placeholder 5">
            <a:extLst>
              <a:ext uri="{FF2B5EF4-FFF2-40B4-BE49-F238E27FC236}">
                <a16:creationId xmlns:a16="http://schemas.microsoft.com/office/drawing/2014/main" id="{56B79CA2-B4C4-49E8-A9DC-C78B02B2D008}"/>
              </a:ext>
            </a:extLst>
          </p:cNvPr>
          <p:cNvSpPr>
            <a:spLocks noGrp="1"/>
          </p:cNvSpPr>
          <p:nvPr>
            <p:ph idx="1"/>
          </p:nvPr>
        </p:nvSpPr>
        <p:spPr>
          <a:xfrm>
            <a:off x="89012" y="776835"/>
            <a:ext cx="9054988" cy="4893715"/>
          </a:xfrm>
        </p:spPr>
        <p:txBody>
          <a:bodyPr/>
          <a:lstStyle/>
          <a:p>
            <a:pPr marL="0" indent="0">
              <a:buNone/>
            </a:pPr>
            <a:r>
              <a:rPr lang="en-GB" sz="1600" dirty="0"/>
              <a:t>Where a PA is employed, NCC also need to consider the on costs of employment such as HMRC Contributions (Tax, national insurance and pensions), any annual leave payments, the cost of any Direct Payment Support Service (DPSS) and employers liability. </a:t>
            </a:r>
          </a:p>
          <a:p>
            <a:pPr marL="0" indent="0">
              <a:buNone/>
            </a:pPr>
            <a:endParaRPr lang="en-GB" sz="1600" dirty="0"/>
          </a:p>
          <a:p>
            <a:pPr marL="0" indent="0">
              <a:buNone/>
            </a:pPr>
            <a:r>
              <a:rPr lang="en-GB" sz="1600" dirty="0"/>
              <a:t>This section will work out the hourly rate including all oncosts (not the actual rate payable to the PA) </a:t>
            </a:r>
          </a:p>
          <a:p>
            <a:pPr marL="0" indent="0">
              <a:buNone/>
            </a:pPr>
            <a:r>
              <a:rPr lang="en-GB" sz="1600" dirty="0"/>
              <a:t>If the average hourly rate is higher than NCC would usually pay then you will get a warning for manager approval.</a:t>
            </a:r>
          </a:p>
          <a:p>
            <a:pPr marL="0" indent="0">
              <a:buNone/>
            </a:pPr>
            <a:r>
              <a:rPr lang="en-GB" sz="1600" dirty="0"/>
              <a:t>If this is not approved by your manager then a top up maybe required, please see slide 13 average hourly rate top-up for more information.</a:t>
            </a:r>
          </a:p>
          <a:p>
            <a:pPr marL="0" indent="0">
              <a:buNone/>
            </a:pPr>
            <a:endParaRPr lang="en-GB" sz="1600" dirty="0"/>
          </a:p>
        </p:txBody>
      </p:sp>
      <p:pic>
        <p:nvPicPr>
          <p:cNvPr id="7" name="Picture 6">
            <a:extLst>
              <a:ext uri="{FF2B5EF4-FFF2-40B4-BE49-F238E27FC236}">
                <a16:creationId xmlns:a16="http://schemas.microsoft.com/office/drawing/2014/main" id="{BD6954E1-4A61-4F9D-AEAF-03F8F9D50AC3}"/>
              </a:ext>
            </a:extLst>
          </p:cNvPr>
          <p:cNvPicPr>
            <a:picLocks noChangeAspect="1"/>
          </p:cNvPicPr>
          <p:nvPr/>
        </p:nvPicPr>
        <p:blipFill>
          <a:blip r:embed="rId2"/>
          <a:stretch>
            <a:fillRect/>
          </a:stretch>
        </p:blipFill>
        <p:spPr>
          <a:xfrm>
            <a:off x="3859374" y="3223692"/>
            <a:ext cx="5195614" cy="2596663"/>
          </a:xfrm>
          <a:prstGeom prst="rect">
            <a:avLst/>
          </a:prstGeom>
        </p:spPr>
      </p:pic>
      <p:sp>
        <p:nvSpPr>
          <p:cNvPr id="8" name="Rectangle 7">
            <a:extLst>
              <a:ext uri="{FF2B5EF4-FFF2-40B4-BE49-F238E27FC236}">
                <a16:creationId xmlns:a16="http://schemas.microsoft.com/office/drawing/2014/main" id="{4C1FDB0C-22B8-4684-9EF4-BC9443A56ECA}"/>
              </a:ext>
            </a:extLst>
          </p:cNvPr>
          <p:cNvSpPr/>
          <p:nvPr/>
        </p:nvSpPr>
        <p:spPr>
          <a:xfrm>
            <a:off x="3919993" y="4993419"/>
            <a:ext cx="5134995" cy="826936"/>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42220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C0624-E67D-4874-8E37-03A666261215}"/>
              </a:ext>
            </a:extLst>
          </p:cNvPr>
          <p:cNvSpPr>
            <a:spLocks noGrp="1"/>
          </p:cNvSpPr>
          <p:nvPr>
            <p:ph type="title"/>
          </p:nvPr>
        </p:nvSpPr>
        <p:spPr>
          <a:xfrm>
            <a:off x="457200" y="274638"/>
            <a:ext cx="8229600" cy="1562254"/>
          </a:xfrm>
        </p:spPr>
        <p:txBody>
          <a:bodyPr/>
          <a:lstStyle/>
          <a:p>
            <a:r>
              <a:rPr lang="en-GB" dirty="0"/>
              <a:t>Direct Payment Support Services (DPSS)</a:t>
            </a:r>
            <a:br>
              <a:rPr lang="en-GB" dirty="0"/>
            </a:br>
            <a:r>
              <a:rPr lang="en-GB" sz="1400" b="1" u="sng" dirty="0">
                <a:latin typeface="+mn-lt"/>
              </a:rPr>
              <a:t>Any contracted DPSS costs will NOT be included in the total weekly DP payment, but for Non-contracted DPSS this will be paid into the DP account as the DP Recipient will need to pay the provider directly</a:t>
            </a:r>
            <a:br>
              <a:rPr lang="en-GB" sz="1400" dirty="0">
                <a:latin typeface="+mn-lt"/>
              </a:rPr>
            </a:br>
            <a:endParaRPr lang="en-GB" sz="1400" dirty="0">
              <a:latin typeface="+mn-lt"/>
            </a:endParaRPr>
          </a:p>
        </p:txBody>
      </p:sp>
      <p:sp>
        <p:nvSpPr>
          <p:cNvPr id="3" name="Content Placeholder 2">
            <a:extLst>
              <a:ext uri="{FF2B5EF4-FFF2-40B4-BE49-F238E27FC236}">
                <a16:creationId xmlns:a16="http://schemas.microsoft.com/office/drawing/2014/main" id="{FA67BF98-171D-4FAB-97B3-7A15551523E3}"/>
              </a:ext>
            </a:extLst>
          </p:cNvPr>
          <p:cNvSpPr>
            <a:spLocks noGrp="1"/>
          </p:cNvSpPr>
          <p:nvPr>
            <p:ph sz="half" idx="1"/>
          </p:nvPr>
        </p:nvSpPr>
        <p:spPr/>
        <p:txBody>
          <a:bodyPr/>
          <a:lstStyle/>
          <a:p>
            <a:endParaRPr lang="en-GB" sz="1400" b="1" dirty="0"/>
          </a:p>
          <a:p>
            <a:endParaRPr lang="en-GB" sz="1400" b="1" dirty="0"/>
          </a:p>
          <a:p>
            <a:r>
              <a:rPr lang="en-GB" sz="1400" b="1" dirty="0"/>
              <a:t>Contracted DPSS provider (Purple, SOLO, Penderel’s Trust, People Plus and Rosekel)</a:t>
            </a:r>
            <a:endParaRPr lang="en-GB" sz="1400" dirty="0"/>
          </a:p>
          <a:p>
            <a:r>
              <a:rPr lang="en-GB" sz="1400" b="1" dirty="0"/>
              <a:t>Where a contracted DPSS is used, this information will pull through from the cost section, </a:t>
            </a:r>
            <a:r>
              <a:rPr lang="en-GB" sz="1400" b="1" u="sng" dirty="0"/>
              <a:t>please ensure you have completed the contracted DPSS provider details in the cost section 9:</a:t>
            </a:r>
            <a:endParaRPr lang="en-GB" sz="1400" dirty="0"/>
          </a:p>
          <a:p>
            <a:endParaRPr lang="en-GB" dirty="0"/>
          </a:p>
        </p:txBody>
      </p:sp>
      <p:sp>
        <p:nvSpPr>
          <p:cNvPr id="4" name="Content Placeholder 3">
            <a:extLst>
              <a:ext uri="{FF2B5EF4-FFF2-40B4-BE49-F238E27FC236}">
                <a16:creationId xmlns:a16="http://schemas.microsoft.com/office/drawing/2014/main" id="{85744A38-576B-4B18-8DEF-C6D913BC25F4}"/>
              </a:ext>
            </a:extLst>
          </p:cNvPr>
          <p:cNvSpPr>
            <a:spLocks noGrp="1"/>
          </p:cNvSpPr>
          <p:nvPr>
            <p:ph sz="half" idx="2"/>
          </p:nvPr>
        </p:nvSpPr>
        <p:spPr/>
        <p:txBody>
          <a:bodyPr/>
          <a:lstStyle/>
          <a:p>
            <a:pPr>
              <a:lnSpc>
                <a:spcPct val="107000"/>
              </a:lnSpc>
              <a:spcAft>
                <a:spcPts val="800"/>
              </a:spcAft>
            </a:pPr>
            <a:endParaRPr lang="en-GB" sz="14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GB" sz="14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400" b="1" dirty="0">
                <a:ea typeface="Calibri" panose="020F0502020204030204" pitchFamily="34" charset="0"/>
                <a:cs typeface="Times New Roman" panose="02020603050405020304" pitchFamily="18" charset="0"/>
              </a:rPr>
              <a:t>NON-CONTRACTED DPSS - Where a non-contracted DPSS provider is used, we need to ensure this money is calculated and paid into the DP account to be paid directly by the DP Recipient (as it used to be): </a:t>
            </a:r>
            <a:endParaRPr lang="en-GB" sz="1400" dirty="0">
              <a:ea typeface="Calibri" panose="020F0502020204030204" pitchFamily="34" charset="0"/>
              <a:cs typeface="Times New Roman" panose="02020603050405020304" pitchFamily="18" charset="0"/>
            </a:endParaRPr>
          </a:p>
          <a:p>
            <a:endParaRPr lang="en-GB" dirty="0"/>
          </a:p>
        </p:txBody>
      </p:sp>
      <p:pic>
        <p:nvPicPr>
          <p:cNvPr id="5" name="Picture 4">
            <a:extLst>
              <a:ext uri="{FF2B5EF4-FFF2-40B4-BE49-F238E27FC236}">
                <a16:creationId xmlns:a16="http://schemas.microsoft.com/office/drawing/2014/main" id="{9BBD8925-E3DF-40D2-9E3C-122A3C98AFCB}"/>
              </a:ext>
            </a:extLst>
          </p:cNvPr>
          <p:cNvPicPr/>
          <p:nvPr/>
        </p:nvPicPr>
        <p:blipFill>
          <a:blip r:embed="rId2"/>
          <a:stretch>
            <a:fillRect/>
          </a:stretch>
        </p:blipFill>
        <p:spPr>
          <a:xfrm>
            <a:off x="20905" y="3870928"/>
            <a:ext cx="4572000" cy="2008188"/>
          </a:xfrm>
          <a:prstGeom prst="rect">
            <a:avLst/>
          </a:prstGeom>
        </p:spPr>
      </p:pic>
      <p:pic>
        <p:nvPicPr>
          <p:cNvPr id="6" name="Picture 5">
            <a:extLst>
              <a:ext uri="{FF2B5EF4-FFF2-40B4-BE49-F238E27FC236}">
                <a16:creationId xmlns:a16="http://schemas.microsoft.com/office/drawing/2014/main" id="{D2AC924D-07A3-4927-8525-1257116EAB9B}"/>
              </a:ext>
            </a:extLst>
          </p:cNvPr>
          <p:cNvPicPr/>
          <p:nvPr/>
        </p:nvPicPr>
        <p:blipFill>
          <a:blip r:embed="rId3"/>
          <a:stretch>
            <a:fillRect/>
          </a:stretch>
        </p:blipFill>
        <p:spPr>
          <a:xfrm>
            <a:off x="5071009" y="3870928"/>
            <a:ext cx="4052086" cy="2008188"/>
          </a:xfrm>
          <a:prstGeom prst="rect">
            <a:avLst/>
          </a:prstGeom>
        </p:spPr>
      </p:pic>
    </p:spTree>
    <p:extLst>
      <p:ext uri="{BB962C8B-B14F-4D97-AF65-F5344CB8AC3E}">
        <p14:creationId xmlns:p14="http://schemas.microsoft.com/office/powerpoint/2010/main" val="3696143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755C6-D61A-4752-9E69-C3F65B95B662}"/>
              </a:ext>
            </a:extLst>
          </p:cNvPr>
          <p:cNvSpPr>
            <a:spLocks noGrp="1"/>
          </p:cNvSpPr>
          <p:nvPr>
            <p:ph type="title"/>
          </p:nvPr>
        </p:nvSpPr>
        <p:spPr/>
        <p:txBody>
          <a:bodyPr/>
          <a:lstStyle/>
          <a:p>
            <a:r>
              <a:rPr lang="en-GB" dirty="0"/>
              <a:t>DPSS Notice Period</a:t>
            </a:r>
          </a:p>
        </p:txBody>
      </p:sp>
      <p:sp>
        <p:nvSpPr>
          <p:cNvPr id="5" name="Content Placeholder 4">
            <a:extLst>
              <a:ext uri="{FF2B5EF4-FFF2-40B4-BE49-F238E27FC236}">
                <a16:creationId xmlns:a16="http://schemas.microsoft.com/office/drawing/2014/main" id="{043EA304-099B-4ED8-9699-6F2467FA16F8}"/>
              </a:ext>
            </a:extLst>
          </p:cNvPr>
          <p:cNvSpPr>
            <a:spLocks noGrp="1"/>
          </p:cNvSpPr>
          <p:nvPr>
            <p:ph idx="1"/>
          </p:nvPr>
        </p:nvSpPr>
        <p:spPr/>
        <p:txBody>
          <a:bodyPr/>
          <a:lstStyle/>
          <a:p>
            <a:pPr marL="0" indent="0">
              <a:lnSpc>
                <a:spcPct val="107000"/>
              </a:lnSpc>
              <a:spcAft>
                <a:spcPts val="800"/>
              </a:spcAft>
              <a:buNone/>
            </a:pPr>
            <a:r>
              <a:rPr lang="en-GB" sz="2400" dirty="0">
                <a:ea typeface="Calibri" panose="020F0502020204030204" pitchFamily="34" charset="0"/>
                <a:cs typeface="Times New Roman" panose="02020603050405020304" pitchFamily="18" charset="0"/>
              </a:rPr>
              <a:t>As the DPSS costs are </a:t>
            </a:r>
            <a:r>
              <a:rPr lang="en-GB" sz="2400" b="1" dirty="0">
                <a:ea typeface="Calibri" panose="020F0502020204030204" pitchFamily="34" charset="0"/>
                <a:cs typeface="Times New Roman" panose="02020603050405020304" pitchFamily="18" charset="0"/>
              </a:rPr>
              <a:t>NOT</a:t>
            </a:r>
            <a:r>
              <a:rPr lang="en-GB" sz="2400" dirty="0">
                <a:ea typeface="Calibri" panose="020F0502020204030204" pitchFamily="34" charset="0"/>
                <a:cs typeface="Times New Roman" panose="02020603050405020304" pitchFamily="18" charset="0"/>
              </a:rPr>
              <a:t> included in the total cost of the Mosaic DP Calculator you would not need a separate calculator or the DPSS notice date as the start date. </a:t>
            </a:r>
          </a:p>
          <a:p>
            <a:pPr marL="0" indent="0">
              <a:lnSpc>
                <a:spcPct val="107000"/>
              </a:lnSpc>
              <a:spcAft>
                <a:spcPts val="800"/>
              </a:spcAft>
              <a:buNone/>
            </a:pPr>
            <a:r>
              <a:rPr lang="en-GB" sz="2400" dirty="0">
                <a:ea typeface="Calibri" panose="020F0502020204030204" pitchFamily="34" charset="0"/>
                <a:cs typeface="Times New Roman" panose="02020603050405020304" pitchFamily="18" charset="0"/>
              </a:rPr>
              <a:t>Please put the start/change date on the DP Calculator section as the actual date of provider/support/hours start/change date. </a:t>
            </a:r>
          </a:p>
          <a:p>
            <a:pPr marL="0" indent="0">
              <a:lnSpc>
                <a:spcPct val="107000"/>
              </a:lnSpc>
              <a:spcAft>
                <a:spcPts val="800"/>
              </a:spcAft>
              <a:buNone/>
            </a:pPr>
            <a:r>
              <a:rPr lang="en-GB" sz="2400" dirty="0">
                <a:ea typeface="Calibri" panose="020F0502020204030204" pitchFamily="34" charset="0"/>
                <a:cs typeface="Times New Roman" panose="02020603050405020304" pitchFamily="18" charset="0"/>
              </a:rPr>
              <a:t>The DPSS start date will be recorded in the cost section 9 under the DPSS sections – and will not necessarily be the same start/change date as the support.</a:t>
            </a:r>
          </a:p>
          <a:p>
            <a:endParaRPr lang="en-GB" dirty="0"/>
          </a:p>
        </p:txBody>
      </p:sp>
    </p:spTree>
    <p:extLst>
      <p:ext uri="{BB962C8B-B14F-4D97-AF65-F5344CB8AC3E}">
        <p14:creationId xmlns:p14="http://schemas.microsoft.com/office/powerpoint/2010/main" val="3585487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CAA33-E720-4D24-ABD5-CD3DEAD75EE8}"/>
              </a:ext>
            </a:extLst>
          </p:cNvPr>
          <p:cNvSpPr>
            <a:spLocks noGrp="1"/>
          </p:cNvSpPr>
          <p:nvPr>
            <p:ph type="title"/>
          </p:nvPr>
        </p:nvSpPr>
        <p:spPr/>
        <p:txBody>
          <a:bodyPr/>
          <a:lstStyle/>
          <a:p>
            <a:r>
              <a:rPr lang="en-GB"/>
              <a:t>DP Calculator summary section</a:t>
            </a:r>
            <a:endParaRPr lang="en-GB" dirty="0"/>
          </a:p>
        </p:txBody>
      </p:sp>
      <p:pic>
        <p:nvPicPr>
          <p:cNvPr id="6" name="Content Placeholder 5">
            <a:extLst>
              <a:ext uri="{FF2B5EF4-FFF2-40B4-BE49-F238E27FC236}">
                <a16:creationId xmlns:a16="http://schemas.microsoft.com/office/drawing/2014/main" id="{0F8ECF43-6518-49BC-B9FA-17725C236C2B}"/>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65614" y="2484256"/>
            <a:ext cx="3689969" cy="3046806"/>
          </a:xfrm>
          <a:prstGeom prst="rect">
            <a:avLst/>
          </a:prstGeom>
          <a:noFill/>
          <a:ln>
            <a:noFill/>
          </a:ln>
        </p:spPr>
      </p:pic>
      <p:sp>
        <p:nvSpPr>
          <p:cNvPr id="8" name="Rectangle 7">
            <a:extLst>
              <a:ext uri="{FF2B5EF4-FFF2-40B4-BE49-F238E27FC236}">
                <a16:creationId xmlns:a16="http://schemas.microsoft.com/office/drawing/2014/main" id="{26BD0C85-2F6C-457B-9731-BD3B6DE8DFA7}"/>
              </a:ext>
            </a:extLst>
          </p:cNvPr>
          <p:cNvSpPr/>
          <p:nvPr/>
        </p:nvSpPr>
        <p:spPr>
          <a:xfrm>
            <a:off x="262990" y="1510044"/>
            <a:ext cx="4665059" cy="1552669"/>
          </a:xfrm>
          <a:prstGeom prst="rect">
            <a:avLst/>
          </a:prstGeom>
        </p:spPr>
        <p:txBody>
          <a:bodyPr wrap="square">
            <a:spAutoFit/>
          </a:bodyPr>
          <a:lstStyle/>
          <a:p>
            <a:pPr>
              <a:lnSpc>
                <a:spcPct val="107000"/>
              </a:lnSpc>
              <a:spcAft>
                <a:spcPts val="800"/>
              </a:spcAft>
            </a:pPr>
            <a:r>
              <a:rPr lang="en-GB" b="1" dirty="0">
                <a:latin typeface="+mn-lt"/>
                <a:ea typeface="Calibri" panose="020F0502020204030204" pitchFamily="34" charset="0"/>
                <a:cs typeface="Times New Roman" panose="02020603050405020304" pitchFamily="18" charset="0"/>
              </a:rPr>
              <a:t>All the associated DP costs will be calculated at the bottom in the Direct Payment Summary of weekly costs, please ensure you have refreshed the totals:</a:t>
            </a:r>
            <a:endParaRPr lang="en-GB" sz="1800" dirty="0">
              <a:effectLst/>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9610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78D60-6248-4366-BE3D-E964DE336046}"/>
              </a:ext>
            </a:extLst>
          </p:cNvPr>
          <p:cNvSpPr>
            <a:spLocks noGrp="1"/>
          </p:cNvSpPr>
          <p:nvPr>
            <p:ph type="title"/>
          </p:nvPr>
        </p:nvSpPr>
        <p:spPr/>
        <p:txBody>
          <a:bodyPr/>
          <a:lstStyle/>
          <a:p>
            <a:r>
              <a:rPr lang="en-GB" b="1" dirty="0">
                <a:latin typeface="Calibri" panose="020F0502020204030204" pitchFamily="34" charset="0"/>
                <a:ea typeface="Calibri" panose="020F0502020204030204" pitchFamily="34" charset="0"/>
                <a:cs typeface="Times New Roman" panose="02020603050405020304" pitchFamily="18" charset="0"/>
              </a:rPr>
              <a:t>Completing the Cost section</a:t>
            </a:r>
            <a:endParaRPr lang="en-GB" dirty="0"/>
          </a:p>
        </p:txBody>
      </p:sp>
      <p:sp>
        <p:nvSpPr>
          <p:cNvPr id="3" name="Content Placeholder 2">
            <a:extLst>
              <a:ext uri="{FF2B5EF4-FFF2-40B4-BE49-F238E27FC236}">
                <a16:creationId xmlns:a16="http://schemas.microsoft.com/office/drawing/2014/main" id="{008BE893-D25B-4E32-8142-D17852418631}"/>
              </a:ext>
            </a:extLst>
          </p:cNvPr>
          <p:cNvSpPr>
            <a:spLocks noGrp="1"/>
          </p:cNvSpPr>
          <p:nvPr>
            <p:ph idx="1"/>
          </p:nvPr>
        </p:nvSpPr>
        <p:spPr/>
        <p:txBody>
          <a:bodyPr/>
          <a:lstStyle/>
          <a:p>
            <a:pPr marL="0" indent="0">
              <a:buNone/>
            </a:pPr>
            <a:r>
              <a:rPr lang="en-GB" sz="1600" dirty="0">
                <a:ea typeface="Calibri" panose="020F0502020204030204" pitchFamily="34" charset="0"/>
                <a:cs typeface="Times New Roman" panose="02020603050405020304" pitchFamily="18" charset="0"/>
              </a:rPr>
              <a:t>Once the DP calculator section has been completed, the total summary costs and start date will pull through onto the cost section to make it easier for you to copy the total DP costs into the on-going cost section now that they have all been calculated for you, </a:t>
            </a:r>
            <a:r>
              <a:rPr lang="en-GB" sz="1600" b="1" dirty="0">
                <a:ea typeface="Calibri" panose="020F0502020204030204" pitchFamily="34" charset="0"/>
                <a:cs typeface="Times New Roman" panose="02020603050405020304" pitchFamily="18" charset="0"/>
              </a:rPr>
              <a:t>YOU NO LONGER HAVE TO ADD CONTINGENCY IN SEPARATELY</a:t>
            </a:r>
            <a:r>
              <a:rPr lang="en-GB" sz="1600" dirty="0">
                <a:ea typeface="Calibri" panose="020F0502020204030204" pitchFamily="34" charset="0"/>
                <a:cs typeface="Times New Roman" panose="02020603050405020304" pitchFamily="18" charset="0"/>
              </a:rPr>
              <a:t>, this is included in the PA costs</a:t>
            </a:r>
          </a:p>
          <a:p>
            <a:pPr marL="0" indent="0">
              <a:buNone/>
            </a:pPr>
            <a:endParaRPr lang="en-GB" sz="1600" dirty="0"/>
          </a:p>
        </p:txBody>
      </p:sp>
      <p:pic>
        <p:nvPicPr>
          <p:cNvPr id="4" name="Picture 3">
            <a:extLst>
              <a:ext uri="{FF2B5EF4-FFF2-40B4-BE49-F238E27FC236}">
                <a16:creationId xmlns:a16="http://schemas.microsoft.com/office/drawing/2014/main" id="{AAD0D1BD-A7BF-408B-81E0-23306035ACA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99052"/>
            <a:ext cx="6104890" cy="3192780"/>
          </a:xfrm>
          <a:prstGeom prst="rect">
            <a:avLst/>
          </a:prstGeom>
          <a:noFill/>
          <a:ln>
            <a:noFill/>
          </a:ln>
        </p:spPr>
      </p:pic>
    </p:spTree>
    <p:extLst>
      <p:ext uri="{BB962C8B-B14F-4D97-AF65-F5344CB8AC3E}">
        <p14:creationId xmlns:p14="http://schemas.microsoft.com/office/powerpoint/2010/main" val="1840445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ECD4D-2168-4136-B100-43BC66196FB7}"/>
              </a:ext>
            </a:extLst>
          </p:cNvPr>
          <p:cNvSpPr>
            <a:spLocks noGrp="1"/>
          </p:cNvSpPr>
          <p:nvPr>
            <p:ph type="title"/>
          </p:nvPr>
        </p:nvSpPr>
        <p:spPr/>
        <p:txBody>
          <a:bodyPr/>
          <a:lstStyle/>
          <a:p>
            <a:r>
              <a:rPr lang="en-GB" b="1" dirty="0">
                <a:latin typeface="Calibri" panose="020F0502020204030204" pitchFamily="34" charset="0"/>
                <a:ea typeface="Calibri" panose="020F0502020204030204" pitchFamily="34" charset="0"/>
                <a:cs typeface="Times New Roman" panose="02020603050405020304" pitchFamily="18" charset="0"/>
              </a:rPr>
              <a:t>Completing the Cost section</a:t>
            </a:r>
            <a:endParaRPr lang="en-GB" dirty="0"/>
          </a:p>
        </p:txBody>
      </p:sp>
      <p:sp>
        <p:nvSpPr>
          <p:cNvPr id="3" name="Content Placeholder 2">
            <a:extLst>
              <a:ext uri="{FF2B5EF4-FFF2-40B4-BE49-F238E27FC236}">
                <a16:creationId xmlns:a16="http://schemas.microsoft.com/office/drawing/2014/main" id="{F6030E93-8E9C-42B8-AC5F-4E1A7E405E89}"/>
              </a:ext>
            </a:extLst>
          </p:cNvPr>
          <p:cNvSpPr>
            <a:spLocks noGrp="1"/>
          </p:cNvSpPr>
          <p:nvPr>
            <p:ph idx="1"/>
          </p:nvPr>
        </p:nvSpPr>
        <p:spPr/>
        <p:txBody>
          <a:bodyPr/>
          <a:lstStyle/>
          <a:p>
            <a:pPr marL="0" indent="0">
              <a:lnSpc>
                <a:spcPct val="107000"/>
              </a:lnSpc>
              <a:spcAft>
                <a:spcPts val="800"/>
              </a:spcAft>
              <a:buNone/>
            </a:pPr>
            <a:r>
              <a:rPr lang="en-GB" sz="1600" dirty="0">
                <a:ea typeface="Calibri" panose="020F0502020204030204" pitchFamily="34" charset="0"/>
                <a:cs typeface="Times New Roman" panose="02020603050405020304" pitchFamily="18" charset="0"/>
              </a:rPr>
              <a:t>Please then add the normal breakdown/detail of support into the on-going costs using the DP Calculator costs for the Direct Payment elements of the on-going support ensuring the start date and the total cost of DP matches:</a:t>
            </a:r>
          </a:p>
          <a:p>
            <a:pPr marL="0" indent="0">
              <a:lnSpc>
                <a:spcPct val="107000"/>
              </a:lnSpc>
              <a:spcAft>
                <a:spcPts val="800"/>
              </a:spcAft>
              <a:buNone/>
            </a:pPr>
            <a:endParaRPr lang="en-GB" sz="1600" dirty="0">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pic>
        <p:nvPicPr>
          <p:cNvPr id="4" name="Picture 3">
            <a:extLst>
              <a:ext uri="{FF2B5EF4-FFF2-40B4-BE49-F238E27FC236}">
                <a16:creationId xmlns:a16="http://schemas.microsoft.com/office/drawing/2014/main" id="{12D65697-2E2D-45B8-B884-434E1FDCC30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57200" y="2213610"/>
            <a:ext cx="5740400" cy="3456940"/>
          </a:xfrm>
          <a:prstGeom prst="rect">
            <a:avLst/>
          </a:prstGeom>
          <a:noFill/>
          <a:ln>
            <a:noFill/>
          </a:ln>
        </p:spPr>
      </p:pic>
    </p:spTree>
    <p:extLst>
      <p:ext uri="{BB962C8B-B14F-4D97-AF65-F5344CB8AC3E}">
        <p14:creationId xmlns:p14="http://schemas.microsoft.com/office/powerpoint/2010/main" val="2224274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18F04-80FA-4EC5-A54A-761B05A9845B}"/>
              </a:ext>
            </a:extLst>
          </p:cNvPr>
          <p:cNvSpPr>
            <a:spLocks noGrp="1"/>
          </p:cNvSpPr>
          <p:nvPr>
            <p:ph type="title"/>
          </p:nvPr>
        </p:nvSpPr>
        <p:spPr/>
        <p:txBody>
          <a:bodyPr/>
          <a:lstStyle/>
          <a:p>
            <a:r>
              <a:rPr lang="en-GB" b="1" dirty="0">
                <a:latin typeface="Calibri" panose="020F0502020204030204" pitchFamily="34" charset="0"/>
                <a:ea typeface="Calibri" panose="020F0502020204030204" pitchFamily="34" charset="0"/>
                <a:cs typeface="Times New Roman" panose="02020603050405020304" pitchFamily="18" charset="0"/>
              </a:rPr>
              <a:t>Multiple Change dates</a:t>
            </a:r>
            <a:endParaRPr lang="en-GB" dirty="0"/>
          </a:p>
        </p:txBody>
      </p:sp>
      <p:sp>
        <p:nvSpPr>
          <p:cNvPr id="3" name="Content Placeholder 2">
            <a:extLst>
              <a:ext uri="{FF2B5EF4-FFF2-40B4-BE49-F238E27FC236}">
                <a16:creationId xmlns:a16="http://schemas.microsoft.com/office/drawing/2014/main" id="{49317996-9F87-491F-8FE5-144496FF750D}"/>
              </a:ext>
            </a:extLst>
          </p:cNvPr>
          <p:cNvSpPr>
            <a:spLocks noGrp="1"/>
          </p:cNvSpPr>
          <p:nvPr>
            <p:ph idx="1"/>
          </p:nvPr>
        </p:nvSpPr>
        <p:spPr/>
        <p:txBody>
          <a:bodyPr/>
          <a:lstStyle/>
          <a:p>
            <a:pPr marL="0" indent="0">
              <a:lnSpc>
                <a:spcPct val="107000"/>
              </a:lnSpc>
              <a:spcAft>
                <a:spcPts val="800"/>
              </a:spcAft>
              <a:buNone/>
            </a:pPr>
            <a:r>
              <a:rPr lang="en-GB" sz="1800" dirty="0">
                <a:ea typeface="Calibri" panose="020F0502020204030204" pitchFamily="34" charset="0"/>
                <a:cs typeface="Times New Roman" panose="02020603050405020304" pitchFamily="18" charset="0"/>
              </a:rPr>
              <a:t>Where there are multiple change dates to a package you can use the DP calculator to work out the costs for each date, however you can only have 1 version of this and you would need to overwrite any information with the most recent/current change ensuring the date is correct.</a:t>
            </a:r>
            <a:r>
              <a:rPr lang="en-GB" sz="1800" b="1" dirty="0">
                <a:ea typeface="Calibri" panose="020F0502020204030204" pitchFamily="34" charset="0"/>
                <a:cs typeface="Times New Roman" panose="02020603050405020304" pitchFamily="18" charset="0"/>
              </a:rPr>
              <a:t> </a:t>
            </a:r>
          </a:p>
          <a:p>
            <a:pPr marL="0" indent="0">
              <a:lnSpc>
                <a:spcPct val="107000"/>
              </a:lnSpc>
              <a:spcAft>
                <a:spcPts val="800"/>
              </a:spcAft>
              <a:buNone/>
            </a:pPr>
            <a:r>
              <a:rPr lang="en-GB" sz="1800" b="1" dirty="0">
                <a:ea typeface="Calibri" panose="020F0502020204030204" pitchFamily="34" charset="0"/>
                <a:cs typeface="Times New Roman" panose="02020603050405020304" pitchFamily="18" charset="0"/>
              </a:rPr>
              <a:t>There is no requirement for a DP Calculator for each change date. DIT only need to the most recent change date and detail of support.  If you wanted to do so, you can print the CASP DP Calculator section to a PDF document and save/upload to the Mosaic record but this is not a commissioning requirement. </a:t>
            </a:r>
            <a:endParaRPr lang="en-GB" sz="1800" dirty="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582255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8D030-23D6-43D0-AB70-4EC37B98330E}"/>
              </a:ext>
            </a:extLst>
          </p:cNvPr>
          <p:cNvSpPr>
            <a:spLocks noGrp="1"/>
          </p:cNvSpPr>
          <p:nvPr>
            <p:ph type="title"/>
          </p:nvPr>
        </p:nvSpPr>
        <p:spPr/>
        <p:txBody>
          <a:bodyPr/>
          <a:lstStyle/>
          <a:p>
            <a:r>
              <a:rPr lang="en-GB"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Multiple Change dates</a:t>
            </a:r>
            <a:endParaRPr lang="en-GB" dirty="0"/>
          </a:p>
        </p:txBody>
      </p:sp>
      <p:sp>
        <p:nvSpPr>
          <p:cNvPr id="3" name="Content Placeholder 2">
            <a:extLst>
              <a:ext uri="{FF2B5EF4-FFF2-40B4-BE49-F238E27FC236}">
                <a16:creationId xmlns:a16="http://schemas.microsoft.com/office/drawing/2014/main" id="{861A6DF9-127A-44BE-B858-8ADDB8512E79}"/>
              </a:ext>
            </a:extLst>
          </p:cNvPr>
          <p:cNvSpPr>
            <a:spLocks noGrp="1"/>
          </p:cNvSpPr>
          <p:nvPr>
            <p:ph idx="1"/>
          </p:nvPr>
        </p:nvSpPr>
        <p:spPr/>
        <p:txBody>
          <a:bodyPr/>
          <a:lstStyle/>
          <a:p>
            <a:r>
              <a:rPr lang="en-GB" sz="1600" b="1" dirty="0">
                <a:ea typeface="Calibri" panose="020F0502020204030204" pitchFamily="34" charset="0"/>
                <a:cs typeface="Times New Roman" panose="02020603050405020304" pitchFamily="18" charset="0"/>
              </a:rPr>
              <a:t>For example:</a:t>
            </a:r>
            <a:endParaRPr lang="en-GB" sz="1600" dirty="0">
              <a:ea typeface="Calibri" panose="020F0502020204030204" pitchFamily="34" charset="0"/>
              <a:cs typeface="Times New Roman" panose="02020603050405020304" pitchFamily="18" charset="0"/>
            </a:endParaRPr>
          </a:p>
          <a:p>
            <a:pPr marL="0" indent="0">
              <a:buNone/>
            </a:pPr>
            <a:r>
              <a:rPr lang="en-GB" sz="1600" dirty="0">
                <a:ea typeface="Calibri" panose="020F0502020204030204" pitchFamily="34" charset="0"/>
                <a:cs typeface="Times New Roman" panose="02020603050405020304" pitchFamily="18" charset="0"/>
              </a:rPr>
              <a:t>If you have 2 changes to the DP to commission, one from 1.7.21 to increase the hours from 10 to 15, and then another change on 1.9.21 to 2x PA instead of 1 and total of 20 hours. You can do this as below:</a:t>
            </a:r>
          </a:p>
          <a:p>
            <a:endParaRPr lang="en-GB" dirty="0"/>
          </a:p>
        </p:txBody>
      </p:sp>
      <p:pic>
        <p:nvPicPr>
          <p:cNvPr id="4" name="Picture 3">
            <a:extLst>
              <a:ext uri="{FF2B5EF4-FFF2-40B4-BE49-F238E27FC236}">
                <a16:creationId xmlns:a16="http://schemas.microsoft.com/office/drawing/2014/main" id="{93780983-F90B-4A97-B38F-02D1A51868D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57200" y="2459726"/>
            <a:ext cx="5757483" cy="2905293"/>
          </a:xfrm>
          <a:prstGeom prst="rect">
            <a:avLst/>
          </a:prstGeom>
          <a:noFill/>
          <a:ln>
            <a:noFill/>
          </a:ln>
        </p:spPr>
      </p:pic>
    </p:spTree>
    <p:extLst>
      <p:ext uri="{BB962C8B-B14F-4D97-AF65-F5344CB8AC3E}">
        <p14:creationId xmlns:p14="http://schemas.microsoft.com/office/powerpoint/2010/main" val="619728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BDC8-BD77-4A2B-9BA7-141C69CB038F}"/>
              </a:ext>
            </a:extLst>
          </p:cNvPr>
          <p:cNvSpPr>
            <a:spLocks noGrp="1"/>
          </p:cNvSpPr>
          <p:nvPr>
            <p:ph type="title"/>
          </p:nvPr>
        </p:nvSpPr>
        <p:spPr/>
        <p:txBody>
          <a:bodyPr/>
          <a:lstStyle/>
          <a:p>
            <a:r>
              <a:rPr lang="en-GB"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Multiple Change dates</a:t>
            </a:r>
            <a:endParaRPr lang="en-GB" dirty="0"/>
          </a:p>
        </p:txBody>
      </p:sp>
      <p:sp>
        <p:nvSpPr>
          <p:cNvPr id="3" name="Content Placeholder 2">
            <a:extLst>
              <a:ext uri="{FF2B5EF4-FFF2-40B4-BE49-F238E27FC236}">
                <a16:creationId xmlns:a16="http://schemas.microsoft.com/office/drawing/2014/main" id="{A5884FC9-6942-422B-BC56-ECB75F5268F8}"/>
              </a:ext>
            </a:extLst>
          </p:cNvPr>
          <p:cNvSpPr>
            <a:spLocks noGrp="1"/>
          </p:cNvSpPr>
          <p:nvPr>
            <p:ph idx="1"/>
          </p:nvPr>
        </p:nvSpPr>
        <p:spPr>
          <a:xfrm>
            <a:off x="457200" y="1326841"/>
            <a:ext cx="8229600" cy="4327525"/>
          </a:xfrm>
        </p:spPr>
        <p:txBody>
          <a:bodyPr/>
          <a:lstStyle/>
          <a:p>
            <a:r>
              <a:rPr lang="en-GB" sz="1600" dirty="0">
                <a:ea typeface="Calibri" panose="020F0502020204030204" pitchFamily="34" charset="0"/>
                <a:cs typeface="Calibri" panose="020F0502020204030204" pitchFamily="34" charset="0"/>
              </a:rPr>
              <a:t>Put the date and hours and all other details onto the DP Calculator section</a:t>
            </a:r>
          </a:p>
          <a:p>
            <a:r>
              <a:rPr lang="en-GB" sz="1600" dirty="0">
                <a:ea typeface="Calibri" panose="020F0502020204030204" pitchFamily="34" charset="0"/>
                <a:cs typeface="Calibri" panose="020F0502020204030204" pitchFamily="34" charset="0"/>
              </a:rPr>
              <a:t>Refresh the totals</a:t>
            </a:r>
          </a:p>
          <a:p>
            <a:r>
              <a:rPr lang="en-GB" sz="1600" dirty="0">
                <a:ea typeface="Calibri" panose="020F0502020204030204" pitchFamily="34" charset="0"/>
                <a:cs typeface="Calibri" panose="020F0502020204030204" pitchFamily="34" charset="0"/>
              </a:rPr>
              <a:t>Go to the Cost section</a:t>
            </a:r>
          </a:p>
          <a:p>
            <a:r>
              <a:rPr lang="en-GB" sz="1600" dirty="0">
                <a:ea typeface="Calibri" panose="020F0502020204030204" pitchFamily="34" charset="0"/>
                <a:cs typeface="Calibri" panose="020F0502020204030204" pitchFamily="34" charset="0"/>
              </a:rPr>
              <a:t>Complete the DP date, detail and cost as per the summary and put an end date as the date before the next change (31.8.21) :</a:t>
            </a:r>
          </a:p>
          <a:p>
            <a:endParaRPr lang="en-GB" sz="1600" dirty="0">
              <a:ea typeface="Calibri" panose="020F0502020204030204" pitchFamily="34" charset="0"/>
              <a:cs typeface="Calibri" panose="020F0502020204030204" pitchFamily="34" charset="0"/>
            </a:endParaRPr>
          </a:p>
          <a:p>
            <a:endParaRPr lang="en-GB" sz="1600" dirty="0">
              <a:ea typeface="Calibri" panose="020F0502020204030204" pitchFamily="34" charset="0"/>
              <a:cs typeface="Calibri" panose="020F0502020204030204" pitchFamily="34" charset="0"/>
            </a:endParaRPr>
          </a:p>
          <a:p>
            <a:endParaRPr lang="en-GB" sz="1600" dirty="0">
              <a:ea typeface="Calibri" panose="020F0502020204030204" pitchFamily="34" charset="0"/>
              <a:cs typeface="Calibri" panose="020F0502020204030204" pitchFamily="34" charset="0"/>
            </a:endParaRPr>
          </a:p>
          <a:p>
            <a:endParaRPr lang="en-GB" sz="1600" dirty="0">
              <a:ea typeface="Calibri" panose="020F0502020204030204" pitchFamily="34" charset="0"/>
              <a:cs typeface="Calibri" panose="020F0502020204030204" pitchFamily="34" charset="0"/>
            </a:endParaRPr>
          </a:p>
          <a:p>
            <a:endParaRPr lang="en-GB" sz="1600" dirty="0">
              <a:ea typeface="Calibri" panose="020F0502020204030204" pitchFamily="34" charset="0"/>
              <a:cs typeface="Calibri" panose="020F0502020204030204" pitchFamily="34" charset="0"/>
            </a:endParaRPr>
          </a:p>
          <a:p>
            <a:r>
              <a:rPr lang="en-GB" sz="1600" dirty="0">
                <a:cs typeface="Calibri" panose="020F0502020204030204" pitchFamily="34" charset="0"/>
              </a:rPr>
              <a:t>Go back to the DP Calculator section</a:t>
            </a:r>
          </a:p>
          <a:p>
            <a:r>
              <a:rPr lang="en-GB" sz="1600" dirty="0">
                <a:cs typeface="Calibri" panose="020F0502020204030204" pitchFamily="34" charset="0"/>
              </a:rPr>
              <a:t>Change the date to the next change date, this example is 1.9.21</a:t>
            </a:r>
          </a:p>
          <a:p>
            <a:r>
              <a:rPr lang="en-GB" sz="1600" dirty="0">
                <a:cs typeface="Calibri" panose="020F0502020204030204" pitchFamily="34" charset="0"/>
              </a:rPr>
              <a:t>Delete the current information, update with new information</a:t>
            </a:r>
          </a:p>
          <a:p>
            <a:r>
              <a:rPr lang="en-GB" sz="1600" dirty="0">
                <a:cs typeface="Calibri" panose="020F0502020204030204" pitchFamily="34" charset="0"/>
              </a:rPr>
              <a:t>Refresh the totals</a:t>
            </a:r>
          </a:p>
          <a:p>
            <a:r>
              <a:rPr lang="en-GB" sz="1600" dirty="0">
                <a:cs typeface="Calibri" panose="020F0502020204030204" pitchFamily="34" charset="0"/>
              </a:rPr>
              <a:t>Go back to the cost section and copy the new information over </a:t>
            </a:r>
          </a:p>
          <a:p>
            <a:endParaRPr lang="en-GB" sz="1600" dirty="0">
              <a:latin typeface="Calibri" panose="020F0502020204030204" pitchFamily="34" charset="0"/>
              <a:ea typeface="Calibri" panose="020F0502020204030204" pitchFamily="34" charset="0"/>
              <a:cs typeface="Times New Roman" panose="02020603050405020304" pitchFamily="18" charset="0"/>
            </a:endParaRPr>
          </a:p>
          <a:p>
            <a:endParaRPr lang="en-GB" sz="1600" dirty="0">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pic>
        <p:nvPicPr>
          <p:cNvPr id="9" name="Picture 8">
            <a:extLst>
              <a:ext uri="{FF2B5EF4-FFF2-40B4-BE49-F238E27FC236}">
                <a16:creationId xmlns:a16="http://schemas.microsoft.com/office/drawing/2014/main" id="{06586512-3B93-4CC2-A587-5ED180F8A55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46768" y="2778144"/>
            <a:ext cx="5777713" cy="1389254"/>
          </a:xfrm>
          <a:prstGeom prst="rect">
            <a:avLst/>
          </a:prstGeom>
          <a:noFill/>
          <a:ln>
            <a:noFill/>
          </a:ln>
        </p:spPr>
      </p:pic>
    </p:spTree>
    <p:extLst>
      <p:ext uri="{BB962C8B-B14F-4D97-AF65-F5344CB8AC3E}">
        <p14:creationId xmlns:p14="http://schemas.microsoft.com/office/powerpoint/2010/main" val="26355052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B1AB2-9494-40B8-8FB0-DF1270968203}"/>
              </a:ext>
            </a:extLst>
          </p:cNvPr>
          <p:cNvSpPr>
            <a:spLocks noGrp="1"/>
          </p:cNvSpPr>
          <p:nvPr>
            <p:ph type="title"/>
          </p:nvPr>
        </p:nvSpPr>
        <p:spPr/>
        <p:txBody>
          <a:bodyPr/>
          <a:lstStyle/>
          <a:p>
            <a:r>
              <a:rPr lang="en-GB"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Multiple Change dates</a:t>
            </a:r>
            <a:endParaRPr lang="en-GB" dirty="0"/>
          </a:p>
        </p:txBody>
      </p:sp>
      <p:pic>
        <p:nvPicPr>
          <p:cNvPr id="4" name="Content Placeholder 3">
            <a:extLst>
              <a:ext uri="{FF2B5EF4-FFF2-40B4-BE49-F238E27FC236}">
                <a16:creationId xmlns:a16="http://schemas.microsoft.com/office/drawing/2014/main" id="{09ED8F41-2C06-46C4-89D3-8D9DAD6DCD3B}"/>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164597"/>
            <a:ext cx="5106074" cy="3391219"/>
          </a:xfrm>
          <a:prstGeom prst="rect">
            <a:avLst/>
          </a:prstGeom>
          <a:noFill/>
          <a:ln>
            <a:noFill/>
          </a:ln>
        </p:spPr>
      </p:pic>
      <p:pic>
        <p:nvPicPr>
          <p:cNvPr id="5" name="Picture 4">
            <a:extLst>
              <a:ext uri="{FF2B5EF4-FFF2-40B4-BE49-F238E27FC236}">
                <a16:creationId xmlns:a16="http://schemas.microsoft.com/office/drawing/2014/main" id="{4176093A-AE24-48DF-87E1-65BA38B1B09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652920" y="4639417"/>
            <a:ext cx="4385883" cy="1142999"/>
          </a:xfrm>
          <a:prstGeom prst="rect">
            <a:avLst/>
          </a:prstGeom>
          <a:noFill/>
          <a:ln>
            <a:noFill/>
          </a:ln>
        </p:spPr>
      </p:pic>
    </p:spTree>
    <p:extLst>
      <p:ext uri="{BB962C8B-B14F-4D97-AF65-F5344CB8AC3E}">
        <p14:creationId xmlns:p14="http://schemas.microsoft.com/office/powerpoint/2010/main" val="4062426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4CA60-161B-4D6F-BFBA-6CAE4D1B0732}"/>
              </a:ext>
            </a:extLst>
          </p:cNvPr>
          <p:cNvSpPr>
            <a:spLocks noGrp="1"/>
          </p:cNvSpPr>
          <p:nvPr>
            <p:ph type="title"/>
          </p:nvPr>
        </p:nvSpPr>
        <p:spPr/>
        <p:txBody>
          <a:bodyPr/>
          <a:lstStyle/>
          <a:p>
            <a:r>
              <a:rPr lang="en-GB" dirty="0"/>
              <a:t>How to PDF the DP Calculator </a:t>
            </a:r>
          </a:p>
        </p:txBody>
      </p:sp>
      <p:sp>
        <p:nvSpPr>
          <p:cNvPr id="3" name="Content Placeholder 2">
            <a:extLst>
              <a:ext uri="{FF2B5EF4-FFF2-40B4-BE49-F238E27FC236}">
                <a16:creationId xmlns:a16="http://schemas.microsoft.com/office/drawing/2014/main" id="{E886213A-41FF-4DCA-805A-B0C06400B6D8}"/>
              </a:ext>
            </a:extLst>
          </p:cNvPr>
          <p:cNvSpPr>
            <a:spLocks noGrp="1"/>
          </p:cNvSpPr>
          <p:nvPr>
            <p:ph sz="half" idx="1"/>
          </p:nvPr>
        </p:nvSpPr>
        <p:spPr/>
        <p:txBody>
          <a:bodyPr/>
          <a:lstStyle/>
          <a:p>
            <a:pPr marL="0" indent="0">
              <a:buNone/>
            </a:pPr>
            <a:r>
              <a:rPr lang="en-GB" sz="1600" b="1" dirty="0">
                <a:cs typeface="Calibri" panose="020F0502020204030204" pitchFamily="34" charset="0"/>
              </a:rPr>
              <a:t>It is not mandatory to create a PDF of the DP Calculator but if you wanted to you can by;</a:t>
            </a:r>
          </a:p>
          <a:p>
            <a:pPr marL="0" indent="0">
              <a:buNone/>
            </a:pPr>
            <a:r>
              <a:rPr lang="en-GB" sz="1600" dirty="0">
                <a:cs typeface="Calibri" panose="020F0502020204030204" pitchFamily="34" charset="0"/>
              </a:rPr>
              <a:t>To create the DP Calculator as a PDF document, please click on the PDF icon within your step at the top of the screen:</a:t>
            </a:r>
          </a:p>
          <a:p>
            <a:pPr marL="0" indent="0">
              <a:buNone/>
            </a:pPr>
            <a:endParaRPr lang="en-GB" sz="1600" dirty="0"/>
          </a:p>
          <a:p>
            <a:pPr marL="0" indent="0">
              <a:buNone/>
            </a:pPr>
            <a:endParaRPr lang="en-GB" sz="1600" dirty="0"/>
          </a:p>
          <a:p>
            <a:pPr marL="0" indent="0">
              <a:buNone/>
            </a:pPr>
            <a:endParaRPr lang="en-GB" sz="1600" dirty="0"/>
          </a:p>
          <a:p>
            <a:pPr marL="0" indent="0">
              <a:buNone/>
            </a:pPr>
            <a:endParaRPr lang="en-GB" sz="1600" dirty="0"/>
          </a:p>
          <a:p>
            <a:pPr marL="0" indent="0">
              <a:buNone/>
            </a:pPr>
            <a:endParaRPr lang="en-GB" sz="2000" dirty="0"/>
          </a:p>
        </p:txBody>
      </p:sp>
      <p:sp>
        <p:nvSpPr>
          <p:cNvPr id="7" name="Content Placeholder 6">
            <a:extLst>
              <a:ext uri="{FF2B5EF4-FFF2-40B4-BE49-F238E27FC236}">
                <a16:creationId xmlns:a16="http://schemas.microsoft.com/office/drawing/2014/main" id="{37414ACB-9784-4088-80C1-84B7FD52E1B5}"/>
              </a:ext>
            </a:extLst>
          </p:cNvPr>
          <p:cNvSpPr>
            <a:spLocks noGrp="1"/>
          </p:cNvSpPr>
          <p:nvPr>
            <p:ph sz="half" idx="2"/>
          </p:nvPr>
        </p:nvSpPr>
        <p:spPr/>
        <p:txBody>
          <a:bodyPr/>
          <a:lstStyle/>
          <a:p>
            <a:pPr marL="0" lvl="0" indent="0">
              <a:lnSpc>
                <a:spcPct val="107000"/>
              </a:lnSpc>
              <a:spcAft>
                <a:spcPts val="800"/>
              </a:spcAft>
              <a:buNone/>
            </a:pPr>
            <a:r>
              <a:rPr lang="en-GB" sz="1600" dirty="0">
                <a:solidFill>
                  <a:srgbClr val="000000"/>
                </a:solidFill>
                <a:ea typeface="Calibri" panose="020F0502020204030204" pitchFamily="34" charset="0"/>
                <a:cs typeface="Times New Roman" panose="02020603050405020304" pitchFamily="18" charset="0"/>
              </a:rPr>
              <a:t>Select section 8 for the DP Calculator, then output to PDF, you can then save/upload this if you wish to do so:</a:t>
            </a:r>
          </a:p>
          <a:p>
            <a:endParaRPr lang="en-GB" dirty="0"/>
          </a:p>
        </p:txBody>
      </p:sp>
      <p:pic>
        <p:nvPicPr>
          <p:cNvPr id="4" name="Picture 3">
            <a:extLst>
              <a:ext uri="{FF2B5EF4-FFF2-40B4-BE49-F238E27FC236}">
                <a16:creationId xmlns:a16="http://schemas.microsoft.com/office/drawing/2014/main" id="{C38CF4D5-32F5-42BF-AADD-61CFC18498C7}"/>
              </a:ext>
            </a:extLst>
          </p:cNvPr>
          <p:cNvPicPr/>
          <p:nvPr/>
        </p:nvPicPr>
        <p:blipFill>
          <a:blip r:embed="rId2"/>
          <a:stretch>
            <a:fillRect/>
          </a:stretch>
        </p:blipFill>
        <p:spPr>
          <a:xfrm>
            <a:off x="918445" y="2978270"/>
            <a:ext cx="2811982" cy="1201920"/>
          </a:xfrm>
          <a:prstGeom prst="rect">
            <a:avLst/>
          </a:prstGeom>
        </p:spPr>
      </p:pic>
      <p:sp>
        <p:nvSpPr>
          <p:cNvPr id="5" name="Oval 4">
            <a:extLst>
              <a:ext uri="{FF2B5EF4-FFF2-40B4-BE49-F238E27FC236}">
                <a16:creationId xmlns:a16="http://schemas.microsoft.com/office/drawing/2014/main" id="{2A2E3F76-9678-4289-B3EB-F6F1EDA5C560}"/>
              </a:ext>
            </a:extLst>
          </p:cNvPr>
          <p:cNvSpPr/>
          <p:nvPr/>
        </p:nvSpPr>
        <p:spPr>
          <a:xfrm>
            <a:off x="1917811" y="3094093"/>
            <a:ext cx="299406" cy="41269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82244D3B-A773-46C5-9950-E60CBB92BCA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952327" y="2501604"/>
            <a:ext cx="3301550" cy="3168946"/>
          </a:xfrm>
          <a:prstGeom prst="rect">
            <a:avLst/>
          </a:prstGeom>
          <a:noFill/>
          <a:ln>
            <a:noFill/>
          </a:ln>
        </p:spPr>
      </p:pic>
    </p:spTree>
    <p:extLst>
      <p:ext uri="{BB962C8B-B14F-4D97-AF65-F5344CB8AC3E}">
        <p14:creationId xmlns:p14="http://schemas.microsoft.com/office/powerpoint/2010/main" val="1342453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501F1-FE39-44B0-A3AD-F524D819787F}"/>
              </a:ext>
            </a:extLst>
          </p:cNvPr>
          <p:cNvSpPr>
            <a:spLocks noGrp="1"/>
          </p:cNvSpPr>
          <p:nvPr>
            <p:ph type="title"/>
          </p:nvPr>
        </p:nvSpPr>
        <p:spPr/>
        <p:txBody>
          <a:bodyPr/>
          <a:lstStyle/>
          <a:p>
            <a:r>
              <a:rPr lang="en-GB" b="1" dirty="0"/>
              <a:t>Uplift to costs</a:t>
            </a:r>
            <a:br>
              <a:rPr lang="en-GB" dirty="0"/>
            </a:br>
            <a:endParaRPr lang="en-GB" dirty="0"/>
          </a:p>
        </p:txBody>
      </p:sp>
      <p:sp>
        <p:nvSpPr>
          <p:cNvPr id="3" name="Content Placeholder 2">
            <a:extLst>
              <a:ext uri="{FF2B5EF4-FFF2-40B4-BE49-F238E27FC236}">
                <a16:creationId xmlns:a16="http://schemas.microsoft.com/office/drawing/2014/main" id="{FE701DD1-1A0A-4CDA-8BB7-B29F71AC5F9E}"/>
              </a:ext>
            </a:extLst>
          </p:cNvPr>
          <p:cNvSpPr>
            <a:spLocks noGrp="1"/>
          </p:cNvSpPr>
          <p:nvPr>
            <p:ph idx="1"/>
          </p:nvPr>
        </p:nvSpPr>
        <p:spPr/>
        <p:txBody>
          <a:bodyPr/>
          <a:lstStyle/>
          <a:p>
            <a:pPr marL="0" indent="0">
              <a:buNone/>
            </a:pPr>
            <a:r>
              <a:rPr lang="en-GB" sz="2400" dirty="0"/>
              <a:t>Where there is an uplift provider rate only (no change to services provided/hours of support/provider) a ‘Request care package amendment step – Care and Support Plan update’ should be used. If there is also a change in support hours or provider, then this should be done via a review step. </a:t>
            </a:r>
          </a:p>
          <a:p>
            <a:pPr marL="0" indent="0">
              <a:buNone/>
            </a:pPr>
            <a:endParaRPr lang="en-GB" dirty="0"/>
          </a:p>
        </p:txBody>
      </p:sp>
    </p:spTree>
    <p:extLst>
      <p:ext uri="{BB962C8B-B14F-4D97-AF65-F5344CB8AC3E}">
        <p14:creationId xmlns:p14="http://schemas.microsoft.com/office/powerpoint/2010/main" val="20598705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5C25E-A3BC-44CB-B5FB-72CA25964564}"/>
              </a:ext>
            </a:extLst>
          </p:cNvPr>
          <p:cNvSpPr>
            <a:spLocks noGrp="1"/>
          </p:cNvSpPr>
          <p:nvPr>
            <p:ph type="title"/>
          </p:nvPr>
        </p:nvSpPr>
        <p:spPr/>
        <p:txBody>
          <a:bodyPr/>
          <a:lstStyle/>
          <a:p>
            <a:r>
              <a:rPr lang="en-GB" dirty="0"/>
              <a:t>Rules for DIT </a:t>
            </a:r>
          </a:p>
        </p:txBody>
      </p:sp>
      <p:sp>
        <p:nvSpPr>
          <p:cNvPr id="3" name="Content Placeholder 2">
            <a:extLst>
              <a:ext uri="{FF2B5EF4-FFF2-40B4-BE49-F238E27FC236}">
                <a16:creationId xmlns:a16="http://schemas.microsoft.com/office/drawing/2014/main" id="{00073B08-1D0F-49CC-B317-A4C18AF019EF}"/>
              </a:ext>
            </a:extLst>
          </p:cNvPr>
          <p:cNvSpPr>
            <a:spLocks noGrp="1"/>
          </p:cNvSpPr>
          <p:nvPr>
            <p:ph idx="1"/>
          </p:nvPr>
        </p:nvSpPr>
        <p:spPr/>
        <p:txBody>
          <a:bodyPr/>
          <a:lstStyle/>
          <a:p>
            <a:pPr marL="0" indent="0">
              <a:buNone/>
            </a:pPr>
            <a:r>
              <a:rPr lang="en-GB" sz="1600" dirty="0">
                <a:cs typeface="Calibri" panose="020F0502020204030204" pitchFamily="34" charset="0"/>
              </a:rPr>
              <a:t>DIT check the following before they are able to commission, if you have not completed the step correctly or have not uploaded the correct forms, then your step will </a:t>
            </a:r>
            <a:r>
              <a:rPr lang="en-GB" sz="1600" b="1" dirty="0">
                <a:cs typeface="Calibri" panose="020F0502020204030204" pitchFamily="34" charset="0"/>
              </a:rPr>
              <a:t>not</a:t>
            </a:r>
            <a:r>
              <a:rPr lang="en-GB" sz="1600" dirty="0">
                <a:cs typeface="Calibri" panose="020F0502020204030204" pitchFamily="34" charset="0"/>
              </a:rPr>
              <a:t> be commissioned by DIT:</a:t>
            </a:r>
          </a:p>
          <a:p>
            <a:r>
              <a:rPr lang="en-GB" sz="1600" b="1" dirty="0">
                <a:cs typeface="Calibri" panose="020F0502020204030204" pitchFamily="34" charset="0"/>
              </a:rPr>
              <a:t>A DP Agreement </a:t>
            </a:r>
            <a:r>
              <a:rPr lang="en-GB" sz="1600" dirty="0">
                <a:cs typeface="Calibri" panose="020F0502020204030204" pitchFamily="34" charset="0"/>
              </a:rPr>
              <a:t>– ACM39 is required for ALL Direct Payments and uploaded as a financial document - </a:t>
            </a:r>
            <a:r>
              <a:rPr lang="en-GB" sz="1600" dirty="0">
                <a:ea typeface="Calibri" panose="020F0502020204030204" pitchFamily="34" charset="0"/>
                <a:cs typeface="Calibri" panose="020F0502020204030204" pitchFamily="34" charset="0"/>
              </a:rPr>
              <a:t>at least one annually, March 19 version or newer, signed by all required parties, no change to how DP will be taken, no change to authorised/nominated persons</a:t>
            </a:r>
          </a:p>
          <a:p>
            <a:r>
              <a:rPr lang="en-GB" sz="1600" b="1" dirty="0">
                <a:cs typeface="Calibri" panose="020F0502020204030204" pitchFamily="34" charset="0"/>
              </a:rPr>
              <a:t>An Order form </a:t>
            </a:r>
            <a:r>
              <a:rPr lang="en-GB" sz="1600" dirty="0">
                <a:cs typeface="Calibri" panose="020F0502020204030204" pitchFamily="34" charset="0"/>
              </a:rPr>
              <a:t>is required for contracted DPSS commissioning, signed by all and uploaded as a financial document</a:t>
            </a:r>
          </a:p>
          <a:p>
            <a:r>
              <a:rPr lang="en-GB" sz="1600" b="1" dirty="0">
                <a:cs typeface="Calibri" panose="020F0502020204030204" pitchFamily="34" charset="0"/>
              </a:rPr>
              <a:t>Section 7 – My Support </a:t>
            </a:r>
            <a:r>
              <a:rPr lang="en-GB" sz="1600" dirty="0">
                <a:cs typeface="Calibri" panose="020F0502020204030204" pitchFamily="34" charset="0"/>
              </a:rPr>
              <a:t>should be completed fully for the Direct Payment options, including how the DP will be taken (PPC/TPMA) and what support will be commissioned under the DP (PA/Day service/Agency including Agency name)</a:t>
            </a:r>
          </a:p>
          <a:p>
            <a:r>
              <a:rPr lang="en-GB" sz="1600" b="1" dirty="0">
                <a:cs typeface="Calibri" panose="020F0502020204030204" pitchFamily="34" charset="0"/>
              </a:rPr>
              <a:t>Section 8 – DP Calculator </a:t>
            </a:r>
            <a:r>
              <a:rPr lang="en-GB" sz="1600" dirty="0">
                <a:cs typeface="Calibri" panose="020F0502020204030204" pitchFamily="34" charset="0"/>
              </a:rPr>
              <a:t>is required where a PA is used for support with the DP</a:t>
            </a:r>
          </a:p>
          <a:p>
            <a:r>
              <a:rPr lang="en-GB" sz="1600" b="1" dirty="0">
                <a:cs typeface="Calibri" panose="020F0502020204030204" pitchFamily="34" charset="0"/>
              </a:rPr>
              <a:t>Section 9 – Costs </a:t>
            </a:r>
            <a:r>
              <a:rPr lang="en-GB" sz="1600" dirty="0">
                <a:cs typeface="Calibri" panose="020F0502020204030204" pitchFamily="34" charset="0"/>
              </a:rPr>
              <a:t>should have the same start date and total cost of DP matching the DP Calculator section 8</a:t>
            </a:r>
          </a:p>
          <a:p>
            <a:endParaRPr lang="en-GB" sz="1600" dirty="0">
              <a:latin typeface="Calibri" panose="020F0502020204030204" pitchFamily="34" charset="0"/>
              <a:cs typeface="Calibri" panose="020F0502020204030204" pitchFamily="34" charset="0"/>
            </a:endParaRPr>
          </a:p>
          <a:p>
            <a:endParaRPr lang="en-GB" sz="1600" dirty="0">
              <a:latin typeface="Calibri" panose="020F0502020204030204" pitchFamily="34" charset="0"/>
              <a:cs typeface="Calibri" panose="020F0502020204030204" pitchFamily="34" charset="0"/>
            </a:endParaRPr>
          </a:p>
          <a:p>
            <a:endParaRPr lang="en-GB" sz="1600" dirty="0">
              <a:latin typeface="Calibri" panose="020F0502020204030204" pitchFamily="34" charset="0"/>
              <a:cs typeface="Calibri" panose="020F0502020204030204" pitchFamily="34" charset="0"/>
            </a:endParaRPr>
          </a:p>
          <a:p>
            <a:endParaRPr lang="en-GB" sz="1600" dirty="0"/>
          </a:p>
        </p:txBody>
      </p:sp>
    </p:spTree>
    <p:extLst>
      <p:ext uri="{BB962C8B-B14F-4D97-AF65-F5344CB8AC3E}">
        <p14:creationId xmlns:p14="http://schemas.microsoft.com/office/powerpoint/2010/main" val="1982758717"/>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4279</TotalTime>
  <Words>2489</Words>
  <Application>Microsoft Office PowerPoint</Application>
  <PresentationFormat>On-screen Show (4:3)</PresentationFormat>
  <Paragraphs>111</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Arial Black</vt:lpstr>
      <vt:lpstr>Calibri</vt:lpstr>
      <vt:lpstr>Symbol</vt:lpstr>
      <vt:lpstr>Custom Design</vt:lpstr>
      <vt:lpstr>Direct Payment Calculator built in Mosaic Care and Support Plan</vt:lpstr>
      <vt:lpstr>What has changed?</vt:lpstr>
      <vt:lpstr>What has changed?</vt:lpstr>
      <vt:lpstr>When is a DP Calculator required?</vt:lpstr>
      <vt:lpstr>Where is the DP Calculator?</vt:lpstr>
      <vt:lpstr>How do I access the DP Calculator?</vt:lpstr>
      <vt:lpstr>If the DP Calculator is NOT required</vt:lpstr>
      <vt:lpstr>Agencies and Self employed PA’s</vt:lpstr>
      <vt:lpstr>Agencies and Self employed PA’s You can add as many different rates as required and as many separate calls, these will all be added into the total costs/total hours </vt:lpstr>
      <vt:lpstr>Bank Holiday hours/rates </vt:lpstr>
      <vt:lpstr>Bank Holiday hours/rates </vt:lpstr>
      <vt:lpstr>Average hourly rate </vt:lpstr>
      <vt:lpstr>Average hourly rate – top up</vt:lpstr>
      <vt:lpstr>Day Services  Please click add to add the Day Service Name, cost per session and sessions per week, this will the calculate the total cost and include this in the total cost summary </vt:lpstr>
      <vt:lpstr>Employing a PA/PAs </vt:lpstr>
      <vt:lpstr>Employing a PA/PAs</vt:lpstr>
      <vt:lpstr>Personal Assistant rate checker </vt:lpstr>
      <vt:lpstr>Direct Payment Support Services (DPSS) Any contracted DPSS costs will NOT be included in the total weekly DP payment, but for Non-contracted DPSS this will be paid into the DP account as the DP Recipient will need to pay the provider directly </vt:lpstr>
      <vt:lpstr>DPSS Notice Period</vt:lpstr>
      <vt:lpstr>DP Calculator summary section</vt:lpstr>
      <vt:lpstr>Completing the Cost section</vt:lpstr>
      <vt:lpstr>Completing the Cost section</vt:lpstr>
      <vt:lpstr>Multiple Change dates</vt:lpstr>
      <vt:lpstr>Multiple Change dates</vt:lpstr>
      <vt:lpstr>Multiple Change dates</vt:lpstr>
      <vt:lpstr>Multiple Change dates</vt:lpstr>
      <vt:lpstr>How to PDF the DP Calculator </vt:lpstr>
      <vt:lpstr>Uplift to costs </vt:lpstr>
      <vt:lpstr>Rules for DIT </vt:lpstr>
    </vt:vector>
  </TitlesOfParts>
  <Company>NCC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Information and Communications</dc:subject>
  <dc:creator>Scarlet McCourt</dc:creator>
  <cp:lastModifiedBy>Natalie Moffat-Bailey</cp:lastModifiedBy>
  <cp:revision>38</cp:revision>
  <dcterms:created xsi:type="dcterms:W3CDTF">2017-07-03T13:03:55Z</dcterms:created>
  <dcterms:modified xsi:type="dcterms:W3CDTF">2021-10-28T11:46:43Z</dcterms:modified>
</cp:coreProperties>
</file>