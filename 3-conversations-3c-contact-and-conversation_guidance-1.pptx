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2" r:id="rId4"/>
    <p:sldId id="261" r:id="rId5"/>
    <p:sldId id="25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887" autoAdjust="0"/>
  </p:normalViewPr>
  <p:slideViewPr>
    <p:cSldViewPr snapToGrid="0">
      <p:cViewPr varScale="1">
        <p:scale>
          <a:sx n="109" d="100"/>
          <a:sy n="109" d="100"/>
        </p:scale>
        <p:origin x="672" y="10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877B8-897E-45E9-99A4-22284654B2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D430367-D6EE-4F3D-9CCA-7D4A9DF2CF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2A0EAD6-6883-4D26-B373-3F94E05D1847}"/>
              </a:ext>
            </a:extLst>
          </p:cNvPr>
          <p:cNvSpPr>
            <a:spLocks noGrp="1"/>
          </p:cNvSpPr>
          <p:nvPr>
            <p:ph type="dt" sz="half" idx="10"/>
          </p:nvPr>
        </p:nvSpPr>
        <p:spPr/>
        <p:txBody>
          <a:bodyPr/>
          <a:lstStyle/>
          <a:p>
            <a:fld id="{428ECE96-F9C7-4CEB-A6CB-C9078DB5931D}" type="datetimeFigureOut">
              <a:rPr lang="en-GB" smtClean="0"/>
              <a:t>02/06/2023</a:t>
            </a:fld>
            <a:endParaRPr lang="en-GB"/>
          </a:p>
        </p:txBody>
      </p:sp>
      <p:sp>
        <p:nvSpPr>
          <p:cNvPr id="5" name="Footer Placeholder 4">
            <a:extLst>
              <a:ext uri="{FF2B5EF4-FFF2-40B4-BE49-F238E27FC236}">
                <a16:creationId xmlns:a16="http://schemas.microsoft.com/office/drawing/2014/main" id="{8B271B09-D3C3-426D-A6FA-79E39A3857A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D086388-6318-4B84-B836-ACD64EAF6E82}"/>
              </a:ext>
            </a:extLst>
          </p:cNvPr>
          <p:cNvSpPr>
            <a:spLocks noGrp="1"/>
          </p:cNvSpPr>
          <p:nvPr>
            <p:ph type="sldNum" sz="quarter" idx="12"/>
          </p:nvPr>
        </p:nvSpPr>
        <p:spPr/>
        <p:txBody>
          <a:bodyPr/>
          <a:lstStyle/>
          <a:p>
            <a:fld id="{F3AC8098-54DC-4AB4-997D-011245C0CD17}" type="slidenum">
              <a:rPr lang="en-GB" smtClean="0"/>
              <a:t>‹#›</a:t>
            </a:fld>
            <a:endParaRPr lang="en-GB"/>
          </a:p>
        </p:txBody>
      </p:sp>
    </p:spTree>
    <p:extLst>
      <p:ext uri="{BB962C8B-B14F-4D97-AF65-F5344CB8AC3E}">
        <p14:creationId xmlns:p14="http://schemas.microsoft.com/office/powerpoint/2010/main" val="3831257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89D72-63DB-41D1-93F8-6C7A65B9E99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705FC09-EF85-46E2-962F-DA5E83272D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977B6BD-BACD-4A2E-9AAC-0689FE65998B}"/>
              </a:ext>
            </a:extLst>
          </p:cNvPr>
          <p:cNvSpPr>
            <a:spLocks noGrp="1"/>
          </p:cNvSpPr>
          <p:nvPr>
            <p:ph type="dt" sz="half" idx="10"/>
          </p:nvPr>
        </p:nvSpPr>
        <p:spPr/>
        <p:txBody>
          <a:bodyPr/>
          <a:lstStyle/>
          <a:p>
            <a:fld id="{428ECE96-F9C7-4CEB-A6CB-C9078DB5931D}" type="datetimeFigureOut">
              <a:rPr lang="en-GB" smtClean="0"/>
              <a:t>02/06/2023</a:t>
            </a:fld>
            <a:endParaRPr lang="en-GB"/>
          </a:p>
        </p:txBody>
      </p:sp>
      <p:sp>
        <p:nvSpPr>
          <p:cNvPr id="5" name="Footer Placeholder 4">
            <a:extLst>
              <a:ext uri="{FF2B5EF4-FFF2-40B4-BE49-F238E27FC236}">
                <a16:creationId xmlns:a16="http://schemas.microsoft.com/office/drawing/2014/main" id="{CA1E3FF4-8E09-475E-8D50-DAE5C8514A3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08FCBB0-197A-4B3F-8C53-4CD0E7B74352}"/>
              </a:ext>
            </a:extLst>
          </p:cNvPr>
          <p:cNvSpPr>
            <a:spLocks noGrp="1"/>
          </p:cNvSpPr>
          <p:nvPr>
            <p:ph type="sldNum" sz="quarter" idx="12"/>
          </p:nvPr>
        </p:nvSpPr>
        <p:spPr/>
        <p:txBody>
          <a:bodyPr/>
          <a:lstStyle/>
          <a:p>
            <a:fld id="{F3AC8098-54DC-4AB4-997D-011245C0CD17}" type="slidenum">
              <a:rPr lang="en-GB" smtClean="0"/>
              <a:t>‹#›</a:t>
            </a:fld>
            <a:endParaRPr lang="en-GB"/>
          </a:p>
        </p:txBody>
      </p:sp>
    </p:spTree>
    <p:extLst>
      <p:ext uri="{BB962C8B-B14F-4D97-AF65-F5344CB8AC3E}">
        <p14:creationId xmlns:p14="http://schemas.microsoft.com/office/powerpoint/2010/main" val="2766770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F2218-FD0D-419B-8ED0-8CFF28C089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5E1971B-E8D9-4B3D-97C7-A006922BDB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BC177D-FD92-4276-966E-4E7207CD5E6F}"/>
              </a:ext>
            </a:extLst>
          </p:cNvPr>
          <p:cNvSpPr>
            <a:spLocks noGrp="1"/>
          </p:cNvSpPr>
          <p:nvPr>
            <p:ph type="dt" sz="half" idx="10"/>
          </p:nvPr>
        </p:nvSpPr>
        <p:spPr/>
        <p:txBody>
          <a:bodyPr/>
          <a:lstStyle/>
          <a:p>
            <a:fld id="{428ECE96-F9C7-4CEB-A6CB-C9078DB5931D}" type="datetimeFigureOut">
              <a:rPr lang="en-GB" smtClean="0"/>
              <a:t>02/06/2023</a:t>
            </a:fld>
            <a:endParaRPr lang="en-GB"/>
          </a:p>
        </p:txBody>
      </p:sp>
      <p:sp>
        <p:nvSpPr>
          <p:cNvPr id="5" name="Footer Placeholder 4">
            <a:extLst>
              <a:ext uri="{FF2B5EF4-FFF2-40B4-BE49-F238E27FC236}">
                <a16:creationId xmlns:a16="http://schemas.microsoft.com/office/drawing/2014/main" id="{C3D3703D-80D9-44C6-9265-7AF2435C8A6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953B132-25C5-4BD8-AC27-07A934F6847D}"/>
              </a:ext>
            </a:extLst>
          </p:cNvPr>
          <p:cNvSpPr>
            <a:spLocks noGrp="1"/>
          </p:cNvSpPr>
          <p:nvPr>
            <p:ph type="sldNum" sz="quarter" idx="12"/>
          </p:nvPr>
        </p:nvSpPr>
        <p:spPr/>
        <p:txBody>
          <a:bodyPr/>
          <a:lstStyle/>
          <a:p>
            <a:fld id="{F3AC8098-54DC-4AB4-997D-011245C0CD17}" type="slidenum">
              <a:rPr lang="en-GB" smtClean="0"/>
              <a:t>‹#›</a:t>
            </a:fld>
            <a:endParaRPr lang="en-GB"/>
          </a:p>
        </p:txBody>
      </p:sp>
    </p:spTree>
    <p:extLst>
      <p:ext uri="{BB962C8B-B14F-4D97-AF65-F5344CB8AC3E}">
        <p14:creationId xmlns:p14="http://schemas.microsoft.com/office/powerpoint/2010/main" val="1882836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7BE0B-C892-49A8-AACC-2CF35509E5A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12B8B84-E515-49B4-B77A-3638E9E2BA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3053C65-70A6-48F2-A1E3-71DBA4A117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FE8277A-FB73-40F8-B16D-9AF165EC45DD}"/>
              </a:ext>
            </a:extLst>
          </p:cNvPr>
          <p:cNvSpPr>
            <a:spLocks noGrp="1"/>
          </p:cNvSpPr>
          <p:nvPr>
            <p:ph type="dt" sz="half" idx="10"/>
          </p:nvPr>
        </p:nvSpPr>
        <p:spPr/>
        <p:txBody>
          <a:bodyPr/>
          <a:lstStyle/>
          <a:p>
            <a:fld id="{428ECE96-F9C7-4CEB-A6CB-C9078DB5931D}" type="datetimeFigureOut">
              <a:rPr lang="en-GB" smtClean="0"/>
              <a:t>02/06/2023</a:t>
            </a:fld>
            <a:endParaRPr lang="en-GB"/>
          </a:p>
        </p:txBody>
      </p:sp>
      <p:sp>
        <p:nvSpPr>
          <p:cNvPr id="6" name="Footer Placeholder 5">
            <a:extLst>
              <a:ext uri="{FF2B5EF4-FFF2-40B4-BE49-F238E27FC236}">
                <a16:creationId xmlns:a16="http://schemas.microsoft.com/office/drawing/2014/main" id="{153111CA-A22E-4224-AC1D-AD3ED3E0092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B92F55E-F4AF-4228-A28D-5C91DAAA0A6E}"/>
              </a:ext>
            </a:extLst>
          </p:cNvPr>
          <p:cNvSpPr>
            <a:spLocks noGrp="1"/>
          </p:cNvSpPr>
          <p:nvPr>
            <p:ph type="sldNum" sz="quarter" idx="12"/>
          </p:nvPr>
        </p:nvSpPr>
        <p:spPr/>
        <p:txBody>
          <a:bodyPr/>
          <a:lstStyle/>
          <a:p>
            <a:fld id="{F3AC8098-54DC-4AB4-997D-011245C0CD17}" type="slidenum">
              <a:rPr lang="en-GB" smtClean="0"/>
              <a:t>‹#›</a:t>
            </a:fld>
            <a:endParaRPr lang="en-GB"/>
          </a:p>
        </p:txBody>
      </p:sp>
    </p:spTree>
    <p:extLst>
      <p:ext uri="{BB962C8B-B14F-4D97-AF65-F5344CB8AC3E}">
        <p14:creationId xmlns:p14="http://schemas.microsoft.com/office/powerpoint/2010/main" val="238395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06827-4CF4-4504-9A9C-DB9BA9BDB5D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437FC33-A364-4110-8B98-CA711B466F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E6A0C4-258A-4EB0-8893-5319CF76EE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5CEBB4D-3FCC-4A9D-B82B-34935E5A72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EF5AE9-53BA-4004-8159-A304C37D88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A131950-DFB8-449D-8910-155DC94803CD}"/>
              </a:ext>
            </a:extLst>
          </p:cNvPr>
          <p:cNvSpPr>
            <a:spLocks noGrp="1"/>
          </p:cNvSpPr>
          <p:nvPr>
            <p:ph type="dt" sz="half" idx="10"/>
          </p:nvPr>
        </p:nvSpPr>
        <p:spPr/>
        <p:txBody>
          <a:bodyPr/>
          <a:lstStyle/>
          <a:p>
            <a:fld id="{428ECE96-F9C7-4CEB-A6CB-C9078DB5931D}" type="datetimeFigureOut">
              <a:rPr lang="en-GB" smtClean="0"/>
              <a:t>02/06/2023</a:t>
            </a:fld>
            <a:endParaRPr lang="en-GB"/>
          </a:p>
        </p:txBody>
      </p:sp>
      <p:sp>
        <p:nvSpPr>
          <p:cNvPr id="8" name="Footer Placeholder 7">
            <a:extLst>
              <a:ext uri="{FF2B5EF4-FFF2-40B4-BE49-F238E27FC236}">
                <a16:creationId xmlns:a16="http://schemas.microsoft.com/office/drawing/2014/main" id="{9D3AEC5E-3B25-4A20-AEAF-44FC21B160B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5E8605D-2589-4B19-8441-97C1E5ED0029}"/>
              </a:ext>
            </a:extLst>
          </p:cNvPr>
          <p:cNvSpPr>
            <a:spLocks noGrp="1"/>
          </p:cNvSpPr>
          <p:nvPr>
            <p:ph type="sldNum" sz="quarter" idx="12"/>
          </p:nvPr>
        </p:nvSpPr>
        <p:spPr/>
        <p:txBody>
          <a:bodyPr/>
          <a:lstStyle/>
          <a:p>
            <a:fld id="{F3AC8098-54DC-4AB4-997D-011245C0CD17}" type="slidenum">
              <a:rPr lang="en-GB" smtClean="0"/>
              <a:t>‹#›</a:t>
            </a:fld>
            <a:endParaRPr lang="en-GB"/>
          </a:p>
        </p:txBody>
      </p:sp>
    </p:spTree>
    <p:extLst>
      <p:ext uri="{BB962C8B-B14F-4D97-AF65-F5344CB8AC3E}">
        <p14:creationId xmlns:p14="http://schemas.microsoft.com/office/powerpoint/2010/main" val="3457428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78C75-4A6A-4E34-AA6A-05BE8223CA0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B7F76C4-686C-4459-A348-AA64E0D31A39}"/>
              </a:ext>
            </a:extLst>
          </p:cNvPr>
          <p:cNvSpPr>
            <a:spLocks noGrp="1"/>
          </p:cNvSpPr>
          <p:nvPr>
            <p:ph type="dt" sz="half" idx="10"/>
          </p:nvPr>
        </p:nvSpPr>
        <p:spPr/>
        <p:txBody>
          <a:bodyPr/>
          <a:lstStyle/>
          <a:p>
            <a:fld id="{428ECE96-F9C7-4CEB-A6CB-C9078DB5931D}" type="datetimeFigureOut">
              <a:rPr lang="en-GB" smtClean="0"/>
              <a:t>02/06/2023</a:t>
            </a:fld>
            <a:endParaRPr lang="en-GB"/>
          </a:p>
        </p:txBody>
      </p:sp>
      <p:sp>
        <p:nvSpPr>
          <p:cNvPr id="4" name="Footer Placeholder 3">
            <a:extLst>
              <a:ext uri="{FF2B5EF4-FFF2-40B4-BE49-F238E27FC236}">
                <a16:creationId xmlns:a16="http://schemas.microsoft.com/office/drawing/2014/main" id="{18DF0BB6-FD6D-498F-8964-9603B58E093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F74BB13-7128-492B-B3E4-2574C9643941}"/>
              </a:ext>
            </a:extLst>
          </p:cNvPr>
          <p:cNvSpPr>
            <a:spLocks noGrp="1"/>
          </p:cNvSpPr>
          <p:nvPr>
            <p:ph type="sldNum" sz="quarter" idx="12"/>
          </p:nvPr>
        </p:nvSpPr>
        <p:spPr/>
        <p:txBody>
          <a:bodyPr/>
          <a:lstStyle/>
          <a:p>
            <a:fld id="{F3AC8098-54DC-4AB4-997D-011245C0CD17}" type="slidenum">
              <a:rPr lang="en-GB" smtClean="0"/>
              <a:t>‹#›</a:t>
            </a:fld>
            <a:endParaRPr lang="en-GB"/>
          </a:p>
        </p:txBody>
      </p:sp>
    </p:spTree>
    <p:extLst>
      <p:ext uri="{BB962C8B-B14F-4D97-AF65-F5344CB8AC3E}">
        <p14:creationId xmlns:p14="http://schemas.microsoft.com/office/powerpoint/2010/main" val="2123198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DBE63B-64A2-4042-87E1-42917BE06050}"/>
              </a:ext>
            </a:extLst>
          </p:cNvPr>
          <p:cNvSpPr>
            <a:spLocks noGrp="1"/>
          </p:cNvSpPr>
          <p:nvPr>
            <p:ph type="dt" sz="half" idx="10"/>
          </p:nvPr>
        </p:nvSpPr>
        <p:spPr/>
        <p:txBody>
          <a:bodyPr/>
          <a:lstStyle/>
          <a:p>
            <a:fld id="{428ECE96-F9C7-4CEB-A6CB-C9078DB5931D}" type="datetimeFigureOut">
              <a:rPr lang="en-GB" smtClean="0"/>
              <a:t>02/06/2023</a:t>
            </a:fld>
            <a:endParaRPr lang="en-GB"/>
          </a:p>
        </p:txBody>
      </p:sp>
      <p:sp>
        <p:nvSpPr>
          <p:cNvPr id="3" name="Footer Placeholder 2">
            <a:extLst>
              <a:ext uri="{FF2B5EF4-FFF2-40B4-BE49-F238E27FC236}">
                <a16:creationId xmlns:a16="http://schemas.microsoft.com/office/drawing/2014/main" id="{9EB3FCEA-BA8A-423F-8D26-FBCBD875C80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DAE4B57-09A8-4094-9868-232E5798EC9D}"/>
              </a:ext>
            </a:extLst>
          </p:cNvPr>
          <p:cNvSpPr>
            <a:spLocks noGrp="1"/>
          </p:cNvSpPr>
          <p:nvPr>
            <p:ph type="sldNum" sz="quarter" idx="12"/>
          </p:nvPr>
        </p:nvSpPr>
        <p:spPr/>
        <p:txBody>
          <a:bodyPr/>
          <a:lstStyle/>
          <a:p>
            <a:fld id="{F3AC8098-54DC-4AB4-997D-011245C0CD17}" type="slidenum">
              <a:rPr lang="en-GB" smtClean="0"/>
              <a:t>‹#›</a:t>
            </a:fld>
            <a:endParaRPr lang="en-GB"/>
          </a:p>
        </p:txBody>
      </p:sp>
    </p:spTree>
    <p:extLst>
      <p:ext uri="{BB962C8B-B14F-4D97-AF65-F5344CB8AC3E}">
        <p14:creationId xmlns:p14="http://schemas.microsoft.com/office/powerpoint/2010/main" val="1169617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A9B83-97D8-4F8B-8030-320458BE4C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6C44F24-4657-4806-960E-BC52F3CD15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9A0C13C-E77B-45F8-94D1-EB4E25A7CD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BB2AD1-032C-48E6-852F-BB7726E02768}"/>
              </a:ext>
            </a:extLst>
          </p:cNvPr>
          <p:cNvSpPr>
            <a:spLocks noGrp="1"/>
          </p:cNvSpPr>
          <p:nvPr>
            <p:ph type="dt" sz="half" idx="10"/>
          </p:nvPr>
        </p:nvSpPr>
        <p:spPr/>
        <p:txBody>
          <a:bodyPr/>
          <a:lstStyle/>
          <a:p>
            <a:fld id="{428ECE96-F9C7-4CEB-A6CB-C9078DB5931D}" type="datetimeFigureOut">
              <a:rPr lang="en-GB" smtClean="0"/>
              <a:t>02/06/2023</a:t>
            </a:fld>
            <a:endParaRPr lang="en-GB"/>
          </a:p>
        </p:txBody>
      </p:sp>
      <p:sp>
        <p:nvSpPr>
          <p:cNvPr id="6" name="Footer Placeholder 5">
            <a:extLst>
              <a:ext uri="{FF2B5EF4-FFF2-40B4-BE49-F238E27FC236}">
                <a16:creationId xmlns:a16="http://schemas.microsoft.com/office/drawing/2014/main" id="{9CC0E34F-5BC0-4284-B710-8875A8FDB75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DEEF9E1-8BF3-47EA-A10E-79299C17862E}"/>
              </a:ext>
            </a:extLst>
          </p:cNvPr>
          <p:cNvSpPr>
            <a:spLocks noGrp="1"/>
          </p:cNvSpPr>
          <p:nvPr>
            <p:ph type="sldNum" sz="quarter" idx="12"/>
          </p:nvPr>
        </p:nvSpPr>
        <p:spPr/>
        <p:txBody>
          <a:bodyPr/>
          <a:lstStyle/>
          <a:p>
            <a:fld id="{F3AC8098-54DC-4AB4-997D-011245C0CD17}" type="slidenum">
              <a:rPr lang="en-GB" smtClean="0"/>
              <a:t>‹#›</a:t>
            </a:fld>
            <a:endParaRPr lang="en-GB"/>
          </a:p>
        </p:txBody>
      </p:sp>
    </p:spTree>
    <p:extLst>
      <p:ext uri="{BB962C8B-B14F-4D97-AF65-F5344CB8AC3E}">
        <p14:creationId xmlns:p14="http://schemas.microsoft.com/office/powerpoint/2010/main" val="538751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01A56-E816-4991-8397-B019D0AF8B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FCF9979-97F9-4415-AB05-F86713D01D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00F0FCF-7B28-4868-82F7-81A861D40B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D1FE56-E890-4ED8-B6C1-7BD93A0B100D}"/>
              </a:ext>
            </a:extLst>
          </p:cNvPr>
          <p:cNvSpPr>
            <a:spLocks noGrp="1"/>
          </p:cNvSpPr>
          <p:nvPr>
            <p:ph type="dt" sz="half" idx="10"/>
          </p:nvPr>
        </p:nvSpPr>
        <p:spPr/>
        <p:txBody>
          <a:bodyPr/>
          <a:lstStyle/>
          <a:p>
            <a:fld id="{428ECE96-F9C7-4CEB-A6CB-C9078DB5931D}" type="datetimeFigureOut">
              <a:rPr lang="en-GB" smtClean="0"/>
              <a:t>02/06/2023</a:t>
            </a:fld>
            <a:endParaRPr lang="en-GB"/>
          </a:p>
        </p:txBody>
      </p:sp>
      <p:sp>
        <p:nvSpPr>
          <p:cNvPr id="6" name="Footer Placeholder 5">
            <a:extLst>
              <a:ext uri="{FF2B5EF4-FFF2-40B4-BE49-F238E27FC236}">
                <a16:creationId xmlns:a16="http://schemas.microsoft.com/office/drawing/2014/main" id="{F30C6866-F6A3-4672-87F3-39EADCABD96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D7F36F2-2020-4B5D-A60D-726D832293D7}"/>
              </a:ext>
            </a:extLst>
          </p:cNvPr>
          <p:cNvSpPr>
            <a:spLocks noGrp="1"/>
          </p:cNvSpPr>
          <p:nvPr>
            <p:ph type="sldNum" sz="quarter" idx="12"/>
          </p:nvPr>
        </p:nvSpPr>
        <p:spPr/>
        <p:txBody>
          <a:bodyPr/>
          <a:lstStyle/>
          <a:p>
            <a:fld id="{F3AC8098-54DC-4AB4-997D-011245C0CD17}" type="slidenum">
              <a:rPr lang="en-GB" smtClean="0"/>
              <a:t>‹#›</a:t>
            </a:fld>
            <a:endParaRPr lang="en-GB"/>
          </a:p>
        </p:txBody>
      </p:sp>
    </p:spTree>
    <p:extLst>
      <p:ext uri="{BB962C8B-B14F-4D97-AF65-F5344CB8AC3E}">
        <p14:creationId xmlns:p14="http://schemas.microsoft.com/office/powerpoint/2010/main" val="3137046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C4911-E4C5-403A-9DB8-6D2627EB801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3B3E472-909B-4492-9B36-642FF891A2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639F4DE-C595-4117-AB78-172D2161F0BC}"/>
              </a:ext>
            </a:extLst>
          </p:cNvPr>
          <p:cNvSpPr>
            <a:spLocks noGrp="1"/>
          </p:cNvSpPr>
          <p:nvPr>
            <p:ph type="dt" sz="half" idx="10"/>
          </p:nvPr>
        </p:nvSpPr>
        <p:spPr/>
        <p:txBody>
          <a:bodyPr/>
          <a:lstStyle/>
          <a:p>
            <a:fld id="{428ECE96-F9C7-4CEB-A6CB-C9078DB5931D}" type="datetimeFigureOut">
              <a:rPr lang="en-GB" smtClean="0"/>
              <a:t>02/06/2023</a:t>
            </a:fld>
            <a:endParaRPr lang="en-GB"/>
          </a:p>
        </p:txBody>
      </p:sp>
      <p:sp>
        <p:nvSpPr>
          <p:cNvPr id="5" name="Footer Placeholder 4">
            <a:extLst>
              <a:ext uri="{FF2B5EF4-FFF2-40B4-BE49-F238E27FC236}">
                <a16:creationId xmlns:a16="http://schemas.microsoft.com/office/drawing/2014/main" id="{C73AFC28-B289-4C09-906F-48EF87DD0B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99FD40C-DD8E-42AF-BEFB-347A2806D160}"/>
              </a:ext>
            </a:extLst>
          </p:cNvPr>
          <p:cNvSpPr>
            <a:spLocks noGrp="1"/>
          </p:cNvSpPr>
          <p:nvPr>
            <p:ph type="sldNum" sz="quarter" idx="12"/>
          </p:nvPr>
        </p:nvSpPr>
        <p:spPr/>
        <p:txBody>
          <a:bodyPr/>
          <a:lstStyle/>
          <a:p>
            <a:fld id="{F3AC8098-54DC-4AB4-997D-011245C0CD17}" type="slidenum">
              <a:rPr lang="en-GB" smtClean="0"/>
              <a:t>‹#›</a:t>
            </a:fld>
            <a:endParaRPr lang="en-GB"/>
          </a:p>
        </p:txBody>
      </p:sp>
    </p:spTree>
    <p:extLst>
      <p:ext uri="{BB962C8B-B14F-4D97-AF65-F5344CB8AC3E}">
        <p14:creationId xmlns:p14="http://schemas.microsoft.com/office/powerpoint/2010/main" val="1469560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2DC926-3D76-4B17-ABCE-62679610B3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BC15ABA-85D7-4EEF-B754-B3A2C5C21D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15F48FB-72AB-4C60-9B9F-48DE935013E3}"/>
              </a:ext>
            </a:extLst>
          </p:cNvPr>
          <p:cNvSpPr>
            <a:spLocks noGrp="1"/>
          </p:cNvSpPr>
          <p:nvPr>
            <p:ph type="dt" sz="half" idx="10"/>
          </p:nvPr>
        </p:nvSpPr>
        <p:spPr/>
        <p:txBody>
          <a:bodyPr/>
          <a:lstStyle/>
          <a:p>
            <a:fld id="{428ECE96-F9C7-4CEB-A6CB-C9078DB5931D}" type="datetimeFigureOut">
              <a:rPr lang="en-GB" smtClean="0"/>
              <a:t>02/06/2023</a:t>
            </a:fld>
            <a:endParaRPr lang="en-GB"/>
          </a:p>
        </p:txBody>
      </p:sp>
      <p:sp>
        <p:nvSpPr>
          <p:cNvPr id="5" name="Footer Placeholder 4">
            <a:extLst>
              <a:ext uri="{FF2B5EF4-FFF2-40B4-BE49-F238E27FC236}">
                <a16:creationId xmlns:a16="http://schemas.microsoft.com/office/drawing/2014/main" id="{C7B87065-CC81-427F-ADA9-73D095C8F8A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DD3CB40-2965-4CAE-8C3B-069443E3968D}"/>
              </a:ext>
            </a:extLst>
          </p:cNvPr>
          <p:cNvSpPr>
            <a:spLocks noGrp="1"/>
          </p:cNvSpPr>
          <p:nvPr>
            <p:ph type="sldNum" sz="quarter" idx="12"/>
          </p:nvPr>
        </p:nvSpPr>
        <p:spPr/>
        <p:txBody>
          <a:bodyPr/>
          <a:lstStyle/>
          <a:p>
            <a:fld id="{F3AC8098-54DC-4AB4-997D-011245C0CD17}" type="slidenum">
              <a:rPr lang="en-GB" smtClean="0"/>
              <a:t>‹#›</a:t>
            </a:fld>
            <a:endParaRPr lang="en-GB"/>
          </a:p>
        </p:txBody>
      </p:sp>
    </p:spTree>
    <p:extLst>
      <p:ext uri="{BB962C8B-B14F-4D97-AF65-F5344CB8AC3E}">
        <p14:creationId xmlns:p14="http://schemas.microsoft.com/office/powerpoint/2010/main" val="1679068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FAD233-7F48-4D22-BC04-10E4E9478B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DA45A06-B753-4C91-8E71-EA34F955C1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317FA41-E023-4938-9D30-A8713775E1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8ECE96-F9C7-4CEB-A6CB-C9078DB5931D}" type="datetimeFigureOut">
              <a:rPr lang="en-GB" smtClean="0"/>
              <a:t>02/06/2023</a:t>
            </a:fld>
            <a:endParaRPr lang="en-GB"/>
          </a:p>
        </p:txBody>
      </p:sp>
      <p:sp>
        <p:nvSpPr>
          <p:cNvPr id="5" name="Footer Placeholder 4">
            <a:extLst>
              <a:ext uri="{FF2B5EF4-FFF2-40B4-BE49-F238E27FC236}">
                <a16:creationId xmlns:a16="http://schemas.microsoft.com/office/drawing/2014/main" id="{BD463383-3513-4BF9-9EF2-6D025EB5EB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885843F5-055C-4558-A847-96B87BD07C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AC8098-54DC-4AB4-997D-011245C0CD17}" type="slidenum">
              <a:rPr lang="en-GB" smtClean="0"/>
              <a:t>‹#›</a:t>
            </a:fld>
            <a:endParaRPr lang="en-GB"/>
          </a:p>
        </p:txBody>
      </p:sp>
    </p:spTree>
    <p:extLst>
      <p:ext uri="{BB962C8B-B14F-4D97-AF65-F5344CB8AC3E}">
        <p14:creationId xmlns:p14="http://schemas.microsoft.com/office/powerpoint/2010/main" val="6399635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7" name="Rectangle 76">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1" name="Rectangle 80">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27FC2C78-0E7F-4995-8CD1-8A0A5769C6A6}"/>
              </a:ext>
            </a:extLst>
          </p:cNvPr>
          <p:cNvSpPr>
            <a:spLocks noGrp="1"/>
          </p:cNvSpPr>
          <p:nvPr>
            <p:ph type="ctrTitle"/>
          </p:nvPr>
        </p:nvSpPr>
        <p:spPr>
          <a:xfrm>
            <a:off x="3315031" y="1822058"/>
            <a:ext cx="5561938" cy="1534587"/>
          </a:xfrm>
        </p:spPr>
        <p:txBody>
          <a:bodyPr>
            <a:normAutofit fontScale="90000"/>
          </a:bodyPr>
          <a:lstStyle/>
          <a:p>
            <a:r>
              <a:rPr lang="en-GB" sz="5600" dirty="0"/>
              <a:t>3 Conversations –</a:t>
            </a:r>
            <a:br>
              <a:rPr lang="en-GB" sz="5600" dirty="0"/>
            </a:br>
            <a:r>
              <a:rPr lang="en-GB" sz="5600" dirty="0"/>
              <a:t>Guidance</a:t>
            </a:r>
          </a:p>
        </p:txBody>
      </p:sp>
      <p:sp>
        <p:nvSpPr>
          <p:cNvPr id="3" name="Subtitle 2">
            <a:extLst>
              <a:ext uri="{FF2B5EF4-FFF2-40B4-BE49-F238E27FC236}">
                <a16:creationId xmlns:a16="http://schemas.microsoft.com/office/drawing/2014/main" id="{3D588B6B-46A2-4BEE-9334-A21AC7A14162}"/>
              </a:ext>
            </a:extLst>
          </p:cNvPr>
          <p:cNvSpPr>
            <a:spLocks noGrp="1"/>
          </p:cNvSpPr>
          <p:nvPr>
            <p:ph type="subTitle" idx="1"/>
          </p:nvPr>
        </p:nvSpPr>
        <p:spPr>
          <a:xfrm>
            <a:off x="3345005" y="3627457"/>
            <a:ext cx="5561938" cy="1534587"/>
          </a:xfrm>
        </p:spPr>
        <p:txBody>
          <a:bodyPr>
            <a:normAutofit/>
          </a:bodyPr>
          <a:lstStyle/>
          <a:p>
            <a:r>
              <a:rPr lang="en-GB" dirty="0"/>
              <a:t>3C Contact and Conversation (Person with ongoing care and support plan only)</a:t>
            </a:r>
          </a:p>
        </p:txBody>
      </p:sp>
      <p:sp>
        <p:nvSpPr>
          <p:cNvPr id="85" name="Arc 84">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87" name="Oval 86">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675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F33BA83-C49A-462D-94C3-94F187B40DFB}"/>
              </a:ext>
            </a:extLst>
          </p:cNvPr>
          <p:cNvSpPr txBox="1"/>
          <p:nvPr/>
        </p:nvSpPr>
        <p:spPr>
          <a:xfrm>
            <a:off x="6921917" y="364015"/>
            <a:ext cx="4891394" cy="1097596"/>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kern="1200" dirty="0">
              <a:solidFill>
                <a:schemeClr val="tx1"/>
              </a:solidFill>
              <a:latin typeface="+mj-lt"/>
              <a:ea typeface="+mj-ea"/>
              <a:cs typeface="+mj-cs"/>
            </a:endParaRPr>
          </a:p>
        </p:txBody>
      </p:sp>
      <p:sp>
        <p:nvSpPr>
          <p:cNvPr id="11" name="TextBox 10">
            <a:extLst>
              <a:ext uri="{FF2B5EF4-FFF2-40B4-BE49-F238E27FC236}">
                <a16:creationId xmlns:a16="http://schemas.microsoft.com/office/drawing/2014/main" id="{91F893A8-BDCA-4B34-A6A6-CF39C6F08FF4}"/>
              </a:ext>
            </a:extLst>
          </p:cNvPr>
          <p:cNvSpPr txBox="1"/>
          <p:nvPr/>
        </p:nvSpPr>
        <p:spPr>
          <a:xfrm>
            <a:off x="838200" y="365125"/>
            <a:ext cx="10515600" cy="1325563"/>
          </a:xfrm>
          <a:prstGeom prst="rect">
            <a:avLst/>
          </a:prstGeom>
        </p:spPr>
        <p:txBody>
          <a:bodyPr vert="horz" lIns="91440" tIns="45720" rIns="91440" bIns="45720" rtlCol="0" anchor="ctr">
            <a:normAutofit fontScale="92500"/>
          </a:bodyPr>
          <a:lstStyle/>
          <a:p>
            <a:pPr>
              <a:lnSpc>
                <a:spcPct val="90000"/>
              </a:lnSpc>
              <a:spcBef>
                <a:spcPct val="0"/>
              </a:spcBef>
              <a:spcAft>
                <a:spcPts val="600"/>
              </a:spcAft>
            </a:pPr>
            <a:r>
              <a:rPr lang="en-US" sz="4400" b="1" kern="1200" dirty="0">
                <a:solidFill>
                  <a:schemeClr val="tx1"/>
                </a:solidFill>
                <a:latin typeface="+mj-lt"/>
                <a:ea typeface="+mj-ea"/>
                <a:cs typeface="+mj-cs"/>
              </a:rPr>
              <a:t>What is the 3C Contact and Conversation </a:t>
            </a:r>
            <a:r>
              <a:rPr lang="en-US" sz="2200" b="1" kern="1200" dirty="0">
                <a:solidFill>
                  <a:schemeClr val="tx1"/>
                </a:solidFill>
                <a:latin typeface="+mj-lt"/>
                <a:ea typeface="+mj-ea"/>
                <a:cs typeface="+mj-cs"/>
              </a:rPr>
              <a:t>(person with ongoing care and support plan only)  </a:t>
            </a:r>
            <a:r>
              <a:rPr lang="en-US" sz="4400" b="1" kern="1200" dirty="0">
                <a:solidFill>
                  <a:schemeClr val="tx1"/>
                </a:solidFill>
                <a:latin typeface="+mj-lt"/>
                <a:ea typeface="+mj-ea"/>
                <a:cs typeface="+mj-cs"/>
              </a:rPr>
              <a:t>step? The contact element</a:t>
            </a:r>
            <a:endParaRPr lang="en-US" sz="4400" kern="1200" dirty="0">
              <a:solidFill>
                <a:schemeClr val="tx1"/>
              </a:solidFill>
              <a:latin typeface="+mj-lt"/>
              <a:ea typeface="+mj-ea"/>
              <a:cs typeface="+mj-cs"/>
            </a:endParaRPr>
          </a:p>
        </p:txBody>
      </p:sp>
      <p:sp>
        <p:nvSpPr>
          <p:cNvPr id="12" name="TextBox 3">
            <a:extLst>
              <a:ext uri="{FF2B5EF4-FFF2-40B4-BE49-F238E27FC236}">
                <a16:creationId xmlns:a16="http://schemas.microsoft.com/office/drawing/2014/main" id="{41A52EED-D219-4342-8259-C91287441BE2}"/>
              </a:ext>
            </a:extLst>
          </p:cNvPr>
          <p:cNvSpPr txBox="1"/>
          <p:nvPr/>
        </p:nvSpPr>
        <p:spPr>
          <a:xfrm>
            <a:off x="926122" y="1915317"/>
            <a:ext cx="10776439" cy="4577557"/>
          </a:xfrm>
          <a:prstGeom prst="rect">
            <a:avLst/>
          </a:prstGeom>
        </p:spPr>
        <p:txBody>
          <a:bodyPr vert="horz" lIns="91440" tIns="45720" rIns="91440" bIns="45720" rtlCol="0">
            <a:noAutofit/>
          </a:bodyPr>
          <a:lstStyle/>
          <a:p>
            <a:pPr indent="-228600">
              <a:lnSpc>
                <a:spcPct val="90000"/>
              </a:lnSpc>
              <a:spcAft>
                <a:spcPts val="600"/>
              </a:spcAft>
              <a:buFont typeface="Arial" panose="020B0604020202020204" pitchFamily="34" charset="0"/>
              <a:buChar char="•"/>
            </a:pPr>
            <a:r>
              <a:rPr lang="en-US" sz="2000" dirty="0"/>
              <a:t>The Contact element of the step allows us to record a contact that has been direct to us as individuals or into the team, meaning it has bypassed the CSC, examples of this could be: (reminder: all examples are of people already known to us, meaning a care and support plan/review cycle is in place)</a:t>
            </a:r>
          </a:p>
          <a:p>
            <a:pPr lvl="1" indent="-228600">
              <a:lnSpc>
                <a:spcPct val="90000"/>
              </a:lnSpc>
              <a:spcAft>
                <a:spcPts val="600"/>
              </a:spcAft>
              <a:buFont typeface="Arial" panose="020B0604020202020204" pitchFamily="34" charset="0"/>
              <a:buChar char="•"/>
            </a:pPr>
            <a:r>
              <a:rPr lang="en-US" sz="2000" dirty="0"/>
              <a:t>Someone is raised at an MDT meeting </a:t>
            </a:r>
          </a:p>
          <a:p>
            <a:pPr lvl="1" indent="-228600">
              <a:lnSpc>
                <a:spcPct val="90000"/>
              </a:lnSpc>
              <a:spcAft>
                <a:spcPts val="600"/>
              </a:spcAft>
              <a:buFont typeface="Arial" panose="020B0604020202020204" pitchFamily="34" charset="0"/>
              <a:buChar char="•"/>
            </a:pPr>
            <a:r>
              <a:rPr lang="en-US" sz="2000" dirty="0"/>
              <a:t>A person you have worked with contacts you directly </a:t>
            </a:r>
          </a:p>
          <a:p>
            <a:pPr lvl="1" indent="-228600">
              <a:lnSpc>
                <a:spcPct val="90000"/>
              </a:lnSpc>
              <a:spcAft>
                <a:spcPts val="600"/>
              </a:spcAft>
              <a:buFont typeface="Arial" panose="020B0604020202020204" pitchFamily="34" charset="0"/>
              <a:buChar char="•"/>
            </a:pPr>
            <a:r>
              <a:rPr lang="en-US" sz="2000" dirty="0"/>
              <a:t>A person or professional contacting your duty team (email or phone) </a:t>
            </a:r>
          </a:p>
          <a:p>
            <a:pPr lvl="1" indent="-228600">
              <a:lnSpc>
                <a:spcPct val="90000"/>
              </a:lnSpc>
              <a:spcAft>
                <a:spcPts val="600"/>
              </a:spcAft>
              <a:buFont typeface="Arial" panose="020B0604020202020204" pitchFamily="34" charset="0"/>
              <a:buChar char="•"/>
            </a:pPr>
            <a:r>
              <a:rPr lang="en-US" sz="2000" dirty="0"/>
              <a:t>A professional discussion i.e., Care navigator raising concerns at a huddle, concerns being raised during other professional’s meetings such as Vulnerable Persons Panel (VPP) </a:t>
            </a:r>
          </a:p>
          <a:p>
            <a:pPr marL="228600" lvl="1">
              <a:lnSpc>
                <a:spcPct val="90000"/>
              </a:lnSpc>
              <a:spcAft>
                <a:spcPts val="600"/>
              </a:spcAft>
            </a:pPr>
            <a:endParaRPr lang="en-US" sz="2000" dirty="0"/>
          </a:p>
          <a:p>
            <a:pPr marL="57150" indent="-285750">
              <a:lnSpc>
                <a:spcPct val="90000"/>
              </a:lnSpc>
              <a:spcAft>
                <a:spcPts val="600"/>
              </a:spcAft>
              <a:buFont typeface="Arial" panose="020B0604020202020204" pitchFamily="34" charset="0"/>
              <a:buChar char="•"/>
            </a:pPr>
            <a:r>
              <a:rPr lang="en-US" sz="2000" dirty="0"/>
              <a:t>In the current 3 Conversations ethos and our approach as a Local Authority we should aim to make access easier for people and professionals and should not advise them to go back through CSC just to come back to us</a:t>
            </a:r>
          </a:p>
          <a:p>
            <a:pPr marL="57150" indent="-285750">
              <a:lnSpc>
                <a:spcPct val="90000"/>
              </a:lnSpc>
              <a:spcAft>
                <a:spcPts val="600"/>
              </a:spcAft>
              <a:buFont typeface="Arial" panose="020B0604020202020204" pitchFamily="34" charset="0"/>
              <a:buChar char="•"/>
            </a:pPr>
            <a:r>
              <a:rPr lang="en-US" sz="2000" dirty="0"/>
              <a:t>Using this step will stop the need to use the 3C Contact ‘(New people only)’ step for a person with a care and support plan in place</a:t>
            </a:r>
          </a:p>
        </p:txBody>
      </p:sp>
    </p:spTree>
    <p:extLst>
      <p:ext uri="{BB962C8B-B14F-4D97-AF65-F5344CB8AC3E}">
        <p14:creationId xmlns:p14="http://schemas.microsoft.com/office/powerpoint/2010/main" val="4144993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F33BA83-C49A-462D-94C3-94F187B40DFB}"/>
              </a:ext>
            </a:extLst>
          </p:cNvPr>
          <p:cNvSpPr txBox="1"/>
          <p:nvPr/>
        </p:nvSpPr>
        <p:spPr>
          <a:xfrm>
            <a:off x="6921917" y="364015"/>
            <a:ext cx="4891394" cy="1097596"/>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kern="1200" dirty="0">
              <a:solidFill>
                <a:schemeClr val="tx1"/>
              </a:solidFill>
              <a:latin typeface="+mj-lt"/>
              <a:ea typeface="+mj-ea"/>
              <a:cs typeface="+mj-cs"/>
            </a:endParaRPr>
          </a:p>
        </p:txBody>
      </p:sp>
      <p:sp>
        <p:nvSpPr>
          <p:cNvPr id="11" name="TextBox 10">
            <a:extLst>
              <a:ext uri="{FF2B5EF4-FFF2-40B4-BE49-F238E27FC236}">
                <a16:creationId xmlns:a16="http://schemas.microsoft.com/office/drawing/2014/main" id="{91F893A8-BDCA-4B34-A6A6-CF39C6F08FF4}"/>
              </a:ext>
            </a:extLst>
          </p:cNvPr>
          <p:cNvSpPr txBox="1"/>
          <p:nvPr/>
        </p:nvSpPr>
        <p:spPr>
          <a:xfrm>
            <a:off x="838200" y="365125"/>
            <a:ext cx="10515600" cy="1325563"/>
          </a:xfrm>
          <a:prstGeom prst="rect">
            <a:avLst/>
          </a:prstGeom>
        </p:spPr>
        <p:txBody>
          <a:bodyPr vert="horz" lIns="91440" tIns="45720" rIns="91440" bIns="45720" rtlCol="0" anchor="ctr">
            <a:normAutofit fontScale="92500"/>
          </a:bodyPr>
          <a:lstStyle/>
          <a:p>
            <a:pPr>
              <a:lnSpc>
                <a:spcPct val="90000"/>
              </a:lnSpc>
              <a:spcBef>
                <a:spcPct val="0"/>
              </a:spcBef>
              <a:spcAft>
                <a:spcPts val="600"/>
              </a:spcAft>
            </a:pPr>
            <a:r>
              <a:rPr lang="en-US" sz="4400" b="1" kern="1200" dirty="0">
                <a:solidFill>
                  <a:schemeClr val="tx1"/>
                </a:solidFill>
                <a:latin typeface="+mj-lt"/>
                <a:ea typeface="+mj-ea"/>
                <a:cs typeface="+mj-cs"/>
              </a:rPr>
              <a:t>What is the 3C Contact and Conversation </a:t>
            </a:r>
            <a:r>
              <a:rPr lang="en-US" sz="2200" b="1" kern="1200" dirty="0">
                <a:solidFill>
                  <a:schemeClr val="tx1"/>
                </a:solidFill>
                <a:latin typeface="+mj-lt"/>
                <a:ea typeface="+mj-ea"/>
                <a:cs typeface="+mj-cs"/>
              </a:rPr>
              <a:t>(person with ongoing care and support plan only)  </a:t>
            </a:r>
            <a:r>
              <a:rPr lang="en-US" sz="4400" b="1" kern="1200" dirty="0">
                <a:solidFill>
                  <a:schemeClr val="tx1"/>
                </a:solidFill>
                <a:latin typeface="+mj-lt"/>
                <a:ea typeface="+mj-ea"/>
                <a:cs typeface="+mj-cs"/>
              </a:rPr>
              <a:t>step? The conversation element</a:t>
            </a:r>
            <a:endParaRPr lang="en-US" sz="4400" kern="1200" dirty="0">
              <a:solidFill>
                <a:schemeClr val="tx1"/>
              </a:solidFill>
              <a:latin typeface="+mj-lt"/>
              <a:ea typeface="+mj-ea"/>
              <a:cs typeface="+mj-cs"/>
            </a:endParaRPr>
          </a:p>
        </p:txBody>
      </p:sp>
      <p:sp>
        <p:nvSpPr>
          <p:cNvPr id="12" name="TextBox 3">
            <a:extLst>
              <a:ext uri="{FF2B5EF4-FFF2-40B4-BE49-F238E27FC236}">
                <a16:creationId xmlns:a16="http://schemas.microsoft.com/office/drawing/2014/main" id="{41A52EED-D219-4342-8259-C91287441BE2}"/>
              </a:ext>
            </a:extLst>
          </p:cNvPr>
          <p:cNvSpPr txBox="1"/>
          <p:nvPr/>
        </p:nvSpPr>
        <p:spPr>
          <a:xfrm>
            <a:off x="859851" y="2055813"/>
            <a:ext cx="10776439" cy="435133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dirty="0"/>
              <a:t>The Conversation element is in essence a conversation 1 and 2 condensed into the same form but for people who are known to us. The blend of conversation 1 and 2 elements was agreed for minor interventions that do not require a ‘Review Conversation’. The ‘Review conversation’ step will be on the persons record and should be used where the opportunity arises to review the persons situation </a:t>
            </a:r>
          </a:p>
          <a:p>
            <a:pPr>
              <a:lnSpc>
                <a:spcPct val="90000"/>
              </a:lnSpc>
              <a:spcAft>
                <a:spcPts val="600"/>
              </a:spcAft>
            </a:pPr>
            <a:endParaRPr lang="en-US" sz="2000" dirty="0"/>
          </a:p>
          <a:p>
            <a:pPr indent="-228600">
              <a:lnSpc>
                <a:spcPct val="90000"/>
              </a:lnSpc>
              <a:spcAft>
                <a:spcPts val="600"/>
              </a:spcAft>
              <a:buFont typeface="Arial" panose="020B0604020202020204" pitchFamily="34" charset="0"/>
              <a:buChar char="•"/>
            </a:pPr>
            <a:r>
              <a:rPr lang="en-US" sz="2000" dirty="0"/>
              <a:t>The conversation part of this step will capture very small social work changes for a person that would not constitute a review. It can also be used following a review where a worker may have outstanding tasks for example the person wants to make new connections in their community which you had identified at the review stage, but had to send off your review conversation to be commissioned</a:t>
            </a:r>
          </a:p>
          <a:p>
            <a:pPr>
              <a:lnSpc>
                <a:spcPct val="90000"/>
              </a:lnSpc>
              <a:spcAft>
                <a:spcPts val="600"/>
              </a:spcAft>
            </a:pPr>
            <a:endParaRPr lang="en-US" sz="2000" dirty="0"/>
          </a:p>
          <a:p>
            <a:pPr indent="-228600">
              <a:lnSpc>
                <a:spcPct val="90000"/>
              </a:lnSpc>
              <a:spcAft>
                <a:spcPts val="600"/>
              </a:spcAft>
              <a:buFont typeface="Arial" panose="020B0604020202020204" pitchFamily="34" charset="0"/>
              <a:buChar char="•"/>
            </a:pPr>
            <a:r>
              <a:rPr lang="en-US" sz="2000" dirty="0"/>
              <a:t>Occupational therapy interventions for people who have a care and support plan/review (The step includes all the relevant documents and steps for OT interventions) </a:t>
            </a:r>
          </a:p>
          <a:p>
            <a:pPr indent="-228600">
              <a:lnSpc>
                <a:spcPct val="90000"/>
              </a:lnSpc>
              <a:spcAft>
                <a:spcPts val="600"/>
              </a:spcAft>
              <a:buFont typeface="Arial" panose="020B0604020202020204" pitchFamily="34" charset="0"/>
              <a:buChar char="•"/>
            </a:pPr>
            <a:endParaRPr lang="en-US" sz="1300" dirty="0"/>
          </a:p>
        </p:txBody>
      </p:sp>
    </p:spTree>
    <p:extLst>
      <p:ext uri="{BB962C8B-B14F-4D97-AF65-F5344CB8AC3E}">
        <p14:creationId xmlns:p14="http://schemas.microsoft.com/office/powerpoint/2010/main" val="1227777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4">
            <a:extLst>
              <a:ext uri="{FF2B5EF4-FFF2-40B4-BE49-F238E27FC236}">
                <a16:creationId xmlns:a16="http://schemas.microsoft.com/office/drawing/2014/main" id="{69DB2D99-85FB-460E-B337-5438D6304508}"/>
              </a:ext>
            </a:extLst>
          </p:cNvPr>
          <p:cNvGraphicFramePr>
            <a:graphicFrameLocks noGrp="1"/>
          </p:cNvGraphicFramePr>
          <p:nvPr>
            <p:extLst>
              <p:ext uri="{D42A27DB-BD31-4B8C-83A1-F6EECF244321}">
                <p14:modId xmlns:p14="http://schemas.microsoft.com/office/powerpoint/2010/main" val="2770344828"/>
              </p:ext>
            </p:extLst>
          </p:nvPr>
        </p:nvGraphicFramePr>
        <p:xfrm>
          <a:off x="190026" y="182880"/>
          <a:ext cx="5648066" cy="6492240"/>
        </p:xfrm>
        <a:graphic>
          <a:graphicData uri="http://schemas.openxmlformats.org/drawingml/2006/table">
            <a:tbl>
              <a:tblPr firstRow="1" bandRow="1">
                <a:tableStyleId>{5C22544A-7EE6-4342-B048-85BDC9FD1C3A}</a:tableStyleId>
              </a:tblPr>
              <a:tblGrid>
                <a:gridCol w="5648066">
                  <a:extLst>
                    <a:ext uri="{9D8B030D-6E8A-4147-A177-3AD203B41FA5}">
                      <a16:colId xmlns:a16="http://schemas.microsoft.com/office/drawing/2014/main" val="3915337517"/>
                    </a:ext>
                  </a:extLst>
                </a:gridCol>
              </a:tblGrid>
              <a:tr h="327169">
                <a:tc>
                  <a:txBody>
                    <a:bodyPr/>
                    <a:lstStyle/>
                    <a:p>
                      <a:r>
                        <a:rPr lang="en-GB" dirty="0"/>
                        <a:t>What the step CAN be used for</a:t>
                      </a:r>
                    </a:p>
                  </a:txBody>
                  <a:tcPr/>
                </a:tc>
                <a:extLst>
                  <a:ext uri="{0D108BD9-81ED-4DB2-BD59-A6C34878D82A}">
                    <a16:rowId xmlns:a16="http://schemas.microsoft.com/office/drawing/2014/main" val="4103778100"/>
                  </a:ext>
                </a:extLst>
              </a:tr>
              <a:tr h="5480088">
                <a:tc>
                  <a:txBody>
                    <a:bodyPr/>
                    <a:lstStyle/>
                    <a:p>
                      <a:pPr marL="285750" indent="-285750">
                        <a:buFont typeface="Arial" panose="020B0604020202020204" pitchFamily="34" charset="0"/>
                        <a:buChar char="•"/>
                      </a:pPr>
                      <a:r>
                        <a:rPr lang="en-GB" sz="1800" dirty="0"/>
                        <a:t>Record a small change that does not warrant a review</a:t>
                      </a:r>
                    </a:p>
                    <a:p>
                      <a:pPr marL="285750" indent="-285750">
                        <a:buFont typeface="Arial" panose="020B0604020202020204" pitchFamily="34" charset="0"/>
                        <a:buChar char="•"/>
                      </a:pPr>
                      <a:r>
                        <a:rPr lang="en-GB" sz="1800" dirty="0"/>
                        <a:t>Use this step to send off multiple next actions, for example: sending a MIS PIW request whilst sending a benefits referral </a:t>
                      </a:r>
                    </a:p>
                    <a:p>
                      <a:pPr marL="285750" indent="-285750">
                        <a:buFont typeface="Arial" panose="020B0604020202020204" pitchFamily="34" charset="0"/>
                        <a:buChar char="•"/>
                      </a:pPr>
                      <a:r>
                        <a:rPr lang="en-GB" sz="1800" dirty="0"/>
                        <a:t>Where we identify a carer who also has their own care and support needs, you can use this step to navigate to the carers workflow</a:t>
                      </a:r>
                    </a:p>
                    <a:p>
                      <a:pPr marL="285750" indent="-285750">
                        <a:buFont typeface="Arial" panose="020B0604020202020204" pitchFamily="34" charset="0"/>
                        <a:buChar char="•"/>
                      </a:pPr>
                      <a:r>
                        <a:rPr lang="en-GB" sz="1800" dirty="0"/>
                        <a:t>Allows for connection to be made with MIS Reablement (START)</a:t>
                      </a:r>
                    </a:p>
                    <a:p>
                      <a:pPr marL="285750" indent="-285750">
                        <a:buFont typeface="Arial" panose="020B0604020202020204" pitchFamily="34" charset="0"/>
                        <a:buChar char="•"/>
                      </a:pPr>
                      <a:r>
                        <a:rPr lang="en-GB" sz="1800" dirty="0"/>
                        <a:t>Allows access to the financial assessment for people who have ongoing care and support </a:t>
                      </a:r>
                    </a:p>
                    <a:p>
                      <a:pPr marL="285750" indent="-285750">
                        <a:buFont typeface="Arial" panose="020B0604020202020204" pitchFamily="34" charset="0"/>
                        <a:buChar char="•"/>
                      </a:pPr>
                      <a:r>
                        <a:rPr lang="en-GB" sz="1800" dirty="0"/>
                        <a:t>OT interventions when a person has a care and support plan/review cycle (this will replace the C1. and C2.). All Occupational Therapy forms and next actions are available </a:t>
                      </a:r>
                    </a:p>
                    <a:p>
                      <a:pPr marL="285750" indent="-285750">
                        <a:buFont typeface="Arial" panose="020B0604020202020204" pitchFamily="34" charset="0"/>
                        <a:buChar char="•"/>
                      </a:pPr>
                      <a:r>
                        <a:rPr lang="en-GB" sz="1800" dirty="0"/>
                        <a:t>Tracking what connections you have made for the person using the ‘Actions Taken’ section</a:t>
                      </a:r>
                    </a:p>
                    <a:p>
                      <a:pPr marL="285750" indent="-285750">
                        <a:buFont typeface="Arial" panose="020B0604020202020204" pitchFamily="34" charset="0"/>
                        <a:buChar char="•"/>
                      </a:pPr>
                      <a:r>
                        <a:rPr lang="en-GB" sz="1800" dirty="0"/>
                        <a:t>If following a review conversation you have further work to complete for example: make connections etc.. You can start this step (this should support you to close your review conversation in a timely manner, avoiding delaying commissioning/payments to providers)</a:t>
                      </a:r>
                    </a:p>
                  </a:txBody>
                  <a:tcPr/>
                </a:tc>
                <a:extLst>
                  <a:ext uri="{0D108BD9-81ED-4DB2-BD59-A6C34878D82A}">
                    <a16:rowId xmlns:a16="http://schemas.microsoft.com/office/drawing/2014/main" val="3949198590"/>
                  </a:ext>
                </a:extLst>
              </a:tr>
            </a:tbl>
          </a:graphicData>
        </a:graphic>
      </p:graphicFrame>
      <p:graphicFrame>
        <p:nvGraphicFramePr>
          <p:cNvPr id="3" name="Table 4">
            <a:extLst>
              <a:ext uri="{FF2B5EF4-FFF2-40B4-BE49-F238E27FC236}">
                <a16:creationId xmlns:a16="http://schemas.microsoft.com/office/drawing/2014/main" id="{9EF44C48-A49A-43C3-B6A4-1899CF45070E}"/>
              </a:ext>
            </a:extLst>
          </p:cNvPr>
          <p:cNvGraphicFramePr>
            <a:graphicFrameLocks noGrp="1"/>
          </p:cNvGraphicFramePr>
          <p:nvPr>
            <p:extLst>
              <p:ext uri="{D42A27DB-BD31-4B8C-83A1-F6EECF244321}">
                <p14:modId xmlns:p14="http://schemas.microsoft.com/office/powerpoint/2010/main" val="2159587529"/>
              </p:ext>
            </p:extLst>
          </p:nvPr>
        </p:nvGraphicFramePr>
        <p:xfrm>
          <a:off x="6655303" y="181122"/>
          <a:ext cx="5085359" cy="2382520"/>
        </p:xfrm>
        <a:graphic>
          <a:graphicData uri="http://schemas.openxmlformats.org/drawingml/2006/table">
            <a:tbl>
              <a:tblPr firstRow="1" bandRow="1">
                <a:tableStyleId>{5C22544A-7EE6-4342-B048-85BDC9FD1C3A}</a:tableStyleId>
              </a:tblPr>
              <a:tblGrid>
                <a:gridCol w="5085359">
                  <a:extLst>
                    <a:ext uri="{9D8B030D-6E8A-4147-A177-3AD203B41FA5}">
                      <a16:colId xmlns:a16="http://schemas.microsoft.com/office/drawing/2014/main" val="3915337517"/>
                    </a:ext>
                  </a:extLst>
                </a:gridCol>
              </a:tblGrid>
              <a:tr h="370840">
                <a:tc>
                  <a:txBody>
                    <a:bodyPr/>
                    <a:lstStyle/>
                    <a:p>
                      <a:pPr>
                        <a:lnSpc>
                          <a:spcPct val="90000"/>
                        </a:lnSpc>
                        <a:spcBef>
                          <a:spcPct val="0"/>
                        </a:spcBef>
                        <a:spcAft>
                          <a:spcPts val="600"/>
                        </a:spcAft>
                      </a:pPr>
                      <a:r>
                        <a:rPr lang="en-US" sz="1800" b="1" kern="1200" dirty="0">
                          <a:solidFill>
                            <a:schemeClr val="bg1"/>
                          </a:solidFill>
                          <a:latin typeface="+mn-lt"/>
                          <a:ea typeface="+mn-ea"/>
                          <a:cs typeface="+mn-cs"/>
                        </a:rPr>
                        <a:t>What the step CANNOT be used for</a:t>
                      </a:r>
                    </a:p>
                  </a:txBody>
                  <a:tcPr/>
                </a:tc>
                <a:extLst>
                  <a:ext uri="{0D108BD9-81ED-4DB2-BD59-A6C34878D82A}">
                    <a16:rowId xmlns:a16="http://schemas.microsoft.com/office/drawing/2014/main" val="4103778100"/>
                  </a:ext>
                </a:extLst>
              </a:tr>
              <a:tr h="370840">
                <a:tc>
                  <a:txBody>
                    <a:bodyPr/>
                    <a:lstStyle/>
                    <a:p>
                      <a:pPr marL="285750" indent="-285750">
                        <a:buFont typeface="Arial" panose="020B0604020202020204" pitchFamily="34" charset="0"/>
                        <a:buChar char="•"/>
                      </a:pPr>
                      <a:r>
                        <a:rPr lang="en-GB" dirty="0"/>
                        <a:t>Any commissioning activity </a:t>
                      </a:r>
                    </a:p>
                    <a:p>
                      <a:pPr marL="285750" indent="-285750">
                        <a:buFont typeface="Arial" panose="020B0604020202020204" pitchFamily="34" charset="0"/>
                        <a:buChar char="•"/>
                      </a:pPr>
                      <a:r>
                        <a:rPr lang="en-GB" dirty="0"/>
                        <a:t>As a means of avoiding completing a review conversation </a:t>
                      </a:r>
                    </a:p>
                    <a:p>
                      <a:pPr marL="285750" indent="-285750">
                        <a:buFont typeface="Arial" panose="020B0604020202020204" pitchFamily="34" charset="0"/>
                        <a:buChar char="•"/>
                      </a:pPr>
                      <a:r>
                        <a:rPr lang="en-GB" dirty="0"/>
                        <a:t>Should not be used for people coming in as new (person without a current care and support plan, in this scenario the 3 C’s core workflow should be </a:t>
                      </a:r>
                      <a:r>
                        <a:rPr lang="en-GB"/>
                        <a:t>followed)</a:t>
                      </a:r>
                      <a:endParaRPr lang="en-GB" dirty="0"/>
                    </a:p>
                  </a:txBody>
                  <a:tcPr/>
                </a:tc>
                <a:extLst>
                  <a:ext uri="{0D108BD9-81ED-4DB2-BD59-A6C34878D82A}">
                    <a16:rowId xmlns:a16="http://schemas.microsoft.com/office/drawing/2014/main" val="3949198590"/>
                  </a:ext>
                </a:extLst>
              </a:tr>
            </a:tbl>
          </a:graphicData>
        </a:graphic>
      </p:graphicFrame>
    </p:spTree>
    <p:extLst>
      <p:ext uri="{BB962C8B-B14F-4D97-AF65-F5344CB8AC3E}">
        <p14:creationId xmlns:p14="http://schemas.microsoft.com/office/powerpoint/2010/main" val="1918187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C1B4AC5B-4986-4970-AD30-77D20F655F61}"/>
              </a:ext>
            </a:extLst>
          </p:cNvPr>
          <p:cNvSpPr txBox="1"/>
          <p:nvPr/>
        </p:nvSpPr>
        <p:spPr>
          <a:xfrm>
            <a:off x="2825262" y="63133"/>
            <a:ext cx="5978769" cy="1077218"/>
          </a:xfrm>
          <a:prstGeom prst="rect">
            <a:avLst/>
          </a:prstGeom>
          <a:noFill/>
        </p:spPr>
        <p:txBody>
          <a:bodyPr wrap="square" rtlCol="0">
            <a:spAutoFit/>
          </a:bodyPr>
          <a:lstStyle/>
          <a:p>
            <a:r>
              <a:rPr lang="en-GB" sz="3200" dirty="0"/>
              <a:t>Workflow for person with a care and support plan/Review Cycle</a:t>
            </a:r>
          </a:p>
        </p:txBody>
      </p:sp>
      <p:sp>
        <p:nvSpPr>
          <p:cNvPr id="25" name="Callout: Down Arrow 24">
            <a:extLst>
              <a:ext uri="{FF2B5EF4-FFF2-40B4-BE49-F238E27FC236}">
                <a16:creationId xmlns:a16="http://schemas.microsoft.com/office/drawing/2014/main" id="{0DB70B67-74AC-42ED-91A1-C639255798F2}"/>
              </a:ext>
            </a:extLst>
          </p:cNvPr>
          <p:cNvSpPr/>
          <p:nvPr/>
        </p:nvSpPr>
        <p:spPr>
          <a:xfrm>
            <a:off x="278425" y="1460821"/>
            <a:ext cx="2242038" cy="879229"/>
          </a:xfrm>
          <a:prstGeom prst="downArrowCallout">
            <a:avLst/>
          </a:prstGeom>
          <a:solidFill>
            <a:srgbClr val="00B0F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t>CSC Conversation</a:t>
            </a:r>
          </a:p>
        </p:txBody>
      </p:sp>
      <p:sp>
        <p:nvSpPr>
          <p:cNvPr id="26" name="Callout: Down Arrow 25">
            <a:extLst>
              <a:ext uri="{FF2B5EF4-FFF2-40B4-BE49-F238E27FC236}">
                <a16:creationId xmlns:a16="http://schemas.microsoft.com/office/drawing/2014/main" id="{49DE4F1C-4256-48BE-A5F4-4D651C0A1D31}"/>
              </a:ext>
            </a:extLst>
          </p:cNvPr>
          <p:cNvSpPr/>
          <p:nvPr/>
        </p:nvSpPr>
        <p:spPr>
          <a:xfrm>
            <a:off x="278425" y="2768177"/>
            <a:ext cx="2242038" cy="861644"/>
          </a:xfrm>
          <a:prstGeom prst="downArrowCallout">
            <a:avLst/>
          </a:prstGeom>
          <a:solidFill>
            <a:srgbClr val="00B0F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t>Update message received</a:t>
            </a:r>
          </a:p>
        </p:txBody>
      </p:sp>
      <p:sp>
        <p:nvSpPr>
          <p:cNvPr id="27" name="Rectangle 26">
            <a:extLst>
              <a:ext uri="{FF2B5EF4-FFF2-40B4-BE49-F238E27FC236}">
                <a16:creationId xmlns:a16="http://schemas.microsoft.com/office/drawing/2014/main" id="{7DB97944-145A-4468-9206-CAA4F9BFE45F}"/>
              </a:ext>
            </a:extLst>
          </p:cNvPr>
          <p:cNvSpPr/>
          <p:nvPr/>
        </p:nvSpPr>
        <p:spPr>
          <a:xfrm>
            <a:off x="278425" y="3973008"/>
            <a:ext cx="2728545" cy="846376"/>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NFA (can open 3C Contact and Conversation if needed)</a:t>
            </a:r>
          </a:p>
        </p:txBody>
      </p:sp>
      <p:sp>
        <p:nvSpPr>
          <p:cNvPr id="28" name="Callout: Down Arrow 27">
            <a:extLst>
              <a:ext uri="{FF2B5EF4-FFF2-40B4-BE49-F238E27FC236}">
                <a16:creationId xmlns:a16="http://schemas.microsoft.com/office/drawing/2014/main" id="{CF1E1A90-BEE5-4729-BCFA-D5C95D865620}"/>
              </a:ext>
            </a:extLst>
          </p:cNvPr>
          <p:cNvSpPr/>
          <p:nvPr/>
        </p:nvSpPr>
        <p:spPr>
          <a:xfrm>
            <a:off x="5622677" y="1469612"/>
            <a:ext cx="3534507" cy="861645"/>
          </a:xfrm>
          <a:prstGeom prst="downArrowCallout">
            <a:avLst/>
          </a:prstGeom>
          <a:solidFill>
            <a:srgbClr val="92D05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1600" dirty="0"/>
              <a:t>3C Contact &amp; Conversation (Person with ongoing care and support plan only) </a:t>
            </a:r>
          </a:p>
        </p:txBody>
      </p:sp>
      <p:sp>
        <p:nvSpPr>
          <p:cNvPr id="29" name="Rectangle 28">
            <a:extLst>
              <a:ext uri="{FF2B5EF4-FFF2-40B4-BE49-F238E27FC236}">
                <a16:creationId xmlns:a16="http://schemas.microsoft.com/office/drawing/2014/main" id="{6CAE2D14-F532-4457-A4E4-835FB908A6ED}"/>
              </a:ext>
            </a:extLst>
          </p:cNvPr>
          <p:cNvSpPr/>
          <p:nvPr/>
        </p:nvSpPr>
        <p:spPr>
          <a:xfrm>
            <a:off x="5054109" y="6136828"/>
            <a:ext cx="1137136" cy="570027"/>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Future review</a:t>
            </a:r>
          </a:p>
        </p:txBody>
      </p:sp>
      <p:sp>
        <p:nvSpPr>
          <p:cNvPr id="30" name="Callout: Down Arrow 29">
            <a:extLst>
              <a:ext uri="{FF2B5EF4-FFF2-40B4-BE49-F238E27FC236}">
                <a16:creationId xmlns:a16="http://schemas.microsoft.com/office/drawing/2014/main" id="{7B67B2CB-09AB-4E7B-89FD-63B6D8D85689}"/>
              </a:ext>
            </a:extLst>
          </p:cNvPr>
          <p:cNvSpPr/>
          <p:nvPr/>
        </p:nvSpPr>
        <p:spPr>
          <a:xfrm>
            <a:off x="5360379" y="5189791"/>
            <a:ext cx="2242038" cy="861644"/>
          </a:xfrm>
          <a:prstGeom prst="downArrowCallout">
            <a:avLst/>
          </a:prstGeom>
          <a:solidFill>
            <a:srgbClr val="00B0F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t>Review Conversation</a:t>
            </a:r>
          </a:p>
        </p:txBody>
      </p:sp>
      <p:sp>
        <p:nvSpPr>
          <p:cNvPr id="31" name="Rectangle 30">
            <a:extLst>
              <a:ext uri="{FF2B5EF4-FFF2-40B4-BE49-F238E27FC236}">
                <a16:creationId xmlns:a16="http://schemas.microsoft.com/office/drawing/2014/main" id="{16F94926-C4FB-450C-A41E-7B4B22FA7B28}"/>
              </a:ext>
            </a:extLst>
          </p:cNvPr>
          <p:cNvSpPr/>
          <p:nvPr/>
        </p:nvSpPr>
        <p:spPr>
          <a:xfrm>
            <a:off x="6956177" y="6136828"/>
            <a:ext cx="867506" cy="570027"/>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NFA</a:t>
            </a:r>
          </a:p>
        </p:txBody>
      </p:sp>
      <p:sp>
        <p:nvSpPr>
          <p:cNvPr id="35" name="TextBox 34">
            <a:extLst>
              <a:ext uri="{FF2B5EF4-FFF2-40B4-BE49-F238E27FC236}">
                <a16:creationId xmlns:a16="http://schemas.microsoft.com/office/drawing/2014/main" id="{A74201A7-3F08-4ACC-9804-EF9FA4F25DBE}"/>
              </a:ext>
            </a:extLst>
          </p:cNvPr>
          <p:cNvSpPr txBox="1"/>
          <p:nvPr/>
        </p:nvSpPr>
        <p:spPr>
          <a:xfrm>
            <a:off x="6096000" y="2411152"/>
            <a:ext cx="2857497" cy="1323439"/>
          </a:xfrm>
          <a:prstGeom prst="rect">
            <a:avLst/>
          </a:prstGeom>
          <a:noFill/>
        </p:spPr>
        <p:txBody>
          <a:bodyPr wrap="square" rtlCol="0">
            <a:spAutoFit/>
          </a:bodyPr>
          <a:lstStyle/>
          <a:p>
            <a:r>
              <a:rPr lang="en-GB" sz="1600" dirty="0"/>
              <a:t>Combine conversation form with access to next actions and recording elements similar to the original Conversation 1 and 2, section 3 of this step.</a:t>
            </a:r>
          </a:p>
        </p:txBody>
      </p:sp>
      <p:sp>
        <p:nvSpPr>
          <p:cNvPr id="36" name="TextBox 35">
            <a:extLst>
              <a:ext uri="{FF2B5EF4-FFF2-40B4-BE49-F238E27FC236}">
                <a16:creationId xmlns:a16="http://schemas.microsoft.com/office/drawing/2014/main" id="{855DDDA4-9111-43F6-8F62-F998518E4D7B}"/>
              </a:ext>
            </a:extLst>
          </p:cNvPr>
          <p:cNvSpPr txBox="1"/>
          <p:nvPr/>
        </p:nvSpPr>
        <p:spPr>
          <a:xfrm>
            <a:off x="7556984" y="5187622"/>
            <a:ext cx="2022231" cy="538609"/>
          </a:xfrm>
          <a:prstGeom prst="rect">
            <a:avLst/>
          </a:prstGeom>
          <a:noFill/>
          <a:ln>
            <a:solidFill>
              <a:srgbClr val="00B0F0"/>
            </a:solidFill>
          </a:ln>
        </p:spPr>
        <p:txBody>
          <a:bodyPr wrap="square" rtlCol="0">
            <a:spAutoFit/>
          </a:bodyPr>
          <a:lstStyle/>
          <a:p>
            <a:r>
              <a:rPr lang="en-GB" sz="1400" dirty="0"/>
              <a:t>Worker starts from the mosaic summary screen</a:t>
            </a:r>
          </a:p>
          <a:p>
            <a:endParaRPr lang="en-GB" sz="100" dirty="0"/>
          </a:p>
        </p:txBody>
      </p:sp>
      <p:sp>
        <p:nvSpPr>
          <p:cNvPr id="2" name="Rectangle 1">
            <a:extLst>
              <a:ext uri="{FF2B5EF4-FFF2-40B4-BE49-F238E27FC236}">
                <a16:creationId xmlns:a16="http://schemas.microsoft.com/office/drawing/2014/main" id="{C819A46E-5EFA-E044-681B-931F51CFC5EC}"/>
              </a:ext>
            </a:extLst>
          </p:cNvPr>
          <p:cNvSpPr/>
          <p:nvPr/>
        </p:nvSpPr>
        <p:spPr>
          <a:xfrm>
            <a:off x="5757499" y="3880509"/>
            <a:ext cx="3287591" cy="93887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No next action to the Review Step (Review will already be on the summary screen</a:t>
            </a:r>
          </a:p>
        </p:txBody>
      </p:sp>
      <p:cxnSp>
        <p:nvCxnSpPr>
          <p:cNvPr id="4" name="Straight Arrow Connector 3">
            <a:extLst>
              <a:ext uri="{FF2B5EF4-FFF2-40B4-BE49-F238E27FC236}">
                <a16:creationId xmlns:a16="http://schemas.microsoft.com/office/drawing/2014/main" id="{BFF1567B-3792-288B-1E91-76B9B44426B7}"/>
              </a:ext>
            </a:extLst>
          </p:cNvPr>
          <p:cNvCxnSpPr>
            <a:cxnSpLocks/>
            <a:stCxn id="27" idx="3"/>
            <a:endCxn id="28" idx="1"/>
          </p:cNvCxnSpPr>
          <p:nvPr/>
        </p:nvCxnSpPr>
        <p:spPr>
          <a:xfrm flipV="1">
            <a:off x="3006970" y="1749548"/>
            <a:ext cx="2615707" cy="2646648"/>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537E7FD-E50E-8635-93D9-469AEE528411}"/>
              </a:ext>
            </a:extLst>
          </p:cNvPr>
          <p:cNvSpPr txBox="1"/>
          <p:nvPr/>
        </p:nvSpPr>
        <p:spPr>
          <a:xfrm>
            <a:off x="9157184" y="1577269"/>
            <a:ext cx="1274878" cy="323165"/>
          </a:xfrm>
          <a:prstGeom prst="rect">
            <a:avLst/>
          </a:prstGeom>
          <a:noFill/>
          <a:ln>
            <a:solidFill>
              <a:srgbClr val="00B0F0"/>
            </a:solidFill>
          </a:ln>
        </p:spPr>
        <p:txBody>
          <a:bodyPr wrap="square" rtlCol="0">
            <a:spAutoFit/>
          </a:bodyPr>
          <a:lstStyle/>
          <a:p>
            <a:r>
              <a:rPr lang="en-GB" sz="1400" dirty="0"/>
              <a:t>Entry point</a:t>
            </a:r>
          </a:p>
          <a:p>
            <a:endParaRPr lang="en-GB" sz="100" dirty="0"/>
          </a:p>
        </p:txBody>
      </p:sp>
      <p:sp>
        <p:nvSpPr>
          <p:cNvPr id="20" name="TextBox 19">
            <a:extLst>
              <a:ext uri="{FF2B5EF4-FFF2-40B4-BE49-F238E27FC236}">
                <a16:creationId xmlns:a16="http://schemas.microsoft.com/office/drawing/2014/main" id="{40420A2E-1A10-17C7-612F-971CBB4AD66D}"/>
              </a:ext>
            </a:extLst>
          </p:cNvPr>
          <p:cNvSpPr txBox="1"/>
          <p:nvPr/>
        </p:nvSpPr>
        <p:spPr>
          <a:xfrm>
            <a:off x="2481271" y="1568477"/>
            <a:ext cx="1326899" cy="323165"/>
          </a:xfrm>
          <a:prstGeom prst="rect">
            <a:avLst/>
          </a:prstGeom>
          <a:noFill/>
          <a:ln>
            <a:solidFill>
              <a:srgbClr val="00B0F0"/>
            </a:solidFill>
          </a:ln>
        </p:spPr>
        <p:txBody>
          <a:bodyPr wrap="square" rtlCol="0">
            <a:spAutoFit/>
          </a:bodyPr>
          <a:lstStyle/>
          <a:p>
            <a:r>
              <a:rPr lang="en-GB" sz="1400" dirty="0"/>
              <a:t>Entry point</a:t>
            </a:r>
          </a:p>
          <a:p>
            <a:endParaRPr lang="en-GB" sz="100" dirty="0"/>
          </a:p>
        </p:txBody>
      </p:sp>
      <p:sp>
        <p:nvSpPr>
          <p:cNvPr id="37" name="TextBox 36">
            <a:extLst>
              <a:ext uri="{FF2B5EF4-FFF2-40B4-BE49-F238E27FC236}">
                <a16:creationId xmlns:a16="http://schemas.microsoft.com/office/drawing/2014/main" id="{8B6DA344-CD03-F3FA-BC5D-E6FF7627EB57}"/>
              </a:ext>
            </a:extLst>
          </p:cNvPr>
          <p:cNvSpPr txBox="1"/>
          <p:nvPr/>
        </p:nvSpPr>
        <p:spPr>
          <a:xfrm>
            <a:off x="3001844" y="4446207"/>
            <a:ext cx="981072" cy="323165"/>
          </a:xfrm>
          <a:prstGeom prst="rect">
            <a:avLst/>
          </a:prstGeom>
          <a:noFill/>
          <a:ln>
            <a:solidFill>
              <a:srgbClr val="00B0F0"/>
            </a:solidFill>
          </a:ln>
        </p:spPr>
        <p:txBody>
          <a:bodyPr wrap="square" rtlCol="0">
            <a:spAutoFit/>
          </a:bodyPr>
          <a:lstStyle/>
          <a:p>
            <a:r>
              <a:rPr lang="en-GB" sz="1400" dirty="0"/>
              <a:t>Dead end</a:t>
            </a:r>
          </a:p>
          <a:p>
            <a:endParaRPr lang="en-GB" sz="100" dirty="0"/>
          </a:p>
        </p:txBody>
      </p:sp>
      <p:sp>
        <p:nvSpPr>
          <p:cNvPr id="40" name="TextBox 39">
            <a:extLst>
              <a:ext uri="{FF2B5EF4-FFF2-40B4-BE49-F238E27FC236}">
                <a16:creationId xmlns:a16="http://schemas.microsoft.com/office/drawing/2014/main" id="{FD7C529D-C614-01F8-155A-B071E252DA7C}"/>
              </a:ext>
            </a:extLst>
          </p:cNvPr>
          <p:cNvSpPr txBox="1"/>
          <p:nvPr/>
        </p:nvSpPr>
        <p:spPr>
          <a:xfrm>
            <a:off x="7823683" y="6255473"/>
            <a:ext cx="981072" cy="323165"/>
          </a:xfrm>
          <a:prstGeom prst="rect">
            <a:avLst/>
          </a:prstGeom>
          <a:noFill/>
          <a:ln>
            <a:solidFill>
              <a:srgbClr val="00B0F0"/>
            </a:solidFill>
          </a:ln>
        </p:spPr>
        <p:txBody>
          <a:bodyPr wrap="square" rtlCol="0">
            <a:spAutoFit/>
          </a:bodyPr>
          <a:lstStyle/>
          <a:p>
            <a:r>
              <a:rPr lang="en-GB" sz="1400" dirty="0"/>
              <a:t>Dead end</a:t>
            </a:r>
          </a:p>
          <a:p>
            <a:endParaRPr lang="en-GB" sz="100" dirty="0"/>
          </a:p>
        </p:txBody>
      </p:sp>
    </p:spTree>
    <p:extLst>
      <p:ext uri="{BB962C8B-B14F-4D97-AF65-F5344CB8AC3E}">
        <p14:creationId xmlns:p14="http://schemas.microsoft.com/office/powerpoint/2010/main" val="1052691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TotalTime>
  <Words>767</Words>
  <Application>Microsoft Office PowerPoint</Application>
  <PresentationFormat>Widescreen</PresentationFormat>
  <Paragraphs>45</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3 Conversations – Guidance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Conversations - testing of new step</dc:title>
  <dc:creator>Keith Miller2</dc:creator>
  <cp:lastModifiedBy>Helen Manser</cp:lastModifiedBy>
  <cp:revision>3</cp:revision>
  <dcterms:created xsi:type="dcterms:W3CDTF">2023-03-03T11:25:31Z</dcterms:created>
  <dcterms:modified xsi:type="dcterms:W3CDTF">2023-06-02T15:40:54Z</dcterms:modified>
</cp:coreProperties>
</file>