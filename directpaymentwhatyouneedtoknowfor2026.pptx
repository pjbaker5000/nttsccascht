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61" r:id="rId4"/>
    <p:sldId id="267" r:id="rId5"/>
    <p:sldId id="262" r:id="rId6"/>
    <p:sldId id="269" r:id="rId7"/>
    <p:sldId id="270" r:id="rId8"/>
    <p:sldId id="274" r:id="rId9"/>
    <p:sldId id="275" r:id="rId10"/>
    <p:sldId id="268" r:id="rId11"/>
    <p:sldId id="273" r:id="rId12"/>
    <p:sldId id="265" r:id="rId13"/>
    <p:sldId id="271"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 Caudwell" userId="29fdc861-2e87-4fcc-b18b-ce3df865a52b" providerId="ADAL" clId="{74A5F68A-2EE7-4CE0-878A-401AB614873F}"/>
    <pc:docChg chg="custSel modSld">
      <pc:chgData name="Julie Caudwell" userId="29fdc861-2e87-4fcc-b18b-ce3df865a52b" providerId="ADAL" clId="{74A5F68A-2EE7-4CE0-878A-401AB614873F}" dt="2026-03-18T11:40:48.781" v="12" actId="20577"/>
      <pc:docMkLst>
        <pc:docMk/>
      </pc:docMkLst>
      <pc:sldChg chg="modSp mod">
        <pc:chgData name="Julie Caudwell" userId="29fdc861-2e87-4fcc-b18b-ce3df865a52b" providerId="ADAL" clId="{74A5F68A-2EE7-4CE0-878A-401AB614873F}" dt="2026-03-18T11:39:47.964" v="5" actId="33524"/>
        <pc:sldMkLst>
          <pc:docMk/>
          <pc:sldMk cId="1295561986" sldId="262"/>
        </pc:sldMkLst>
        <pc:spChg chg="mod">
          <ac:chgData name="Julie Caudwell" userId="29fdc861-2e87-4fcc-b18b-ce3df865a52b" providerId="ADAL" clId="{74A5F68A-2EE7-4CE0-878A-401AB614873F}" dt="2026-03-18T11:39:47.964" v="5" actId="33524"/>
          <ac:spMkLst>
            <pc:docMk/>
            <pc:sldMk cId="1295561986" sldId="262"/>
            <ac:spMk id="12" creationId="{C91B8C76-E994-FB82-13FC-D52ED062CBF2}"/>
          </ac:spMkLst>
        </pc:spChg>
      </pc:sldChg>
      <pc:sldChg chg="modSp mod">
        <pc:chgData name="Julie Caudwell" userId="29fdc861-2e87-4fcc-b18b-ce3df865a52b" providerId="ADAL" clId="{74A5F68A-2EE7-4CE0-878A-401AB614873F}" dt="2026-03-18T11:40:48.781" v="12" actId="20577"/>
        <pc:sldMkLst>
          <pc:docMk/>
          <pc:sldMk cId="2246249579" sldId="269"/>
        </pc:sldMkLst>
        <pc:spChg chg="mod">
          <ac:chgData name="Julie Caudwell" userId="29fdc861-2e87-4fcc-b18b-ce3df865a52b" providerId="ADAL" clId="{74A5F68A-2EE7-4CE0-878A-401AB614873F}" dt="2026-03-18T11:40:48.781" v="12" actId="20577"/>
          <ac:spMkLst>
            <pc:docMk/>
            <pc:sldMk cId="2246249579" sldId="269"/>
            <ac:spMk id="4" creationId="{49BA6E2F-8610-9C7A-3E52-82F2813AFAE5}"/>
          </ac:spMkLst>
        </pc:spChg>
      </pc:sldChg>
      <pc:sldChg chg="modSp mod">
        <pc:chgData name="Julie Caudwell" userId="29fdc861-2e87-4fcc-b18b-ce3df865a52b" providerId="ADAL" clId="{74A5F68A-2EE7-4CE0-878A-401AB614873F}" dt="2026-03-18T11:39:24.263" v="4" actId="33524"/>
        <pc:sldMkLst>
          <pc:docMk/>
          <pc:sldMk cId="3374768946" sldId="271"/>
        </pc:sldMkLst>
        <pc:spChg chg="mod">
          <ac:chgData name="Julie Caudwell" userId="29fdc861-2e87-4fcc-b18b-ce3df865a52b" providerId="ADAL" clId="{74A5F68A-2EE7-4CE0-878A-401AB614873F}" dt="2026-03-18T11:39:24.263" v="4" actId="33524"/>
          <ac:spMkLst>
            <pc:docMk/>
            <pc:sldMk cId="3374768946" sldId="271"/>
            <ac:spMk id="5" creationId="{A4E8253D-33B4-7DF6-02A1-12DE0D1BCE24}"/>
          </ac:spMkLst>
        </pc:spChg>
      </pc:sldChg>
      <pc:sldChg chg="modSp mod">
        <pc:chgData name="Julie Caudwell" userId="29fdc861-2e87-4fcc-b18b-ce3df865a52b" providerId="ADAL" clId="{74A5F68A-2EE7-4CE0-878A-401AB614873F}" dt="2026-03-18T11:38:30.525" v="3" actId="33524"/>
        <pc:sldMkLst>
          <pc:docMk/>
          <pc:sldMk cId="1107350942" sldId="274"/>
        </pc:sldMkLst>
        <pc:spChg chg="mod">
          <ac:chgData name="Julie Caudwell" userId="29fdc861-2e87-4fcc-b18b-ce3df865a52b" providerId="ADAL" clId="{74A5F68A-2EE7-4CE0-878A-401AB614873F}" dt="2026-03-18T11:38:30.525" v="3" actId="33524"/>
          <ac:spMkLst>
            <pc:docMk/>
            <pc:sldMk cId="1107350942" sldId="274"/>
            <ac:spMk id="3" creationId="{3F36C348-85C7-B863-CE73-4F0E591729D0}"/>
          </ac:spMkLst>
        </pc:spChg>
      </pc:sldChg>
    </pc:docChg>
  </pc:docChgLst>
  <pc:docChgLst>
    <pc:chgData name="Emma Richards" userId="bfd5e534-915d-4eeb-a89f-b2a63f7f321e" providerId="ADAL" clId="{FCA55B51-4228-4C33-ABE5-97277DB886B4}"/>
    <pc:docChg chg="undo custSel delSld modSld">
      <pc:chgData name="Emma Richards" userId="bfd5e534-915d-4eeb-a89f-b2a63f7f321e" providerId="ADAL" clId="{FCA55B51-4228-4C33-ABE5-97277DB886B4}" dt="2026-04-02T12:36:31.840" v="946" actId="2696"/>
      <pc:docMkLst>
        <pc:docMk/>
      </pc:docMkLst>
      <pc:sldChg chg="modAnim">
        <pc:chgData name="Emma Richards" userId="bfd5e534-915d-4eeb-a89f-b2a63f7f321e" providerId="ADAL" clId="{FCA55B51-4228-4C33-ABE5-97277DB886B4}" dt="2026-03-24T11:55:32.053" v="483"/>
        <pc:sldMkLst>
          <pc:docMk/>
          <pc:sldMk cId="0" sldId="260"/>
        </pc:sldMkLst>
      </pc:sldChg>
      <pc:sldChg chg="addSp delSp modSp mod modAnim">
        <pc:chgData name="Emma Richards" userId="bfd5e534-915d-4eeb-a89f-b2a63f7f321e" providerId="ADAL" clId="{FCA55B51-4228-4C33-ABE5-97277DB886B4}" dt="2026-03-24T11:58:26.643" v="511" actId="1076"/>
        <pc:sldMkLst>
          <pc:docMk/>
          <pc:sldMk cId="559120225" sldId="261"/>
        </pc:sldMkLst>
        <pc:spChg chg="mod">
          <ac:chgData name="Emma Richards" userId="bfd5e534-915d-4eeb-a89f-b2a63f7f321e" providerId="ADAL" clId="{FCA55B51-4228-4C33-ABE5-97277DB886B4}" dt="2026-03-20T09:31:05.915" v="57" actId="20577"/>
          <ac:spMkLst>
            <pc:docMk/>
            <pc:sldMk cId="559120225" sldId="261"/>
            <ac:spMk id="2" creationId="{3B4AA200-F934-2762-C67C-0C3C668F6467}"/>
          </ac:spMkLst>
        </pc:spChg>
        <pc:spChg chg="mod">
          <ac:chgData name="Emma Richards" userId="bfd5e534-915d-4eeb-a89f-b2a63f7f321e" providerId="ADAL" clId="{FCA55B51-4228-4C33-ABE5-97277DB886B4}" dt="2026-03-24T11:52:39.448" v="475" actId="20577"/>
          <ac:spMkLst>
            <pc:docMk/>
            <pc:sldMk cId="559120225" sldId="261"/>
            <ac:spMk id="8196" creationId="{00000000-0000-0000-0000-000000000000}"/>
          </ac:spMkLst>
        </pc:spChg>
        <pc:picChg chg="add mod">
          <ac:chgData name="Emma Richards" userId="bfd5e534-915d-4eeb-a89f-b2a63f7f321e" providerId="ADAL" clId="{FCA55B51-4228-4C33-ABE5-97277DB886B4}" dt="2026-03-24T11:58:26.643" v="511" actId="1076"/>
          <ac:picMkLst>
            <pc:docMk/>
            <pc:sldMk cId="559120225" sldId="261"/>
            <ac:picMk id="7" creationId="{2DAB5645-C0AB-6795-D352-A9AAFAA64EDD}"/>
          </ac:picMkLst>
        </pc:picChg>
      </pc:sldChg>
      <pc:sldChg chg="modSp modAnim">
        <pc:chgData name="Emma Richards" userId="bfd5e534-915d-4eeb-a89f-b2a63f7f321e" providerId="ADAL" clId="{FCA55B51-4228-4C33-ABE5-97277DB886B4}" dt="2026-03-24T11:56:11.284" v="497"/>
        <pc:sldMkLst>
          <pc:docMk/>
          <pc:sldMk cId="1295561986" sldId="262"/>
        </pc:sldMkLst>
        <pc:spChg chg="mod">
          <ac:chgData name="Emma Richards" userId="bfd5e534-915d-4eeb-a89f-b2a63f7f321e" providerId="ADAL" clId="{FCA55B51-4228-4C33-ABE5-97277DB886B4}" dt="2026-03-20T10:07:09.733" v="388" actId="20577"/>
          <ac:spMkLst>
            <pc:docMk/>
            <pc:sldMk cId="1295561986" sldId="262"/>
            <ac:spMk id="11" creationId="{9EBF49BD-D220-789C-70E5-B58FF59C7DD0}"/>
          </ac:spMkLst>
        </pc:spChg>
      </pc:sldChg>
      <pc:sldChg chg="modSp mod">
        <pc:chgData name="Emma Richards" userId="bfd5e534-915d-4eeb-a89f-b2a63f7f321e" providerId="ADAL" clId="{FCA55B51-4228-4C33-ABE5-97277DB886B4}" dt="2026-03-26T10:46:00.339" v="945" actId="313"/>
        <pc:sldMkLst>
          <pc:docMk/>
          <pc:sldMk cId="849040968" sldId="265"/>
        </pc:sldMkLst>
        <pc:spChg chg="mod">
          <ac:chgData name="Emma Richards" userId="bfd5e534-915d-4eeb-a89f-b2a63f7f321e" providerId="ADAL" clId="{FCA55B51-4228-4C33-ABE5-97277DB886B4}" dt="2026-03-24T11:51:15.377" v="389" actId="20577"/>
          <ac:spMkLst>
            <pc:docMk/>
            <pc:sldMk cId="849040968" sldId="265"/>
            <ac:spMk id="8196" creationId="{00000000-0000-0000-0000-000000000000}"/>
          </ac:spMkLst>
        </pc:spChg>
        <pc:spChg chg="mod">
          <ac:chgData name="Emma Richards" userId="bfd5e534-915d-4eeb-a89f-b2a63f7f321e" providerId="ADAL" clId="{FCA55B51-4228-4C33-ABE5-97277DB886B4}" dt="2026-03-26T10:46:00.339" v="945" actId="313"/>
          <ac:spMkLst>
            <pc:docMk/>
            <pc:sldMk cId="849040968" sldId="265"/>
            <ac:spMk id="8211" creationId="{865767BF-F29A-8AFE-3085-437733588239}"/>
          </ac:spMkLst>
        </pc:spChg>
      </pc:sldChg>
      <pc:sldChg chg="del">
        <pc:chgData name="Emma Richards" userId="bfd5e534-915d-4eeb-a89f-b2a63f7f321e" providerId="ADAL" clId="{FCA55B51-4228-4C33-ABE5-97277DB886B4}" dt="2026-04-02T12:36:31.840" v="946" actId="2696"/>
        <pc:sldMkLst>
          <pc:docMk/>
          <pc:sldMk cId="2439856217" sldId="266"/>
        </pc:sldMkLst>
      </pc:sldChg>
      <pc:sldChg chg="modAnim">
        <pc:chgData name="Emma Richards" userId="bfd5e534-915d-4eeb-a89f-b2a63f7f321e" providerId="ADAL" clId="{FCA55B51-4228-4C33-ABE5-97277DB886B4}" dt="2026-03-24T11:55:55.367" v="494"/>
        <pc:sldMkLst>
          <pc:docMk/>
          <pc:sldMk cId="2101003934" sldId="267"/>
        </pc:sldMkLst>
      </pc:sldChg>
      <pc:sldChg chg="modSp modAnim">
        <pc:chgData name="Emma Richards" userId="bfd5e534-915d-4eeb-a89f-b2a63f7f321e" providerId="ADAL" clId="{FCA55B51-4228-4C33-ABE5-97277DB886B4}" dt="2026-03-24T11:56:34.517" v="504"/>
        <pc:sldMkLst>
          <pc:docMk/>
          <pc:sldMk cId="2536719817" sldId="268"/>
        </pc:sldMkLst>
        <pc:spChg chg="mod">
          <ac:chgData name="Emma Richards" userId="bfd5e534-915d-4eeb-a89f-b2a63f7f321e" providerId="ADAL" clId="{FCA55B51-4228-4C33-ABE5-97277DB886B4}" dt="2026-03-20T09:44:37.061" v="382" actId="20577"/>
          <ac:spMkLst>
            <pc:docMk/>
            <pc:sldMk cId="2536719817" sldId="268"/>
            <ac:spMk id="2" creationId="{324C6D68-471B-481C-A5EF-78CEBEFC8182}"/>
          </ac:spMkLst>
        </pc:spChg>
      </pc:sldChg>
      <pc:sldChg chg="modSp mod modAnim">
        <pc:chgData name="Emma Richards" userId="bfd5e534-915d-4eeb-a89f-b2a63f7f321e" providerId="ADAL" clId="{FCA55B51-4228-4C33-ABE5-97277DB886B4}" dt="2026-03-24T11:56:17.784" v="500"/>
        <pc:sldMkLst>
          <pc:docMk/>
          <pc:sldMk cId="2246249579" sldId="269"/>
        </pc:sldMkLst>
        <pc:spChg chg="mod">
          <ac:chgData name="Emma Richards" userId="bfd5e534-915d-4eeb-a89f-b2a63f7f321e" providerId="ADAL" clId="{FCA55B51-4228-4C33-ABE5-97277DB886B4}" dt="2026-03-20T09:31:50.731" v="209" actId="20577"/>
          <ac:spMkLst>
            <pc:docMk/>
            <pc:sldMk cId="2246249579" sldId="269"/>
            <ac:spMk id="7" creationId="{13DED980-FBFF-1154-8976-16B5F2790F61}"/>
          </ac:spMkLst>
        </pc:spChg>
        <pc:picChg chg="mod">
          <ac:chgData name="Emma Richards" userId="bfd5e534-915d-4eeb-a89f-b2a63f7f321e" providerId="ADAL" clId="{FCA55B51-4228-4C33-ABE5-97277DB886B4}" dt="2026-03-18T13:24:59.216" v="0" actId="1076"/>
          <ac:picMkLst>
            <pc:docMk/>
            <pc:sldMk cId="2246249579" sldId="269"/>
            <ac:picMk id="10" creationId="{362F712F-7F0A-ADE6-9C4A-596935C6CD51}"/>
          </ac:picMkLst>
        </pc:picChg>
      </pc:sldChg>
      <pc:sldChg chg="addSp modSp mod">
        <pc:chgData name="Emma Richards" userId="bfd5e534-915d-4eeb-a89f-b2a63f7f321e" providerId="ADAL" clId="{FCA55B51-4228-4C33-ABE5-97277DB886B4}" dt="2026-03-24T12:00:10.365" v="716" actId="1076"/>
        <pc:sldMkLst>
          <pc:docMk/>
          <pc:sldMk cId="1269072147" sldId="270"/>
        </pc:sldMkLst>
        <pc:spChg chg="add mod">
          <ac:chgData name="Emma Richards" userId="bfd5e534-915d-4eeb-a89f-b2a63f7f321e" providerId="ADAL" clId="{FCA55B51-4228-4C33-ABE5-97277DB886B4}" dt="2026-03-24T12:00:10.365" v="716" actId="1076"/>
          <ac:spMkLst>
            <pc:docMk/>
            <pc:sldMk cId="1269072147" sldId="270"/>
            <ac:spMk id="2" creationId="{5DB1DA5A-CFD5-6E41-A9B6-0957995D35F6}"/>
          </ac:spMkLst>
        </pc:spChg>
      </pc:sldChg>
      <pc:sldChg chg="modSp mod">
        <pc:chgData name="Emma Richards" userId="bfd5e534-915d-4eeb-a89f-b2a63f7f321e" providerId="ADAL" clId="{FCA55B51-4228-4C33-ABE5-97277DB886B4}" dt="2026-03-20T09:35:17.499" v="375" actId="13926"/>
        <pc:sldMkLst>
          <pc:docMk/>
          <pc:sldMk cId="3374768946" sldId="271"/>
        </pc:sldMkLst>
        <pc:spChg chg="mod">
          <ac:chgData name="Emma Richards" userId="bfd5e534-915d-4eeb-a89f-b2a63f7f321e" providerId="ADAL" clId="{FCA55B51-4228-4C33-ABE5-97277DB886B4}" dt="2026-03-20T09:35:17.499" v="375" actId="13926"/>
          <ac:spMkLst>
            <pc:docMk/>
            <pc:sldMk cId="3374768946" sldId="271"/>
            <ac:spMk id="5" creationId="{A4E8253D-33B4-7DF6-02A1-12DE0D1BCE24}"/>
          </ac:spMkLst>
        </pc:spChg>
      </pc:sldChg>
      <pc:sldChg chg="modSp mod">
        <pc:chgData name="Emma Richards" userId="bfd5e534-915d-4eeb-a89f-b2a63f7f321e" providerId="ADAL" clId="{FCA55B51-4228-4C33-ABE5-97277DB886B4}" dt="2026-03-20T09:33:15.128" v="220"/>
        <pc:sldMkLst>
          <pc:docMk/>
          <pc:sldMk cId="1107350942" sldId="274"/>
        </pc:sldMkLst>
        <pc:spChg chg="mod">
          <ac:chgData name="Emma Richards" userId="bfd5e534-915d-4eeb-a89f-b2a63f7f321e" providerId="ADAL" clId="{FCA55B51-4228-4C33-ABE5-97277DB886B4}" dt="2026-03-20T09:33:15.128" v="220"/>
          <ac:spMkLst>
            <pc:docMk/>
            <pc:sldMk cId="1107350942" sldId="274"/>
            <ac:spMk id="3" creationId="{3F36C348-85C7-B863-CE73-4F0E591729D0}"/>
          </ac:spMkLst>
        </pc:spChg>
      </pc:sldChg>
      <pc:sldChg chg="modSp mod">
        <pc:chgData name="Emma Richards" userId="bfd5e534-915d-4eeb-a89f-b2a63f7f321e" providerId="ADAL" clId="{FCA55B51-4228-4C33-ABE5-97277DB886B4}" dt="2026-03-20T09:33:48.526" v="228" actId="20577"/>
        <pc:sldMkLst>
          <pc:docMk/>
          <pc:sldMk cId="3557336201" sldId="275"/>
        </pc:sldMkLst>
        <pc:spChg chg="mod">
          <ac:chgData name="Emma Richards" userId="bfd5e534-915d-4eeb-a89f-b2a63f7f321e" providerId="ADAL" clId="{FCA55B51-4228-4C33-ABE5-97277DB886B4}" dt="2026-03-20T09:33:48.526" v="228" actId="20577"/>
          <ac:spMkLst>
            <pc:docMk/>
            <pc:sldMk cId="3557336201" sldId="275"/>
            <ac:spMk id="3" creationId="{F41AAC8F-7149-06D3-51E8-3344FAB17A0E}"/>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914400" y="1563689"/>
            <a:ext cx="10363200" cy="1470025"/>
          </a:xfrm>
        </p:spPr>
        <p:txBody>
          <a:bodyPr/>
          <a:lstStyle>
            <a:lvl1pPr>
              <a:defRPr sz="4800"/>
            </a:lvl1pPr>
          </a:lstStyle>
          <a:p>
            <a:pPr lvl="0"/>
            <a:r>
              <a:rPr lang="en-US" altLang="en-US" noProof="0"/>
              <a:t>Click to edit Master title style</a:t>
            </a:r>
            <a:endParaRPr lang="en-GB" altLang="en-US" noProof="0"/>
          </a:p>
        </p:txBody>
      </p:sp>
      <p:sp>
        <p:nvSpPr>
          <p:cNvPr id="11267" name="Rectangle 3"/>
          <p:cNvSpPr>
            <a:spLocks noGrp="1" noChangeArrowheads="1"/>
          </p:cNvSpPr>
          <p:nvPr>
            <p:ph type="subTitle" idx="1"/>
          </p:nvPr>
        </p:nvSpPr>
        <p:spPr>
          <a:xfrm>
            <a:off x="1828800" y="3319463"/>
            <a:ext cx="8534400" cy="1752600"/>
          </a:xfrm>
        </p:spPr>
        <p:txBody>
          <a:bodyPr/>
          <a:lstStyle>
            <a:lvl1pPr marL="0" indent="0" algn="ctr">
              <a:buFontTx/>
              <a:buNone/>
              <a:defRPr/>
            </a:lvl1pPr>
          </a:lstStyle>
          <a:p>
            <a:pPr lvl="0"/>
            <a:r>
              <a:rPr lang="en-US" altLang="en-US" noProof="0"/>
              <a:t>Click to edit Master subtitle style</a:t>
            </a:r>
            <a:endParaRPr lang="en-GB" altLang="en-US" noProof="0"/>
          </a:p>
        </p:txBody>
      </p:sp>
      <p:pic>
        <p:nvPicPr>
          <p:cNvPr id="5" name="Picture 14" descr="PowerPoint Banner Small"/>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05500"/>
            <a:ext cx="121920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12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2181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031919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343026"/>
            <a:ext cx="53848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343026"/>
            <a:ext cx="53848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68432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94478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5802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32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24247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13914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6844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3959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8"/>
            <a:ext cx="8026400" cy="5395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54250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bwMode="auto">
          <a:xfrm>
            <a:off x="609600" y="1343026"/>
            <a:ext cx="10972800" cy="432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Text here (level one)</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51" name="Rectangle 11"/>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10254" name="Picture 14" descr="PowerPoint Banner Smal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905500"/>
            <a:ext cx="121920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7086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3600" kern="1200">
          <a:solidFill>
            <a:schemeClr val="tx1"/>
          </a:solidFill>
          <a:latin typeface="+mj-lt"/>
          <a:ea typeface="+mj-ea"/>
          <a:cs typeface="+mj-cs"/>
        </a:defRPr>
      </a:lvl1pPr>
      <a:lvl2pPr algn="ctr" rtl="0" eaLnBrk="1" fontAlgn="base" hangingPunct="1">
        <a:spcBef>
          <a:spcPct val="0"/>
        </a:spcBef>
        <a:spcAft>
          <a:spcPct val="0"/>
        </a:spcAft>
        <a:defRPr sz="3600">
          <a:solidFill>
            <a:schemeClr val="tx1"/>
          </a:solidFill>
          <a:latin typeface="Arial Black" panose="020B0A04020102020204" pitchFamily="34" charset="0"/>
        </a:defRPr>
      </a:lvl2pPr>
      <a:lvl3pPr algn="ctr" rtl="0" eaLnBrk="1" fontAlgn="base" hangingPunct="1">
        <a:spcBef>
          <a:spcPct val="0"/>
        </a:spcBef>
        <a:spcAft>
          <a:spcPct val="0"/>
        </a:spcAft>
        <a:defRPr sz="3600">
          <a:solidFill>
            <a:schemeClr val="tx1"/>
          </a:solidFill>
          <a:latin typeface="Arial Black" panose="020B0A04020102020204" pitchFamily="34" charset="0"/>
        </a:defRPr>
      </a:lvl3pPr>
      <a:lvl4pPr algn="ctr" rtl="0" eaLnBrk="1" fontAlgn="base" hangingPunct="1">
        <a:spcBef>
          <a:spcPct val="0"/>
        </a:spcBef>
        <a:spcAft>
          <a:spcPct val="0"/>
        </a:spcAft>
        <a:defRPr sz="3600">
          <a:solidFill>
            <a:schemeClr val="tx1"/>
          </a:solidFill>
          <a:latin typeface="Arial Black" panose="020B0A04020102020204" pitchFamily="34" charset="0"/>
        </a:defRPr>
      </a:lvl4pPr>
      <a:lvl5pPr algn="ctr" rtl="0" eaLnBrk="1" fontAlgn="base" hangingPunct="1">
        <a:spcBef>
          <a:spcPct val="0"/>
        </a:spcBef>
        <a:spcAft>
          <a:spcPct val="0"/>
        </a:spcAft>
        <a:defRPr sz="3600">
          <a:solidFill>
            <a:schemeClr val="tx1"/>
          </a:solidFill>
          <a:latin typeface="Arial Black" panose="020B0A04020102020204" pitchFamily="34" charset="0"/>
        </a:defRPr>
      </a:lvl5pPr>
      <a:lvl6pPr marL="457200" algn="ctr" rtl="0" eaLnBrk="1" fontAlgn="base" hangingPunct="1">
        <a:spcBef>
          <a:spcPct val="0"/>
        </a:spcBef>
        <a:spcAft>
          <a:spcPct val="0"/>
        </a:spcAft>
        <a:defRPr sz="3600">
          <a:solidFill>
            <a:schemeClr val="tx1"/>
          </a:solidFill>
          <a:latin typeface="Arial Black" panose="020B0A04020102020204" pitchFamily="34" charset="0"/>
        </a:defRPr>
      </a:lvl6pPr>
      <a:lvl7pPr marL="914400" algn="ctr" rtl="0" eaLnBrk="1" fontAlgn="base" hangingPunct="1">
        <a:spcBef>
          <a:spcPct val="0"/>
        </a:spcBef>
        <a:spcAft>
          <a:spcPct val="0"/>
        </a:spcAft>
        <a:defRPr sz="3600">
          <a:solidFill>
            <a:schemeClr val="tx1"/>
          </a:solidFill>
          <a:latin typeface="Arial Black" panose="020B0A04020102020204" pitchFamily="34" charset="0"/>
        </a:defRPr>
      </a:lvl7pPr>
      <a:lvl8pPr marL="1371600" algn="ctr" rtl="0" eaLnBrk="1" fontAlgn="base" hangingPunct="1">
        <a:spcBef>
          <a:spcPct val="0"/>
        </a:spcBef>
        <a:spcAft>
          <a:spcPct val="0"/>
        </a:spcAft>
        <a:defRPr sz="3600">
          <a:solidFill>
            <a:schemeClr val="tx1"/>
          </a:solidFill>
          <a:latin typeface="Arial Black" panose="020B0A04020102020204" pitchFamily="34" charset="0"/>
        </a:defRPr>
      </a:lvl8pPr>
      <a:lvl9pPr marL="1828800" algn="ctr" rtl="0" eaLnBrk="1" fontAlgn="base" hangingPunct="1">
        <a:spcBef>
          <a:spcPct val="0"/>
        </a:spcBef>
        <a:spcAft>
          <a:spcPct val="0"/>
        </a:spcAft>
        <a:defRPr sz="3600">
          <a:solidFill>
            <a:schemeClr val="tx1"/>
          </a:solidFill>
          <a:latin typeface="Arial Black" panose="020B0A040201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nottsgov.sharepoint.com/teams/market-dc-standards/Shared%20Documents/Fee%20Increases/2026-2027/4.%20Staff%20Guidance%20of%20Fee%20Uplifts/2026-2027%20Annual%20Fee%20Increase%20-%20Staff%20Guidance.docx"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home.nottscc.gov.uk/working/departments/asch/services-commissioning-improvement-and-quality/a-z-of-services/home-based-care-service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hyperlink" Target="mailto:Directpayments.Upliftrequests@nottscc.gov.uk"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home.nottscc.gov.uk/working/departments/asch/services-commissioning-improvement-and-quality/a-z-of-services/direct-payments-support" TargetMode="External"/><Relationship Id="rId7" Type="http://schemas.openxmlformats.org/officeDocument/2006/relationships/hyperlink" Target="https://home.nottscc.gov.uk/media/2svdi0yp/prepaidcardskycfactsheet.pdf" TargetMode="External"/><Relationship Id="rId2" Type="http://schemas.openxmlformats.org/officeDocument/2006/relationships/hyperlink" Target="mailto:yotichecks@nottscc.gov.uk" TargetMode="External"/><Relationship Id="rId1" Type="http://schemas.openxmlformats.org/officeDocument/2006/relationships/slideLayout" Target="../slideLayouts/slideLayout2.xml"/><Relationship Id="rId6" Type="http://schemas.openxmlformats.org/officeDocument/2006/relationships/hyperlink" Target="https://home.nottscc.gov.uk/media/sywdkajw/knowyourcustomeragreement.docx" TargetMode="External"/><Relationship Id="rId5" Type="http://schemas.openxmlformats.org/officeDocument/2006/relationships/hyperlink" Target="https://home.nottscc.gov.uk/media/ybcl4be1/direct-payment-pa-commissioning-map-2026.pdf" TargetMode="External"/><Relationship Id="rId4" Type="http://schemas.openxmlformats.org/officeDocument/2006/relationships/hyperlink" Target="https://home.nottscc.gov.uk/media/sabbeopk/directpaymentsagencymaps.pdf"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mailto:DPEnquiries@nottscc.gov.uk" TargetMode="External"/><Relationship Id="rId2" Type="http://schemas.openxmlformats.org/officeDocument/2006/relationships/hyperlink" Target="https://home.nottscc.gov.uk/working/departments/asch/services-commissioning-improvement-and-quality/a-z-of-services/direct-payments-support" TargetMode="External"/><Relationship Id="rId1" Type="http://schemas.openxmlformats.org/officeDocument/2006/relationships/slideLayout" Target="../slideLayouts/slideLayout2.xml"/><Relationship Id="rId4" Type="http://schemas.openxmlformats.org/officeDocument/2006/relationships/hyperlink" Target="mailto:DPCommissioningteam@nottscc.gov.uk"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engage.cloud.microsoft/main/org/nottsgov.onmicrosoft.com/groups/eyJfdHlwZSI6Ikdyb3VwIiwiaWQiOiI2MzMzNzA1NDIwOSJ9"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1076960" y="1081487"/>
            <a:ext cx="9895840" cy="3972249"/>
          </a:xfrm>
        </p:spPr>
        <p:txBody>
          <a:bodyPr/>
          <a:lstStyle/>
          <a:p>
            <a:r>
              <a:rPr lang="en-GB" altLang="en-US" sz="6600" dirty="0"/>
              <a:t>Direct Payments</a:t>
            </a:r>
            <a:br>
              <a:rPr lang="en-GB" altLang="en-US" dirty="0"/>
            </a:br>
            <a:br>
              <a:rPr lang="en-GB" altLang="en-US" dirty="0"/>
            </a:br>
            <a:r>
              <a:rPr lang="en-GB" altLang="en-US" sz="4400" dirty="0"/>
              <a:t>What you need to know for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2209800" y="1152603"/>
            <a:ext cx="7772400" cy="469163"/>
          </a:xfrm>
        </p:spPr>
        <p:txBody>
          <a:bodyPr/>
          <a:lstStyle/>
          <a:p>
            <a:r>
              <a:rPr lang="en-GB" altLang="en-US" dirty="0"/>
              <a:t>What will be covered?</a:t>
            </a:r>
            <a:br>
              <a:rPr lang="en-GB" altLang="en-US" dirty="0"/>
            </a:br>
            <a:br>
              <a:rPr lang="en-GB" altLang="en-US" dirty="0"/>
            </a:br>
            <a:endParaRPr lang="en-GB" altLang="en-US" dirty="0"/>
          </a:p>
        </p:txBody>
      </p:sp>
      <p:sp>
        <p:nvSpPr>
          <p:cNvPr id="8197" name="Rectangle 5"/>
          <p:cNvSpPr>
            <a:spLocks noGrp="1" noChangeArrowheads="1"/>
          </p:cNvSpPr>
          <p:nvPr>
            <p:ph type="subTitle" idx="1"/>
          </p:nvPr>
        </p:nvSpPr>
        <p:spPr>
          <a:xfrm>
            <a:off x="462950" y="1553396"/>
            <a:ext cx="11018807" cy="3639705"/>
          </a:xfrm>
        </p:spPr>
        <p:txBody>
          <a:bodyPr/>
          <a:lstStyle/>
          <a:p>
            <a:pPr marL="457200" indent="-457200" algn="l">
              <a:buFont typeface="Arial" panose="020B0604020202020204" pitchFamily="34" charset="0"/>
              <a:buChar char="•"/>
            </a:pPr>
            <a:r>
              <a:rPr lang="en-GB" altLang="en-US" sz="2400" dirty="0"/>
              <a:t>Changes to the National Living Wage</a:t>
            </a:r>
          </a:p>
          <a:p>
            <a:pPr marL="457200" indent="-457200" algn="l">
              <a:buFont typeface="Arial" panose="020B0604020202020204" pitchFamily="34" charset="0"/>
              <a:buChar char="•"/>
            </a:pPr>
            <a:r>
              <a:rPr lang="en-GB" altLang="en-US" sz="2400" dirty="0"/>
              <a:t>Maximum rates for Direct Payments</a:t>
            </a:r>
          </a:p>
          <a:p>
            <a:pPr marL="457200" indent="-457200" algn="l">
              <a:buFont typeface="Arial" panose="020B0604020202020204" pitchFamily="34" charset="0"/>
              <a:buChar char="•"/>
            </a:pPr>
            <a:r>
              <a:rPr lang="en-GB" altLang="en-US" sz="2400" dirty="0"/>
              <a:t>Direct Payment Voluntary Top Up’s</a:t>
            </a:r>
          </a:p>
          <a:p>
            <a:pPr marL="457200" indent="-457200" algn="l">
              <a:buFont typeface="Arial" panose="020B0604020202020204" pitchFamily="34" charset="0"/>
              <a:buChar char="•"/>
            </a:pPr>
            <a:r>
              <a:rPr lang="en-GB" altLang="en-US" sz="2400" dirty="0"/>
              <a:t>Providers uplift process 2026</a:t>
            </a:r>
          </a:p>
          <a:p>
            <a:pPr marL="457200" indent="-457200" algn="l">
              <a:buFont typeface="Arial" panose="020B0604020202020204" pitchFamily="34" charset="0"/>
              <a:buChar char="•"/>
            </a:pPr>
            <a:r>
              <a:rPr lang="en-GB" altLang="en-US" sz="2400" dirty="0"/>
              <a:t>Change in Employers Liability Insurance Premium Cost</a:t>
            </a:r>
          </a:p>
          <a:p>
            <a:pPr marL="457200" indent="-457200" algn="l">
              <a:buFont typeface="Arial" panose="020B0604020202020204" pitchFamily="34" charset="0"/>
              <a:buChar char="•"/>
            </a:pPr>
            <a:r>
              <a:rPr lang="en-GB" altLang="en-US" sz="2400" dirty="0"/>
              <a:t>Know Your Customer (KYC) Checks – Pre-Paid cards</a:t>
            </a:r>
          </a:p>
          <a:p>
            <a:pPr marL="457200" indent="-457200" algn="l">
              <a:buFont typeface="Arial" panose="020B0604020202020204" pitchFamily="34" charset="0"/>
              <a:buChar char="•"/>
            </a:pPr>
            <a:r>
              <a:rPr lang="en-GB" altLang="en-US" sz="2400" dirty="0"/>
              <a:t>Improving Systems and Communications</a:t>
            </a:r>
          </a:p>
          <a:p>
            <a:pPr marL="457200" indent="-457200" algn="l">
              <a:buFont typeface="Arial" panose="020B0604020202020204" pitchFamily="34" charset="0"/>
              <a:buChar char="•"/>
            </a:pPr>
            <a:r>
              <a:rPr lang="en-GB" altLang="en-US" sz="2400" dirty="0"/>
              <a:t>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181155" y="220949"/>
            <a:ext cx="11740551" cy="1754500"/>
          </a:xfrm>
        </p:spPr>
        <p:txBody>
          <a:bodyPr/>
          <a:lstStyle/>
          <a:p>
            <a:r>
              <a:rPr lang="en-GB" altLang="en-US" sz="2800" dirty="0"/>
              <a:t>Changes to the National Living Wage</a:t>
            </a:r>
            <a:br>
              <a:rPr lang="en-GB" altLang="en-US" sz="4800" dirty="0"/>
            </a:br>
            <a:endParaRPr lang="en-GB" altLang="en-US" dirty="0"/>
          </a:p>
        </p:txBody>
      </p:sp>
      <p:sp>
        <p:nvSpPr>
          <p:cNvPr id="2" name="TextBox 1">
            <a:extLst>
              <a:ext uri="{FF2B5EF4-FFF2-40B4-BE49-F238E27FC236}">
                <a16:creationId xmlns:a16="http://schemas.microsoft.com/office/drawing/2014/main" id="{3B4AA200-F934-2762-C67C-0C3C668F6467}"/>
              </a:ext>
            </a:extLst>
          </p:cNvPr>
          <p:cNvSpPr txBox="1"/>
          <p:nvPr/>
        </p:nvSpPr>
        <p:spPr>
          <a:xfrm>
            <a:off x="411192" y="1285082"/>
            <a:ext cx="11369615" cy="4493538"/>
          </a:xfrm>
          <a:prstGeom prst="rect">
            <a:avLst/>
          </a:prstGeom>
          <a:noFill/>
        </p:spPr>
        <p:txBody>
          <a:bodyPr wrap="square" rtlCol="0">
            <a:spAutoFit/>
          </a:bodyPr>
          <a:lstStyle/>
          <a:p>
            <a:pPr marL="285750" indent="-285750">
              <a:buFont typeface="Arial" panose="020B0604020202020204" pitchFamily="34" charset="0"/>
              <a:buChar char="•"/>
            </a:pPr>
            <a:r>
              <a:rPr lang="en-GB" sz="1400" b="1" dirty="0"/>
              <a:t>From 1</a:t>
            </a:r>
            <a:r>
              <a:rPr lang="en-GB" sz="1400" b="1" baseline="30000" dirty="0"/>
              <a:t>st</a:t>
            </a:r>
            <a:r>
              <a:rPr lang="en-GB" sz="1400" b="1" dirty="0"/>
              <a:t> April the NLW is £12.71 per hour</a:t>
            </a:r>
          </a:p>
          <a:p>
            <a:pPr marL="285750" indent="-285750">
              <a:buFont typeface="Arial" panose="020B0604020202020204" pitchFamily="34" charset="0"/>
              <a:buChar char="•"/>
            </a:pPr>
            <a:endParaRPr lang="en-GB" sz="1400" b="1" dirty="0"/>
          </a:p>
          <a:p>
            <a:r>
              <a:rPr lang="en-GB" sz="1400" dirty="0"/>
              <a:t>The DP team and Mosaic team have centrally uplifted over 470 known DP Recipients packages with Employed PA’s, to ensure their hourly rate falls in line with the NLW from 06/04/2026. This will be recorded in the care packages provided on the front screen of mosaic. </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sz="1400" dirty="0"/>
              <a:t>There will also be a Direct Payment Calculator in documents as shown below</a:t>
            </a:r>
          </a:p>
          <a:p>
            <a:endParaRPr lang="en-GB" dirty="0"/>
          </a:p>
          <a:p>
            <a:endParaRPr lang="en-GB" dirty="0"/>
          </a:p>
          <a:p>
            <a:endParaRPr lang="en-GB" dirty="0"/>
          </a:p>
          <a:p>
            <a:endParaRPr lang="en-GB" dirty="0"/>
          </a:p>
        </p:txBody>
      </p:sp>
      <p:pic>
        <p:nvPicPr>
          <p:cNvPr id="6" name="Picture 5">
            <a:extLst>
              <a:ext uri="{FF2B5EF4-FFF2-40B4-BE49-F238E27FC236}">
                <a16:creationId xmlns:a16="http://schemas.microsoft.com/office/drawing/2014/main" id="{F32E71E1-F7FB-66A7-C2C8-ED1F4F9E0028}"/>
              </a:ext>
            </a:extLst>
          </p:cNvPr>
          <p:cNvPicPr>
            <a:picLocks noChangeAspect="1"/>
          </p:cNvPicPr>
          <p:nvPr/>
        </p:nvPicPr>
        <p:blipFill>
          <a:blip r:embed="rId2"/>
          <a:stretch>
            <a:fillRect/>
          </a:stretch>
        </p:blipFill>
        <p:spPr>
          <a:xfrm>
            <a:off x="507583" y="2368415"/>
            <a:ext cx="1679637" cy="1508619"/>
          </a:xfrm>
          <a:prstGeom prst="rect">
            <a:avLst/>
          </a:prstGeom>
        </p:spPr>
      </p:pic>
      <p:pic>
        <p:nvPicPr>
          <p:cNvPr id="5" name="Picture 4">
            <a:extLst>
              <a:ext uri="{FF2B5EF4-FFF2-40B4-BE49-F238E27FC236}">
                <a16:creationId xmlns:a16="http://schemas.microsoft.com/office/drawing/2014/main" id="{130FB6A2-AAE5-74D4-DCD5-23EE654ED49C}"/>
              </a:ext>
            </a:extLst>
          </p:cNvPr>
          <p:cNvPicPr>
            <a:picLocks noChangeAspect="1"/>
          </p:cNvPicPr>
          <p:nvPr/>
        </p:nvPicPr>
        <p:blipFill>
          <a:blip r:embed="rId3"/>
          <a:stretch>
            <a:fillRect/>
          </a:stretch>
        </p:blipFill>
        <p:spPr>
          <a:xfrm>
            <a:off x="507583" y="4633124"/>
            <a:ext cx="4550470" cy="1264020"/>
          </a:xfrm>
          <a:prstGeom prst="rect">
            <a:avLst/>
          </a:prstGeom>
        </p:spPr>
      </p:pic>
      <p:pic>
        <p:nvPicPr>
          <p:cNvPr id="7" name="Picture 6">
            <a:extLst>
              <a:ext uri="{FF2B5EF4-FFF2-40B4-BE49-F238E27FC236}">
                <a16:creationId xmlns:a16="http://schemas.microsoft.com/office/drawing/2014/main" id="{2DAB5645-C0AB-6795-D352-A9AAFAA64EDD}"/>
              </a:ext>
            </a:extLst>
          </p:cNvPr>
          <p:cNvPicPr>
            <a:picLocks noChangeAspect="1"/>
          </p:cNvPicPr>
          <p:nvPr/>
        </p:nvPicPr>
        <p:blipFill>
          <a:blip r:embed="rId4"/>
          <a:stretch>
            <a:fillRect/>
          </a:stretch>
        </p:blipFill>
        <p:spPr>
          <a:xfrm>
            <a:off x="2527539" y="2896175"/>
            <a:ext cx="8013941" cy="717132"/>
          </a:xfrm>
          <a:prstGeom prst="rect">
            <a:avLst/>
          </a:prstGeom>
        </p:spPr>
      </p:pic>
    </p:spTree>
    <p:extLst>
      <p:ext uri="{BB962C8B-B14F-4D97-AF65-F5344CB8AC3E}">
        <p14:creationId xmlns:p14="http://schemas.microsoft.com/office/powerpoint/2010/main" val="55912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273169" y="790293"/>
            <a:ext cx="11645661" cy="572681"/>
          </a:xfrm>
        </p:spPr>
        <p:txBody>
          <a:bodyPr/>
          <a:lstStyle/>
          <a:p>
            <a:r>
              <a:rPr lang="en-GB" altLang="en-US" sz="2800" dirty="0"/>
              <a:t>Changes to the National Living Wage </a:t>
            </a:r>
            <a:r>
              <a:rPr lang="en-GB" altLang="en-US" sz="2800" dirty="0" err="1"/>
              <a:t>cont</a:t>
            </a:r>
            <a:r>
              <a:rPr lang="en-GB" altLang="en-US" sz="2800" dirty="0"/>
              <a:t>…</a:t>
            </a:r>
          </a:p>
        </p:txBody>
      </p:sp>
      <p:sp>
        <p:nvSpPr>
          <p:cNvPr id="2" name="TextBox 1">
            <a:extLst>
              <a:ext uri="{FF2B5EF4-FFF2-40B4-BE49-F238E27FC236}">
                <a16:creationId xmlns:a16="http://schemas.microsoft.com/office/drawing/2014/main" id="{44D12626-88CE-3655-5096-4D918A4123D7}"/>
              </a:ext>
            </a:extLst>
          </p:cNvPr>
          <p:cNvSpPr txBox="1"/>
          <p:nvPr/>
        </p:nvSpPr>
        <p:spPr>
          <a:xfrm>
            <a:off x="408700" y="1362974"/>
            <a:ext cx="11136702" cy="4154984"/>
          </a:xfrm>
          <a:prstGeom prst="rect">
            <a:avLst/>
          </a:prstGeom>
          <a:noFill/>
        </p:spPr>
        <p:txBody>
          <a:bodyPr wrap="square" rtlCol="0">
            <a:spAutoFit/>
          </a:bodyPr>
          <a:lstStyle/>
          <a:p>
            <a:endParaRPr lang="en-GB" sz="1400" b="1" dirty="0"/>
          </a:p>
          <a:p>
            <a:endParaRPr lang="en-GB" sz="1400" b="1" dirty="0"/>
          </a:p>
          <a:p>
            <a:pPr marL="285750" indent="-285750">
              <a:buFont typeface="Arial" panose="020B0604020202020204" pitchFamily="34" charset="0"/>
              <a:buChar char="•"/>
            </a:pPr>
            <a:r>
              <a:rPr lang="en-GB" sz="1400" b="1" dirty="0"/>
              <a:t>NLW Uplifts not completed by the DP Team</a:t>
            </a:r>
          </a:p>
          <a:p>
            <a:r>
              <a:rPr lang="en-GB" sz="1400" dirty="0"/>
              <a:t>For those individuals who had active reviews open to workers, the worker will have been emailed and a case note added to mosaic, advising of the NLW increase. The worker will need to request the increase of NLW is implemented on a Request for Services form and send over to the DP Commissioning Team. </a:t>
            </a:r>
          </a:p>
          <a:p>
            <a:endParaRPr lang="en-GB" sz="1400" b="1" dirty="0"/>
          </a:p>
          <a:p>
            <a:pPr marL="285750" indent="-285750">
              <a:buFont typeface="Arial" panose="020B0604020202020204" pitchFamily="34" charset="0"/>
              <a:buChar char="•"/>
            </a:pPr>
            <a:r>
              <a:rPr lang="en-GB" sz="1400" b="1" dirty="0"/>
              <a:t>Common issues faced</a:t>
            </a:r>
          </a:p>
          <a:p>
            <a:r>
              <a:rPr lang="en-GB" sz="1400" dirty="0"/>
              <a:t>We often see instances where the Support Plan was not accurately completed during the last review. This results in inaccurate data being pulled from Mosaic. </a:t>
            </a:r>
          </a:p>
          <a:p>
            <a:r>
              <a:rPr lang="en-GB" sz="1400" dirty="0"/>
              <a:t>In the instance where a PA is commissioned, please can the teams complete a request for services form, from the review step and send to the DP Commissioning team to complete commissioning. </a:t>
            </a:r>
          </a:p>
          <a:p>
            <a:endParaRPr lang="en-GB" b="1" dirty="0"/>
          </a:p>
          <a:p>
            <a:pPr marL="285750" indent="-285750">
              <a:buFont typeface="Arial" panose="020B0604020202020204" pitchFamily="34" charset="0"/>
              <a:buChar char="•"/>
            </a:pPr>
            <a:r>
              <a:rPr lang="en-GB" sz="1400" b="1" dirty="0"/>
              <a:t>No changes being made at the next review</a:t>
            </a:r>
          </a:p>
          <a:p>
            <a:r>
              <a:rPr lang="en-GB" sz="1400" dirty="0"/>
              <a:t>When carrying out reviews, it is important that if there are no changes to the package, the worker ensures the current costs being commissioned, in accordance with the care packages provided is recorded correctly on the support plan in section 6 and 7. </a:t>
            </a:r>
          </a:p>
          <a:p>
            <a:endParaRPr lang="en-GB" sz="1800" b="1" dirty="0"/>
          </a:p>
          <a:p>
            <a:endParaRPr lang="en-GB" dirty="0"/>
          </a:p>
        </p:txBody>
      </p:sp>
    </p:spTree>
    <p:extLst>
      <p:ext uri="{BB962C8B-B14F-4D97-AF65-F5344CB8AC3E}">
        <p14:creationId xmlns:p14="http://schemas.microsoft.com/office/powerpoint/2010/main" val="2101003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273169" y="790293"/>
            <a:ext cx="11645661" cy="572681"/>
          </a:xfrm>
        </p:spPr>
        <p:txBody>
          <a:bodyPr/>
          <a:lstStyle/>
          <a:p>
            <a:r>
              <a:rPr lang="en-GB" altLang="en-US" sz="3200" dirty="0"/>
              <a:t>Maximum rates for Direct Payments</a:t>
            </a:r>
            <a:br>
              <a:rPr lang="en-GB" altLang="en-US" sz="4800" dirty="0"/>
            </a:br>
            <a:endParaRPr lang="en-GB" altLang="en-US" dirty="0"/>
          </a:p>
        </p:txBody>
      </p:sp>
      <p:sp>
        <p:nvSpPr>
          <p:cNvPr id="11" name="TextBox 10">
            <a:extLst>
              <a:ext uri="{FF2B5EF4-FFF2-40B4-BE49-F238E27FC236}">
                <a16:creationId xmlns:a16="http://schemas.microsoft.com/office/drawing/2014/main" id="{9EBF49BD-D220-789C-70E5-B58FF59C7DD0}"/>
              </a:ext>
            </a:extLst>
          </p:cNvPr>
          <p:cNvSpPr txBox="1"/>
          <p:nvPr/>
        </p:nvSpPr>
        <p:spPr>
          <a:xfrm>
            <a:off x="645161" y="1097256"/>
            <a:ext cx="10962640" cy="2031325"/>
          </a:xfrm>
          <a:prstGeom prst="rect">
            <a:avLst/>
          </a:prstGeom>
          <a:noFill/>
        </p:spPr>
        <p:txBody>
          <a:bodyPr wrap="square" rtlCol="0">
            <a:spAutoFit/>
          </a:bodyPr>
          <a:lstStyle/>
          <a:p>
            <a:r>
              <a:rPr lang="en-GB" dirty="0"/>
              <a:t>The Council plans to continue to align DP rates to ensure fairness across the market. Those rates are available for the Council and Public viewing via the link below. </a:t>
            </a:r>
          </a:p>
          <a:p>
            <a:endParaRPr lang="en-GB" dirty="0">
              <a:highlight>
                <a:srgbClr val="FFFF00"/>
              </a:highlight>
            </a:endParaRPr>
          </a:p>
          <a:p>
            <a:r>
              <a:rPr lang="en-GB" dirty="0"/>
              <a:t>Guidance for staff can be found </a:t>
            </a:r>
            <a:r>
              <a:rPr lang="en-GB" dirty="0">
                <a:hlinkClick r:id="rId2" tooltip="https://nottsgov.sharepoint.com/teams/market-dc-standards/shared%20documents/fee%20increases/2026-2027/4.%20staff%20guidance%20of%20fee%20uplifts/2026-2027%20annual%20fee%20increase%20-%20staff%20guidance.docx"/>
              </a:rPr>
              <a:t>2026-2027 Annual Fee Increase - Staff Guidance.docx</a:t>
            </a:r>
            <a:endParaRPr lang="en-GB" dirty="0"/>
          </a:p>
          <a:p>
            <a:endParaRPr lang="en-GB" dirty="0"/>
          </a:p>
          <a:p>
            <a:endParaRPr lang="en-GB" dirty="0"/>
          </a:p>
          <a:p>
            <a:r>
              <a:rPr lang="en-GB" b="1" dirty="0"/>
              <a:t>What does this mean? </a:t>
            </a:r>
            <a:endParaRPr lang="en-GB" dirty="0"/>
          </a:p>
        </p:txBody>
      </p:sp>
      <p:sp>
        <p:nvSpPr>
          <p:cNvPr id="12" name="TextBox 11">
            <a:extLst>
              <a:ext uri="{FF2B5EF4-FFF2-40B4-BE49-F238E27FC236}">
                <a16:creationId xmlns:a16="http://schemas.microsoft.com/office/drawing/2014/main" id="{C91B8C76-E994-FB82-13FC-D52ED062CBF2}"/>
              </a:ext>
            </a:extLst>
          </p:cNvPr>
          <p:cNvSpPr txBox="1"/>
          <p:nvPr/>
        </p:nvSpPr>
        <p:spPr>
          <a:xfrm>
            <a:off x="584199" y="3173934"/>
            <a:ext cx="10400067" cy="1077218"/>
          </a:xfrm>
          <a:prstGeom prst="rect">
            <a:avLst/>
          </a:prstGeom>
          <a:noFill/>
        </p:spPr>
        <p:txBody>
          <a:bodyPr wrap="square" rtlCol="0">
            <a:spAutoFit/>
          </a:bodyPr>
          <a:lstStyle/>
          <a:p>
            <a:r>
              <a:rPr lang="en-GB" sz="1600" dirty="0"/>
              <a:t>It means the Council are setting Direct Payment (DP) rates, so they are fair and match what other care providers in the market usually charge. The link shows the rates so everyone can see them clearly. </a:t>
            </a:r>
          </a:p>
          <a:p>
            <a:endParaRPr lang="en-GB" sz="1600" dirty="0"/>
          </a:p>
          <a:p>
            <a:r>
              <a:rPr lang="en-GB" sz="1600" dirty="0"/>
              <a:t>This ensures transparency so that both the public and care providers can see how DP amounts are calculated.</a:t>
            </a:r>
          </a:p>
        </p:txBody>
      </p:sp>
    </p:spTree>
    <p:extLst>
      <p:ext uri="{BB962C8B-B14F-4D97-AF65-F5344CB8AC3E}">
        <p14:creationId xmlns:p14="http://schemas.microsoft.com/office/powerpoint/2010/main" val="1295561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619760" y="456929"/>
            <a:ext cx="10789920" cy="512296"/>
          </a:xfrm>
        </p:spPr>
        <p:txBody>
          <a:bodyPr/>
          <a:lstStyle/>
          <a:p>
            <a:r>
              <a:rPr lang="en-GB" altLang="en-US" sz="3600" dirty="0"/>
              <a:t>Maximum rates for Direct Payments</a:t>
            </a:r>
          </a:p>
        </p:txBody>
      </p:sp>
      <p:sp>
        <p:nvSpPr>
          <p:cNvPr id="6" name="TextBox 5">
            <a:extLst>
              <a:ext uri="{FF2B5EF4-FFF2-40B4-BE49-F238E27FC236}">
                <a16:creationId xmlns:a16="http://schemas.microsoft.com/office/drawing/2014/main" id="{22AEC95A-DB8B-BAE7-556A-B38010CF75A5}"/>
              </a:ext>
            </a:extLst>
          </p:cNvPr>
          <p:cNvSpPr txBox="1"/>
          <p:nvPr/>
        </p:nvSpPr>
        <p:spPr>
          <a:xfrm>
            <a:off x="619760" y="1071572"/>
            <a:ext cx="10789920" cy="369332"/>
          </a:xfrm>
          <a:prstGeom prst="rect">
            <a:avLst/>
          </a:prstGeom>
          <a:noFill/>
        </p:spPr>
        <p:txBody>
          <a:bodyPr wrap="square" rtlCol="0">
            <a:spAutoFit/>
          </a:bodyPr>
          <a:lstStyle/>
          <a:p>
            <a:r>
              <a:rPr lang="en-GB" b="1" dirty="0"/>
              <a:t>Published rates for 2026/2027 </a:t>
            </a:r>
          </a:p>
        </p:txBody>
      </p:sp>
      <p:sp>
        <p:nvSpPr>
          <p:cNvPr id="7" name="TextBox 6">
            <a:extLst>
              <a:ext uri="{FF2B5EF4-FFF2-40B4-BE49-F238E27FC236}">
                <a16:creationId xmlns:a16="http://schemas.microsoft.com/office/drawing/2014/main" id="{13DED980-FBFF-1154-8976-16B5F2790F61}"/>
              </a:ext>
            </a:extLst>
          </p:cNvPr>
          <p:cNvSpPr txBox="1"/>
          <p:nvPr/>
        </p:nvSpPr>
        <p:spPr>
          <a:xfrm>
            <a:off x="314960" y="4278323"/>
            <a:ext cx="5219716" cy="1169551"/>
          </a:xfrm>
          <a:prstGeom prst="rect">
            <a:avLst/>
          </a:prstGeom>
          <a:noFill/>
        </p:spPr>
        <p:txBody>
          <a:bodyPr wrap="square" rtlCol="0">
            <a:spAutoFit/>
          </a:bodyPr>
          <a:lstStyle/>
          <a:p>
            <a:r>
              <a:rPr lang="en-GB" sz="1400" dirty="0"/>
              <a:t>The maximum rates for Agencies that do not hold a contract with NCC home care. In this instance, the maximum rate would be what the contracted rate under the home care contract </a:t>
            </a:r>
          </a:p>
          <a:p>
            <a:r>
              <a:rPr lang="en-GB" sz="1400" dirty="0">
                <a:hlinkClick r:id="rId2"/>
              </a:rPr>
              <a:t>Home Based Care services | Nottinghamshire County Council Intranet</a:t>
            </a:r>
            <a:endParaRPr lang="en-GB" sz="1400" dirty="0"/>
          </a:p>
        </p:txBody>
      </p:sp>
      <p:sp>
        <p:nvSpPr>
          <p:cNvPr id="4" name="TextBox 3">
            <a:extLst>
              <a:ext uri="{FF2B5EF4-FFF2-40B4-BE49-F238E27FC236}">
                <a16:creationId xmlns:a16="http://schemas.microsoft.com/office/drawing/2014/main" id="{49BA6E2F-8610-9C7A-3E52-82F2813AFAE5}"/>
              </a:ext>
            </a:extLst>
          </p:cNvPr>
          <p:cNvSpPr txBox="1"/>
          <p:nvPr/>
        </p:nvSpPr>
        <p:spPr>
          <a:xfrm>
            <a:off x="389298" y="1950317"/>
            <a:ext cx="4852657" cy="1815882"/>
          </a:xfrm>
          <a:prstGeom prst="rect">
            <a:avLst/>
          </a:prstGeom>
          <a:noFill/>
        </p:spPr>
        <p:txBody>
          <a:bodyPr wrap="square" rtlCol="0">
            <a:spAutoFit/>
          </a:bodyPr>
          <a:lstStyle/>
          <a:p>
            <a:r>
              <a:rPr lang="en-GB" sz="1400" dirty="0"/>
              <a:t>There are now published rates for both Employed and Self-Employed PAs. </a:t>
            </a:r>
          </a:p>
          <a:p>
            <a:endParaRPr lang="en-GB" sz="1400" dirty="0"/>
          </a:p>
          <a:p>
            <a:r>
              <a:rPr lang="en-GB" sz="1400" b="1" dirty="0"/>
              <a:t>Important!</a:t>
            </a:r>
          </a:p>
          <a:p>
            <a:r>
              <a:rPr lang="en-GB" sz="1400" dirty="0"/>
              <a:t>Where an Employed PA is already commissioned above the max rate, the Council will honour this rate but decline requests for further increases until the rate aligns in the future (unless deemed exceptional by HOS).</a:t>
            </a:r>
          </a:p>
        </p:txBody>
      </p:sp>
      <p:pic>
        <p:nvPicPr>
          <p:cNvPr id="10" name="Picture 9">
            <a:extLst>
              <a:ext uri="{FF2B5EF4-FFF2-40B4-BE49-F238E27FC236}">
                <a16:creationId xmlns:a16="http://schemas.microsoft.com/office/drawing/2014/main" id="{362F712F-7F0A-ADE6-9C4A-596935C6CD51}"/>
              </a:ext>
            </a:extLst>
          </p:cNvPr>
          <p:cNvPicPr>
            <a:picLocks noChangeAspect="1"/>
          </p:cNvPicPr>
          <p:nvPr/>
        </p:nvPicPr>
        <p:blipFill>
          <a:blip r:embed="rId3"/>
          <a:stretch>
            <a:fillRect/>
          </a:stretch>
        </p:blipFill>
        <p:spPr>
          <a:xfrm>
            <a:off x="6257828" y="1071572"/>
            <a:ext cx="4517122" cy="4500726"/>
          </a:xfrm>
          <a:prstGeom prst="rect">
            <a:avLst/>
          </a:prstGeom>
        </p:spPr>
      </p:pic>
    </p:spTree>
    <p:extLst>
      <p:ext uri="{BB962C8B-B14F-4D97-AF65-F5344CB8AC3E}">
        <p14:creationId xmlns:p14="http://schemas.microsoft.com/office/powerpoint/2010/main" val="2246249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273169" y="790293"/>
            <a:ext cx="11645661" cy="572681"/>
          </a:xfrm>
        </p:spPr>
        <p:txBody>
          <a:bodyPr/>
          <a:lstStyle/>
          <a:p>
            <a:r>
              <a:rPr lang="en-GB" altLang="en-US" sz="3200" dirty="0"/>
              <a:t>Maximum rates for Direct Payments</a:t>
            </a:r>
            <a:br>
              <a:rPr lang="en-GB" altLang="en-US" sz="4800" dirty="0"/>
            </a:br>
            <a:endParaRPr lang="en-GB" altLang="en-US" dirty="0"/>
          </a:p>
        </p:txBody>
      </p:sp>
      <p:sp>
        <p:nvSpPr>
          <p:cNvPr id="12" name="TextBox 11">
            <a:extLst>
              <a:ext uri="{FF2B5EF4-FFF2-40B4-BE49-F238E27FC236}">
                <a16:creationId xmlns:a16="http://schemas.microsoft.com/office/drawing/2014/main" id="{C91B8C76-E994-FB82-13FC-D52ED062CBF2}"/>
              </a:ext>
            </a:extLst>
          </p:cNvPr>
          <p:cNvSpPr txBox="1"/>
          <p:nvPr/>
        </p:nvSpPr>
        <p:spPr>
          <a:xfrm>
            <a:off x="645161" y="3318426"/>
            <a:ext cx="5186681" cy="584775"/>
          </a:xfrm>
          <a:prstGeom prst="rect">
            <a:avLst/>
          </a:prstGeom>
          <a:noFill/>
        </p:spPr>
        <p:txBody>
          <a:bodyPr wrap="square" rtlCol="0">
            <a:spAutoFit/>
          </a:bodyPr>
          <a:lstStyle/>
          <a:p>
            <a:endParaRPr lang="en-GB" sz="1600" dirty="0"/>
          </a:p>
          <a:p>
            <a:endParaRPr lang="en-GB" sz="1600" dirty="0"/>
          </a:p>
        </p:txBody>
      </p:sp>
      <p:sp>
        <p:nvSpPr>
          <p:cNvPr id="7" name="TextBox 6">
            <a:extLst>
              <a:ext uri="{FF2B5EF4-FFF2-40B4-BE49-F238E27FC236}">
                <a16:creationId xmlns:a16="http://schemas.microsoft.com/office/drawing/2014/main" id="{4A2A69AA-9DF9-795B-CA5E-A517E74F30A0}"/>
              </a:ext>
            </a:extLst>
          </p:cNvPr>
          <p:cNvSpPr txBox="1"/>
          <p:nvPr/>
        </p:nvSpPr>
        <p:spPr>
          <a:xfrm>
            <a:off x="5925821" y="2040086"/>
            <a:ext cx="5618480" cy="584775"/>
          </a:xfrm>
          <a:prstGeom prst="rect">
            <a:avLst/>
          </a:prstGeom>
          <a:noFill/>
        </p:spPr>
        <p:txBody>
          <a:bodyPr wrap="square" rtlCol="0">
            <a:spAutoFit/>
          </a:bodyPr>
          <a:lstStyle/>
          <a:p>
            <a:r>
              <a:rPr lang="en-GB" sz="1600" dirty="0"/>
              <a:t>The rates for day services will continue to be matched against the current day service matrix costs.</a:t>
            </a:r>
          </a:p>
        </p:txBody>
      </p:sp>
      <p:pic>
        <p:nvPicPr>
          <p:cNvPr id="3" name="Picture 2">
            <a:extLst>
              <a:ext uri="{FF2B5EF4-FFF2-40B4-BE49-F238E27FC236}">
                <a16:creationId xmlns:a16="http://schemas.microsoft.com/office/drawing/2014/main" id="{13B609CC-5D4D-5135-AAC0-799863942E85}"/>
              </a:ext>
            </a:extLst>
          </p:cNvPr>
          <p:cNvPicPr>
            <a:picLocks noChangeAspect="1"/>
          </p:cNvPicPr>
          <p:nvPr/>
        </p:nvPicPr>
        <p:blipFill>
          <a:blip r:embed="rId2"/>
          <a:stretch>
            <a:fillRect/>
          </a:stretch>
        </p:blipFill>
        <p:spPr>
          <a:xfrm>
            <a:off x="531918" y="1157322"/>
            <a:ext cx="4203619" cy="1258711"/>
          </a:xfrm>
          <a:prstGeom prst="rect">
            <a:avLst/>
          </a:prstGeom>
        </p:spPr>
      </p:pic>
      <p:pic>
        <p:nvPicPr>
          <p:cNvPr id="8" name="Picture 7">
            <a:extLst>
              <a:ext uri="{FF2B5EF4-FFF2-40B4-BE49-F238E27FC236}">
                <a16:creationId xmlns:a16="http://schemas.microsoft.com/office/drawing/2014/main" id="{CECCA68A-DAEC-76EB-692A-31BF5124EBC1}"/>
              </a:ext>
            </a:extLst>
          </p:cNvPr>
          <p:cNvPicPr>
            <a:picLocks noChangeAspect="1"/>
          </p:cNvPicPr>
          <p:nvPr/>
        </p:nvPicPr>
        <p:blipFill>
          <a:blip r:embed="rId3"/>
          <a:stretch>
            <a:fillRect/>
          </a:stretch>
        </p:blipFill>
        <p:spPr>
          <a:xfrm>
            <a:off x="531918" y="2527553"/>
            <a:ext cx="4206008" cy="790873"/>
          </a:xfrm>
          <a:prstGeom prst="rect">
            <a:avLst/>
          </a:prstGeom>
        </p:spPr>
      </p:pic>
      <p:sp>
        <p:nvSpPr>
          <p:cNvPr id="2" name="TextBox 1">
            <a:extLst>
              <a:ext uri="{FF2B5EF4-FFF2-40B4-BE49-F238E27FC236}">
                <a16:creationId xmlns:a16="http://schemas.microsoft.com/office/drawing/2014/main" id="{5DB1DA5A-CFD5-6E41-A9B6-0957995D35F6}"/>
              </a:ext>
            </a:extLst>
          </p:cNvPr>
          <p:cNvSpPr txBox="1"/>
          <p:nvPr/>
        </p:nvSpPr>
        <p:spPr>
          <a:xfrm>
            <a:off x="2847606" y="4526137"/>
            <a:ext cx="6156429" cy="954107"/>
          </a:xfrm>
          <a:prstGeom prst="rect">
            <a:avLst/>
          </a:prstGeom>
          <a:noFill/>
        </p:spPr>
        <p:txBody>
          <a:bodyPr wrap="square" rtlCol="0">
            <a:spAutoFit/>
          </a:bodyPr>
          <a:lstStyle/>
          <a:p>
            <a:r>
              <a:rPr lang="en-GB" sz="1400" b="1" dirty="0"/>
              <a:t>Important!</a:t>
            </a:r>
          </a:p>
          <a:p>
            <a:r>
              <a:rPr lang="en-GB" sz="1400" dirty="0"/>
              <a:t>If 1:1 or 2:1 support is commissioned alongside Day Service attendance, then the council will match the framework and commission the Day Service rates at the Low matrix. </a:t>
            </a:r>
          </a:p>
        </p:txBody>
      </p:sp>
    </p:spTree>
    <p:extLst>
      <p:ext uri="{BB962C8B-B14F-4D97-AF65-F5344CB8AC3E}">
        <p14:creationId xmlns:p14="http://schemas.microsoft.com/office/powerpoint/2010/main" val="126907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7">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394C8-4EAD-9045-2A74-D0C493AB7C75}"/>
              </a:ext>
            </a:extLst>
          </p:cNvPr>
          <p:cNvSpPr>
            <a:spLocks noGrp="1"/>
          </p:cNvSpPr>
          <p:nvPr>
            <p:ph type="title"/>
          </p:nvPr>
        </p:nvSpPr>
        <p:spPr/>
        <p:txBody>
          <a:bodyPr/>
          <a:lstStyle/>
          <a:p>
            <a:r>
              <a:rPr lang="en-GB" dirty="0"/>
              <a:t>Direct Payment Voluntary Top Up’s</a:t>
            </a:r>
          </a:p>
        </p:txBody>
      </p:sp>
      <p:sp>
        <p:nvSpPr>
          <p:cNvPr id="3" name="TextBox 2">
            <a:extLst>
              <a:ext uri="{FF2B5EF4-FFF2-40B4-BE49-F238E27FC236}">
                <a16:creationId xmlns:a16="http://schemas.microsoft.com/office/drawing/2014/main" id="{3F36C348-85C7-B863-CE73-4F0E591729D0}"/>
              </a:ext>
            </a:extLst>
          </p:cNvPr>
          <p:cNvSpPr txBox="1"/>
          <p:nvPr/>
        </p:nvSpPr>
        <p:spPr>
          <a:xfrm>
            <a:off x="432758" y="1242203"/>
            <a:ext cx="11585275" cy="4308872"/>
          </a:xfrm>
          <a:prstGeom prst="rect">
            <a:avLst/>
          </a:prstGeom>
          <a:noFill/>
        </p:spPr>
        <p:txBody>
          <a:bodyPr wrap="square" rtlCol="0">
            <a:spAutoFit/>
          </a:bodyPr>
          <a:lstStyle/>
          <a:p>
            <a:r>
              <a:rPr lang="en-GB" sz="1600" dirty="0"/>
              <a:t>If rates exceed the maximum Direct Payment rates, the Council will engage in negotiations with the provider in the first instance. </a:t>
            </a:r>
          </a:p>
          <a:p>
            <a:r>
              <a:rPr lang="en-GB" sz="1600" dirty="0"/>
              <a:t>If the provider is unable to match the maximum rate, then a Voluntary Top up will be discussed with the DP Recipient. </a:t>
            </a:r>
          </a:p>
          <a:p>
            <a:endParaRPr lang="en-GB" sz="1600" b="1" dirty="0"/>
          </a:p>
          <a:p>
            <a:r>
              <a:rPr lang="en-GB" sz="1400" b="1" dirty="0"/>
              <a:t>Important!</a:t>
            </a:r>
            <a:endParaRPr lang="en-GB" sz="1400" dirty="0"/>
          </a:p>
          <a:p>
            <a:r>
              <a:rPr lang="en-GB" sz="1400" dirty="0"/>
              <a:t> </a:t>
            </a:r>
          </a:p>
          <a:p>
            <a:pPr marL="285750" indent="-285750">
              <a:buFont typeface="Arial" panose="020B0604020202020204" pitchFamily="34" charset="0"/>
              <a:buChar char="•"/>
            </a:pPr>
            <a:r>
              <a:rPr lang="en-GB" sz="1400" dirty="0"/>
              <a:t>If the individual is unable to pay the top‑up, the Council may discuss alternative care options that meet their needs within the standard rate.</a:t>
            </a:r>
          </a:p>
          <a:p>
            <a:endParaRPr lang="en-GB" sz="1400" dirty="0"/>
          </a:p>
          <a:p>
            <a:pPr marL="285750" indent="-285750">
              <a:buFont typeface="Arial" panose="020B0604020202020204" pitchFamily="34" charset="0"/>
              <a:buChar char="•"/>
            </a:pPr>
            <a:r>
              <a:rPr lang="en-GB" sz="1400" dirty="0"/>
              <a:t>If suitable care is available at the standard DP rate, but the individual chooses a more expensive provider, they must pay the top‑up themselves.</a:t>
            </a:r>
          </a:p>
          <a:p>
            <a:pPr marL="285750" indent="-285750">
              <a:buFont typeface="Arial" panose="020B0604020202020204" pitchFamily="34" charset="0"/>
              <a:buChar char="•"/>
            </a:pPr>
            <a:endParaRPr lang="en-GB" sz="1400" dirty="0">
              <a:highlight>
                <a:srgbClr val="FFFF00"/>
              </a:highlight>
            </a:endParaRPr>
          </a:p>
          <a:p>
            <a:endParaRPr lang="en-GB" sz="1400" dirty="0"/>
          </a:p>
          <a:p>
            <a:r>
              <a:rPr lang="en-GB" sz="1400" dirty="0"/>
              <a:t>Additionally exceptional circumstance may apply, for example</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a:t>If a person (or the Council) cannot secure care at the standard Direct Payment (DP) rate, the Council must pay the </a:t>
            </a:r>
            <a:r>
              <a:rPr lang="en-GB" sz="1400" b="1" dirty="0"/>
              <a:t>higher provider </a:t>
            </a:r>
            <a:r>
              <a:rPr lang="en-GB" sz="1400" dirty="0"/>
              <a:t>rate to make sure the person’s care needs are met.</a:t>
            </a:r>
          </a:p>
          <a:p>
            <a:pPr marL="285750" indent="-285750">
              <a:buFont typeface="Arial" panose="020B0604020202020204" pitchFamily="34" charset="0"/>
              <a:buChar char="•"/>
            </a:pPr>
            <a:r>
              <a:rPr lang="en-GB" sz="1400" dirty="0"/>
              <a:t>There is rationale such as the person resides in a remote area or the impact not having the service commissioned would have on the person</a:t>
            </a:r>
          </a:p>
          <a:p>
            <a:pPr marL="285750" indent="-285750">
              <a:buFont typeface="Arial" panose="020B0604020202020204" pitchFamily="34" charset="0"/>
              <a:buChar char="•"/>
            </a:pPr>
            <a:endParaRPr lang="en-GB" sz="1400" dirty="0"/>
          </a:p>
          <a:p>
            <a:r>
              <a:rPr lang="en-GB" sz="1400" dirty="0"/>
              <a:t>Should exceptional circumstances apply this will need to be agree by </a:t>
            </a:r>
            <a:r>
              <a:rPr lang="en-GB" sz="1400" b="1" dirty="0"/>
              <a:t>Head of Service </a:t>
            </a:r>
            <a:r>
              <a:rPr lang="en-GB" sz="1400" dirty="0"/>
              <a:t>to be waivered and case noted.</a:t>
            </a:r>
            <a:endParaRPr lang="en-GB" dirty="0"/>
          </a:p>
        </p:txBody>
      </p:sp>
    </p:spTree>
    <p:extLst>
      <p:ext uri="{BB962C8B-B14F-4D97-AF65-F5344CB8AC3E}">
        <p14:creationId xmlns:p14="http://schemas.microsoft.com/office/powerpoint/2010/main" val="1107350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2D2A-228A-9C32-1D95-3EB9D6788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7C97D-1D1C-09B4-1E2E-5928AA8ABF8E}"/>
              </a:ext>
            </a:extLst>
          </p:cNvPr>
          <p:cNvSpPr>
            <a:spLocks noGrp="1"/>
          </p:cNvSpPr>
          <p:nvPr>
            <p:ph type="title"/>
          </p:nvPr>
        </p:nvSpPr>
        <p:spPr/>
        <p:txBody>
          <a:bodyPr/>
          <a:lstStyle/>
          <a:p>
            <a:r>
              <a:rPr lang="en-GB" dirty="0"/>
              <a:t>Direct Payment Voluntary Top Up’s</a:t>
            </a:r>
          </a:p>
        </p:txBody>
      </p:sp>
      <p:sp>
        <p:nvSpPr>
          <p:cNvPr id="3" name="TextBox 2">
            <a:extLst>
              <a:ext uri="{FF2B5EF4-FFF2-40B4-BE49-F238E27FC236}">
                <a16:creationId xmlns:a16="http://schemas.microsoft.com/office/drawing/2014/main" id="{F41AAC8F-7149-06D3-51E8-3344FAB17A0E}"/>
              </a:ext>
            </a:extLst>
          </p:cNvPr>
          <p:cNvSpPr txBox="1"/>
          <p:nvPr/>
        </p:nvSpPr>
        <p:spPr>
          <a:xfrm>
            <a:off x="207034" y="1086928"/>
            <a:ext cx="11585275" cy="4370427"/>
          </a:xfrm>
          <a:prstGeom prst="rect">
            <a:avLst/>
          </a:prstGeom>
          <a:noFill/>
        </p:spPr>
        <p:txBody>
          <a:bodyPr wrap="square" rtlCol="0">
            <a:spAutoFit/>
          </a:bodyPr>
          <a:lstStyle/>
          <a:p>
            <a:r>
              <a:rPr lang="en-GB" sz="1600" b="1" dirty="0"/>
              <a:t>Section 117 Top Up’s</a:t>
            </a:r>
          </a:p>
          <a:p>
            <a:endParaRPr lang="en-GB" sz="1600" dirty="0"/>
          </a:p>
          <a:p>
            <a:r>
              <a:rPr lang="en-GB" sz="1200" b="1" dirty="0"/>
              <a:t>New Sec 117 setup/commissioning</a:t>
            </a:r>
          </a:p>
          <a:p>
            <a:endParaRPr lang="en-GB" sz="1200" b="1" dirty="0"/>
          </a:p>
          <a:p>
            <a:pPr fontAlgn="base"/>
            <a:r>
              <a:rPr lang="en-GB" sz="1200" dirty="0"/>
              <a:t>For individuals who are newly eligible for s117 aftercare, a top-up can be considered where the individual chooses a provider that is above the usual rate. </a:t>
            </a:r>
          </a:p>
          <a:p>
            <a:pPr fontAlgn="base"/>
            <a:r>
              <a:rPr lang="en-GB" sz="1200" dirty="0"/>
              <a:t>This is on the basis that the Council can evidence that a suitable and available provider exists within the maximum Direct Payment rates that can meet the person’s assessed mental health aftercare needs.</a:t>
            </a:r>
          </a:p>
          <a:p>
            <a:pPr fontAlgn="base"/>
            <a:endParaRPr lang="en-GB" sz="1200" dirty="0"/>
          </a:p>
          <a:p>
            <a:pPr fontAlgn="base"/>
            <a:r>
              <a:rPr lang="en-GB" sz="1200" dirty="0"/>
              <a:t>Should exceptional circumstances apply this will need to be agree by </a:t>
            </a:r>
            <a:r>
              <a:rPr lang="en-GB" sz="1200" b="1" dirty="0"/>
              <a:t>Head of Service </a:t>
            </a:r>
            <a:r>
              <a:rPr lang="en-GB" sz="1200" dirty="0"/>
              <a:t>to be waivered and case noted. </a:t>
            </a:r>
          </a:p>
          <a:p>
            <a:pPr fontAlgn="base"/>
            <a:endParaRPr lang="en-GB" sz="1200" dirty="0"/>
          </a:p>
          <a:p>
            <a:pPr fontAlgn="base"/>
            <a:endParaRPr lang="en-GB" sz="1200" dirty="0"/>
          </a:p>
          <a:p>
            <a:pPr fontAlgn="base"/>
            <a:r>
              <a:rPr lang="en-GB" sz="1200" b="1" dirty="0"/>
              <a:t>Ongoing Section 117 commissioning</a:t>
            </a:r>
          </a:p>
          <a:p>
            <a:pPr fontAlgn="base"/>
            <a:endParaRPr lang="en-GB" sz="1200" b="1" dirty="0"/>
          </a:p>
          <a:p>
            <a:pPr fontAlgn="base"/>
            <a:r>
              <a:rPr lang="en-GB" sz="1200" dirty="0"/>
              <a:t>Where a person has been receiving care from an established provider for a significant period of time, additional considerations must be taken into account. </a:t>
            </a:r>
          </a:p>
          <a:p>
            <a:pPr fontAlgn="base"/>
            <a:r>
              <a:rPr lang="en-GB" sz="1200" dirty="0"/>
              <a:t>In these circumstances, the decision cannot be based solely on the ability to identify a lower cost provider. The worker must also consider the potential impact that a change of provider may have on the individual’s mental health and recovery. </a:t>
            </a:r>
          </a:p>
          <a:p>
            <a:pPr fontAlgn="base"/>
            <a:endParaRPr lang="en-GB" sz="1200" dirty="0"/>
          </a:p>
          <a:p>
            <a:pPr fontAlgn="base"/>
            <a:r>
              <a:rPr lang="en-GB" sz="1200" i="1" dirty="0"/>
              <a:t>Example</a:t>
            </a:r>
          </a:p>
          <a:p>
            <a:pPr fontAlgn="base"/>
            <a:r>
              <a:rPr lang="en-GB" sz="1200" dirty="0"/>
              <a:t>Where a person has developed long-standing relationships with staff, familiarity with the environment, and stability in their care arrangements, a change in provider may present a risk of deterioration in their mental health. The Council must be able to demonstrate that any proposed change would not negatively impact the individual’s mental health or undermine the purpose Sec117 aftercare.</a:t>
            </a:r>
          </a:p>
          <a:p>
            <a:endParaRPr lang="en-GB" dirty="0"/>
          </a:p>
        </p:txBody>
      </p:sp>
    </p:spTree>
    <p:extLst>
      <p:ext uri="{BB962C8B-B14F-4D97-AF65-F5344CB8AC3E}">
        <p14:creationId xmlns:p14="http://schemas.microsoft.com/office/powerpoint/2010/main" val="3557336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181155" y="384852"/>
            <a:ext cx="11706045" cy="1245540"/>
          </a:xfrm>
        </p:spPr>
        <p:txBody>
          <a:bodyPr/>
          <a:lstStyle/>
          <a:p>
            <a:r>
              <a:rPr lang="en-GB" altLang="en-US" sz="3600" dirty="0"/>
              <a:t>Providers uplift process 2026</a:t>
            </a:r>
            <a:br>
              <a:rPr lang="en-GB" altLang="en-US" sz="4800" dirty="0"/>
            </a:br>
            <a:endParaRPr lang="en-GB" altLang="en-US" dirty="0"/>
          </a:p>
        </p:txBody>
      </p:sp>
      <p:sp>
        <p:nvSpPr>
          <p:cNvPr id="2" name="TextBox 1">
            <a:extLst>
              <a:ext uri="{FF2B5EF4-FFF2-40B4-BE49-F238E27FC236}">
                <a16:creationId xmlns:a16="http://schemas.microsoft.com/office/drawing/2014/main" id="{324C6D68-471B-481C-A5EF-78CEBEFC8182}"/>
              </a:ext>
            </a:extLst>
          </p:cNvPr>
          <p:cNvSpPr txBox="1"/>
          <p:nvPr/>
        </p:nvSpPr>
        <p:spPr>
          <a:xfrm>
            <a:off x="422694" y="1035170"/>
            <a:ext cx="11257472" cy="5447645"/>
          </a:xfrm>
          <a:prstGeom prst="rect">
            <a:avLst/>
          </a:prstGeom>
          <a:noFill/>
        </p:spPr>
        <p:txBody>
          <a:bodyPr wrap="square" rtlCol="0">
            <a:spAutoFit/>
          </a:bodyPr>
          <a:lstStyle/>
          <a:p>
            <a:r>
              <a:rPr lang="en-GB" sz="1200" dirty="0"/>
              <a:t>Last year the DP team collated and processed over 450 provider uplifts requested. 111 of those required a review due to the rates exceeding and the person being unable to pay a top up.</a:t>
            </a:r>
          </a:p>
          <a:p>
            <a:endParaRPr lang="en-GB" sz="1200" dirty="0"/>
          </a:p>
          <a:p>
            <a:r>
              <a:rPr lang="en-GB" sz="1200" dirty="0"/>
              <a:t>Between April and July 2025, the DP Team released </a:t>
            </a:r>
            <a:r>
              <a:rPr lang="en-GB" sz="1200" b="1" dirty="0"/>
              <a:t>£5,274 per week</a:t>
            </a:r>
            <a:r>
              <a:rPr lang="en-GB" sz="1200" dirty="0"/>
              <a:t> in recurrent cashable savings through 322 renegotiated rates, equating to </a:t>
            </a:r>
            <a:r>
              <a:rPr lang="en-GB" sz="1200" b="1" dirty="0"/>
              <a:t>£275,000 full year effect</a:t>
            </a:r>
            <a:r>
              <a:rPr lang="en-GB" sz="1200" dirty="0"/>
              <a:t>. </a:t>
            </a:r>
          </a:p>
          <a:p>
            <a:r>
              <a:rPr lang="en-GB" sz="1200" dirty="0"/>
              <a:t>Flexible Response Service delivered a further </a:t>
            </a:r>
            <a:r>
              <a:rPr lang="en-GB" sz="1200" b="1" dirty="0"/>
              <a:t>£1,637 per week</a:t>
            </a:r>
            <a:r>
              <a:rPr lang="en-GB" sz="1200" dirty="0"/>
              <a:t> from 90 renegotiated packages.</a:t>
            </a:r>
          </a:p>
          <a:p>
            <a:r>
              <a:rPr lang="en-GB" sz="1200" dirty="0"/>
              <a:t>Equating to </a:t>
            </a:r>
            <a:r>
              <a:rPr lang="en-GB" sz="1200" b="1" dirty="0"/>
              <a:t>£100,000 full year effect</a:t>
            </a:r>
            <a:r>
              <a:rPr lang="en-GB" sz="1200" dirty="0"/>
              <a:t>. This was also thanks to the operational teams carrying out reviews, having difficult conversations and implementing Top up’s. </a:t>
            </a:r>
          </a:p>
          <a:p>
            <a:endParaRPr lang="en-GB" sz="1200" dirty="0"/>
          </a:p>
          <a:p>
            <a:r>
              <a:rPr lang="en-GB" sz="1200" b="1" dirty="0"/>
              <a:t>Uplifts 2026</a:t>
            </a:r>
          </a:p>
          <a:p>
            <a:r>
              <a:rPr lang="en-GB" sz="1200" dirty="0"/>
              <a:t>This year the Council has written to all Direct Payment Recipients in January to advise the rates for April have not yet been confirmed but advised how to notify NCC of any fee changes. Then again in March to confirm the rates and where those can be viewed. </a:t>
            </a:r>
          </a:p>
          <a:p>
            <a:endParaRPr lang="en-GB" sz="1200" dirty="0"/>
          </a:p>
          <a:p>
            <a:endParaRPr lang="en-GB" sz="1200" dirty="0"/>
          </a:p>
          <a:p>
            <a:r>
              <a:rPr lang="en-GB" sz="1200" b="1" dirty="0"/>
              <a:t>What have we learnt?</a:t>
            </a:r>
          </a:p>
          <a:p>
            <a:r>
              <a:rPr lang="en-GB" sz="1200" dirty="0"/>
              <a:t>We have taken feedback from last year's process and used this to improve the approach for 2026 uplifts. </a:t>
            </a:r>
          </a:p>
          <a:p>
            <a:r>
              <a:rPr lang="en-GB" sz="1200" dirty="0"/>
              <a:t>This year NCC will only accept requested uplifts from the DP Recipient, Authorised person or the DPSS provider. </a:t>
            </a:r>
            <a:r>
              <a:rPr lang="en-GB" sz="1200" b="1" dirty="0"/>
              <a:t>NCC will not accept the requests directly from the provider.</a:t>
            </a:r>
          </a:p>
          <a:p>
            <a:endParaRPr lang="en-GB" sz="1200" dirty="0"/>
          </a:p>
          <a:p>
            <a:endParaRPr lang="en-GB" sz="1200" dirty="0"/>
          </a:p>
          <a:p>
            <a:r>
              <a:rPr lang="en-GB" sz="1200" b="1" dirty="0"/>
              <a:t>Who will complete the uplifts this year?</a:t>
            </a:r>
          </a:p>
          <a:p>
            <a:r>
              <a:rPr lang="en-GB" sz="1200" dirty="0"/>
              <a:t>The Direct Payment Team will undertake all Direct Payment uplifts requested by either the DP Recipient/Authorised Person or Direct Payment Support Service. </a:t>
            </a:r>
          </a:p>
          <a:p>
            <a:endParaRPr lang="en-GB" sz="1200" dirty="0"/>
          </a:p>
          <a:p>
            <a:endParaRPr lang="en-GB" sz="1200" dirty="0"/>
          </a:p>
          <a:p>
            <a:r>
              <a:rPr lang="en-GB" sz="1200" b="1" dirty="0"/>
              <a:t>Actions for operational teams</a:t>
            </a:r>
            <a:endParaRPr lang="en-GB" sz="1200" dirty="0"/>
          </a:p>
          <a:p>
            <a:r>
              <a:rPr lang="en-GB" sz="1200" dirty="0"/>
              <a:t>If requests are received from DP Recipients/Authorised Persons or DPSS providers on mosaic send the step to Direct Payment Uplift or to Emma Richards.</a:t>
            </a:r>
          </a:p>
          <a:p>
            <a:r>
              <a:rPr lang="en-GB" sz="1200" dirty="0"/>
              <a:t>Requests received via email, please forward to </a:t>
            </a:r>
            <a:r>
              <a:rPr lang="en-GB" sz="1200" dirty="0">
                <a:hlinkClick r:id="rId2"/>
              </a:rPr>
              <a:t>Directpayments.Upliftrequests@nottscc.gov.uk</a:t>
            </a:r>
            <a:r>
              <a:rPr lang="en-GB" sz="1200" dirty="0"/>
              <a:t> </a:t>
            </a:r>
          </a:p>
          <a:p>
            <a:endParaRPr lang="en-GB" dirty="0"/>
          </a:p>
          <a:p>
            <a:r>
              <a:rPr lang="en-GB" dirty="0"/>
              <a:t> </a:t>
            </a:r>
          </a:p>
        </p:txBody>
      </p:sp>
    </p:spTree>
    <p:extLst>
      <p:ext uri="{BB962C8B-B14F-4D97-AF65-F5344CB8AC3E}">
        <p14:creationId xmlns:p14="http://schemas.microsoft.com/office/powerpoint/2010/main" val="2536719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8788C-76D5-FF98-D501-4AC31BCE8EDE}"/>
              </a:ext>
            </a:extLst>
          </p:cNvPr>
          <p:cNvSpPr>
            <a:spLocks noGrp="1"/>
          </p:cNvSpPr>
          <p:nvPr>
            <p:ph type="title"/>
          </p:nvPr>
        </p:nvSpPr>
        <p:spPr>
          <a:xfrm>
            <a:off x="609600" y="507551"/>
            <a:ext cx="10972800" cy="1143000"/>
          </a:xfrm>
        </p:spPr>
        <p:txBody>
          <a:bodyPr/>
          <a:lstStyle/>
          <a:p>
            <a:r>
              <a:rPr lang="en-GB" altLang="en-US" dirty="0"/>
              <a:t>Change in Employers Liability Insurance Premium Cost</a:t>
            </a:r>
            <a:br>
              <a:rPr lang="en-GB" altLang="en-US" dirty="0"/>
            </a:br>
            <a:endParaRPr lang="en-GB" dirty="0"/>
          </a:p>
        </p:txBody>
      </p:sp>
      <p:sp>
        <p:nvSpPr>
          <p:cNvPr id="4" name="TextBox 3">
            <a:extLst>
              <a:ext uri="{FF2B5EF4-FFF2-40B4-BE49-F238E27FC236}">
                <a16:creationId xmlns:a16="http://schemas.microsoft.com/office/drawing/2014/main" id="{3C941C41-7F61-B114-C6A4-BC4785164EF7}"/>
              </a:ext>
            </a:extLst>
          </p:cNvPr>
          <p:cNvSpPr txBox="1"/>
          <p:nvPr/>
        </p:nvSpPr>
        <p:spPr>
          <a:xfrm>
            <a:off x="388189" y="1650551"/>
            <a:ext cx="11335109" cy="2862322"/>
          </a:xfrm>
          <a:prstGeom prst="rect">
            <a:avLst/>
          </a:prstGeom>
          <a:noFill/>
        </p:spPr>
        <p:txBody>
          <a:bodyPr wrap="square" rtlCol="0">
            <a:spAutoFit/>
          </a:bodyPr>
          <a:lstStyle/>
          <a:p>
            <a:r>
              <a:rPr lang="en-GB" dirty="0"/>
              <a:t>Employer’s Liability Insurance (ELI) premium will increase from 01/04/2026.</a:t>
            </a:r>
          </a:p>
          <a:p>
            <a:endParaRPr lang="en-GB" dirty="0"/>
          </a:p>
          <a:p>
            <a:r>
              <a:rPr lang="en-GB" dirty="0"/>
              <a:t>To ensure the Council is covering the highest premium of ELI insurance for Direct Payment Recipients Employing PA’s, as standard the annual cost for this service will be commissioned at £115.</a:t>
            </a:r>
          </a:p>
          <a:p>
            <a:endParaRPr lang="en-GB" dirty="0"/>
          </a:p>
          <a:p>
            <a:r>
              <a:rPr lang="en-GB" dirty="0"/>
              <a:t>When amending any rates within the Direct Payment or completing a review, please ensure the ELI insurance is increased to £115.00. </a:t>
            </a:r>
          </a:p>
          <a:p>
            <a:endParaRPr lang="en-GB" dirty="0"/>
          </a:p>
          <a:p>
            <a:r>
              <a:rPr lang="en-GB" dirty="0"/>
              <a:t>The DP Commissioning Team will also check this as part of the request for services.</a:t>
            </a:r>
          </a:p>
          <a:p>
            <a:endParaRPr lang="en-GB" dirty="0"/>
          </a:p>
        </p:txBody>
      </p:sp>
    </p:spTree>
    <p:extLst>
      <p:ext uri="{BB962C8B-B14F-4D97-AF65-F5344CB8AC3E}">
        <p14:creationId xmlns:p14="http://schemas.microsoft.com/office/powerpoint/2010/main" val="2348537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title"/>
          </p:nvPr>
        </p:nvSpPr>
        <p:spPr>
          <a:xfrm>
            <a:off x="609600" y="274638"/>
            <a:ext cx="10972800" cy="1143000"/>
          </a:xfrm>
        </p:spPr>
        <p:txBody>
          <a:bodyPr vert="horz" wrap="square" lIns="91440" tIns="45720" rIns="91440" bIns="45720" numCol="1" anchor="ctr" anchorCtr="0" compatLnSpc="1">
            <a:prstTxWarp prst="textNoShape">
              <a:avLst/>
            </a:prstTxWarp>
            <a:normAutofit/>
          </a:bodyPr>
          <a:lstStyle/>
          <a:p>
            <a:pPr>
              <a:lnSpc>
                <a:spcPct val="90000"/>
              </a:lnSpc>
            </a:pPr>
            <a:r>
              <a:rPr lang="en-GB" altLang="en-US" sz="2800" dirty="0"/>
              <a:t>Know Your Customer (KYC) Checks – Prepaid Cards</a:t>
            </a:r>
            <a:br>
              <a:rPr lang="en-GB" altLang="en-US" sz="2800" dirty="0"/>
            </a:br>
            <a:endParaRPr lang="en-GB" altLang="en-US" sz="2800" dirty="0"/>
          </a:p>
        </p:txBody>
      </p:sp>
      <p:sp>
        <p:nvSpPr>
          <p:cNvPr id="8211" name="TextBox 8210">
            <a:extLst>
              <a:ext uri="{FF2B5EF4-FFF2-40B4-BE49-F238E27FC236}">
                <a16:creationId xmlns:a16="http://schemas.microsoft.com/office/drawing/2014/main" id="{865767BF-F29A-8AFE-3085-437733588239}"/>
              </a:ext>
            </a:extLst>
          </p:cNvPr>
          <p:cNvSpPr txBox="1"/>
          <p:nvPr/>
        </p:nvSpPr>
        <p:spPr bwMode="auto">
          <a:xfrm>
            <a:off x="609600" y="1343026"/>
            <a:ext cx="10972800" cy="4574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fontScale="92500" lnSpcReduction="20000"/>
          </a:bodyPr>
          <a:lstStyle/>
          <a:p>
            <a:pPr fontAlgn="base">
              <a:lnSpc>
                <a:spcPct val="90000"/>
              </a:lnSpc>
              <a:spcBef>
                <a:spcPct val="20000"/>
              </a:spcBef>
              <a:spcAft>
                <a:spcPct val="0"/>
              </a:spcAft>
            </a:pPr>
            <a:r>
              <a:rPr lang="en-US" sz="1400" b="1" dirty="0"/>
              <a:t>KYC Checks in Relation to Pre-Paid Cards</a:t>
            </a:r>
          </a:p>
          <a:p>
            <a:pPr marL="342900" indent="-342900" fontAlgn="base">
              <a:lnSpc>
                <a:spcPct val="90000"/>
              </a:lnSpc>
              <a:spcBef>
                <a:spcPct val="20000"/>
              </a:spcBef>
              <a:spcAft>
                <a:spcPct val="0"/>
              </a:spcAft>
              <a:buChar char="•"/>
            </a:pPr>
            <a:endParaRPr lang="en-US" sz="1400" dirty="0"/>
          </a:p>
          <a:p>
            <a:pPr fontAlgn="base">
              <a:lnSpc>
                <a:spcPct val="90000"/>
              </a:lnSpc>
              <a:spcBef>
                <a:spcPct val="20000"/>
              </a:spcBef>
              <a:spcAft>
                <a:spcPct val="0"/>
              </a:spcAft>
            </a:pPr>
            <a:r>
              <a:rPr lang="en-US" sz="1300" dirty="0"/>
              <a:t>When a Pre-Paid card is selected and the person receiving the Direct Payment has either/both an Authorised Person or Nominated Person, a KYC check must be completed before the request for DP Commissioning can be submitted.</a:t>
            </a:r>
          </a:p>
          <a:p>
            <a:pPr fontAlgn="base">
              <a:lnSpc>
                <a:spcPct val="90000"/>
              </a:lnSpc>
              <a:spcBef>
                <a:spcPct val="20000"/>
              </a:spcBef>
              <a:spcAft>
                <a:spcPct val="0"/>
              </a:spcAft>
            </a:pPr>
            <a:endParaRPr lang="en-US" sz="1300" dirty="0"/>
          </a:p>
          <a:p>
            <a:pPr fontAlgn="base">
              <a:lnSpc>
                <a:spcPct val="90000"/>
              </a:lnSpc>
              <a:spcBef>
                <a:spcPct val="20000"/>
              </a:spcBef>
              <a:spcAft>
                <a:spcPct val="0"/>
              </a:spcAft>
            </a:pPr>
            <a:r>
              <a:rPr lang="en-US" sz="1300" dirty="0"/>
              <a:t>This requirement ensures:</a:t>
            </a:r>
          </a:p>
          <a:p>
            <a:pPr marL="342900" indent="-342900" fontAlgn="base">
              <a:lnSpc>
                <a:spcPct val="90000"/>
              </a:lnSpc>
              <a:spcBef>
                <a:spcPct val="20000"/>
              </a:spcBef>
              <a:spcAft>
                <a:spcPct val="0"/>
              </a:spcAft>
              <a:buFont typeface="Arial" panose="020B0604020202020204" pitchFamily="34" charset="0"/>
              <a:buChar char="•"/>
            </a:pPr>
            <a:r>
              <a:rPr lang="en-US" sz="1300" dirty="0"/>
              <a:t>The individual responsible for managing the funds is fully verified</a:t>
            </a:r>
          </a:p>
          <a:p>
            <a:pPr marL="342900" indent="-342900" fontAlgn="base">
              <a:lnSpc>
                <a:spcPct val="90000"/>
              </a:lnSpc>
              <a:spcBef>
                <a:spcPct val="20000"/>
              </a:spcBef>
              <a:spcAft>
                <a:spcPct val="0"/>
              </a:spcAft>
              <a:buFont typeface="Arial" panose="020B0604020202020204" pitchFamily="34" charset="0"/>
              <a:buChar char="•"/>
            </a:pPr>
            <a:r>
              <a:rPr lang="en-US" sz="1300" dirty="0"/>
              <a:t>Financial controls are in place before any public money is released</a:t>
            </a:r>
          </a:p>
          <a:p>
            <a:pPr marL="342900" indent="-342900" fontAlgn="base">
              <a:lnSpc>
                <a:spcPct val="90000"/>
              </a:lnSpc>
              <a:spcBef>
                <a:spcPct val="20000"/>
              </a:spcBef>
              <a:spcAft>
                <a:spcPct val="0"/>
              </a:spcAft>
              <a:buFont typeface="Arial" panose="020B0604020202020204" pitchFamily="34" charset="0"/>
              <a:buChar char="•"/>
            </a:pPr>
            <a:r>
              <a:rPr lang="en-US" sz="1300" dirty="0"/>
              <a:t>The organisation fulfils its compliance responsibilities</a:t>
            </a:r>
          </a:p>
          <a:p>
            <a:pPr marL="342900" indent="-342900" fontAlgn="base">
              <a:lnSpc>
                <a:spcPct val="90000"/>
              </a:lnSpc>
              <a:spcBef>
                <a:spcPct val="20000"/>
              </a:spcBef>
              <a:spcAft>
                <a:spcPct val="0"/>
              </a:spcAft>
              <a:buFont typeface="Arial" panose="020B0604020202020204" pitchFamily="34" charset="0"/>
              <a:buChar char="•"/>
            </a:pPr>
            <a:r>
              <a:rPr lang="en-US" sz="1300" dirty="0"/>
              <a:t>Risk is minimised and accountability is established from the outset</a:t>
            </a:r>
          </a:p>
          <a:p>
            <a:pPr marL="342900" indent="-342900" fontAlgn="base">
              <a:lnSpc>
                <a:spcPct val="90000"/>
              </a:lnSpc>
              <a:spcBef>
                <a:spcPct val="20000"/>
              </a:spcBef>
              <a:spcAft>
                <a:spcPct val="0"/>
              </a:spcAft>
              <a:buFont typeface="Arial" panose="020B0604020202020204" pitchFamily="34" charset="0"/>
              <a:buChar char="•"/>
            </a:pPr>
            <a:endParaRPr lang="en-US" sz="1300" dirty="0"/>
          </a:p>
          <a:p>
            <a:pPr fontAlgn="base">
              <a:lnSpc>
                <a:spcPct val="90000"/>
              </a:lnSpc>
              <a:spcBef>
                <a:spcPct val="20000"/>
              </a:spcBef>
              <a:spcAft>
                <a:spcPct val="0"/>
              </a:spcAft>
            </a:pPr>
            <a:r>
              <a:rPr lang="en-US" sz="1300" dirty="0"/>
              <a:t>This step safeguards both the DP Recipient and the organisation by ensuring that the appropriate person is legitimately and safely managing the Direct Payment.</a:t>
            </a:r>
          </a:p>
          <a:p>
            <a:pPr fontAlgn="base">
              <a:lnSpc>
                <a:spcPct val="90000"/>
              </a:lnSpc>
              <a:spcBef>
                <a:spcPct val="20000"/>
              </a:spcBef>
              <a:spcAft>
                <a:spcPct val="0"/>
              </a:spcAft>
            </a:pPr>
            <a:endParaRPr lang="en-US" sz="1300" dirty="0"/>
          </a:p>
          <a:p>
            <a:pPr fontAlgn="base">
              <a:lnSpc>
                <a:spcPct val="90000"/>
              </a:lnSpc>
              <a:spcBef>
                <a:spcPct val="20000"/>
              </a:spcBef>
              <a:spcAft>
                <a:spcPct val="0"/>
              </a:spcAft>
            </a:pPr>
            <a:r>
              <a:rPr lang="en-US" sz="1300" dirty="0"/>
              <a:t>The Agreement will need to be emailed over to </a:t>
            </a:r>
            <a:r>
              <a:rPr lang="it-IT" sz="1300" dirty="0">
                <a:hlinkClick r:id="rId2"/>
              </a:rPr>
              <a:t>yotichecks@nottscc.gov.uk</a:t>
            </a:r>
            <a:r>
              <a:rPr lang="it-IT" sz="1300" dirty="0"/>
              <a:t> </a:t>
            </a:r>
            <a:endParaRPr lang="en-US" sz="1300" dirty="0"/>
          </a:p>
          <a:p>
            <a:pPr fontAlgn="base">
              <a:lnSpc>
                <a:spcPct val="90000"/>
              </a:lnSpc>
              <a:spcBef>
                <a:spcPct val="20000"/>
              </a:spcBef>
              <a:spcAft>
                <a:spcPct val="0"/>
              </a:spcAft>
            </a:pPr>
            <a:endParaRPr lang="en-US" sz="1300" dirty="0"/>
          </a:p>
          <a:p>
            <a:pPr fontAlgn="base">
              <a:lnSpc>
                <a:spcPct val="90000"/>
              </a:lnSpc>
              <a:spcBef>
                <a:spcPct val="20000"/>
              </a:spcBef>
              <a:spcAft>
                <a:spcPct val="0"/>
              </a:spcAft>
            </a:pPr>
            <a:r>
              <a:rPr lang="en-US" sz="1300" dirty="0"/>
              <a:t>When the KYC check has been completed there will be a case note added to confirm, at this point the worker can then submit the Commissioning request to DP Commissioning Team. </a:t>
            </a:r>
          </a:p>
          <a:p>
            <a:pPr fontAlgn="base">
              <a:lnSpc>
                <a:spcPct val="90000"/>
              </a:lnSpc>
              <a:spcBef>
                <a:spcPct val="20000"/>
              </a:spcBef>
              <a:spcAft>
                <a:spcPct val="0"/>
              </a:spcAft>
            </a:pPr>
            <a:endParaRPr lang="en-US" sz="1400" dirty="0"/>
          </a:p>
          <a:p>
            <a:pPr fontAlgn="base">
              <a:lnSpc>
                <a:spcPct val="90000"/>
              </a:lnSpc>
              <a:spcBef>
                <a:spcPct val="20000"/>
              </a:spcBef>
              <a:spcAft>
                <a:spcPct val="0"/>
              </a:spcAft>
            </a:pPr>
            <a:endParaRPr lang="en-US" sz="1400" dirty="0"/>
          </a:p>
          <a:p>
            <a:pPr fontAlgn="base">
              <a:lnSpc>
                <a:spcPct val="90000"/>
              </a:lnSpc>
              <a:spcBef>
                <a:spcPct val="20000"/>
              </a:spcBef>
              <a:spcAft>
                <a:spcPct val="0"/>
              </a:spcAft>
            </a:pPr>
            <a:r>
              <a:rPr lang="en-US" sz="1100" dirty="0"/>
              <a:t>Useful guides and relevant forms can be found on </a:t>
            </a:r>
            <a:r>
              <a:rPr lang="en-US" sz="1100" dirty="0">
                <a:hlinkClick r:id="rId3"/>
              </a:rPr>
              <a:t>Direct Payment Support Area</a:t>
            </a:r>
            <a:r>
              <a:rPr lang="en-US" sz="1100" dirty="0"/>
              <a:t> </a:t>
            </a:r>
          </a:p>
          <a:p>
            <a:pPr fontAlgn="base">
              <a:lnSpc>
                <a:spcPct val="90000"/>
              </a:lnSpc>
              <a:spcBef>
                <a:spcPct val="20000"/>
              </a:spcBef>
              <a:spcAft>
                <a:spcPct val="0"/>
              </a:spcAft>
            </a:pPr>
            <a:endParaRPr lang="en-US" sz="1100" dirty="0"/>
          </a:p>
          <a:p>
            <a:pPr fontAlgn="base">
              <a:lnSpc>
                <a:spcPct val="90000"/>
              </a:lnSpc>
              <a:spcBef>
                <a:spcPct val="20000"/>
              </a:spcBef>
              <a:spcAft>
                <a:spcPct val="0"/>
              </a:spcAft>
            </a:pPr>
            <a:r>
              <a:rPr lang="en-GB" sz="1050" u="sng" dirty="0">
                <a:hlinkClick r:id="rId4" tooltip="Direct Payment Agency Commissioning Maps [PDF]"/>
              </a:rPr>
              <a:t>Direct Payment Agency Commissioning Maps [PDF]</a:t>
            </a:r>
            <a:endParaRPr lang="en-GB" sz="1050" u="sng" dirty="0"/>
          </a:p>
          <a:p>
            <a:pPr fontAlgn="base">
              <a:lnSpc>
                <a:spcPct val="90000"/>
              </a:lnSpc>
              <a:spcBef>
                <a:spcPct val="20000"/>
              </a:spcBef>
              <a:spcAft>
                <a:spcPct val="0"/>
              </a:spcAft>
            </a:pPr>
            <a:r>
              <a:rPr lang="en-GB" sz="1050" u="sng" dirty="0">
                <a:hlinkClick r:id="rId5" tooltip="Direct Payment PA Commissioning Map 2026"/>
              </a:rPr>
              <a:t>Direct Payment Personal Assistant Commissioning Map 2026 [PDF]</a:t>
            </a:r>
            <a:endParaRPr lang="en-GB" sz="1050" dirty="0"/>
          </a:p>
          <a:p>
            <a:pPr fontAlgn="base">
              <a:lnSpc>
                <a:spcPct val="90000"/>
              </a:lnSpc>
              <a:spcBef>
                <a:spcPct val="20000"/>
              </a:spcBef>
              <a:spcAft>
                <a:spcPct val="0"/>
              </a:spcAft>
            </a:pPr>
            <a:r>
              <a:rPr lang="en-GB" sz="1050" u="sng" dirty="0">
                <a:hlinkClick r:id="rId6"/>
              </a:rPr>
              <a:t>Direct Payment Know Your Customer Agreement [Word]</a:t>
            </a:r>
            <a:endParaRPr lang="en-GB" sz="1050" u="sng" dirty="0"/>
          </a:p>
          <a:p>
            <a:pPr fontAlgn="base">
              <a:lnSpc>
                <a:spcPct val="90000"/>
              </a:lnSpc>
              <a:spcBef>
                <a:spcPct val="20000"/>
              </a:spcBef>
              <a:spcAft>
                <a:spcPct val="0"/>
              </a:spcAft>
            </a:pPr>
            <a:r>
              <a:rPr lang="en-GB" sz="1050" u="sng" dirty="0">
                <a:hlinkClick r:id="rId7" tooltip="Pre-Paid cards Know Your Customer Fact sheet"/>
              </a:rPr>
              <a:t>Pre-Paid cards- Know Your Customer Fact sheet [PDF]</a:t>
            </a:r>
            <a:endParaRPr lang="en-GB" sz="1050" dirty="0"/>
          </a:p>
          <a:p>
            <a:pPr fontAlgn="base">
              <a:lnSpc>
                <a:spcPct val="90000"/>
              </a:lnSpc>
              <a:spcBef>
                <a:spcPct val="20000"/>
              </a:spcBef>
              <a:spcAft>
                <a:spcPct val="0"/>
              </a:spcAft>
            </a:pPr>
            <a:endParaRPr lang="en-GB" u="sng" dirty="0"/>
          </a:p>
          <a:p>
            <a:pPr fontAlgn="base">
              <a:lnSpc>
                <a:spcPct val="90000"/>
              </a:lnSpc>
              <a:spcBef>
                <a:spcPct val="20000"/>
              </a:spcBef>
              <a:spcAft>
                <a:spcPct val="0"/>
              </a:spcAft>
            </a:pPr>
            <a:endParaRPr lang="en-GB" dirty="0"/>
          </a:p>
          <a:p>
            <a:pPr fontAlgn="base">
              <a:lnSpc>
                <a:spcPct val="90000"/>
              </a:lnSpc>
              <a:spcBef>
                <a:spcPct val="20000"/>
              </a:spcBef>
              <a:spcAft>
                <a:spcPct val="0"/>
              </a:spcAft>
            </a:pPr>
            <a:endParaRPr lang="en-GB" dirty="0"/>
          </a:p>
          <a:p>
            <a:pPr fontAlgn="base">
              <a:lnSpc>
                <a:spcPct val="90000"/>
              </a:lnSpc>
              <a:spcBef>
                <a:spcPct val="20000"/>
              </a:spcBef>
              <a:spcAft>
                <a:spcPct val="0"/>
              </a:spcAft>
            </a:pPr>
            <a:endParaRPr lang="en-US" sz="1600" dirty="0"/>
          </a:p>
        </p:txBody>
      </p:sp>
    </p:spTree>
    <p:extLst>
      <p:ext uri="{BB962C8B-B14F-4D97-AF65-F5344CB8AC3E}">
        <p14:creationId xmlns:p14="http://schemas.microsoft.com/office/powerpoint/2010/main" val="849040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866B-5A62-E4B7-AC35-100DE9B07476}"/>
              </a:ext>
            </a:extLst>
          </p:cNvPr>
          <p:cNvSpPr>
            <a:spLocks noGrp="1"/>
          </p:cNvSpPr>
          <p:nvPr>
            <p:ph type="title"/>
          </p:nvPr>
        </p:nvSpPr>
        <p:spPr/>
        <p:txBody>
          <a:bodyPr/>
          <a:lstStyle/>
          <a:p>
            <a:r>
              <a:rPr lang="en-GB" dirty="0"/>
              <a:t>Improving Systems and Communications</a:t>
            </a:r>
          </a:p>
        </p:txBody>
      </p:sp>
      <p:sp>
        <p:nvSpPr>
          <p:cNvPr id="5" name="TextBox 4">
            <a:extLst>
              <a:ext uri="{FF2B5EF4-FFF2-40B4-BE49-F238E27FC236}">
                <a16:creationId xmlns:a16="http://schemas.microsoft.com/office/drawing/2014/main" id="{A4E8253D-33B4-7DF6-02A1-12DE0D1BCE24}"/>
              </a:ext>
            </a:extLst>
          </p:cNvPr>
          <p:cNvSpPr txBox="1"/>
          <p:nvPr/>
        </p:nvSpPr>
        <p:spPr>
          <a:xfrm>
            <a:off x="142875" y="1171575"/>
            <a:ext cx="11925300" cy="4370427"/>
          </a:xfrm>
          <a:prstGeom prst="rect">
            <a:avLst/>
          </a:prstGeom>
          <a:noFill/>
        </p:spPr>
        <p:txBody>
          <a:bodyPr wrap="square" rtlCol="0">
            <a:spAutoFit/>
          </a:bodyPr>
          <a:lstStyle/>
          <a:p>
            <a:r>
              <a:rPr lang="en-GB" sz="1200" dirty="0"/>
              <a:t>Our team is continuing to grow, improve, and strengthen the way we work, and one of our biggest focuses right now is enhancing both our processes and our communications across Direct Payments. </a:t>
            </a:r>
          </a:p>
          <a:p>
            <a:endParaRPr lang="en-GB" sz="1200" dirty="0"/>
          </a:p>
          <a:p>
            <a:r>
              <a:rPr lang="en-GB" sz="1200" dirty="0"/>
              <a:t>We want everyone to feel informed, confident, and connected. For us that means making sure the right information reaches the right people at the right time. </a:t>
            </a:r>
          </a:p>
          <a:p>
            <a:endParaRPr lang="en-GB" sz="1200" dirty="0"/>
          </a:p>
          <a:p>
            <a:endParaRPr lang="en-GB" sz="1200" dirty="0"/>
          </a:p>
          <a:p>
            <a:r>
              <a:rPr lang="en-GB" sz="1200" b="1" dirty="0"/>
              <a:t>What support is currently available?</a:t>
            </a:r>
          </a:p>
          <a:p>
            <a:r>
              <a:rPr lang="en-GB" sz="1200" dirty="0"/>
              <a:t>There are many step-by-step guides and a staff guidance document uploaded to the </a:t>
            </a:r>
            <a:r>
              <a:rPr lang="en-GB" sz="1200" dirty="0">
                <a:hlinkClick r:id="rId2"/>
              </a:rPr>
              <a:t>DP Support Area</a:t>
            </a:r>
            <a:r>
              <a:rPr lang="en-GB" sz="1200" dirty="0"/>
              <a:t>. </a:t>
            </a:r>
          </a:p>
          <a:p>
            <a:r>
              <a:rPr lang="en-GB" sz="1200" dirty="0"/>
              <a:t>We ask that workers refer to these documents or support from their peers in the first instance. </a:t>
            </a:r>
          </a:p>
          <a:p>
            <a:endParaRPr lang="en-GB" sz="1200" dirty="0"/>
          </a:p>
          <a:p>
            <a:r>
              <a:rPr lang="en-GB" sz="1200" dirty="0"/>
              <a:t>Should the information you require not be available your can contact </a:t>
            </a:r>
          </a:p>
          <a:p>
            <a:r>
              <a:rPr lang="en-GB" sz="1200" dirty="0">
                <a:hlinkClick r:id="rId3"/>
              </a:rPr>
              <a:t>DPEnquiries@nottscc.gov.uk</a:t>
            </a:r>
            <a:r>
              <a:rPr lang="en-GB" sz="1200" dirty="0"/>
              <a:t> – For support with the DP Policy, quality concerns or complex discussions relating to DP’s </a:t>
            </a:r>
          </a:p>
          <a:p>
            <a:r>
              <a:rPr lang="en-GB" sz="1200" dirty="0">
                <a:hlinkClick r:id="rId4"/>
              </a:rPr>
              <a:t>DPCommissioningteam@nottscc.gov.uk</a:t>
            </a:r>
            <a:r>
              <a:rPr lang="en-GB" sz="1200" dirty="0"/>
              <a:t> – For support with commissioning, rates, top ups or recruitment of PA’s</a:t>
            </a:r>
          </a:p>
          <a:p>
            <a:endParaRPr lang="en-GB" sz="1200" dirty="0"/>
          </a:p>
          <a:p>
            <a:endParaRPr lang="en-GB" sz="1200" dirty="0"/>
          </a:p>
          <a:p>
            <a:r>
              <a:rPr lang="en-GB" sz="1200" b="1" dirty="0"/>
              <a:t>Improving the way we work</a:t>
            </a:r>
          </a:p>
          <a:p>
            <a:endParaRPr lang="en-GB" sz="1200" b="1" dirty="0"/>
          </a:p>
          <a:p>
            <a:r>
              <a:rPr lang="en-GB" sz="1200" dirty="0"/>
              <a:t>We’re committed to refining and streamlining our processes so that staff have the clarity and tools they need to work efficiently and provide the best outcomes for the people we support. This includes reviewing our workflows, identifying areas where things can be smoother, and sharing updates as new improvements come into place. </a:t>
            </a:r>
          </a:p>
          <a:p>
            <a:endParaRPr lang="en-GB" sz="1200" dirty="0"/>
          </a:p>
          <a:p>
            <a:r>
              <a:rPr lang="en-GB" sz="1200" dirty="0"/>
              <a:t>Your feedback and experiences continue to shape this work, and every suggestion helps us make meaningful changes. Please continue to share this feedback by emailing </a:t>
            </a:r>
            <a:r>
              <a:rPr lang="en-GB" sz="1200" dirty="0">
                <a:hlinkClick r:id="rId3"/>
              </a:rPr>
              <a:t>DPEnquiries@nottscc.gov.uk</a:t>
            </a:r>
            <a:r>
              <a:rPr lang="en-GB" sz="1200" dirty="0"/>
              <a:t> </a:t>
            </a:r>
          </a:p>
          <a:p>
            <a:endParaRPr lang="en-GB" sz="1400" dirty="0"/>
          </a:p>
        </p:txBody>
      </p:sp>
    </p:spTree>
    <p:extLst>
      <p:ext uri="{BB962C8B-B14F-4D97-AF65-F5344CB8AC3E}">
        <p14:creationId xmlns:p14="http://schemas.microsoft.com/office/powerpoint/2010/main" val="337476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9F951-9E83-20DC-A5D2-EA0209E5796A}"/>
              </a:ext>
            </a:extLst>
          </p:cNvPr>
          <p:cNvSpPr>
            <a:spLocks noGrp="1"/>
          </p:cNvSpPr>
          <p:nvPr>
            <p:ph type="title"/>
          </p:nvPr>
        </p:nvSpPr>
        <p:spPr/>
        <p:txBody>
          <a:bodyPr/>
          <a:lstStyle/>
          <a:p>
            <a:r>
              <a:rPr lang="en-GB" dirty="0"/>
              <a:t>Improving Systems and Communications </a:t>
            </a:r>
            <a:r>
              <a:rPr lang="en-GB" dirty="0" err="1"/>
              <a:t>cont</a:t>
            </a:r>
            <a:r>
              <a:rPr lang="en-GB" dirty="0"/>
              <a:t>…</a:t>
            </a:r>
          </a:p>
        </p:txBody>
      </p:sp>
      <p:sp>
        <p:nvSpPr>
          <p:cNvPr id="3" name="TextBox 2">
            <a:extLst>
              <a:ext uri="{FF2B5EF4-FFF2-40B4-BE49-F238E27FC236}">
                <a16:creationId xmlns:a16="http://schemas.microsoft.com/office/drawing/2014/main" id="{ECE980C8-9FE7-D881-F90F-A3D9016CBD81}"/>
              </a:ext>
            </a:extLst>
          </p:cNvPr>
          <p:cNvSpPr txBox="1"/>
          <p:nvPr/>
        </p:nvSpPr>
        <p:spPr>
          <a:xfrm>
            <a:off x="497457" y="1327210"/>
            <a:ext cx="10972800" cy="4339650"/>
          </a:xfrm>
          <a:prstGeom prst="rect">
            <a:avLst/>
          </a:prstGeom>
          <a:noFill/>
        </p:spPr>
        <p:txBody>
          <a:bodyPr wrap="square" rtlCol="0">
            <a:spAutoFit/>
          </a:bodyPr>
          <a:lstStyle/>
          <a:p>
            <a:r>
              <a:rPr lang="en-GB" sz="1200" b="1" dirty="0"/>
              <a:t>Clearer, Stronger Communication</a:t>
            </a:r>
          </a:p>
          <a:p>
            <a:endParaRPr lang="en-GB" sz="1200" b="1" dirty="0"/>
          </a:p>
          <a:p>
            <a:r>
              <a:rPr lang="en-GB" sz="1200" dirty="0"/>
              <a:t>To support better communication across the service, we’re using two key channels to keep everyone updated, informed, and connected:</a:t>
            </a:r>
          </a:p>
          <a:p>
            <a:endParaRPr lang="en-GB" sz="1200" dirty="0"/>
          </a:p>
          <a:p>
            <a:r>
              <a:rPr lang="en-GB" sz="1200" b="1" dirty="0"/>
              <a:t>1. Weekly Practice Newsletter</a:t>
            </a:r>
          </a:p>
          <a:p>
            <a:r>
              <a:rPr lang="en-GB" sz="1200" dirty="0"/>
              <a:t>Our Practice Newsletter, published every week, is designed to give you quick, accessible updates on:</a:t>
            </a:r>
          </a:p>
          <a:p>
            <a:endParaRPr lang="en-GB" sz="1200" dirty="0"/>
          </a:p>
          <a:p>
            <a:pPr marL="171450" indent="-171450">
              <a:buFont typeface="Arial" panose="020B0604020202020204" pitchFamily="34" charset="0"/>
              <a:buChar char="•"/>
            </a:pPr>
            <a:r>
              <a:rPr lang="en-GB" sz="1200" dirty="0"/>
              <a:t>Changes to Direct Payment processes</a:t>
            </a:r>
          </a:p>
          <a:p>
            <a:pPr marL="171450" indent="-171450">
              <a:buFont typeface="Arial" panose="020B0604020202020204" pitchFamily="34" charset="0"/>
              <a:buChar char="•"/>
            </a:pPr>
            <a:r>
              <a:rPr lang="en-GB" sz="1200" dirty="0"/>
              <a:t>New guidance and reminders</a:t>
            </a:r>
          </a:p>
          <a:p>
            <a:pPr marL="171450" indent="-171450">
              <a:buFont typeface="Arial" panose="020B0604020202020204" pitchFamily="34" charset="0"/>
              <a:buChar char="•"/>
            </a:pPr>
            <a:r>
              <a:rPr lang="en-GB" sz="1200" dirty="0"/>
              <a:t>Good practice examples</a:t>
            </a:r>
          </a:p>
          <a:p>
            <a:pPr marL="171450" indent="-171450">
              <a:buFont typeface="Arial" panose="020B0604020202020204" pitchFamily="34" charset="0"/>
              <a:buChar char="•"/>
            </a:pPr>
            <a:r>
              <a:rPr lang="en-GB" sz="1200" dirty="0"/>
              <a:t>Helpful tips, insights, and development opportunities</a:t>
            </a:r>
          </a:p>
          <a:p>
            <a:pPr marL="171450" indent="-171450">
              <a:buFont typeface="Arial" panose="020B0604020202020204" pitchFamily="34" charset="0"/>
              <a:buChar char="•"/>
            </a:pPr>
            <a:endParaRPr lang="en-GB" sz="1200" dirty="0"/>
          </a:p>
          <a:p>
            <a:r>
              <a:rPr lang="en-GB" sz="1200" dirty="0"/>
              <a:t>It’s your go‑to place for consistent updates and a great way to stay aligned as a team</a:t>
            </a:r>
          </a:p>
          <a:p>
            <a:endParaRPr lang="en-GB" sz="1200" dirty="0"/>
          </a:p>
          <a:p>
            <a:endParaRPr lang="en-GB" sz="1200" dirty="0"/>
          </a:p>
          <a:p>
            <a:r>
              <a:rPr lang="en-GB" sz="1200" b="1" dirty="0"/>
              <a:t>2. </a:t>
            </a:r>
            <a:r>
              <a:rPr lang="en-GB" sz="1200" b="1" dirty="0">
                <a:hlinkClick r:id="rId2"/>
              </a:rPr>
              <a:t>Direct Payments Viva Engage </a:t>
            </a:r>
            <a:endParaRPr lang="en-GB" sz="1200" b="1" dirty="0"/>
          </a:p>
          <a:p>
            <a:r>
              <a:rPr lang="en-GB" sz="1200" dirty="0"/>
              <a:t>We’re also strengthening real‑time communication through our Viva Engage page. This is where we share:</a:t>
            </a:r>
          </a:p>
          <a:p>
            <a:pPr marL="171450" indent="-171450">
              <a:buFont typeface="Arial" panose="020B0604020202020204" pitchFamily="34" charset="0"/>
              <a:buChar char="•"/>
            </a:pPr>
            <a:r>
              <a:rPr lang="en-GB" sz="1200" dirty="0"/>
              <a:t>Live updates</a:t>
            </a:r>
          </a:p>
          <a:p>
            <a:pPr marL="171450" indent="-171450">
              <a:buFont typeface="Arial" panose="020B0604020202020204" pitchFamily="34" charset="0"/>
              <a:buChar char="•"/>
            </a:pPr>
            <a:r>
              <a:rPr lang="en-GB" sz="1200" dirty="0"/>
              <a:t>Quick announcements</a:t>
            </a:r>
          </a:p>
          <a:p>
            <a:pPr marL="171450" indent="-171450">
              <a:buFont typeface="Arial" panose="020B0604020202020204" pitchFamily="34" charset="0"/>
              <a:buChar char="•"/>
            </a:pPr>
            <a:r>
              <a:rPr lang="en-GB" sz="1200" dirty="0"/>
              <a:t>Resources and links</a:t>
            </a:r>
          </a:p>
          <a:p>
            <a:endParaRPr lang="en-GB" sz="1200" dirty="0"/>
          </a:p>
          <a:p>
            <a:r>
              <a:rPr lang="en-GB" sz="1200" dirty="0"/>
              <a:t>If you haven’t joined yet, we’d love to have you there. It’s a brilliant way to stay connected, ask questions, and be part of an active space focused on Direct Payments and continuous improvement.</a:t>
            </a:r>
            <a:endParaRPr lang="en-GB" dirty="0"/>
          </a:p>
        </p:txBody>
      </p:sp>
    </p:spTree>
    <p:extLst>
      <p:ext uri="{BB962C8B-B14F-4D97-AF65-F5344CB8AC3E}">
        <p14:creationId xmlns:p14="http://schemas.microsoft.com/office/powerpoint/2010/main" val="23482158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fd7c08e-9c24-436d-a6ad-a8ecb8394d49}" enabled="1" method="Standard" siteId="{6e5a37bb-a961-4e4f-baae-2798a2245f30}" removed="0"/>
</clbl:labelList>
</file>

<file path=docProps/app.xml><?xml version="1.0" encoding="utf-8"?>
<Properties xmlns="http://schemas.openxmlformats.org/officeDocument/2006/extended-properties" xmlns:vt="http://schemas.openxmlformats.org/officeDocument/2006/docPropsVTypes">
  <TotalTime>3392</TotalTime>
  <Words>2099</Words>
  <Application>Microsoft Office PowerPoint</Application>
  <PresentationFormat>Widescreen</PresentationFormat>
  <Paragraphs>196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Arial Black</vt:lpstr>
      <vt:lpstr>Custom Design</vt:lpstr>
      <vt:lpstr>Direct Payments  What you need to know for 2026</vt:lpstr>
      <vt:lpstr>What will be covered?  </vt:lpstr>
      <vt:lpstr>Changes to the National Living Wage </vt:lpstr>
      <vt:lpstr>Changes to the National Living Wage cont…</vt:lpstr>
      <vt:lpstr>Maximum rates for Direct Payments </vt:lpstr>
      <vt:lpstr>Maximum rates for Direct Payments</vt:lpstr>
      <vt:lpstr>Maximum rates for Direct Payments </vt:lpstr>
      <vt:lpstr>Direct Payment Voluntary Top Up’s</vt:lpstr>
      <vt:lpstr>Direct Payment Voluntary Top Up’s</vt:lpstr>
      <vt:lpstr>Providers uplift process 2026 </vt:lpstr>
      <vt:lpstr>Change in Employers Liability Insurance Premium Cost </vt:lpstr>
      <vt:lpstr>Know Your Customer (KYC) Checks – Prepaid Cards </vt:lpstr>
      <vt:lpstr>Improving Systems and Communications</vt:lpstr>
      <vt:lpstr>Improving Systems and Communications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 Ball</dc:creator>
  <cp:lastModifiedBy>Emma Richards</cp:lastModifiedBy>
  <cp:revision>23</cp:revision>
  <dcterms:created xsi:type="dcterms:W3CDTF">2025-03-12T11:50:56Z</dcterms:created>
  <dcterms:modified xsi:type="dcterms:W3CDTF">2026-04-02T12:36:37Z</dcterms:modified>
</cp:coreProperties>
</file>