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7"/>
    <p:sldMasterId id="2147483696" r:id="rId8"/>
    <p:sldMasterId id="2147483708" r:id="rId9"/>
    <p:sldMasterId id="2147483720" r:id="rId10"/>
  </p:sldMasterIdLst>
  <p:notesMasterIdLst>
    <p:notesMasterId r:id="rId20"/>
  </p:notesMasterIdLst>
  <p:handoutMasterIdLst>
    <p:handoutMasterId r:id="rId21"/>
  </p:handoutMasterIdLst>
  <p:sldIdLst>
    <p:sldId id="259" r:id="rId11"/>
    <p:sldId id="262" r:id="rId12"/>
    <p:sldId id="261" r:id="rId13"/>
    <p:sldId id="276" r:id="rId14"/>
    <p:sldId id="260" r:id="rId15"/>
    <p:sldId id="275" r:id="rId16"/>
    <p:sldId id="277" r:id="rId17"/>
    <p:sldId id="278" r:id="rId18"/>
    <p:sldId id="279" r:id="rId19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9A4"/>
    <a:srgbClr val="FFFFFF"/>
    <a:srgbClr val="F8F8F8"/>
    <a:srgbClr val="497BA1"/>
    <a:srgbClr val="FCFDFD"/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33" d="100"/>
          <a:sy n="33" d="100"/>
        </p:scale>
        <p:origin x="240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2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4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3.xml"/><Relationship Id="rId14" Type="http://schemas.openxmlformats.org/officeDocument/2006/relationships/slide" Target="slides/slide4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E60C7-6F5A-4AF9-BCFC-7067F7D6FCA8}" type="datetimeFigureOut">
              <a:rPr lang="en-GB" smtClean="0"/>
              <a:t>11/01/2019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53B5C-82A3-4D74-9280-5E313EE827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328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6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836" y="1"/>
            <a:ext cx="2945659" cy="4986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2C3F7-F0F3-49F6-A07C-7FB9C2E4CF17}" type="datetimeFigureOut">
              <a:rPr lang="en-GB" smtClean="0"/>
              <a:t>11/01/2019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1241425"/>
            <a:ext cx="25114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7"/>
            <a:ext cx="5438140" cy="39086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010"/>
            <a:ext cx="2945659" cy="4986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836" y="9428010"/>
            <a:ext cx="2945659" cy="4986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BDE64-1B06-4FED-9680-4277619690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14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65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638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057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084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325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101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17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824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DE64-1B06-4FED-9680-42776196900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24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149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19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30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612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64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9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94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99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6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73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235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378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911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037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234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614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499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674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89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984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680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553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244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0153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8050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4347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9283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0587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9312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8803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7977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1687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260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5541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2359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3910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5131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0126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5817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4906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8318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6803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7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14" descr="PowerPoint Banner Small">
            <a:extLst>
              <a:ext uri="{FF2B5EF4-FFF2-40B4-BE49-F238E27FC236}">
                <a16:creationId xmlns:a16="http://schemas.microsoft.com/office/drawing/2014/main" xmlns="" id="{034BCAE9-CBED-4A99-89C3-DEFE4907DF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74000"/>
            <a:ext cx="6858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96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14" descr="PowerPoint Banner Small">
            <a:extLst>
              <a:ext uri="{FF2B5EF4-FFF2-40B4-BE49-F238E27FC236}">
                <a16:creationId xmlns:a16="http://schemas.microsoft.com/office/drawing/2014/main" xmlns="" id="{034BCAE9-CBED-4A99-89C3-DEFE4907DF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74000"/>
            <a:ext cx="6858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98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14" descr="PowerPoint Banner Small">
            <a:extLst>
              <a:ext uri="{FF2B5EF4-FFF2-40B4-BE49-F238E27FC236}">
                <a16:creationId xmlns:a16="http://schemas.microsoft.com/office/drawing/2014/main" xmlns="" id="{034BCAE9-CBED-4A99-89C3-DEFE4907DF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74000"/>
            <a:ext cx="6858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2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64DE79-268F-4C1A-8933-263129D2AF90}" type="datetimeFigureOut">
              <a:rPr lang="en-US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1/11/2019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14" descr="PowerPoint Banner Small">
            <a:extLst>
              <a:ext uri="{FF2B5EF4-FFF2-40B4-BE49-F238E27FC236}">
                <a16:creationId xmlns:a16="http://schemas.microsoft.com/office/drawing/2014/main" xmlns="" id="{034BCAE9-CBED-4A99-89C3-DEFE4907DF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74000"/>
            <a:ext cx="6858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06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home.nottscc.gov.uk/working/departments/asch/promoting-independence-care-act/home-car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4465DF8-B26B-4EC0-9B27-149FCF2309CE}"/>
              </a:ext>
            </a:extLst>
          </p:cNvPr>
          <p:cNvSpPr/>
          <p:nvPr/>
        </p:nvSpPr>
        <p:spPr>
          <a:xfrm>
            <a:off x="389505" y="2338174"/>
            <a:ext cx="6120000" cy="4616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400" b="1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Interim Home Based Care Amendments</a:t>
            </a:r>
            <a:endParaRPr lang="en-US" sz="24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19D15AD-93E5-4828-BB73-1906A31B0972}"/>
              </a:ext>
            </a:extLst>
          </p:cNvPr>
          <p:cNvSpPr/>
          <p:nvPr/>
        </p:nvSpPr>
        <p:spPr>
          <a:xfrm>
            <a:off x="389505" y="3169486"/>
            <a:ext cx="6120000" cy="80021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Reference Guide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400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assist with requesting  amendments to an existing Home Based Care package through the Interim solution</a:t>
            </a:r>
            <a:endParaRPr lang="en-US" sz="1400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65B19383-8414-4526-90AE-B464FA28290A}"/>
              </a:ext>
            </a:extLst>
          </p:cNvPr>
          <p:cNvCxnSpPr>
            <a:cxnSpLocks/>
          </p:cNvCxnSpPr>
          <p:nvPr/>
        </p:nvCxnSpPr>
        <p:spPr>
          <a:xfrm>
            <a:off x="533505" y="2984663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71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8A0B485-AC32-4D2F-8B7B-C57B7569CA14}"/>
              </a:ext>
            </a:extLst>
          </p:cNvPr>
          <p:cNvSpPr txBox="1"/>
          <p:nvPr/>
        </p:nvSpPr>
        <p:spPr>
          <a:xfrm>
            <a:off x="369000" y="353874"/>
            <a:ext cx="6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FFC000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BFE19B15-C017-442D-8AEA-D3BB85FBF10E}"/>
              </a:ext>
            </a:extLst>
          </p:cNvPr>
          <p:cNvCxnSpPr>
            <a:cxnSpLocks/>
          </p:cNvCxnSpPr>
          <p:nvPr/>
        </p:nvCxnSpPr>
        <p:spPr>
          <a:xfrm>
            <a:off x="513000" y="773898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50E11FF-B53E-4312-BBAB-0BC3A8FB088A}"/>
              </a:ext>
            </a:extLst>
          </p:cNvPr>
          <p:cNvSpPr txBox="1"/>
          <p:nvPr/>
        </p:nvSpPr>
        <p:spPr>
          <a:xfrm>
            <a:off x="368999" y="879678"/>
            <a:ext cx="621035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Home Based Care Amendment Interim Solution?		</a:t>
            </a:r>
            <a:r>
              <a:rPr lang="en-GB" sz="1200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Amendment Summary		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GB" sz="12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r>
              <a:rPr lang="en-GB" sz="1200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GB" sz="1200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 and Decreases		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GB" sz="12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5</a:t>
            </a:r>
            <a:endParaRPr lang="en-GB" sz="1200" dirty="0" smtClean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Provider picks up the amendment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GB" sz="1200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6</a:t>
            </a: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contact the provider	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GB" sz="12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7</a:t>
            </a: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Provider cannot accept the amendment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GB" sz="1200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8</a:t>
            </a: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 closures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  <a:r>
              <a:rPr lang="en-GB" sz="12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r>
              <a:rPr lang="en-GB" sz="1200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GB" sz="1200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GB" sz="12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62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000" y="342299"/>
            <a:ext cx="612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Home Based Care Amendment Interim Solution?</a:t>
            </a:r>
            <a:endParaRPr lang="en-GB" sz="16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sz="1200" dirty="0" smtClean="0"/>
          </a:p>
          <a:p>
            <a:pPr marL="171450" indent="-1714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sz="1200" dirty="0" smtClean="0"/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/>
              <a:t/>
            </a:r>
            <a:br>
              <a:rPr lang="en-GB" sz="1200" dirty="0"/>
            </a:br>
            <a:endParaRPr lang="en-GB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7392DCC-52E6-4163-ADAD-B4559749C236}"/>
              </a:ext>
            </a:extLst>
          </p:cNvPr>
          <p:cNvCxnSpPr>
            <a:cxnSpLocks/>
          </p:cNvCxnSpPr>
          <p:nvPr/>
        </p:nvCxnSpPr>
        <p:spPr>
          <a:xfrm>
            <a:off x="513000" y="762323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034165B-98B8-47E6-A029-379A19D306E7}"/>
              </a:ext>
            </a:extLst>
          </p:cNvPr>
          <p:cNvSpPr txBox="1"/>
          <p:nvPr/>
        </p:nvSpPr>
        <p:spPr>
          <a:xfrm>
            <a:off x="665400" y="7317129"/>
            <a:ext cx="58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69000" y="854252"/>
            <a:ext cx="6120000" cy="673309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happening?</a:t>
            </a:r>
          </a:p>
          <a:p>
            <a:pPr lvl="1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new </a:t>
            </a: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way to request increases, decreases and ceases to current home care packages has been developed based around feedback from social care staff. </a:t>
            </a:r>
          </a:p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different?</a:t>
            </a:r>
          </a:p>
          <a:p>
            <a:pPr lvl="1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Instead of all amendments going through to the brokers, it has been agreed with providers that social care staff can contact them direct to request increases and decreases.</a:t>
            </a:r>
          </a:p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Why are we doing this?</a:t>
            </a:r>
          </a:p>
          <a:p>
            <a:pPr lvl="1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Feedback was given by social care staff that the current process of requesting an amendment to a package was to time consuming.</a:t>
            </a:r>
          </a:p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When does the new process start?</a:t>
            </a:r>
          </a:p>
          <a:p>
            <a:pPr lvl="1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This process will be in place from 10/09/2018</a:t>
            </a:r>
          </a:p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How do I find out more?</a:t>
            </a:r>
          </a:p>
          <a:p>
            <a:pPr lvl="1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Click here to view the Home care information page.</a:t>
            </a: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Alternatively find the page by navigating through:</a:t>
            </a:r>
          </a:p>
          <a:p>
            <a:pPr lvl="2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Intranet Home Page, Working for NCC, Departments, ASCH, Promoting Independence and Care Act, Home Care.</a:t>
            </a:r>
          </a:p>
          <a:p>
            <a:pPr marL="685800" lvl="2" indent="0" algn="just">
              <a:lnSpc>
                <a:spcPct val="100000"/>
              </a:lnSpc>
              <a:buNone/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Please note this process is only for service users who receive a managed home care service from one of the contracted providers.</a:t>
            </a:r>
          </a:p>
          <a:p>
            <a:pPr lvl="1" algn="just">
              <a:lnSpc>
                <a:spcPct val="100000"/>
              </a:lnSpc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 algn="just">
              <a:lnSpc>
                <a:spcPct val="100000"/>
              </a:lnSpc>
              <a:buNone/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87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000" y="342299"/>
            <a:ext cx="6120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Amendment Summary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sz="1200" dirty="0" smtClean="0"/>
          </a:p>
          <a:p>
            <a:pPr marL="171450" indent="-1714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sz="1200" dirty="0" smtClean="0"/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/>
              <a:t/>
            </a:r>
            <a:br>
              <a:rPr lang="en-GB" sz="1200" dirty="0"/>
            </a:br>
            <a:endParaRPr lang="en-GB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7392DCC-52E6-4163-ADAD-B4559749C236}"/>
              </a:ext>
            </a:extLst>
          </p:cNvPr>
          <p:cNvCxnSpPr>
            <a:cxnSpLocks/>
          </p:cNvCxnSpPr>
          <p:nvPr/>
        </p:nvCxnSpPr>
        <p:spPr>
          <a:xfrm>
            <a:off x="513000" y="762323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034165B-98B8-47E6-A029-379A19D306E7}"/>
              </a:ext>
            </a:extLst>
          </p:cNvPr>
          <p:cNvSpPr txBox="1"/>
          <p:nvPr/>
        </p:nvSpPr>
        <p:spPr>
          <a:xfrm>
            <a:off x="665400" y="7317129"/>
            <a:ext cx="58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69000" y="854252"/>
            <a:ext cx="6120000" cy="673309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00000"/>
              </a:lnSpc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 algn="just">
              <a:lnSpc>
                <a:spcPct val="100000"/>
              </a:lnSpc>
              <a:buNone/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881744"/>
            <a:ext cx="6858000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The amendment process starts as part of the Review 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Complete the Review as usual.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Contact the provider: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If the provider agrees to the amendment: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Confirm that you have agreed the amendment with the provider via email – Providers will not increase hours delivered without this email.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Case note the agreement.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From the Forms and Letters section of the Review step, create the Home Based Care Amendment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Complete the Home Based Care Amendment including the details of the change.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Send the next action, Adjust Support Package Following Review – </a:t>
            </a:r>
            <a:r>
              <a:rPr lang="en-GB" sz="1500" dirty="0" err="1" smtClean="0"/>
              <a:t>Inc</a:t>
            </a:r>
            <a:r>
              <a:rPr lang="en-GB" sz="1500" dirty="0" smtClean="0"/>
              <a:t> Home Care to DIT for commissioning.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If you cannot contact the provider: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The Brokers can still contact the provider on your behalf.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To do this add a request from the clipboard icon, Home Based </a:t>
            </a:r>
            <a:r>
              <a:rPr lang="en-GB" sz="1500" dirty="0" err="1" smtClean="0"/>
              <a:t>CareAmendment</a:t>
            </a:r>
            <a:r>
              <a:rPr lang="en-GB" sz="1500" dirty="0" smtClean="0"/>
              <a:t> Request.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Send this request to the Brokers and detail the change you are requesting.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They will complete the request with the details of the package.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Create and complete the Home Based Care Amendment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Send to DIT.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If the provider cannot pick up the increase or decrease: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The package will have to be treat as if you are requesting a new Home Based Care service.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Add a next action to the Review, Home Based Care Request, assign to yourself and send immediately.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500" dirty="0" smtClean="0"/>
              <a:t>Follow the process through for new packages.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6797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69000" y="765764"/>
            <a:ext cx="6120000" cy="3155155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This process is for requesting increases and decreases to current home based care packages.</a:t>
            </a:r>
          </a:p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This process lies within the Review form.</a:t>
            </a:r>
          </a:p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Complete the Review as you are normally required to do.</a:t>
            </a:r>
          </a:p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Attempt to contact the provider.</a:t>
            </a:r>
          </a:p>
          <a:p>
            <a:pPr lvl="1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provider accepts the amendment follow the below process.</a:t>
            </a:r>
          </a:p>
          <a:p>
            <a:pPr lvl="1" algn="just">
              <a:lnSpc>
                <a:spcPct val="100000"/>
              </a:lnSpc>
            </a:pPr>
            <a:r>
              <a:rPr lang="en-GB" sz="1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cannot contact the provider go to page …</a:t>
            </a:r>
          </a:p>
          <a:p>
            <a:pPr lvl="1" algn="just">
              <a:lnSpc>
                <a:spcPct val="100000"/>
              </a:lnSpc>
            </a:pPr>
            <a:r>
              <a:rPr lang="en-GB" sz="1000" b="1" u="sng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provider cannot pick up the amendment go to page …</a:t>
            </a:r>
          </a:p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 Create the Home Based Care Amendment form.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EB7F7E2-FBA1-4A3B-8165-FEE60CD275F3}"/>
              </a:ext>
            </a:extLst>
          </p:cNvPr>
          <p:cNvSpPr txBox="1"/>
          <p:nvPr/>
        </p:nvSpPr>
        <p:spPr>
          <a:xfrm>
            <a:off x="369000" y="365449"/>
            <a:ext cx="6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 and Decreases</a:t>
            </a:r>
            <a:endParaRPr lang="en-GB" sz="16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FFC000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7B55F31-4041-4E12-982C-FA36786D946F}"/>
              </a:ext>
            </a:extLst>
          </p:cNvPr>
          <p:cNvCxnSpPr>
            <a:cxnSpLocks/>
          </p:cNvCxnSpPr>
          <p:nvPr/>
        </p:nvCxnSpPr>
        <p:spPr>
          <a:xfrm>
            <a:off x="513000" y="785473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9000" y="7074077"/>
            <a:ext cx="6120000" cy="1186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1193"/>
            <a:ext cx="6858000" cy="370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8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69000" y="765764"/>
            <a:ext cx="6120000" cy="3155155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Below is the Home Based Care  Amendment form.</a:t>
            </a:r>
          </a:p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You will need to:</a:t>
            </a:r>
          </a:p>
          <a:p>
            <a:pPr lvl="1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the type of amendment.</a:t>
            </a:r>
          </a:p>
          <a:p>
            <a:pPr lvl="1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Whether this is Temporary or Permanent.</a:t>
            </a:r>
          </a:p>
          <a:p>
            <a:pPr lvl="1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Include the details of the change, as shown below.</a:t>
            </a:r>
          </a:p>
          <a:p>
            <a:pPr lvl="1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Add the date of the change. If it is a temporary change, also include the date that the amendment is ending.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EB7F7E2-FBA1-4A3B-8165-FEE60CD275F3}"/>
              </a:ext>
            </a:extLst>
          </p:cNvPr>
          <p:cNvSpPr txBox="1"/>
          <p:nvPr/>
        </p:nvSpPr>
        <p:spPr>
          <a:xfrm>
            <a:off x="369000" y="365449"/>
            <a:ext cx="612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500" b="1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 and Decreases – Provider picks up the Amendment</a:t>
            </a:r>
            <a:endParaRPr lang="en-GB" sz="15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GB" sz="1500" dirty="0">
              <a:solidFill>
                <a:srgbClr val="FFC000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7B55F31-4041-4E12-982C-FA36786D946F}"/>
              </a:ext>
            </a:extLst>
          </p:cNvPr>
          <p:cNvCxnSpPr>
            <a:cxnSpLocks/>
          </p:cNvCxnSpPr>
          <p:nvPr/>
        </p:nvCxnSpPr>
        <p:spPr>
          <a:xfrm>
            <a:off x="513000" y="785473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9000" y="7074077"/>
            <a:ext cx="6120000" cy="1186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4148"/>
            <a:ext cx="6858000" cy="3920850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69000" y="6472944"/>
            <a:ext cx="6120000" cy="160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Once you have completed this form you are ready to send to DIT for commissioning.</a:t>
            </a:r>
          </a:p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Add a next action to the Review step, Adjust Support Package Following a Review – </a:t>
            </a:r>
            <a:r>
              <a:rPr lang="en-GB" sz="13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Inc</a:t>
            </a: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 Home Care.</a:t>
            </a:r>
          </a:p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Finish the step DIT will be able to commission the change.</a:t>
            </a:r>
          </a:p>
          <a:p>
            <a:pPr algn="just">
              <a:lnSpc>
                <a:spcPct val="100000"/>
              </a:lnSpc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73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63197" y="771825"/>
            <a:ext cx="6120000" cy="3155155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If you cannot contact the Provider you can use the Brokers to contact the Providers on your behalf.</a:t>
            </a:r>
          </a:p>
          <a:p>
            <a:pPr lvl="0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Once you have Opened the Review and attempted to contact the Provider you can add a request to the Brokers.</a:t>
            </a:r>
          </a:p>
          <a:p>
            <a:pPr lvl="0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Through the Clipboard icon, add the Home Based Care Amendment Request.</a:t>
            </a:r>
          </a:p>
          <a:p>
            <a:pPr lvl="0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Add a note detailing the change and assign this to the Brokers. </a:t>
            </a:r>
          </a:p>
          <a:p>
            <a:pPr lvl="0" algn="just">
              <a:lnSpc>
                <a:spcPct val="100000"/>
              </a:lnSpc>
            </a:pPr>
            <a:endParaRPr lang="en-GB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EB7F7E2-FBA1-4A3B-8165-FEE60CD275F3}"/>
              </a:ext>
            </a:extLst>
          </p:cNvPr>
          <p:cNvSpPr txBox="1"/>
          <p:nvPr/>
        </p:nvSpPr>
        <p:spPr>
          <a:xfrm>
            <a:off x="369000" y="365449"/>
            <a:ext cx="612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500" b="1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 and Decreases – Cannot contact the provider</a:t>
            </a:r>
            <a:endParaRPr lang="en-GB" sz="15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GB" sz="1500" dirty="0">
              <a:solidFill>
                <a:srgbClr val="FFC000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7B55F31-4041-4E12-982C-FA36786D946F}"/>
              </a:ext>
            </a:extLst>
          </p:cNvPr>
          <p:cNvCxnSpPr>
            <a:cxnSpLocks/>
          </p:cNvCxnSpPr>
          <p:nvPr/>
        </p:nvCxnSpPr>
        <p:spPr>
          <a:xfrm>
            <a:off x="513000" y="785473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9000" y="7074077"/>
            <a:ext cx="6120000" cy="1186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63197" y="6124289"/>
            <a:ext cx="6120000" cy="3155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Save the Step and the Brokers will attempt to contact the Provider.</a:t>
            </a:r>
          </a:p>
          <a:p>
            <a:pPr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Once the Provider has accepted the Broker will return the request with information of the accepted amendment.</a:t>
            </a:r>
          </a:p>
          <a:p>
            <a:pPr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Create and complete the Home Based Care Amendment form.</a:t>
            </a:r>
          </a:p>
          <a:p>
            <a:pPr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Add the next action to DIT and finish the Step. </a:t>
            </a:r>
          </a:p>
          <a:p>
            <a:pPr algn="just">
              <a:lnSpc>
                <a:spcPct val="100000"/>
              </a:lnSpc>
            </a:pPr>
            <a:endParaRPr lang="en-GB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60" y="2024390"/>
            <a:ext cx="6345000" cy="393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1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63197" y="771825"/>
            <a:ext cx="6120000" cy="3155155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Provider cannot pick up the amendment you will need to go through the full process of requesting a new home care package.</a:t>
            </a:r>
          </a:p>
          <a:p>
            <a:pPr lvl="0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From the Review go into the next actions, add the Home Based Care Request, assign this to yourself and tick the send immediately.</a:t>
            </a:r>
          </a:p>
          <a:p>
            <a:pPr lvl="0" algn="just">
              <a:lnSpc>
                <a:spcPct val="100000"/>
              </a:lnSpc>
            </a:pPr>
            <a:r>
              <a:rPr lang="en-GB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Follow the process for new packages of Home Care.</a:t>
            </a:r>
          </a:p>
          <a:p>
            <a:pPr lvl="0" algn="just">
              <a:lnSpc>
                <a:spcPct val="100000"/>
              </a:lnSpc>
            </a:pPr>
            <a:endParaRPr lang="en-GB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EB7F7E2-FBA1-4A3B-8165-FEE60CD275F3}"/>
              </a:ext>
            </a:extLst>
          </p:cNvPr>
          <p:cNvSpPr txBox="1"/>
          <p:nvPr/>
        </p:nvSpPr>
        <p:spPr>
          <a:xfrm>
            <a:off x="369000" y="365449"/>
            <a:ext cx="612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500" b="1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 and Decreases – Provider cannot pick up amendment</a:t>
            </a:r>
            <a:endParaRPr lang="en-GB" sz="15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GB" sz="1500" dirty="0">
              <a:solidFill>
                <a:srgbClr val="FFC000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7B55F31-4041-4E12-982C-FA36786D946F}"/>
              </a:ext>
            </a:extLst>
          </p:cNvPr>
          <p:cNvCxnSpPr>
            <a:cxnSpLocks/>
          </p:cNvCxnSpPr>
          <p:nvPr/>
        </p:nvCxnSpPr>
        <p:spPr>
          <a:xfrm>
            <a:off x="513000" y="785473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9000" y="7074077"/>
            <a:ext cx="6120000" cy="1186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97" y="2128206"/>
            <a:ext cx="57912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69000" y="765764"/>
            <a:ext cx="6120000" cy="3155155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To close a home based care package, you will need to access the Home Based Care Amendment form within the review.</a:t>
            </a:r>
          </a:p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Fill the form in, ticking the type of closure and include an end date.</a:t>
            </a:r>
          </a:p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For deceased service users the end date should be the date of death.</a:t>
            </a:r>
          </a:p>
          <a:p>
            <a:pPr lvl="0"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When a service is ending as a service user no longer requires the service anymore, put in the last date of service.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EB7F7E2-FBA1-4A3B-8165-FEE60CD275F3}"/>
              </a:ext>
            </a:extLst>
          </p:cNvPr>
          <p:cNvSpPr txBox="1"/>
          <p:nvPr/>
        </p:nvSpPr>
        <p:spPr>
          <a:xfrm>
            <a:off x="369000" y="365449"/>
            <a:ext cx="612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1500" b="1" dirty="0" smtClean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 Closures</a:t>
            </a:r>
            <a:endParaRPr lang="en-GB" sz="15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GB" sz="1500" dirty="0">
              <a:solidFill>
                <a:srgbClr val="FFC000">
                  <a:lumMod val="60000"/>
                  <a:lumOff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7B55F31-4041-4E12-982C-FA36786D946F}"/>
              </a:ext>
            </a:extLst>
          </p:cNvPr>
          <p:cNvCxnSpPr>
            <a:cxnSpLocks/>
          </p:cNvCxnSpPr>
          <p:nvPr/>
        </p:nvCxnSpPr>
        <p:spPr>
          <a:xfrm>
            <a:off x="513000" y="785473"/>
            <a:ext cx="5832000" cy="0"/>
          </a:xfrm>
          <a:prstGeom prst="line">
            <a:avLst/>
          </a:prstGeom>
          <a:ln w="50800" cap="sq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9000" y="7074077"/>
            <a:ext cx="6120000" cy="1186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69000" y="6472944"/>
            <a:ext cx="6120000" cy="160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Once you have filled the form in you are ready to send to DIT from the </a:t>
            </a:r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Adjust Support Package Following a Review – </a:t>
            </a:r>
            <a:r>
              <a:rPr lang="en-GB" sz="1300" dirty="0" err="1">
                <a:latin typeface="Arial" panose="020B0604020202020204" pitchFamily="34" charset="0"/>
                <a:cs typeface="Arial" panose="020B0604020202020204" pitchFamily="34" charset="0"/>
              </a:rPr>
              <a:t>Inc</a:t>
            </a:r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 Home </a:t>
            </a:r>
            <a:r>
              <a:rPr lang="en-GB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Care next action. </a:t>
            </a:r>
            <a:endParaRPr lang="en-GB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GB" sz="13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6497"/>
            <a:ext cx="6858000" cy="361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6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spe:Receivers xmlns:spe="http://schemas.microsoft.com/sharepoint/events">
  <Receiver>
    <Name>ItemUpdatedEventHandlerForConceptSearch</Name>
    <Synchronization>Asynchronous</Synchronization>
    <Type>10002</Type>
    <SequenceNumber>10001</SequenceNumber>
    <Url/>
    <Assembly>conceptSearching.Sharepoint.ContentTypes2010, Version=1.0.0.0, Culture=neutral, PublicKeyToken=858f8f13980e4745</Assembly>
    <Class>conceptSearching.Sharepoint.ContentTypes2010.CSHandleEvent</Class>
    <Data/>
    <Filter/>
  </Receiver>
  <Receiver>
    <Name>ItemUpdatingEventHandlerForConceptSearch</Name>
    <Synchronization>Synchronous</Synchronization>
    <Type>2</Type>
    <SequenceNumber>10001</SequenceNumber>
    <Url/>
    <Assembly>conceptSearching.Sharepoint.ContentTypes2010, Version=1.0.0.0, Culture=neutral, PublicKeyToken=858f8f13980e4745</Assembly>
    <Class>conceptSearching.Sharepoint.ContentTypes2010.CSHandleEvent</Class>
    <Data/>
    <Filter/>
  </Receiver>
  <Receiver>
    <Name>ItemCheckedInEventHandlerForConceptSearch</Name>
    <Synchronization>Asynchronous</Synchronization>
    <Type>10004</Type>
    <SequenceNumber>10002</SequenceNumber>
    <Url/>
    <Assembly>conceptSearching.Sharepoint.ContentTypes2010, Version=1.0.0.0, Culture=neutral, PublicKeyToken=858f8f13980e4745</Assembly>
    <Class>conceptSearching.Sharepoint.ContentTypes2010.CSHandleEvent</Class>
    <Data/>
    <Filter/>
  </Receiver>
  <Receiver>
    <Name>ItemUncheckedOutEventHandlerForConceptSearch</Name>
    <Synchronization>Asynchronous</Synchronization>
    <Type>10006</Type>
    <SequenceNumber>10003</SequenceNumber>
    <Url/>
    <Assembly>conceptSearching.Sharepoint.ContentTypes2010, Version=1.0.0.0, Culture=neutral, PublicKeyToken=858f8f13980e4745</Assembly>
    <Class>conceptSearching.Sharepoint.ContentTypes2010.CSHandleEvent</Class>
    <Data/>
    <Filter/>
  </Receiver>
  <Receiver>
    <Name>ItemAddedEventHandlerForConceptSearch</Name>
    <Synchronization>Asynchronous</Synchronization>
    <Type>10001</Type>
    <SequenceNumber>10004</SequenceNumber>
    <Url/>
    <Assembly>conceptSearching.Sharepoint.ContentTypes2010, Version=1.0.0.0, Culture=neutral, PublicKeyToken=858f8f13980e4745</Assembly>
    <Class>conceptSearching.Sharepoint.ContentTypes2010.CSHandleEvent</Class>
    <Data/>
    <Filter/>
  </Receiver>
  <Receiver>
    <Name>ItemFileMovedEventHandlerForConceptSearch</Name>
    <Synchronization>Asynchronous</Synchronization>
    <Type>10009</Type>
    <SequenceNumber>10005</SequenceNumber>
    <Url/>
    <Assembly>conceptSearching.Sharepoint.ContentTypes2010, Version=1.0.0.0, Culture=neutral, PublicKeyToken=858f8f13980e4745</Assembly>
    <Class>conceptSearching.Sharepoint.ContentTypes2010.CSHandleEvent</Class>
    <Data/>
    <Filter/>
  </Receiver>
  <Receiver>
    <Name>ItemDeletedEventHandlerForConceptSearch</Name>
    <Synchronization>Asynchronous</Synchronization>
    <Type>10003</Type>
    <SequenceNumber>10006</SequenceNumber>
    <Url/>
    <Assembly>conceptSearching.Sharepoint.ContentTypes2010, Version=1.0.0.0, Culture=neutral, PublicKeyToken=858f8f13980e4745</Assembly>
    <Class>conceptSearching.Sharepoint.ContentTypes2010.CSHandleEvent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NCC Document" ma:contentTypeID="0x01010098A77BC932DF7A47999647AAD48BE41E006A602FF36535274DA07593F0068414A7" ma:contentTypeVersion="2207" ma:contentTypeDescription="This is the base NCC document content type." ma:contentTypeScope="" ma:versionID="3d3511557743b579ff434da63a22c709">
  <xsd:schema xmlns:xsd="http://www.w3.org/2001/XMLSchema" xmlns:xs="http://www.w3.org/2001/XMLSchema" xmlns:p="http://schemas.microsoft.com/office/2006/metadata/properties" xmlns:ns2="92bfb92f-bbf5-40d9-929c-4d18231ced2b" xmlns:ns3="0defb683-ad47-44b8-91c0-b16753e7297d" targetNamespace="http://schemas.microsoft.com/office/2006/metadata/properties" ma:root="true" ma:fieldsID="1d6e01bac1aa95dffc49987868930385" ns2:_="" ns3:_="">
    <xsd:import namespace="92bfb92f-bbf5-40d9-929c-4d18231ced2b"/>
    <xsd:import namespace="0defb683-ad47-44b8-91c0-b16753e7297d"/>
    <xsd:element name="properties">
      <xsd:complexType>
        <xsd:sequence>
          <xsd:element name="documentManagement">
            <xsd:complexType>
              <xsd:all>
                <xsd:element ref="ns2:oe012239d41845c58cd5da6331d25a21" minOccurs="0"/>
                <xsd:element ref="ns2:ba31a95c39794849ba6667a1dc8b9af7" minOccurs="0"/>
                <xsd:element ref="ns2:fafe4fe03ee043a891e5247f86bc811b" minOccurs="0"/>
                <xsd:element ref="ns2:d511894b8e164ab581e46000ea18c6b0" minOccurs="0"/>
                <xsd:element ref="ns2:l04aa84ccd2f4bf683c8770bd0805e99" minOccurs="0"/>
                <xsd:element ref="ns3:TaxCatchAll" minOccurs="0"/>
                <xsd:element ref="ns3:TaxCatchAllLabel" minOccurs="0"/>
                <xsd:element ref="ns2:n3085ecab7174dc68bde185ade3f32b9" minOccurs="0"/>
                <xsd:element ref="ns2:mc98c939301f4786b8dcad3491aeb6e8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fb92f-bbf5-40d9-929c-4d18231ced2b" elementFormDefault="qualified">
    <xsd:import namespace="http://schemas.microsoft.com/office/2006/documentManagement/types"/>
    <xsd:import namespace="http://schemas.microsoft.com/office/infopath/2007/PartnerControls"/>
    <xsd:element name="oe012239d41845c58cd5da6331d25a21" ma:index="10" nillable="true" ma:taxonomy="true" ma:internalName="oe012239d41845c58cd5da6331d25a21" ma:taxonomyFieldName="Document_Type" ma:displayName="Document Type" ma:readOnly="false" ma:default="" ma:fieldId="{8e012239-d418-45c5-8cd5-da6331d25a21}" ma:sspId="64c9d834-598d-44db-8280-f2a48873429d" ma:termSetId="e0a7f381-dc0a-4d18-a572-d174e234785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a31a95c39794849ba6667a1dc8b9af7" ma:index="12" nillable="true" ma:taxonomy="true" ma:internalName="ba31a95c39794849ba6667a1dc8b9af7" ma:taxonomyFieldName="File_Plan" ma:displayName="File Plan" ma:default="" ma:fieldId="{ba31a95c-3979-4849-ba66-67a1dc8b9af7}" ma:taxonomyMulti="true" ma:sspId="64c9d834-598d-44db-8280-f2a48873429d" ma:termSetId="85a4d7db-0f76-460a-87eb-57ad36ae03b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afe4fe03ee043a891e5247f86bc811b" ma:index="14" nillable="true" ma:taxonomy="true" ma:internalName="fafe4fe03ee043a891e5247f86bc811b" ma:taxonomyFieldName="Financial_Year" ma:displayName="Financial Year" ma:default="" ma:fieldId="{fafe4fe0-3ee0-43a8-91e5-247f86bc811b}" ma:taxonomyMulti="true" ma:sspId="64c9d834-598d-44db-8280-f2a48873429d" ma:termSetId="edc266e7-e925-4ff3-9bf8-4a9dad39b78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511894b8e164ab581e46000ea18c6b0" ma:index="16" nillable="true" ma:taxonomy="true" ma:internalName="d511894b8e164ab581e46000ea18c6b0" ma:taxonomyFieldName="Security_Classification" ma:displayName="Security Classification" ma:fieldId="{d511894b-8e16-4ab5-81e4-6000ea18c6b0}" ma:sspId="64c9d834-598d-44db-8280-f2a48873429d" ma:termSetId="4f753933-fbe9-4b8d-9f82-ff63e9aa954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04aa84ccd2f4bf683c8770bd0805e99" ma:index="19" nillable="true" ma:taxonomy="true" ma:internalName="l04aa84ccd2f4bf683c8770bd0805e99" ma:taxonomyFieldName="NCC_Audience" ma:displayName="NCC Audience" ma:default="" ma:fieldId="{504aa84c-cd2f-4bf6-83c8-770bd0805e99}" ma:taxonomyMulti="true" ma:sspId="64c9d834-598d-44db-8280-f2a48873429d" ma:termSetId="b94ed75c-002a-4bb8-9f19-0713357e891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3085ecab7174dc68bde185ade3f32b9" ma:index="22" nillable="true" ma:taxonomy="true" ma:internalName="n3085ecab7174dc68bde185ade3f32b9" ma:taxonomyFieldName="NCC_Status" ma:displayName="Doc Status" ma:fieldId="{73085eca-b717-4dc6-8bde-185ade3f32b9}" ma:sspId="64c9d834-598d-44db-8280-f2a48873429d" ma:termSetId="e5e3b9af-3c2f-4c77-901d-295b696646e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c98c939301f4786b8dcad3491aeb6e8" ma:index="23" nillable="true" ma:taxonomy="true" ma:internalName="mc98c939301f4786b8dcad3491aeb6e8" ma:taxonomyFieldName="Authoring_Team" ma:displayName="Authoring Team" ma:readOnly="false" ma:default="" ma:fieldId="{6c98c939-301f-4786-b8dc-ad3491aeb6e8}" ma:sspId="64c9d834-598d-44db-8280-f2a48873429d" ma:termSetId="7c8bfc01-3c61-4992-8382-4bbc43bc0606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efb683-ad47-44b8-91c0-b16753e729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description="" ma:hidden="true" ma:list="{f8027f14-b454-4912-a001-0ded3a36b059}" ma:internalName="TaxCatchAll" ma:showField="CatchAllData" ma:web="1c7fe22e-5312-477d-b31e-feec28831b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1" nillable="true" ma:displayName="Taxonomy Catch All Column1" ma:description="" ma:hidden="true" ma:list="{f8027f14-b454-4912-a001-0ded3a36b059}" ma:internalName="TaxCatchAllLabel" ma:readOnly="true" ma:showField="CatchAllDataLabel" ma:web="1c7fe22e-5312-477d-b31e-feec28831b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afe4fe03ee043a891e5247f86bc811b xmlns="92bfb92f-bbf5-40d9-929c-4d18231ced2b">
      <Terms xmlns="http://schemas.microsoft.com/office/infopath/2007/PartnerControls"/>
    </fafe4fe03ee043a891e5247f86bc811b>
    <mc98c939301f4786b8dcad3491aeb6e8 xmlns="92bfb92f-bbf5-40d9-929c-4d18231ced2b">
      <Terms xmlns="http://schemas.microsoft.com/office/infopath/2007/PartnerControls"/>
    </mc98c939301f4786b8dcad3491aeb6e8>
    <n3085ecab7174dc68bde185ade3f32b9 xmlns="92bfb92f-bbf5-40d9-929c-4d18231ced2b">
      <Terms xmlns="http://schemas.microsoft.com/office/infopath/2007/PartnerControls">
        <TermInfo xmlns="http://schemas.microsoft.com/office/infopath/2007/PartnerControls">
          <TermName xmlns="http://schemas.microsoft.com/office/infopath/2007/PartnerControls">Draft</TermName>
          <TermId xmlns="http://schemas.microsoft.com/office/infopath/2007/PartnerControls">fbfd3d3b-379a-4ef9-a760-718cd7103326</TermId>
        </TermInfo>
      </Terms>
    </n3085ecab7174dc68bde185ade3f32b9>
    <oe012239d41845c58cd5da6331d25a21 xmlns="92bfb92f-bbf5-40d9-929c-4d18231ced2b">
      <Terms xmlns="http://schemas.microsoft.com/office/infopath/2007/PartnerControls"/>
    </oe012239d41845c58cd5da6331d25a21>
    <d511894b8e164ab581e46000ea18c6b0 xmlns="92bfb92f-bbf5-40d9-929c-4d18231ced2b">
      <Terms xmlns="http://schemas.microsoft.com/office/infopath/2007/PartnerControls"/>
    </d511894b8e164ab581e46000ea18c6b0>
    <TaxCatchAll xmlns="0defb683-ad47-44b8-91c0-b16753e7297d">
      <Value>1</Value>
    </TaxCatchAll>
    <ba31a95c39794849ba6667a1dc8b9af7 xmlns="92bfb92f-bbf5-40d9-929c-4d18231ced2b">
      <Terms xmlns="http://schemas.microsoft.com/office/infopath/2007/PartnerControls"/>
    </ba31a95c39794849ba6667a1dc8b9af7>
    <l04aa84ccd2f4bf683c8770bd0805e99 xmlns="92bfb92f-bbf5-40d9-929c-4d18231ced2b">
      <Terms xmlns="http://schemas.microsoft.com/office/infopath/2007/PartnerControls"/>
    </l04aa84ccd2f4bf683c8770bd0805e99>
  </documentManagement>
</p:properties>
</file>

<file path=customXml/item5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6.xml><?xml version="1.0" encoding="utf-8"?>
<?mso-contentType ?>
<SharedContentType xmlns="Microsoft.SharePoint.Taxonomy.ContentTypeSync" SourceId="64c9d834-598d-44db-8280-f2a48873429d" ContentTypeId="0x01010098A77BC932DF7A47999647AAD48BE41E" PreviousValue="false"/>
</file>

<file path=customXml/itemProps1.xml><?xml version="1.0" encoding="utf-8"?>
<ds:datastoreItem xmlns:ds="http://schemas.openxmlformats.org/officeDocument/2006/customXml" ds:itemID="{F4706E48-8F1F-4C9B-9E74-C6909509033E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2B0D81A-BD96-46DF-B546-FD7B408A8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824A65-E5F1-43CD-B80C-6B5DFDDE2F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bfb92f-bbf5-40d9-929c-4d18231ced2b"/>
    <ds:schemaRef ds:uri="0defb683-ad47-44b8-91c0-b16753e729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C8AF17F-8C74-4933-A261-3936912ABAFB}">
  <ds:schemaRefs>
    <ds:schemaRef ds:uri="http://purl.org/dc/terms/"/>
    <ds:schemaRef ds:uri="http://purl.org/dc/dcmitype/"/>
    <ds:schemaRef ds:uri="http://schemas.microsoft.com/office/2006/documentManagement/types"/>
    <ds:schemaRef ds:uri="92bfb92f-bbf5-40d9-929c-4d18231ced2b"/>
    <ds:schemaRef ds:uri="http://purl.org/dc/elements/1.1/"/>
    <ds:schemaRef ds:uri="http://schemas.microsoft.com/office/infopath/2007/PartnerControls"/>
    <ds:schemaRef ds:uri="0defb683-ad47-44b8-91c0-b16753e7297d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A7B8CFCC-704C-47E7-92F8-25E4CBDA117A}">
  <ds:schemaRefs>
    <ds:schemaRef ds:uri="http://schemas.microsoft.com/office/2006/metadata/customXsn"/>
  </ds:schemaRefs>
</ds:datastoreItem>
</file>

<file path=customXml/itemProps6.xml><?xml version="1.0" encoding="utf-8"?>
<ds:datastoreItem xmlns:ds="http://schemas.openxmlformats.org/officeDocument/2006/customXml" ds:itemID="{1026F090-709C-4708-BA81-61B1AF94C667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2009</TotalTime>
  <Words>977</Words>
  <Application>Microsoft Office PowerPoint</Application>
  <PresentationFormat>On-screen Show (4:3)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2_Custom Design</vt:lpstr>
      <vt:lpstr>1_Custom Design</vt:lpstr>
      <vt:lpstr>3_Custom Design</vt:lpstr>
      <vt:lpstr>4_Custom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HBC Interim process guidance</dc:title>
  <dc:creator>Stuart Proctor</dc:creator>
  <cp:lastModifiedBy>Kath Watson</cp:lastModifiedBy>
  <cp:revision>79</cp:revision>
  <cp:lastPrinted>2018-06-27T14:52:12Z</cp:lastPrinted>
  <dcterms:created xsi:type="dcterms:W3CDTF">2018-06-12T08:45:27Z</dcterms:created>
  <dcterms:modified xsi:type="dcterms:W3CDTF">2019-01-11T14:40:45Z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0x01010098A77BC932DF7A47999647AAD48BE41E006A602FF36535274DA07593F0068414A7</vt:lpwstr>
  </property>
  <property fmtid="{D5CDD505-2E9C-101B-9397-08002B2CF9AE}" pid="3" name="NCC_Status">
    <vt:lpwstr>1;#Draft|fbfd3d3b-379a-4ef9-a760-718cd7103326</vt:lpwstr>
  </property>
  <property fmtid="{D5CDD505-2E9C-101B-9397-08002B2CF9AE}" pid="4" name="Security_Classification">
    <vt:lpwstr/>
  </property>
  <property fmtid="{D5CDD505-2E9C-101B-9397-08002B2CF9AE}" pid="5" name="NCC_Audience">
    <vt:lpwstr/>
  </property>
  <property fmtid="{D5CDD505-2E9C-101B-9397-08002B2CF9AE}" pid="6" name="Authoring_Team">
    <vt:lpwstr/>
  </property>
  <property fmtid="{D5CDD505-2E9C-101B-9397-08002B2CF9AE}" pid="7" name="Financial_Year">
    <vt:lpwstr/>
  </property>
  <property fmtid="{D5CDD505-2E9C-101B-9397-08002B2CF9AE}" pid="8" name="Document_Type">
    <vt:lpwstr/>
  </property>
  <property fmtid="{D5CDD505-2E9C-101B-9397-08002B2CF9AE}" pid="9" name="File_Plan">
    <vt:lpwstr/>
  </property>
</Properties>
</file>