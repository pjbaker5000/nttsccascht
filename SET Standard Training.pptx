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370" r:id="rId2"/>
    <p:sldId id="349" r:id="rId3"/>
    <p:sldId id="354" r:id="rId4"/>
    <p:sldId id="357" r:id="rId5"/>
    <p:sldId id="369" r:id="rId6"/>
    <p:sldId id="340" r:id="rId7"/>
    <p:sldId id="359" r:id="rId8"/>
    <p:sldId id="697" r:id="rId9"/>
    <p:sldId id="360" r:id="rId10"/>
    <p:sldId id="364" r:id="rId11"/>
    <p:sldId id="363" r:id="rId12"/>
    <p:sldId id="698" r:id="rId13"/>
    <p:sldId id="315" r:id="rId14"/>
    <p:sldId id="262" r:id="rId15"/>
    <p:sldId id="347" r:id="rId16"/>
    <p:sldId id="378" r:id="rId17"/>
    <p:sldId id="343" r:id="rId18"/>
    <p:sldId id="265" r:id="rId19"/>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 Paling" initials="JP" lastIdx="0" clrIdx="0">
    <p:extLst>
      <p:ext uri="{19B8F6BF-5375-455C-9EA6-DF929625EA0E}">
        <p15:presenceInfo xmlns:p15="http://schemas.microsoft.com/office/powerpoint/2012/main" userId="S-1-5-21-3388933763-2387696048-3050347461-1109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E31B6-F8C5-4A88-A05B-D3E53C56010E}" v="96" dt="2024-11-12T12:07:32.3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nottinghamcity.gov.uk\shd_com\Modern%20Slavery\MDS%20SERAC\Statistics\2023-4%20Yearly%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nottinghamcity.gov.uk\shd_com\Modern%20Slavery\MDS%20SERAC\Statistics\2023-4%20Yearly%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nottinghamcity.gov.uk\shd_com\Modern%20Slavery\MDS%20SERAC\Statistics\Stats%20Jan-Dec%2023.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42"/>
        <c:axId val="91090984"/>
        <c:axId val="91086720"/>
      </c:barChart>
      <c:catAx>
        <c:axId val="91090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086720"/>
        <c:crosses val="autoZero"/>
        <c:auto val="1"/>
        <c:lblAlgn val="ctr"/>
        <c:lblOffset val="100"/>
        <c:noMultiLvlLbl val="0"/>
      </c:catAx>
      <c:valAx>
        <c:axId val="91086720"/>
        <c:scaling>
          <c:orientation val="minMax"/>
        </c:scaling>
        <c:delete val="1"/>
        <c:axPos val="l"/>
        <c:numFmt formatCode="General" sourceLinked="1"/>
        <c:majorTickMark val="none"/>
        <c:minorTickMark val="none"/>
        <c:tickLblPos val="nextTo"/>
        <c:crossAx val="91090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142"/>
        <c:axId val="91090984"/>
        <c:axId val="91086720"/>
      </c:barChart>
      <c:catAx>
        <c:axId val="91090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086720"/>
        <c:crosses val="autoZero"/>
        <c:auto val="1"/>
        <c:lblAlgn val="ctr"/>
        <c:lblOffset val="100"/>
        <c:noMultiLvlLbl val="0"/>
      </c:catAx>
      <c:valAx>
        <c:axId val="91086720"/>
        <c:scaling>
          <c:orientation val="minMax"/>
        </c:scaling>
        <c:delete val="1"/>
        <c:axPos val="l"/>
        <c:numFmt formatCode="General" sourceLinked="1"/>
        <c:majorTickMark val="none"/>
        <c:minorTickMark val="none"/>
        <c:tickLblPos val="nextTo"/>
        <c:crossAx val="91090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Cases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Cuckooing</c:v>
                </c:pt>
                <c:pt idx="1">
                  <c:v>Trafficking</c:v>
                </c:pt>
                <c:pt idx="2">
                  <c:v>Labour Ex. / Forced Labour</c:v>
                </c:pt>
                <c:pt idx="3">
                  <c:v>Sexual Ex.</c:v>
                </c:pt>
                <c:pt idx="4">
                  <c:v>Financial Ex.</c:v>
                </c:pt>
                <c:pt idx="5">
                  <c:v>Unspecified Exploitation/MDS</c:v>
                </c:pt>
                <c:pt idx="6">
                  <c:v>Domestic Servitude</c:v>
                </c:pt>
                <c:pt idx="7">
                  <c:v>Criminal Ex.</c:v>
                </c:pt>
                <c:pt idx="8">
                  <c:v>Debt Bondage</c:v>
                </c:pt>
                <c:pt idx="9">
                  <c:v>CCE/CSE (Specify in Notes)</c:v>
                </c:pt>
              </c:strCache>
            </c:strRef>
          </c:cat>
          <c:val>
            <c:numRef>
              <c:f>Sheet1!$B$2:$B$11</c:f>
              <c:numCache>
                <c:formatCode>General</c:formatCode>
                <c:ptCount val="10"/>
                <c:pt idx="0">
                  <c:v>230</c:v>
                </c:pt>
                <c:pt idx="1">
                  <c:v>22</c:v>
                </c:pt>
                <c:pt idx="2">
                  <c:v>30</c:v>
                </c:pt>
                <c:pt idx="3">
                  <c:v>76</c:v>
                </c:pt>
                <c:pt idx="4">
                  <c:v>330</c:v>
                </c:pt>
                <c:pt idx="5">
                  <c:v>167</c:v>
                </c:pt>
                <c:pt idx="6">
                  <c:v>11</c:v>
                </c:pt>
                <c:pt idx="7">
                  <c:v>51</c:v>
                </c:pt>
                <c:pt idx="8">
                  <c:v>7</c:v>
                </c:pt>
                <c:pt idx="9">
                  <c:v>3</c:v>
                </c:pt>
              </c:numCache>
            </c:numRef>
          </c:val>
          <c:extLst>
            <c:ext xmlns:c16="http://schemas.microsoft.com/office/drawing/2014/chart" uri="{C3380CC4-5D6E-409C-BE32-E72D297353CC}">
              <c16:uniqueId val="{00000000-E655-48E9-AE78-A48DA7F21822}"/>
            </c:ext>
          </c:extLst>
        </c:ser>
        <c:dLbls>
          <c:dLblPos val="outEnd"/>
          <c:showLegendKey val="0"/>
          <c:showVal val="1"/>
          <c:showCatName val="0"/>
          <c:showSerName val="0"/>
          <c:showPercent val="0"/>
          <c:showBubbleSize val="0"/>
        </c:dLbls>
        <c:gapWidth val="219"/>
        <c:overlap val="-27"/>
        <c:axId val="729237472"/>
        <c:axId val="729234952"/>
      </c:barChart>
      <c:catAx>
        <c:axId val="729237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729234952"/>
        <c:crosses val="autoZero"/>
        <c:auto val="1"/>
        <c:lblAlgn val="ctr"/>
        <c:lblOffset val="100"/>
        <c:noMultiLvlLbl val="0"/>
      </c:catAx>
      <c:valAx>
        <c:axId val="729234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7292374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dLblPos val="outEnd"/>
          <c:showLegendKey val="0"/>
          <c:showVal val="1"/>
          <c:showCatName val="0"/>
          <c:showSerName val="0"/>
          <c:showPercent val="0"/>
          <c:showBubbleSize val="0"/>
        </c:dLbls>
        <c:gapWidth val="154"/>
        <c:overlap val="-27"/>
        <c:axId val="649364344"/>
        <c:axId val="649361392"/>
      </c:barChart>
      <c:catAx>
        <c:axId val="649364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crossAx val="649361392"/>
        <c:crosses val="autoZero"/>
        <c:auto val="1"/>
        <c:lblAlgn val="ctr"/>
        <c:lblOffset val="100"/>
        <c:noMultiLvlLbl val="0"/>
      </c:catAx>
      <c:valAx>
        <c:axId val="649361392"/>
        <c:scaling>
          <c:orientation val="minMax"/>
        </c:scaling>
        <c:delete val="1"/>
        <c:axPos val="l"/>
        <c:numFmt formatCode="General" sourceLinked="1"/>
        <c:majorTickMark val="none"/>
        <c:minorTickMark val="none"/>
        <c:tickLblPos val="nextTo"/>
        <c:crossAx val="6493643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dLblPos val="outEnd"/>
          <c:showLegendKey val="0"/>
          <c:showVal val="1"/>
          <c:showCatName val="0"/>
          <c:showSerName val="0"/>
          <c:showPercent val="0"/>
          <c:showBubbleSize val="0"/>
        </c:dLbls>
        <c:gapWidth val="219"/>
        <c:overlap val="-27"/>
        <c:axId val="719810808"/>
        <c:axId val="719809008"/>
      </c:barChart>
      <c:catAx>
        <c:axId val="719810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719809008"/>
        <c:crosses val="autoZero"/>
        <c:auto val="1"/>
        <c:lblAlgn val="ctr"/>
        <c:lblOffset val="100"/>
        <c:noMultiLvlLbl val="0"/>
      </c:catAx>
      <c:valAx>
        <c:axId val="71980900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719810808"/>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Sheet1!$B$14</c:f>
              <c:strCache>
                <c:ptCount val="1"/>
                <c:pt idx="0">
                  <c:v>Cases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Sheet1!$A$15:$A$26</c:f>
              <c:strCache>
                <c:ptCount val="12"/>
                <c:pt idx="0">
                  <c:v>Neurodivergence</c:v>
                </c:pt>
                <c:pt idx="1">
                  <c:v>Disability</c:v>
                </c:pt>
                <c:pt idx="2">
                  <c:v>Substances</c:v>
                </c:pt>
                <c:pt idx="3">
                  <c:v>MH Diagnosed/Symptoms</c:v>
                </c:pt>
                <c:pt idx="4">
                  <c:v>Unemployment</c:v>
                </c:pt>
                <c:pt idx="5">
                  <c:v>Loneliness</c:v>
                </c:pt>
                <c:pt idx="6">
                  <c:v>Homelessness</c:v>
                </c:pt>
                <c:pt idx="7">
                  <c:v>Unsettled Family</c:v>
                </c:pt>
                <c:pt idx="8">
                  <c:v>Cognitive</c:v>
                </c:pt>
                <c:pt idx="9">
                  <c:v>Care Leaver</c:v>
                </c:pt>
                <c:pt idx="10">
                  <c:v>Health Condition</c:v>
                </c:pt>
                <c:pt idx="11">
                  <c:v>Prison Leaver</c:v>
                </c:pt>
              </c:strCache>
            </c:strRef>
          </c:cat>
          <c:val>
            <c:numRef>
              <c:f>Sheet1!$B$15:$B$26</c:f>
              <c:numCache>
                <c:formatCode>General</c:formatCode>
                <c:ptCount val="12"/>
                <c:pt idx="0">
                  <c:v>51</c:v>
                </c:pt>
                <c:pt idx="1">
                  <c:v>148</c:v>
                </c:pt>
                <c:pt idx="2">
                  <c:v>323</c:v>
                </c:pt>
                <c:pt idx="3">
                  <c:v>406</c:v>
                </c:pt>
                <c:pt idx="4">
                  <c:v>30</c:v>
                </c:pt>
                <c:pt idx="5">
                  <c:v>88</c:v>
                </c:pt>
                <c:pt idx="6">
                  <c:v>110</c:v>
                </c:pt>
                <c:pt idx="7">
                  <c:v>76</c:v>
                </c:pt>
                <c:pt idx="8">
                  <c:v>104</c:v>
                </c:pt>
                <c:pt idx="9">
                  <c:v>30</c:v>
                </c:pt>
                <c:pt idx="10">
                  <c:v>283</c:v>
                </c:pt>
                <c:pt idx="11">
                  <c:v>36</c:v>
                </c:pt>
              </c:numCache>
            </c:numRef>
          </c:val>
          <c:extLst>
            <c:ext xmlns:c16="http://schemas.microsoft.com/office/drawing/2014/chart" uri="{C3380CC4-5D6E-409C-BE32-E72D297353CC}">
              <c16:uniqueId val="{00000000-2649-430F-8AFA-7AC7DD3CBE3F}"/>
            </c:ext>
          </c:extLst>
        </c:ser>
        <c:dLbls>
          <c:dLblPos val="outEnd"/>
          <c:showLegendKey val="0"/>
          <c:showVal val="1"/>
          <c:showCatName val="0"/>
          <c:showSerName val="0"/>
          <c:showPercent val="0"/>
          <c:showBubbleSize val="0"/>
        </c:dLbls>
        <c:gapWidth val="219"/>
        <c:overlap val="-27"/>
        <c:axId val="719810808"/>
        <c:axId val="719809008"/>
      </c:barChart>
      <c:catAx>
        <c:axId val="719810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719809008"/>
        <c:crosses val="autoZero"/>
        <c:auto val="1"/>
        <c:lblAlgn val="ctr"/>
        <c:lblOffset val="100"/>
        <c:noMultiLvlLbl val="0"/>
      </c:catAx>
      <c:valAx>
        <c:axId val="719809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7198108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AC4910-AAEB-427A-AE71-EEE5A0B37AA0}"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89474045-CC2D-456F-BC65-0B32D0D235A6}">
      <dgm:prSet custT="1"/>
      <dgm:spPr/>
      <dgm:t>
        <a:bodyPr/>
        <a:lstStyle/>
        <a:p>
          <a:r>
            <a:rPr lang="en-GB" sz="2400" dirty="0"/>
            <a:t>Journey of a referral</a:t>
          </a:r>
          <a:endParaRPr lang="en-US" sz="2400" dirty="0"/>
        </a:p>
      </dgm:t>
    </dgm:pt>
    <dgm:pt modelId="{63A2FBC4-031A-4C81-8C93-19A167D26D18}" type="parTrans" cxnId="{F091CD03-EA26-4052-AD46-303B5AC838C6}">
      <dgm:prSet/>
      <dgm:spPr/>
      <dgm:t>
        <a:bodyPr/>
        <a:lstStyle/>
        <a:p>
          <a:endParaRPr lang="en-US"/>
        </a:p>
      </dgm:t>
    </dgm:pt>
    <dgm:pt modelId="{F6D2FCE6-95B4-4BAC-9414-8D2678A85218}" type="sibTrans" cxnId="{F091CD03-EA26-4052-AD46-303B5AC838C6}">
      <dgm:prSet/>
      <dgm:spPr/>
      <dgm:t>
        <a:bodyPr/>
        <a:lstStyle/>
        <a:p>
          <a:endParaRPr lang="en-US"/>
        </a:p>
      </dgm:t>
    </dgm:pt>
    <dgm:pt modelId="{F35FD4B1-01D1-4F97-A6C2-D10E6E499592}">
      <dgm:prSet custT="1"/>
      <dgm:spPr/>
      <dgm:t>
        <a:bodyPr/>
        <a:lstStyle/>
        <a:p>
          <a:r>
            <a:rPr lang="en-GB" sz="2400" dirty="0"/>
            <a:t>SERAC – creative discussion, solution focus</a:t>
          </a:r>
          <a:endParaRPr lang="en-US" sz="2400" dirty="0"/>
        </a:p>
      </dgm:t>
    </dgm:pt>
    <dgm:pt modelId="{4ED3D450-3D7A-4A7F-BD66-8943873EA1B1}" type="parTrans" cxnId="{AB4FB984-49B2-4925-8C51-F8C605FCF748}">
      <dgm:prSet/>
      <dgm:spPr/>
      <dgm:t>
        <a:bodyPr/>
        <a:lstStyle/>
        <a:p>
          <a:endParaRPr lang="en-US"/>
        </a:p>
      </dgm:t>
    </dgm:pt>
    <dgm:pt modelId="{6C74F8F4-2E96-4428-9983-5CAA4B61B781}" type="sibTrans" cxnId="{AB4FB984-49B2-4925-8C51-F8C605FCF748}">
      <dgm:prSet/>
      <dgm:spPr/>
      <dgm:t>
        <a:bodyPr/>
        <a:lstStyle/>
        <a:p>
          <a:endParaRPr lang="en-US"/>
        </a:p>
      </dgm:t>
    </dgm:pt>
    <dgm:pt modelId="{2F6A62E4-57FC-4206-AC16-BC44D79A5B5F}">
      <dgm:prSet custT="1"/>
      <dgm:spPr/>
      <dgm:t>
        <a:bodyPr/>
        <a:lstStyle/>
        <a:p>
          <a:r>
            <a:rPr lang="en-GB" sz="2400" dirty="0"/>
            <a:t>Thresholds </a:t>
          </a:r>
          <a:endParaRPr lang="en-US" sz="2400" dirty="0"/>
        </a:p>
      </dgm:t>
    </dgm:pt>
    <dgm:pt modelId="{DF9E7475-1A4D-4A28-A906-67483816D96E}" type="parTrans" cxnId="{53BD1BC3-6721-455D-852C-B17AF863BC6F}">
      <dgm:prSet/>
      <dgm:spPr/>
      <dgm:t>
        <a:bodyPr/>
        <a:lstStyle/>
        <a:p>
          <a:endParaRPr lang="en-US"/>
        </a:p>
      </dgm:t>
    </dgm:pt>
    <dgm:pt modelId="{675D55C9-D403-4923-B7EE-CDF3A4C2DAB9}" type="sibTrans" cxnId="{53BD1BC3-6721-455D-852C-B17AF863BC6F}">
      <dgm:prSet/>
      <dgm:spPr/>
      <dgm:t>
        <a:bodyPr/>
        <a:lstStyle/>
        <a:p>
          <a:endParaRPr lang="en-US"/>
        </a:p>
      </dgm:t>
    </dgm:pt>
    <dgm:pt modelId="{C0F1530E-D986-4FCB-9C33-29FF8D135438}">
      <dgm:prSet custT="1"/>
      <dgm:spPr/>
      <dgm:t>
        <a:bodyPr/>
        <a:lstStyle/>
        <a:p>
          <a:r>
            <a:rPr lang="en-GB" sz="2400" dirty="0"/>
            <a:t>Training</a:t>
          </a:r>
          <a:endParaRPr lang="en-US" sz="2400" dirty="0"/>
        </a:p>
      </dgm:t>
    </dgm:pt>
    <dgm:pt modelId="{4A68335C-1386-4637-B92D-FECF507B092C}" type="parTrans" cxnId="{3B1D21F4-CA0B-4618-B90E-026F9CC17834}">
      <dgm:prSet/>
      <dgm:spPr/>
      <dgm:t>
        <a:bodyPr/>
        <a:lstStyle/>
        <a:p>
          <a:endParaRPr lang="en-US"/>
        </a:p>
      </dgm:t>
    </dgm:pt>
    <dgm:pt modelId="{9258F951-FA2C-48DB-B8E7-2BB99A47EF29}" type="sibTrans" cxnId="{3B1D21F4-CA0B-4618-B90E-026F9CC17834}">
      <dgm:prSet/>
      <dgm:spPr/>
      <dgm:t>
        <a:bodyPr/>
        <a:lstStyle/>
        <a:p>
          <a:endParaRPr lang="en-US"/>
        </a:p>
      </dgm:t>
    </dgm:pt>
    <dgm:pt modelId="{554A4DDC-51F5-4A5A-8CB8-20127F0D5125}">
      <dgm:prSet custT="1"/>
      <dgm:spPr/>
      <dgm:t>
        <a:bodyPr/>
        <a:lstStyle/>
        <a:p>
          <a:r>
            <a:rPr lang="en-GB" sz="2400" dirty="0"/>
            <a:t>Single Point of Contact</a:t>
          </a:r>
          <a:endParaRPr lang="en-US" sz="2400" dirty="0"/>
        </a:p>
      </dgm:t>
    </dgm:pt>
    <dgm:pt modelId="{F51012AD-2C5D-41EA-8A6C-6821DDB607B2}" type="parTrans" cxnId="{B28831C6-CA43-4E81-86CB-2D689DD5042A}">
      <dgm:prSet/>
      <dgm:spPr/>
      <dgm:t>
        <a:bodyPr/>
        <a:lstStyle/>
        <a:p>
          <a:endParaRPr lang="en-US"/>
        </a:p>
      </dgm:t>
    </dgm:pt>
    <dgm:pt modelId="{44C1C3A4-99B8-4815-8D99-5BF0B30F5C47}" type="sibTrans" cxnId="{B28831C6-CA43-4E81-86CB-2D689DD5042A}">
      <dgm:prSet/>
      <dgm:spPr/>
      <dgm:t>
        <a:bodyPr/>
        <a:lstStyle/>
        <a:p>
          <a:endParaRPr lang="en-US"/>
        </a:p>
      </dgm:t>
    </dgm:pt>
    <dgm:pt modelId="{E54161E5-07F1-4F2B-BF91-76AD6AE33124}">
      <dgm:prSet custT="1"/>
      <dgm:spPr/>
      <dgm:t>
        <a:bodyPr/>
        <a:lstStyle/>
        <a:p>
          <a:r>
            <a:rPr lang="en-GB" sz="2400" dirty="0"/>
            <a:t>Multi agency visits</a:t>
          </a:r>
          <a:endParaRPr lang="en-US" sz="2400" dirty="0"/>
        </a:p>
      </dgm:t>
    </dgm:pt>
    <dgm:pt modelId="{7D65D90C-A5FD-4F7D-9B50-4F89879DDE88}" type="parTrans" cxnId="{313B6E59-2BE8-4A64-840E-8865585DFBCE}">
      <dgm:prSet/>
      <dgm:spPr/>
      <dgm:t>
        <a:bodyPr/>
        <a:lstStyle/>
        <a:p>
          <a:endParaRPr lang="en-US"/>
        </a:p>
      </dgm:t>
    </dgm:pt>
    <dgm:pt modelId="{F8F5F4B8-0ADA-4C4F-81C5-F3F3815160B1}" type="sibTrans" cxnId="{313B6E59-2BE8-4A64-840E-8865585DFBCE}">
      <dgm:prSet/>
      <dgm:spPr/>
      <dgm:t>
        <a:bodyPr/>
        <a:lstStyle/>
        <a:p>
          <a:endParaRPr lang="en-US"/>
        </a:p>
      </dgm:t>
    </dgm:pt>
    <dgm:pt modelId="{FEE1D4D6-6486-4530-AFF4-96A30A6148DE}">
      <dgm:prSet custT="1"/>
      <dgm:spPr/>
      <dgm:t>
        <a:bodyPr/>
        <a:lstStyle/>
        <a:p>
          <a:r>
            <a:rPr lang="en-GB" sz="2400" dirty="0"/>
            <a:t>Strategic role – local/national/global</a:t>
          </a:r>
          <a:endParaRPr lang="en-US" sz="2400" dirty="0"/>
        </a:p>
      </dgm:t>
    </dgm:pt>
    <dgm:pt modelId="{3627F30A-9EFE-4A3B-96D8-65521C84414C}" type="parTrans" cxnId="{C77C5471-D763-47D7-BBE9-650C30F3EE72}">
      <dgm:prSet/>
      <dgm:spPr/>
      <dgm:t>
        <a:bodyPr/>
        <a:lstStyle/>
        <a:p>
          <a:endParaRPr lang="en-US"/>
        </a:p>
      </dgm:t>
    </dgm:pt>
    <dgm:pt modelId="{DC3FC88C-AE2D-442F-8851-90617778050D}" type="sibTrans" cxnId="{C77C5471-D763-47D7-BBE9-650C30F3EE72}">
      <dgm:prSet/>
      <dgm:spPr/>
      <dgm:t>
        <a:bodyPr/>
        <a:lstStyle/>
        <a:p>
          <a:endParaRPr lang="en-US"/>
        </a:p>
      </dgm:t>
    </dgm:pt>
    <dgm:pt modelId="{128AC549-CF92-4F41-B791-D0F2A2A247E1}" type="pres">
      <dgm:prSet presAssocID="{E1AC4910-AAEB-427A-AE71-EEE5A0B37AA0}" presName="diagram" presStyleCnt="0">
        <dgm:presLayoutVars>
          <dgm:dir/>
          <dgm:resizeHandles val="exact"/>
        </dgm:presLayoutVars>
      </dgm:prSet>
      <dgm:spPr/>
    </dgm:pt>
    <dgm:pt modelId="{FDDE59B5-6CE6-4FE4-A23A-B34783C846CF}" type="pres">
      <dgm:prSet presAssocID="{89474045-CC2D-456F-BC65-0B32D0D235A6}" presName="node" presStyleLbl="node1" presStyleIdx="0" presStyleCnt="7">
        <dgm:presLayoutVars>
          <dgm:bulletEnabled val="1"/>
        </dgm:presLayoutVars>
      </dgm:prSet>
      <dgm:spPr/>
    </dgm:pt>
    <dgm:pt modelId="{D4549DDC-80AE-4285-B213-2EFD0766FA59}" type="pres">
      <dgm:prSet presAssocID="{F6D2FCE6-95B4-4BAC-9414-8D2678A85218}" presName="sibTrans" presStyleCnt="0"/>
      <dgm:spPr/>
    </dgm:pt>
    <dgm:pt modelId="{402BD188-8726-4865-9691-AFA76012CA58}" type="pres">
      <dgm:prSet presAssocID="{F35FD4B1-01D1-4F97-A6C2-D10E6E499592}" presName="node" presStyleLbl="node1" presStyleIdx="1" presStyleCnt="7">
        <dgm:presLayoutVars>
          <dgm:bulletEnabled val="1"/>
        </dgm:presLayoutVars>
      </dgm:prSet>
      <dgm:spPr/>
    </dgm:pt>
    <dgm:pt modelId="{2051C6D4-74A0-45B2-844C-0104925048B4}" type="pres">
      <dgm:prSet presAssocID="{6C74F8F4-2E96-4428-9983-5CAA4B61B781}" presName="sibTrans" presStyleCnt="0"/>
      <dgm:spPr/>
    </dgm:pt>
    <dgm:pt modelId="{BEFFB33D-70D0-4FC2-9D91-5498132C252F}" type="pres">
      <dgm:prSet presAssocID="{2F6A62E4-57FC-4206-AC16-BC44D79A5B5F}" presName="node" presStyleLbl="node1" presStyleIdx="2" presStyleCnt="7">
        <dgm:presLayoutVars>
          <dgm:bulletEnabled val="1"/>
        </dgm:presLayoutVars>
      </dgm:prSet>
      <dgm:spPr/>
    </dgm:pt>
    <dgm:pt modelId="{A2DABC45-A2C5-4909-9646-6E5F247EF8F3}" type="pres">
      <dgm:prSet presAssocID="{675D55C9-D403-4923-B7EE-CDF3A4C2DAB9}" presName="sibTrans" presStyleCnt="0"/>
      <dgm:spPr/>
    </dgm:pt>
    <dgm:pt modelId="{8E1876BB-E2A2-4759-9FE2-3D463AFF0A40}" type="pres">
      <dgm:prSet presAssocID="{C0F1530E-D986-4FCB-9C33-29FF8D135438}" presName="node" presStyleLbl="node1" presStyleIdx="3" presStyleCnt="7" custLinFactNeighborX="10892">
        <dgm:presLayoutVars>
          <dgm:bulletEnabled val="1"/>
        </dgm:presLayoutVars>
      </dgm:prSet>
      <dgm:spPr/>
    </dgm:pt>
    <dgm:pt modelId="{48257E78-6831-4225-A3B0-6F681B8ABBCA}" type="pres">
      <dgm:prSet presAssocID="{9258F951-FA2C-48DB-B8E7-2BB99A47EF29}" presName="sibTrans" presStyleCnt="0"/>
      <dgm:spPr/>
    </dgm:pt>
    <dgm:pt modelId="{F79D287F-F9B5-4C48-96DA-1A0304A7BFEF}" type="pres">
      <dgm:prSet presAssocID="{554A4DDC-51F5-4A5A-8CB8-20127F0D5125}" presName="node" presStyleLbl="node1" presStyleIdx="4" presStyleCnt="7">
        <dgm:presLayoutVars>
          <dgm:bulletEnabled val="1"/>
        </dgm:presLayoutVars>
      </dgm:prSet>
      <dgm:spPr/>
    </dgm:pt>
    <dgm:pt modelId="{8F02D1D4-855D-4848-A584-75A3CAE326DD}" type="pres">
      <dgm:prSet presAssocID="{44C1C3A4-99B8-4815-8D99-5BF0B30F5C47}" presName="sibTrans" presStyleCnt="0"/>
      <dgm:spPr/>
    </dgm:pt>
    <dgm:pt modelId="{618912FA-8F8C-4FB2-8823-7D1C0EE30E96}" type="pres">
      <dgm:prSet presAssocID="{E54161E5-07F1-4F2B-BF91-76AD6AE33124}" presName="node" presStyleLbl="node1" presStyleIdx="5" presStyleCnt="7">
        <dgm:presLayoutVars>
          <dgm:bulletEnabled val="1"/>
        </dgm:presLayoutVars>
      </dgm:prSet>
      <dgm:spPr/>
    </dgm:pt>
    <dgm:pt modelId="{15830E67-8CEA-4A2E-B443-6AD7E8271140}" type="pres">
      <dgm:prSet presAssocID="{F8F5F4B8-0ADA-4C4F-81C5-F3F3815160B1}" presName="sibTrans" presStyleCnt="0"/>
      <dgm:spPr/>
    </dgm:pt>
    <dgm:pt modelId="{BD7A5DD4-9C6B-4751-A070-BD2735F3EDC0}" type="pres">
      <dgm:prSet presAssocID="{FEE1D4D6-6486-4530-AFF4-96A30A6148DE}" presName="node" presStyleLbl="node1" presStyleIdx="6" presStyleCnt="7" custLinFactNeighborX="-1191" custLinFactNeighborY="662">
        <dgm:presLayoutVars>
          <dgm:bulletEnabled val="1"/>
        </dgm:presLayoutVars>
      </dgm:prSet>
      <dgm:spPr/>
    </dgm:pt>
  </dgm:ptLst>
  <dgm:cxnLst>
    <dgm:cxn modelId="{F091CD03-EA26-4052-AD46-303B5AC838C6}" srcId="{E1AC4910-AAEB-427A-AE71-EEE5A0B37AA0}" destId="{89474045-CC2D-456F-BC65-0B32D0D235A6}" srcOrd="0" destOrd="0" parTransId="{63A2FBC4-031A-4C81-8C93-19A167D26D18}" sibTransId="{F6D2FCE6-95B4-4BAC-9414-8D2678A85218}"/>
    <dgm:cxn modelId="{49F72721-33C8-4539-A770-11DCA1ECCDBD}" type="presOf" srcId="{E1AC4910-AAEB-427A-AE71-EEE5A0B37AA0}" destId="{128AC549-CF92-4F41-B791-D0F2A2A247E1}" srcOrd="0" destOrd="0" presId="urn:microsoft.com/office/officeart/2005/8/layout/default"/>
    <dgm:cxn modelId="{E2083437-9DEE-4EC0-BDC9-9CC3A5F9DBC9}" type="presOf" srcId="{2F6A62E4-57FC-4206-AC16-BC44D79A5B5F}" destId="{BEFFB33D-70D0-4FC2-9D91-5498132C252F}" srcOrd="0" destOrd="0" presId="urn:microsoft.com/office/officeart/2005/8/layout/default"/>
    <dgm:cxn modelId="{6BD5FD43-214E-4126-8470-C6346A35172D}" type="presOf" srcId="{89474045-CC2D-456F-BC65-0B32D0D235A6}" destId="{FDDE59B5-6CE6-4FE4-A23A-B34783C846CF}" srcOrd="0" destOrd="0" presId="urn:microsoft.com/office/officeart/2005/8/layout/default"/>
    <dgm:cxn modelId="{C77C5471-D763-47D7-BBE9-650C30F3EE72}" srcId="{E1AC4910-AAEB-427A-AE71-EEE5A0B37AA0}" destId="{FEE1D4D6-6486-4530-AFF4-96A30A6148DE}" srcOrd="6" destOrd="0" parTransId="{3627F30A-9EFE-4A3B-96D8-65521C84414C}" sibTransId="{DC3FC88C-AE2D-442F-8851-90617778050D}"/>
    <dgm:cxn modelId="{EEA7BA57-5806-4C06-BC47-7DD70B017A8C}" type="presOf" srcId="{E54161E5-07F1-4F2B-BF91-76AD6AE33124}" destId="{618912FA-8F8C-4FB2-8823-7D1C0EE30E96}" srcOrd="0" destOrd="0" presId="urn:microsoft.com/office/officeart/2005/8/layout/default"/>
    <dgm:cxn modelId="{313B6E59-2BE8-4A64-840E-8865585DFBCE}" srcId="{E1AC4910-AAEB-427A-AE71-EEE5A0B37AA0}" destId="{E54161E5-07F1-4F2B-BF91-76AD6AE33124}" srcOrd="5" destOrd="0" parTransId="{7D65D90C-A5FD-4F7D-9B50-4F89879DDE88}" sibTransId="{F8F5F4B8-0ADA-4C4F-81C5-F3F3815160B1}"/>
    <dgm:cxn modelId="{119DF17C-69DC-4146-A722-013A54C4FAF4}" type="presOf" srcId="{FEE1D4D6-6486-4530-AFF4-96A30A6148DE}" destId="{BD7A5DD4-9C6B-4751-A070-BD2735F3EDC0}" srcOrd="0" destOrd="0" presId="urn:microsoft.com/office/officeart/2005/8/layout/default"/>
    <dgm:cxn modelId="{AB4FB984-49B2-4925-8C51-F8C605FCF748}" srcId="{E1AC4910-AAEB-427A-AE71-EEE5A0B37AA0}" destId="{F35FD4B1-01D1-4F97-A6C2-D10E6E499592}" srcOrd="1" destOrd="0" parTransId="{4ED3D450-3D7A-4A7F-BD66-8943873EA1B1}" sibTransId="{6C74F8F4-2E96-4428-9983-5CAA4B61B781}"/>
    <dgm:cxn modelId="{226CA5B8-6E83-4DC6-8BAE-C92ADA1D9C6D}" type="presOf" srcId="{F35FD4B1-01D1-4F97-A6C2-D10E6E499592}" destId="{402BD188-8726-4865-9691-AFA76012CA58}" srcOrd="0" destOrd="0" presId="urn:microsoft.com/office/officeart/2005/8/layout/default"/>
    <dgm:cxn modelId="{53BD1BC3-6721-455D-852C-B17AF863BC6F}" srcId="{E1AC4910-AAEB-427A-AE71-EEE5A0B37AA0}" destId="{2F6A62E4-57FC-4206-AC16-BC44D79A5B5F}" srcOrd="2" destOrd="0" parTransId="{DF9E7475-1A4D-4A28-A906-67483816D96E}" sibTransId="{675D55C9-D403-4923-B7EE-CDF3A4C2DAB9}"/>
    <dgm:cxn modelId="{B28831C6-CA43-4E81-86CB-2D689DD5042A}" srcId="{E1AC4910-AAEB-427A-AE71-EEE5A0B37AA0}" destId="{554A4DDC-51F5-4A5A-8CB8-20127F0D5125}" srcOrd="4" destOrd="0" parTransId="{F51012AD-2C5D-41EA-8A6C-6821DDB607B2}" sibTransId="{44C1C3A4-99B8-4815-8D99-5BF0B30F5C47}"/>
    <dgm:cxn modelId="{530B52C9-7D46-44FE-A4CB-5886885E0BF1}" type="presOf" srcId="{C0F1530E-D986-4FCB-9C33-29FF8D135438}" destId="{8E1876BB-E2A2-4759-9FE2-3D463AFF0A40}" srcOrd="0" destOrd="0" presId="urn:microsoft.com/office/officeart/2005/8/layout/default"/>
    <dgm:cxn modelId="{EEBBDED9-F401-45FB-96FF-BAD4EF53019D}" type="presOf" srcId="{554A4DDC-51F5-4A5A-8CB8-20127F0D5125}" destId="{F79D287F-F9B5-4C48-96DA-1A0304A7BFEF}" srcOrd="0" destOrd="0" presId="urn:microsoft.com/office/officeart/2005/8/layout/default"/>
    <dgm:cxn modelId="{3B1D21F4-CA0B-4618-B90E-026F9CC17834}" srcId="{E1AC4910-AAEB-427A-AE71-EEE5A0B37AA0}" destId="{C0F1530E-D986-4FCB-9C33-29FF8D135438}" srcOrd="3" destOrd="0" parTransId="{4A68335C-1386-4637-B92D-FECF507B092C}" sibTransId="{9258F951-FA2C-48DB-B8E7-2BB99A47EF29}"/>
    <dgm:cxn modelId="{0C7C16E1-2AED-4AA9-B671-48E7F8A4279B}" type="presParOf" srcId="{128AC549-CF92-4F41-B791-D0F2A2A247E1}" destId="{FDDE59B5-6CE6-4FE4-A23A-B34783C846CF}" srcOrd="0" destOrd="0" presId="urn:microsoft.com/office/officeart/2005/8/layout/default"/>
    <dgm:cxn modelId="{80726A93-DDE0-462B-AA05-14AFDCE80208}" type="presParOf" srcId="{128AC549-CF92-4F41-B791-D0F2A2A247E1}" destId="{D4549DDC-80AE-4285-B213-2EFD0766FA59}" srcOrd="1" destOrd="0" presId="urn:microsoft.com/office/officeart/2005/8/layout/default"/>
    <dgm:cxn modelId="{79E866A0-3E93-41DF-9C23-5E6702BF5321}" type="presParOf" srcId="{128AC549-CF92-4F41-B791-D0F2A2A247E1}" destId="{402BD188-8726-4865-9691-AFA76012CA58}" srcOrd="2" destOrd="0" presId="urn:microsoft.com/office/officeart/2005/8/layout/default"/>
    <dgm:cxn modelId="{815B4B47-FDFA-4B31-BE9E-8C020078633C}" type="presParOf" srcId="{128AC549-CF92-4F41-B791-D0F2A2A247E1}" destId="{2051C6D4-74A0-45B2-844C-0104925048B4}" srcOrd="3" destOrd="0" presId="urn:microsoft.com/office/officeart/2005/8/layout/default"/>
    <dgm:cxn modelId="{F136608B-08EE-419A-B264-D1F1F3A7EBF9}" type="presParOf" srcId="{128AC549-CF92-4F41-B791-D0F2A2A247E1}" destId="{BEFFB33D-70D0-4FC2-9D91-5498132C252F}" srcOrd="4" destOrd="0" presId="urn:microsoft.com/office/officeart/2005/8/layout/default"/>
    <dgm:cxn modelId="{56049D51-7B02-4628-92A3-B21FF4BE8ABA}" type="presParOf" srcId="{128AC549-CF92-4F41-B791-D0F2A2A247E1}" destId="{A2DABC45-A2C5-4909-9646-6E5F247EF8F3}" srcOrd="5" destOrd="0" presId="urn:microsoft.com/office/officeart/2005/8/layout/default"/>
    <dgm:cxn modelId="{37421CD3-7CAF-44FF-B5D2-2549A234F861}" type="presParOf" srcId="{128AC549-CF92-4F41-B791-D0F2A2A247E1}" destId="{8E1876BB-E2A2-4759-9FE2-3D463AFF0A40}" srcOrd="6" destOrd="0" presId="urn:microsoft.com/office/officeart/2005/8/layout/default"/>
    <dgm:cxn modelId="{7D54E898-8D0B-4484-BB90-B59C1C78CF1C}" type="presParOf" srcId="{128AC549-CF92-4F41-B791-D0F2A2A247E1}" destId="{48257E78-6831-4225-A3B0-6F681B8ABBCA}" srcOrd="7" destOrd="0" presId="urn:microsoft.com/office/officeart/2005/8/layout/default"/>
    <dgm:cxn modelId="{936676C5-F8CF-4DCA-A1EB-D31A78C43948}" type="presParOf" srcId="{128AC549-CF92-4F41-B791-D0F2A2A247E1}" destId="{F79D287F-F9B5-4C48-96DA-1A0304A7BFEF}" srcOrd="8" destOrd="0" presId="urn:microsoft.com/office/officeart/2005/8/layout/default"/>
    <dgm:cxn modelId="{B816CB28-831C-4E18-9A40-D4EA1D28515F}" type="presParOf" srcId="{128AC549-CF92-4F41-B791-D0F2A2A247E1}" destId="{8F02D1D4-855D-4848-A584-75A3CAE326DD}" srcOrd="9" destOrd="0" presId="urn:microsoft.com/office/officeart/2005/8/layout/default"/>
    <dgm:cxn modelId="{0C2A42D2-491D-4A09-939F-A1C072B950F1}" type="presParOf" srcId="{128AC549-CF92-4F41-B791-D0F2A2A247E1}" destId="{618912FA-8F8C-4FB2-8823-7D1C0EE30E96}" srcOrd="10" destOrd="0" presId="urn:microsoft.com/office/officeart/2005/8/layout/default"/>
    <dgm:cxn modelId="{5BC215A1-8BAA-4AFD-8F86-897E04333C81}" type="presParOf" srcId="{128AC549-CF92-4F41-B791-D0F2A2A247E1}" destId="{15830E67-8CEA-4A2E-B443-6AD7E8271140}" srcOrd="11" destOrd="0" presId="urn:microsoft.com/office/officeart/2005/8/layout/default"/>
    <dgm:cxn modelId="{4968C3C2-8009-4B24-BBF0-C27A2F05DF3E}" type="presParOf" srcId="{128AC549-CF92-4F41-B791-D0F2A2A247E1}" destId="{BD7A5DD4-9C6B-4751-A070-BD2735F3EDC0}"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AC4910-AAEB-427A-AE71-EEE5A0B37AA0}"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89474045-CC2D-456F-BC65-0B32D0D235A6}">
      <dgm:prSet custT="1"/>
      <dgm:spPr/>
      <dgm:t>
        <a:bodyPr/>
        <a:lstStyle/>
        <a:p>
          <a:r>
            <a:rPr lang="en-GB" sz="2400" dirty="0"/>
            <a:t>Housing</a:t>
          </a:r>
          <a:endParaRPr lang="en-US" sz="2400" dirty="0"/>
        </a:p>
      </dgm:t>
    </dgm:pt>
    <dgm:pt modelId="{63A2FBC4-031A-4C81-8C93-19A167D26D18}" type="parTrans" cxnId="{F091CD03-EA26-4052-AD46-303B5AC838C6}">
      <dgm:prSet/>
      <dgm:spPr/>
      <dgm:t>
        <a:bodyPr/>
        <a:lstStyle/>
        <a:p>
          <a:endParaRPr lang="en-US"/>
        </a:p>
      </dgm:t>
    </dgm:pt>
    <dgm:pt modelId="{F6D2FCE6-95B4-4BAC-9414-8D2678A85218}" type="sibTrans" cxnId="{F091CD03-EA26-4052-AD46-303B5AC838C6}">
      <dgm:prSet/>
      <dgm:spPr/>
      <dgm:t>
        <a:bodyPr/>
        <a:lstStyle/>
        <a:p>
          <a:endParaRPr lang="en-US"/>
        </a:p>
      </dgm:t>
    </dgm:pt>
    <dgm:pt modelId="{F35FD4B1-01D1-4F97-A6C2-D10E6E499592}">
      <dgm:prSet custT="1"/>
      <dgm:spPr/>
      <dgm:t>
        <a:bodyPr/>
        <a:lstStyle/>
        <a:p>
          <a:r>
            <a:rPr lang="en-US" sz="2400" dirty="0"/>
            <a:t>Substance Use</a:t>
          </a:r>
        </a:p>
      </dgm:t>
    </dgm:pt>
    <dgm:pt modelId="{4ED3D450-3D7A-4A7F-BD66-8943873EA1B1}" type="parTrans" cxnId="{AB4FB984-49B2-4925-8C51-F8C605FCF748}">
      <dgm:prSet/>
      <dgm:spPr/>
      <dgm:t>
        <a:bodyPr/>
        <a:lstStyle/>
        <a:p>
          <a:endParaRPr lang="en-US"/>
        </a:p>
      </dgm:t>
    </dgm:pt>
    <dgm:pt modelId="{6C74F8F4-2E96-4428-9983-5CAA4B61B781}" type="sibTrans" cxnId="{AB4FB984-49B2-4925-8C51-F8C605FCF748}">
      <dgm:prSet/>
      <dgm:spPr/>
      <dgm:t>
        <a:bodyPr/>
        <a:lstStyle/>
        <a:p>
          <a:endParaRPr lang="en-US"/>
        </a:p>
      </dgm:t>
    </dgm:pt>
    <dgm:pt modelId="{2F6A62E4-57FC-4206-AC16-BC44D79A5B5F}">
      <dgm:prSet custT="1"/>
      <dgm:spPr/>
      <dgm:t>
        <a:bodyPr/>
        <a:lstStyle/>
        <a:p>
          <a:r>
            <a:rPr lang="en-US" sz="2400" dirty="0"/>
            <a:t>Mental</a:t>
          </a:r>
          <a:r>
            <a:rPr lang="en-US" sz="2400" baseline="0" dirty="0"/>
            <a:t> Health</a:t>
          </a:r>
          <a:endParaRPr lang="en-US" sz="2400" dirty="0"/>
        </a:p>
      </dgm:t>
    </dgm:pt>
    <dgm:pt modelId="{DF9E7475-1A4D-4A28-A906-67483816D96E}" type="parTrans" cxnId="{53BD1BC3-6721-455D-852C-B17AF863BC6F}">
      <dgm:prSet/>
      <dgm:spPr/>
      <dgm:t>
        <a:bodyPr/>
        <a:lstStyle/>
        <a:p>
          <a:endParaRPr lang="en-US"/>
        </a:p>
      </dgm:t>
    </dgm:pt>
    <dgm:pt modelId="{675D55C9-D403-4923-B7EE-CDF3A4C2DAB9}" type="sibTrans" cxnId="{53BD1BC3-6721-455D-852C-B17AF863BC6F}">
      <dgm:prSet/>
      <dgm:spPr/>
      <dgm:t>
        <a:bodyPr/>
        <a:lstStyle/>
        <a:p>
          <a:endParaRPr lang="en-US"/>
        </a:p>
      </dgm:t>
    </dgm:pt>
    <dgm:pt modelId="{C0F1530E-D986-4FCB-9C33-29FF8D135438}">
      <dgm:prSet custT="1"/>
      <dgm:spPr/>
      <dgm:t>
        <a:bodyPr/>
        <a:lstStyle/>
        <a:p>
          <a:r>
            <a:rPr lang="en-US" sz="2400" dirty="0"/>
            <a:t>Agency Involvement</a:t>
          </a:r>
        </a:p>
      </dgm:t>
    </dgm:pt>
    <dgm:pt modelId="{4A68335C-1386-4637-B92D-FECF507B092C}" type="parTrans" cxnId="{3B1D21F4-CA0B-4618-B90E-026F9CC17834}">
      <dgm:prSet/>
      <dgm:spPr/>
      <dgm:t>
        <a:bodyPr/>
        <a:lstStyle/>
        <a:p>
          <a:endParaRPr lang="en-US"/>
        </a:p>
      </dgm:t>
    </dgm:pt>
    <dgm:pt modelId="{9258F951-FA2C-48DB-B8E7-2BB99A47EF29}" type="sibTrans" cxnId="{3B1D21F4-CA0B-4618-B90E-026F9CC17834}">
      <dgm:prSet/>
      <dgm:spPr/>
      <dgm:t>
        <a:bodyPr/>
        <a:lstStyle/>
        <a:p>
          <a:endParaRPr lang="en-US"/>
        </a:p>
      </dgm:t>
    </dgm:pt>
    <dgm:pt modelId="{554A4DDC-51F5-4A5A-8CB8-20127F0D5125}">
      <dgm:prSet custT="1"/>
      <dgm:spPr/>
      <dgm:t>
        <a:bodyPr/>
        <a:lstStyle/>
        <a:p>
          <a:r>
            <a:rPr lang="en-US" sz="2400" dirty="0"/>
            <a:t>Immigration</a:t>
          </a:r>
          <a:r>
            <a:rPr lang="en-US" sz="2400" baseline="0" dirty="0"/>
            <a:t> Status</a:t>
          </a:r>
          <a:endParaRPr lang="en-US" sz="2400" dirty="0"/>
        </a:p>
      </dgm:t>
    </dgm:pt>
    <dgm:pt modelId="{F51012AD-2C5D-41EA-8A6C-6821DDB607B2}" type="parTrans" cxnId="{B28831C6-CA43-4E81-86CB-2D689DD5042A}">
      <dgm:prSet/>
      <dgm:spPr/>
      <dgm:t>
        <a:bodyPr/>
        <a:lstStyle/>
        <a:p>
          <a:endParaRPr lang="en-US"/>
        </a:p>
      </dgm:t>
    </dgm:pt>
    <dgm:pt modelId="{44C1C3A4-99B8-4815-8D99-5BF0B30F5C47}" type="sibTrans" cxnId="{B28831C6-CA43-4E81-86CB-2D689DD5042A}">
      <dgm:prSet/>
      <dgm:spPr/>
      <dgm:t>
        <a:bodyPr/>
        <a:lstStyle/>
        <a:p>
          <a:endParaRPr lang="en-US"/>
        </a:p>
      </dgm:t>
    </dgm:pt>
    <dgm:pt modelId="{E54161E5-07F1-4F2B-BF91-76AD6AE33124}">
      <dgm:prSet custT="1"/>
      <dgm:spPr/>
      <dgm:t>
        <a:bodyPr/>
        <a:lstStyle/>
        <a:p>
          <a:r>
            <a:rPr lang="en-US" sz="2400" dirty="0"/>
            <a:t>Risk</a:t>
          </a:r>
          <a:r>
            <a:rPr lang="en-US" sz="2400" baseline="0" dirty="0"/>
            <a:t> of Going Missing/Absconding</a:t>
          </a:r>
          <a:endParaRPr lang="en-US" sz="2400" dirty="0"/>
        </a:p>
      </dgm:t>
    </dgm:pt>
    <dgm:pt modelId="{7D65D90C-A5FD-4F7D-9B50-4F89879DDE88}" type="parTrans" cxnId="{313B6E59-2BE8-4A64-840E-8865585DFBCE}">
      <dgm:prSet/>
      <dgm:spPr/>
      <dgm:t>
        <a:bodyPr/>
        <a:lstStyle/>
        <a:p>
          <a:endParaRPr lang="en-US"/>
        </a:p>
      </dgm:t>
    </dgm:pt>
    <dgm:pt modelId="{F8F5F4B8-0ADA-4C4F-81C5-F3F3815160B1}" type="sibTrans" cxnId="{313B6E59-2BE8-4A64-840E-8865585DFBCE}">
      <dgm:prSet/>
      <dgm:spPr/>
      <dgm:t>
        <a:bodyPr/>
        <a:lstStyle/>
        <a:p>
          <a:endParaRPr lang="en-US"/>
        </a:p>
      </dgm:t>
    </dgm:pt>
    <dgm:pt modelId="{FEE1D4D6-6486-4530-AFF4-96A30A6148DE}">
      <dgm:prSet/>
      <dgm:spPr/>
      <dgm:t>
        <a:bodyPr/>
        <a:lstStyle/>
        <a:p>
          <a:r>
            <a:rPr lang="en-US" dirty="0"/>
            <a:t>Ability</a:t>
          </a:r>
          <a:r>
            <a:rPr lang="en-US" baseline="0" dirty="0"/>
            <a:t> to risk assess/access services</a:t>
          </a:r>
          <a:endParaRPr lang="en-US" dirty="0"/>
        </a:p>
      </dgm:t>
    </dgm:pt>
    <dgm:pt modelId="{3627F30A-9EFE-4A3B-96D8-65521C84414C}" type="parTrans" cxnId="{C77C5471-D763-47D7-BBE9-650C30F3EE72}">
      <dgm:prSet/>
      <dgm:spPr/>
      <dgm:t>
        <a:bodyPr/>
        <a:lstStyle/>
        <a:p>
          <a:endParaRPr lang="en-US"/>
        </a:p>
      </dgm:t>
    </dgm:pt>
    <dgm:pt modelId="{DC3FC88C-AE2D-442F-8851-90617778050D}" type="sibTrans" cxnId="{C77C5471-D763-47D7-BBE9-650C30F3EE72}">
      <dgm:prSet/>
      <dgm:spPr/>
      <dgm:t>
        <a:bodyPr/>
        <a:lstStyle/>
        <a:p>
          <a:endParaRPr lang="en-US"/>
        </a:p>
      </dgm:t>
    </dgm:pt>
    <dgm:pt modelId="{C3C59A65-933D-4ADE-98C6-158418E45572}">
      <dgm:prSet/>
      <dgm:spPr/>
      <dgm:t>
        <a:bodyPr/>
        <a:lstStyle/>
        <a:p>
          <a:r>
            <a:rPr lang="en-US" dirty="0"/>
            <a:t>Police/Hospital Involvement</a:t>
          </a:r>
        </a:p>
      </dgm:t>
    </dgm:pt>
    <dgm:pt modelId="{2A7511D4-BA1E-4E8E-B402-7CA3B2CC80E9}" type="parTrans" cxnId="{124AFA9E-449E-4CB5-8DED-9C73DE5AFC08}">
      <dgm:prSet/>
      <dgm:spPr/>
      <dgm:t>
        <a:bodyPr/>
        <a:lstStyle/>
        <a:p>
          <a:endParaRPr lang="en-GB"/>
        </a:p>
      </dgm:t>
    </dgm:pt>
    <dgm:pt modelId="{7F2BD7DF-6DE3-4D68-8000-DC834F89BAD2}" type="sibTrans" cxnId="{124AFA9E-449E-4CB5-8DED-9C73DE5AFC08}">
      <dgm:prSet/>
      <dgm:spPr/>
      <dgm:t>
        <a:bodyPr/>
        <a:lstStyle/>
        <a:p>
          <a:endParaRPr lang="en-GB"/>
        </a:p>
      </dgm:t>
    </dgm:pt>
    <dgm:pt modelId="{55265170-E2C6-4089-B966-AD8A03818F18}" type="pres">
      <dgm:prSet presAssocID="{E1AC4910-AAEB-427A-AE71-EEE5A0B37AA0}" presName="diagram" presStyleCnt="0">
        <dgm:presLayoutVars>
          <dgm:dir/>
          <dgm:resizeHandles val="exact"/>
        </dgm:presLayoutVars>
      </dgm:prSet>
      <dgm:spPr/>
    </dgm:pt>
    <dgm:pt modelId="{DA83ACDD-60C0-4083-B462-9E002923E3FD}" type="pres">
      <dgm:prSet presAssocID="{89474045-CC2D-456F-BC65-0B32D0D235A6}" presName="node" presStyleLbl="node1" presStyleIdx="0" presStyleCnt="8">
        <dgm:presLayoutVars>
          <dgm:bulletEnabled val="1"/>
        </dgm:presLayoutVars>
      </dgm:prSet>
      <dgm:spPr/>
    </dgm:pt>
    <dgm:pt modelId="{9B95235D-3BBA-40A6-AC94-20AE0EFF18CD}" type="pres">
      <dgm:prSet presAssocID="{F6D2FCE6-95B4-4BAC-9414-8D2678A85218}" presName="sibTrans" presStyleCnt="0"/>
      <dgm:spPr/>
    </dgm:pt>
    <dgm:pt modelId="{ED22AB60-F4F3-4FD0-8266-2C12F008002B}" type="pres">
      <dgm:prSet presAssocID="{F35FD4B1-01D1-4F97-A6C2-D10E6E499592}" presName="node" presStyleLbl="node1" presStyleIdx="1" presStyleCnt="8">
        <dgm:presLayoutVars>
          <dgm:bulletEnabled val="1"/>
        </dgm:presLayoutVars>
      </dgm:prSet>
      <dgm:spPr/>
    </dgm:pt>
    <dgm:pt modelId="{5A2EAE43-C1EF-4BB5-80EE-A00AB8BE485B}" type="pres">
      <dgm:prSet presAssocID="{6C74F8F4-2E96-4428-9983-5CAA4B61B781}" presName="sibTrans" presStyleCnt="0"/>
      <dgm:spPr/>
    </dgm:pt>
    <dgm:pt modelId="{8B30AA70-93B9-4943-BDE3-55D2428316A9}" type="pres">
      <dgm:prSet presAssocID="{2F6A62E4-57FC-4206-AC16-BC44D79A5B5F}" presName="node" presStyleLbl="node1" presStyleIdx="2" presStyleCnt="8">
        <dgm:presLayoutVars>
          <dgm:bulletEnabled val="1"/>
        </dgm:presLayoutVars>
      </dgm:prSet>
      <dgm:spPr/>
    </dgm:pt>
    <dgm:pt modelId="{9CA1B7BC-57B4-450C-83BF-89D520C35BD0}" type="pres">
      <dgm:prSet presAssocID="{675D55C9-D403-4923-B7EE-CDF3A4C2DAB9}" presName="sibTrans" presStyleCnt="0"/>
      <dgm:spPr/>
    </dgm:pt>
    <dgm:pt modelId="{F6BF5F53-C78B-4A1E-B7F6-4BC74A5B4A41}" type="pres">
      <dgm:prSet presAssocID="{C0F1530E-D986-4FCB-9C33-29FF8D135438}" presName="node" presStyleLbl="node1" presStyleIdx="3" presStyleCnt="8">
        <dgm:presLayoutVars>
          <dgm:bulletEnabled val="1"/>
        </dgm:presLayoutVars>
      </dgm:prSet>
      <dgm:spPr/>
    </dgm:pt>
    <dgm:pt modelId="{6F9143C0-9F40-4188-9F29-910B11D8EA54}" type="pres">
      <dgm:prSet presAssocID="{9258F951-FA2C-48DB-B8E7-2BB99A47EF29}" presName="sibTrans" presStyleCnt="0"/>
      <dgm:spPr/>
    </dgm:pt>
    <dgm:pt modelId="{DB11079E-0087-4655-B240-5C794F73B64D}" type="pres">
      <dgm:prSet presAssocID="{554A4DDC-51F5-4A5A-8CB8-20127F0D5125}" presName="node" presStyleLbl="node1" presStyleIdx="4" presStyleCnt="8">
        <dgm:presLayoutVars>
          <dgm:bulletEnabled val="1"/>
        </dgm:presLayoutVars>
      </dgm:prSet>
      <dgm:spPr/>
    </dgm:pt>
    <dgm:pt modelId="{8152D169-4CF7-4BDF-B1BB-02464C232E32}" type="pres">
      <dgm:prSet presAssocID="{44C1C3A4-99B8-4815-8D99-5BF0B30F5C47}" presName="sibTrans" presStyleCnt="0"/>
      <dgm:spPr/>
    </dgm:pt>
    <dgm:pt modelId="{1A4FBC17-42D1-4C9A-B21D-FA4D7AB24D47}" type="pres">
      <dgm:prSet presAssocID="{E54161E5-07F1-4F2B-BF91-76AD6AE33124}" presName="node" presStyleLbl="node1" presStyleIdx="5" presStyleCnt="8">
        <dgm:presLayoutVars>
          <dgm:bulletEnabled val="1"/>
        </dgm:presLayoutVars>
      </dgm:prSet>
      <dgm:spPr/>
    </dgm:pt>
    <dgm:pt modelId="{B39F0890-6BDC-48C6-AF36-D97ABF3E8B4E}" type="pres">
      <dgm:prSet presAssocID="{F8F5F4B8-0ADA-4C4F-81C5-F3F3815160B1}" presName="sibTrans" presStyleCnt="0"/>
      <dgm:spPr/>
    </dgm:pt>
    <dgm:pt modelId="{8AE07763-E535-41D3-8F47-83FB742678CB}" type="pres">
      <dgm:prSet presAssocID="{FEE1D4D6-6486-4530-AFF4-96A30A6148DE}" presName="node" presStyleLbl="node1" presStyleIdx="6" presStyleCnt="8">
        <dgm:presLayoutVars>
          <dgm:bulletEnabled val="1"/>
        </dgm:presLayoutVars>
      </dgm:prSet>
      <dgm:spPr/>
    </dgm:pt>
    <dgm:pt modelId="{501392A0-D0EF-45A7-BC22-13AC12FE53D7}" type="pres">
      <dgm:prSet presAssocID="{DC3FC88C-AE2D-442F-8851-90617778050D}" presName="sibTrans" presStyleCnt="0"/>
      <dgm:spPr/>
    </dgm:pt>
    <dgm:pt modelId="{2A1A711F-631E-49D1-B0A7-9881E92D75A7}" type="pres">
      <dgm:prSet presAssocID="{C3C59A65-933D-4ADE-98C6-158418E45572}" presName="node" presStyleLbl="node1" presStyleIdx="7" presStyleCnt="8">
        <dgm:presLayoutVars>
          <dgm:bulletEnabled val="1"/>
        </dgm:presLayoutVars>
      </dgm:prSet>
      <dgm:spPr/>
    </dgm:pt>
  </dgm:ptLst>
  <dgm:cxnLst>
    <dgm:cxn modelId="{F091CD03-EA26-4052-AD46-303B5AC838C6}" srcId="{E1AC4910-AAEB-427A-AE71-EEE5A0B37AA0}" destId="{89474045-CC2D-456F-BC65-0B32D0D235A6}" srcOrd="0" destOrd="0" parTransId="{63A2FBC4-031A-4C81-8C93-19A167D26D18}" sibTransId="{F6D2FCE6-95B4-4BAC-9414-8D2678A85218}"/>
    <dgm:cxn modelId="{1A84762B-A542-452A-87D6-92C7869EFB4E}" type="presOf" srcId="{F35FD4B1-01D1-4F97-A6C2-D10E6E499592}" destId="{ED22AB60-F4F3-4FD0-8266-2C12F008002B}" srcOrd="0" destOrd="0" presId="urn:microsoft.com/office/officeart/2005/8/layout/default"/>
    <dgm:cxn modelId="{4B4D2D3F-973E-4398-8D15-E116C0B22853}" type="presOf" srcId="{89474045-CC2D-456F-BC65-0B32D0D235A6}" destId="{DA83ACDD-60C0-4083-B462-9E002923E3FD}" srcOrd="0" destOrd="0" presId="urn:microsoft.com/office/officeart/2005/8/layout/default"/>
    <dgm:cxn modelId="{C77C5471-D763-47D7-BBE9-650C30F3EE72}" srcId="{E1AC4910-AAEB-427A-AE71-EEE5A0B37AA0}" destId="{FEE1D4D6-6486-4530-AFF4-96A30A6148DE}" srcOrd="6" destOrd="0" parTransId="{3627F30A-9EFE-4A3B-96D8-65521C84414C}" sibTransId="{DC3FC88C-AE2D-442F-8851-90617778050D}"/>
    <dgm:cxn modelId="{83565273-DED4-4C23-91C5-9A29C40A4A93}" type="presOf" srcId="{C0F1530E-D986-4FCB-9C33-29FF8D135438}" destId="{F6BF5F53-C78B-4A1E-B7F6-4BC74A5B4A41}" srcOrd="0" destOrd="0" presId="urn:microsoft.com/office/officeart/2005/8/layout/default"/>
    <dgm:cxn modelId="{313B6E59-2BE8-4A64-840E-8865585DFBCE}" srcId="{E1AC4910-AAEB-427A-AE71-EEE5A0B37AA0}" destId="{E54161E5-07F1-4F2B-BF91-76AD6AE33124}" srcOrd="5" destOrd="0" parTransId="{7D65D90C-A5FD-4F7D-9B50-4F89879DDE88}" sibTransId="{F8F5F4B8-0ADA-4C4F-81C5-F3F3815160B1}"/>
    <dgm:cxn modelId="{AB4FB984-49B2-4925-8C51-F8C605FCF748}" srcId="{E1AC4910-AAEB-427A-AE71-EEE5A0B37AA0}" destId="{F35FD4B1-01D1-4F97-A6C2-D10E6E499592}" srcOrd="1" destOrd="0" parTransId="{4ED3D450-3D7A-4A7F-BD66-8943873EA1B1}" sibTransId="{6C74F8F4-2E96-4428-9983-5CAA4B61B781}"/>
    <dgm:cxn modelId="{CA7EDF91-500A-47C8-955F-DB8771A47C80}" type="presOf" srcId="{E54161E5-07F1-4F2B-BF91-76AD6AE33124}" destId="{1A4FBC17-42D1-4C9A-B21D-FA4D7AB24D47}" srcOrd="0" destOrd="0" presId="urn:microsoft.com/office/officeart/2005/8/layout/default"/>
    <dgm:cxn modelId="{124AFA9E-449E-4CB5-8DED-9C73DE5AFC08}" srcId="{E1AC4910-AAEB-427A-AE71-EEE5A0B37AA0}" destId="{C3C59A65-933D-4ADE-98C6-158418E45572}" srcOrd="7" destOrd="0" parTransId="{2A7511D4-BA1E-4E8E-B402-7CA3B2CC80E9}" sibTransId="{7F2BD7DF-6DE3-4D68-8000-DC834F89BAD2}"/>
    <dgm:cxn modelId="{87F895B1-42DB-47C5-ADB8-99C2F431B592}" type="presOf" srcId="{2F6A62E4-57FC-4206-AC16-BC44D79A5B5F}" destId="{8B30AA70-93B9-4943-BDE3-55D2428316A9}" srcOrd="0" destOrd="0" presId="urn:microsoft.com/office/officeart/2005/8/layout/default"/>
    <dgm:cxn modelId="{AB5BAAC1-0049-4C8A-9EB3-8FFEF6A2D754}" type="presOf" srcId="{E1AC4910-AAEB-427A-AE71-EEE5A0B37AA0}" destId="{55265170-E2C6-4089-B966-AD8A03818F18}" srcOrd="0" destOrd="0" presId="urn:microsoft.com/office/officeart/2005/8/layout/default"/>
    <dgm:cxn modelId="{53BD1BC3-6721-455D-852C-B17AF863BC6F}" srcId="{E1AC4910-AAEB-427A-AE71-EEE5A0B37AA0}" destId="{2F6A62E4-57FC-4206-AC16-BC44D79A5B5F}" srcOrd="2" destOrd="0" parTransId="{DF9E7475-1A4D-4A28-A906-67483816D96E}" sibTransId="{675D55C9-D403-4923-B7EE-CDF3A4C2DAB9}"/>
    <dgm:cxn modelId="{B28831C6-CA43-4E81-86CB-2D689DD5042A}" srcId="{E1AC4910-AAEB-427A-AE71-EEE5A0B37AA0}" destId="{554A4DDC-51F5-4A5A-8CB8-20127F0D5125}" srcOrd="4" destOrd="0" parTransId="{F51012AD-2C5D-41EA-8A6C-6821DDB607B2}" sibTransId="{44C1C3A4-99B8-4815-8D99-5BF0B30F5C47}"/>
    <dgm:cxn modelId="{0E8568C6-C577-4789-9E84-8F92EC92903D}" type="presOf" srcId="{C3C59A65-933D-4ADE-98C6-158418E45572}" destId="{2A1A711F-631E-49D1-B0A7-9881E92D75A7}" srcOrd="0" destOrd="0" presId="urn:microsoft.com/office/officeart/2005/8/layout/default"/>
    <dgm:cxn modelId="{F0A036D2-7E46-4795-A35A-0C7F1DC3C773}" type="presOf" srcId="{FEE1D4D6-6486-4530-AFF4-96A30A6148DE}" destId="{8AE07763-E535-41D3-8F47-83FB742678CB}" srcOrd="0" destOrd="0" presId="urn:microsoft.com/office/officeart/2005/8/layout/default"/>
    <dgm:cxn modelId="{09FBE2D9-FBE1-4719-B274-97EC30E69E98}" type="presOf" srcId="{554A4DDC-51F5-4A5A-8CB8-20127F0D5125}" destId="{DB11079E-0087-4655-B240-5C794F73B64D}" srcOrd="0" destOrd="0" presId="urn:microsoft.com/office/officeart/2005/8/layout/default"/>
    <dgm:cxn modelId="{3B1D21F4-CA0B-4618-B90E-026F9CC17834}" srcId="{E1AC4910-AAEB-427A-AE71-EEE5A0B37AA0}" destId="{C0F1530E-D986-4FCB-9C33-29FF8D135438}" srcOrd="3" destOrd="0" parTransId="{4A68335C-1386-4637-B92D-FECF507B092C}" sibTransId="{9258F951-FA2C-48DB-B8E7-2BB99A47EF29}"/>
    <dgm:cxn modelId="{A83BC437-13D0-45A0-B0ED-99232532DD6F}" type="presParOf" srcId="{55265170-E2C6-4089-B966-AD8A03818F18}" destId="{DA83ACDD-60C0-4083-B462-9E002923E3FD}" srcOrd="0" destOrd="0" presId="urn:microsoft.com/office/officeart/2005/8/layout/default"/>
    <dgm:cxn modelId="{C30AAD1A-CED5-40CB-89D6-D64B1A4CB1E7}" type="presParOf" srcId="{55265170-E2C6-4089-B966-AD8A03818F18}" destId="{9B95235D-3BBA-40A6-AC94-20AE0EFF18CD}" srcOrd="1" destOrd="0" presId="urn:microsoft.com/office/officeart/2005/8/layout/default"/>
    <dgm:cxn modelId="{5587C667-D5EA-4B61-B64B-B0A7859D9BDE}" type="presParOf" srcId="{55265170-E2C6-4089-B966-AD8A03818F18}" destId="{ED22AB60-F4F3-4FD0-8266-2C12F008002B}" srcOrd="2" destOrd="0" presId="urn:microsoft.com/office/officeart/2005/8/layout/default"/>
    <dgm:cxn modelId="{F5D4884C-0127-4927-9552-947A4A2B9742}" type="presParOf" srcId="{55265170-E2C6-4089-B966-AD8A03818F18}" destId="{5A2EAE43-C1EF-4BB5-80EE-A00AB8BE485B}" srcOrd="3" destOrd="0" presId="urn:microsoft.com/office/officeart/2005/8/layout/default"/>
    <dgm:cxn modelId="{675CD3F0-28B2-427D-B99E-050F36EB9529}" type="presParOf" srcId="{55265170-E2C6-4089-B966-AD8A03818F18}" destId="{8B30AA70-93B9-4943-BDE3-55D2428316A9}" srcOrd="4" destOrd="0" presId="urn:microsoft.com/office/officeart/2005/8/layout/default"/>
    <dgm:cxn modelId="{215FC19E-4547-491F-9191-F4894E60436E}" type="presParOf" srcId="{55265170-E2C6-4089-B966-AD8A03818F18}" destId="{9CA1B7BC-57B4-450C-83BF-89D520C35BD0}" srcOrd="5" destOrd="0" presId="urn:microsoft.com/office/officeart/2005/8/layout/default"/>
    <dgm:cxn modelId="{B5568C07-44EC-4D5E-AE9A-CF5C897E62CC}" type="presParOf" srcId="{55265170-E2C6-4089-B966-AD8A03818F18}" destId="{F6BF5F53-C78B-4A1E-B7F6-4BC74A5B4A41}" srcOrd="6" destOrd="0" presId="urn:microsoft.com/office/officeart/2005/8/layout/default"/>
    <dgm:cxn modelId="{9DCE0885-1014-41EF-843C-CEEE6FC04D1A}" type="presParOf" srcId="{55265170-E2C6-4089-B966-AD8A03818F18}" destId="{6F9143C0-9F40-4188-9F29-910B11D8EA54}" srcOrd="7" destOrd="0" presId="urn:microsoft.com/office/officeart/2005/8/layout/default"/>
    <dgm:cxn modelId="{87ED3F63-954E-4E83-9B4B-DE7457DEBB37}" type="presParOf" srcId="{55265170-E2C6-4089-B966-AD8A03818F18}" destId="{DB11079E-0087-4655-B240-5C794F73B64D}" srcOrd="8" destOrd="0" presId="urn:microsoft.com/office/officeart/2005/8/layout/default"/>
    <dgm:cxn modelId="{883D4C78-9775-4D9B-86FB-EBB54F7701C3}" type="presParOf" srcId="{55265170-E2C6-4089-B966-AD8A03818F18}" destId="{8152D169-4CF7-4BDF-B1BB-02464C232E32}" srcOrd="9" destOrd="0" presId="urn:microsoft.com/office/officeart/2005/8/layout/default"/>
    <dgm:cxn modelId="{3D7B7504-1CDB-415D-99DC-A4C526F13275}" type="presParOf" srcId="{55265170-E2C6-4089-B966-AD8A03818F18}" destId="{1A4FBC17-42D1-4C9A-B21D-FA4D7AB24D47}" srcOrd="10" destOrd="0" presId="urn:microsoft.com/office/officeart/2005/8/layout/default"/>
    <dgm:cxn modelId="{1ADA96F2-4C8D-407C-88EA-4CD1F3BD92FA}" type="presParOf" srcId="{55265170-E2C6-4089-B966-AD8A03818F18}" destId="{B39F0890-6BDC-48C6-AF36-D97ABF3E8B4E}" srcOrd="11" destOrd="0" presId="urn:microsoft.com/office/officeart/2005/8/layout/default"/>
    <dgm:cxn modelId="{F318B12A-8B51-46B6-8C06-B7758806F4BC}" type="presParOf" srcId="{55265170-E2C6-4089-B966-AD8A03818F18}" destId="{8AE07763-E535-41D3-8F47-83FB742678CB}" srcOrd="12" destOrd="0" presId="urn:microsoft.com/office/officeart/2005/8/layout/default"/>
    <dgm:cxn modelId="{CB11280B-156A-4831-AD40-E9A16AEED0C0}" type="presParOf" srcId="{55265170-E2C6-4089-B966-AD8A03818F18}" destId="{501392A0-D0EF-45A7-BC22-13AC12FE53D7}" srcOrd="13" destOrd="0" presId="urn:microsoft.com/office/officeart/2005/8/layout/default"/>
    <dgm:cxn modelId="{DAF2D8D2-5ADE-447D-B496-59F684CC1CB5}" type="presParOf" srcId="{55265170-E2C6-4089-B966-AD8A03818F18}" destId="{2A1A711F-631E-49D1-B0A7-9881E92D75A7}"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E59B5-6CE6-4FE4-A23A-B34783C846CF}">
      <dsp:nvSpPr>
        <dsp:cNvPr id="0" name=""/>
        <dsp:cNvSpPr/>
      </dsp:nvSpPr>
      <dsp:spPr>
        <a:xfrm>
          <a:off x="2817" y="593689"/>
          <a:ext cx="2235464" cy="1341278"/>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Journey of a referral</a:t>
          </a:r>
          <a:endParaRPr lang="en-US" sz="2400" kern="1200" dirty="0"/>
        </a:p>
      </dsp:txBody>
      <dsp:txXfrm>
        <a:off x="2817" y="593689"/>
        <a:ext cx="2235464" cy="1341278"/>
      </dsp:txXfrm>
    </dsp:sp>
    <dsp:sp modelId="{402BD188-8726-4865-9691-AFA76012CA58}">
      <dsp:nvSpPr>
        <dsp:cNvPr id="0" name=""/>
        <dsp:cNvSpPr/>
      </dsp:nvSpPr>
      <dsp:spPr>
        <a:xfrm>
          <a:off x="2461828" y="593689"/>
          <a:ext cx="2235464" cy="1341278"/>
        </a:xfrm>
        <a:prstGeom prst="rect">
          <a:avLst/>
        </a:prstGeom>
        <a:solidFill>
          <a:schemeClr val="accent2">
            <a:hueOff val="-494048"/>
            <a:satOff val="2367"/>
            <a:lumOff val="219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SERAC – creative discussion, solution focus</a:t>
          </a:r>
          <a:endParaRPr lang="en-US" sz="2400" kern="1200" dirty="0"/>
        </a:p>
      </dsp:txBody>
      <dsp:txXfrm>
        <a:off x="2461828" y="593689"/>
        <a:ext cx="2235464" cy="1341278"/>
      </dsp:txXfrm>
    </dsp:sp>
    <dsp:sp modelId="{BEFFB33D-70D0-4FC2-9D91-5498132C252F}">
      <dsp:nvSpPr>
        <dsp:cNvPr id="0" name=""/>
        <dsp:cNvSpPr/>
      </dsp:nvSpPr>
      <dsp:spPr>
        <a:xfrm>
          <a:off x="4920839" y="593689"/>
          <a:ext cx="2235464" cy="1341278"/>
        </a:xfrm>
        <a:prstGeom prst="rect">
          <a:avLst/>
        </a:prstGeom>
        <a:solidFill>
          <a:schemeClr val="accent2">
            <a:hueOff val="-988095"/>
            <a:satOff val="4733"/>
            <a:lumOff val="43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Thresholds </a:t>
          </a:r>
          <a:endParaRPr lang="en-US" sz="2400" kern="1200" dirty="0"/>
        </a:p>
      </dsp:txBody>
      <dsp:txXfrm>
        <a:off x="4920839" y="593689"/>
        <a:ext cx="2235464" cy="1341278"/>
      </dsp:txXfrm>
    </dsp:sp>
    <dsp:sp modelId="{8E1876BB-E2A2-4759-9FE2-3D463AFF0A40}">
      <dsp:nvSpPr>
        <dsp:cNvPr id="0" name=""/>
        <dsp:cNvSpPr/>
      </dsp:nvSpPr>
      <dsp:spPr>
        <a:xfrm>
          <a:off x="7382668" y="593689"/>
          <a:ext cx="2235464" cy="1341278"/>
        </a:xfrm>
        <a:prstGeom prst="rect">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Training</a:t>
          </a:r>
          <a:endParaRPr lang="en-US" sz="2400" kern="1200" dirty="0"/>
        </a:p>
      </dsp:txBody>
      <dsp:txXfrm>
        <a:off x="7382668" y="593689"/>
        <a:ext cx="2235464" cy="1341278"/>
      </dsp:txXfrm>
    </dsp:sp>
    <dsp:sp modelId="{F79D287F-F9B5-4C48-96DA-1A0304A7BFEF}">
      <dsp:nvSpPr>
        <dsp:cNvPr id="0" name=""/>
        <dsp:cNvSpPr/>
      </dsp:nvSpPr>
      <dsp:spPr>
        <a:xfrm>
          <a:off x="1232323" y="2158514"/>
          <a:ext cx="2235464" cy="1341278"/>
        </a:xfrm>
        <a:prstGeom prst="rect">
          <a:avLst/>
        </a:prstGeom>
        <a:solidFill>
          <a:schemeClr val="accent2">
            <a:hueOff val="-1976191"/>
            <a:satOff val="9467"/>
            <a:lumOff val="875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Single Point of Contact</a:t>
          </a:r>
          <a:endParaRPr lang="en-US" sz="2400" kern="1200" dirty="0"/>
        </a:p>
      </dsp:txBody>
      <dsp:txXfrm>
        <a:off x="1232323" y="2158514"/>
        <a:ext cx="2235464" cy="1341278"/>
      </dsp:txXfrm>
    </dsp:sp>
    <dsp:sp modelId="{618912FA-8F8C-4FB2-8823-7D1C0EE30E96}">
      <dsp:nvSpPr>
        <dsp:cNvPr id="0" name=""/>
        <dsp:cNvSpPr/>
      </dsp:nvSpPr>
      <dsp:spPr>
        <a:xfrm>
          <a:off x="3691334" y="2158514"/>
          <a:ext cx="2235464" cy="1341278"/>
        </a:xfrm>
        <a:prstGeom prst="rect">
          <a:avLst/>
        </a:prstGeom>
        <a:solidFill>
          <a:schemeClr val="accent2">
            <a:hueOff val="-2470238"/>
            <a:satOff val="11833"/>
            <a:lumOff val="1094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Multi agency visits</a:t>
          </a:r>
          <a:endParaRPr lang="en-US" sz="2400" kern="1200" dirty="0"/>
        </a:p>
      </dsp:txBody>
      <dsp:txXfrm>
        <a:off x="3691334" y="2158514"/>
        <a:ext cx="2235464" cy="1341278"/>
      </dsp:txXfrm>
    </dsp:sp>
    <dsp:sp modelId="{BD7A5DD4-9C6B-4751-A070-BD2735F3EDC0}">
      <dsp:nvSpPr>
        <dsp:cNvPr id="0" name=""/>
        <dsp:cNvSpPr/>
      </dsp:nvSpPr>
      <dsp:spPr>
        <a:xfrm>
          <a:off x="6123720" y="2167393"/>
          <a:ext cx="2235464" cy="1341278"/>
        </a:xfrm>
        <a:prstGeom prst="rec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Strategic role – local/national/global</a:t>
          </a:r>
          <a:endParaRPr lang="en-US" sz="2400" kern="1200" dirty="0"/>
        </a:p>
      </dsp:txBody>
      <dsp:txXfrm>
        <a:off x="6123720" y="2167393"/>
        <a:ext cx="2235464" cy="13412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83ACDD-60C0-4083-B462-9E002923E3FD}">
      <dsp:nvSpPr>
        <dsp:cNvPr id="0" name=""/>
        <dsp:cNvSpPr/>
      </dsp:nvSpPr>
      <dsp:spPr>
        <a:xfrm>
          <a:off x="2940" y="714494"/>
          <a:ext cx="2332931" cy="1399758"/>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Housing</a:t>
          </a:r>
          <a:endParaRPr lang="en-US" sz="2400" kern="1200" dirty="0"/>
        </a:p>
      </dsp:txBody>
      <dsp:txXfrm>
        <a:off x="2940" y="714494"/>
        <a:ext cx="2332931" cy="1399758"/>
      </dsp:txXfrm>
    </dsp:sp>
    <dsp:sp modelId="{ED22AB60-F4F3-4FD0-8266-2C12F008002B}">
      <dsp:nvSpPr>
        <dsp:cNvPr id="0" name=""/>
        <dsp:cNvSpPr/>
      </dsp:nvSpPr>
      <dsp:spPr>
        <a:xfrm>
          <a:off x="2569164" y="714494"/>
          <a:ext cx="2332931" cy="1399758"/>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Substance Use</a:t>
          </a:r>
        </a:p>
      </dsp:txBody>
      <dsp:txXfrm>
        <a:off x="2569164" y="714494"/>
        <a:ext cx="2332931" cy="1399758"/>
      </dsp:txXfrm>
    </dsp:sp>
    <dsp:sp modelId="{8B30AA70-93B9-4943-BDE3-55D2428316A9}">
      <dsp:nvSpPr>
        <dsp:cNvPr id="0" name=""/>
        <dsp:cNvSpPr/>
      </dsp:nvSpPr>
      <dsp:spPr>
        <a:xfrm>
          <a:off x="5135389" y="714494"/>
          <a:ext cx="2332931" cy="1399758"/>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Mental</a:t>
          </a:r>
          <a:r>
            <a:rPr lang="en-US" sz="2400" kern="1200" baseline="0" dirty="0"/>
            <a:t> Health</a:t>
          </a:r>
          <a:endParaRPr lang="en-US" sz="2400" kern="1200" dirty="0"/>
        </a:p>
      </dsp:txBody>
      <dsp:txXfrm>
        <a:off x="5135389" y="714494"/>
        <a:ext cx="2332931" cy="1399758"/>
      </dsp:txXfrm>
    </dsp:sp>
    <dsp:sp modelId="{F6BF5F53-C78B-4A1E-B7F6-4BC74A5B4A41}">
      <dsp:nvSpPr>
        <dsp:cNvPr id="0" name=""/>
        <dsp:cNvSpPr/>
      </dsp:nvSpPr>
      <dsp:spPr>
        <a:xfrm>
          <a:off x="7701613" y="714494"/>
          <a:ext cx="2332931" cy="1399758"/>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Agency Involvement</a:t>
          </a:r>
        </a:p>
      </dsp:txBody>
      <dsp:txXfrm>
        <a:off x="7701613" y="714494"/>
        <a:ext cx="2332931" cy="1399758"/>
      </dsp:txXfrm>
    </dsp:sp>
    <dsp:sp modelId="{DB11079E-0087-4655-B240-5C794F73B64D}">
      <dsp:nvSpPr>
        <dsp:cNvPr id="0" name=""/>
        <dsp:cNvSpPr/>
      </dsp:nvSpPr>
      <dsp:spPr>
        <a:xfrm>
          <a:off x="2940" y="2347546"/>
          <a:ext cx="2332931" cy="1399758"/>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Immigration</a:t>
          </a:r>
          <a:r>
            <a:rPr lang="en-US" sz="2400" kern="1200" baseline="0" dirty="0"/>
            <a:t> Status</a:t>
          </a:r>
          <a:endParaRPr lang="en-US" sz="2400" kern="1200" dirty="0"/>
        </a:p>
      </dsp:txBody>
      <dsp:txXfrm>
        <a:off x="2940" y="2347546"/>
        <a:ext cx="2332931" cy="1399758"/>
      </dsp:txXfrm>
    </dsp:sp>
    <dsp:sp modelId="{1A4FBC17-42D1-4C9A-B21D-FA4D7AB24D47}">
      <dsp:nvSpPr>
        <dsp:cNvPr id="0" name=""/>
        <dsp:cNvSpPr/>
      </dsp:nvSpPr>
      <dsp:spPr>
        <a:xfrm>
          <a:off x="2569164" y="2347546"/>
          <a:ext cx="2332931" cy="1399758"/>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Risk</a:t>
          </a:r>
          <a:r>
            <a:rPr lang="en-US" sz="2400" kern="1200" baseline="0" dirty="0"/>
            <a:t> of Going Missing/Absconding</a:t>
          </a:r>
          <a:endParaRPr lang="en-US" sz="2400" kern="1200" dirty="0"/>
        </a:p>
      </dsp:txBody>
      <dsp:txXfrm>
        <a:off x="2569164" y="2347546"/>
        <a:ext cx="2332931" cy="1399758"/>
      </dsp:txXfrm>
    </dsp:sp>
    <dsp:sp modelId="{8AE07763-E535-41D3-8F47-83FB742678CB}">
      <dsp:nvSpPr>
        <dsp:cNvPr id="0" name=""/>
        <dsp:cNvSpPr/>
      </dsp:nvSpPr>
      <dsp:spPr>
        <a:xfrm>
          <a:off x="5135389" y="2347546"/>
          <a:ext cx="2332931" cy="1399758"/>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Ability</a:t>
          </a:r>
          <a:r>
            <a:rPr lang="en-US" sz="2400" kern="1200" baseline="0" dirty="0"/>
            <a:t> to risk assess/access services</a:t>
          </a:r>
          <a:endParaRPr lang="en-US" sz="2400" kern="1200" dirty="0"/>
        </a:p>
      </dsp:txBody>
      <dsp:txXfrm>
        <a:off x="5135389" y="2347546"/>
        <a:ext cx="2332931" cy="1399758"/>
      </dsp:txXfrm>
    </dsp:sp>
    <dsp:sp modelId="{2A1A711F-631E-49D1-B0A7-9881E92D75A7}">
      <dsp:nvSpPr>
        <dsp:cNvPr id="0" name=""/>
        <dsp:cNvSpPr/>
      </dsp:nvSpPr>
      <dsp:spPr>
        <a:xfrm>
          <a:off x="7701613" y="2347546"/>
          <a:ext cx="2332931" cy="1399758"/>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Police/Hospital Involvement</a:t>
          </a:r>
        </a:p>
      </dsp:txBody>
      <dsp:txXfrm>
        <a:off x="7701613" y="2347546"/>
        <a:ext cx="2332931" cy="139975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36787F23-8EBA-4717-9298-49999285E52C}" type="datetimeFigureOut">
              <a:rPr lang="en-GB" smtClean="0"/>
              <a:t>16/04/2026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13279C5C-EF48-4B7C-ABC5-2DCB055C6F86}" type="slidenum">
              <a:rPr lang="en-GB" smtClean="0"/>
              <a:t>‹#›</a:t>
            </a:fld>
            <a:endParaRPr lang="en-GB"/>
          </a:p>
        </p:txBody>
      </p:sp>
    </p:spTree>
    <p:extLst>
      <p:ext uri="{BB962C8B-B14F-4D97-AF65-F5344CB8AC3E}">
        <p14:creationId xmlns:p14="http://schemas.microsoft.com/office/powerpoint/2010/main" val="3176098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159887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1712300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3132055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192B9B-9CAE-4016-9FB9-6AC7B69EC036}" type="datetimeFigureOut">
              <a:rPr lang="en-GB" smtClean="0"/>
              <a:t>16/04/2026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3107164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192B9B-9CAE-4016-9FB9-6AC7B69EC036}" type="datetimeFigureOut">
              <a:rPr lang="en-GB" smtClean="0"/>
              <a:t>16/04/2026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3147483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192B9B-9CAE-4016-9FB9-6AC7B69EC036}" type="datetimeFigureOut">
              <a:rPr lang="en-GB" smtClean="0"/>
              <a:t>16/04/2026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3885542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192B9B-9CAE-4016-9FB9-6AC7B69EC036}" type="datetimeFigureOut">
              <a:rPr lang="en-GB" smtClean="0"/>
              <a:t>16/04/2026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255336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192B9B-9CAE-4016-9FB9-6AC7B69EC036}" type="datetimeFigureOut">
              <a:rPr lang="en-GB" smtClean="0"/>
              <a:t>16/04/2026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2998129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1192B9B-9CAE-4016-9FB9-6AC7B69EC036}" type="datetimeFigureOut">
              <a:rPr lang="en-GB" smtClean="0"/>
              <a:t>16/04/2026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1602733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4291411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55386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2596894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57412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1294923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34236429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192B9B-9CAE-4016-9FB9-6AC7B69EC036}" type="datetimeFigureOut">
              <a:rPr lang="en-GB" smtClean="0"/>
              <a:t>16/04/2026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2C4E4FA-6A82-4812-9AC2-86A516FCBB0F}" type="slidenum">
              <a:rPr lang="en-GB" smtClean="0"/>
              <a:t>‹#›</a:t>
            </a:fld>
            <a:endParaRPr lang="en-GB"/>
          </a:p>
        </p:txBody>
      </p:sp>
    </p:spTree>
    <p:extLst>
      <p:ext uri="{BB962C8B-B14F-4D97-AF65-F5344CB8AC3E}">
        <p14:creationId xmlns:p14="http://schemas.microsoft.com/office/powerpoint/2010/main" val="254123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1192B9B-9CAE-4016-9FB9-6AC7B69EC036}" type="datetimeFigureOut">
              <a:rPr lang="en-GB" smtClean="0"/>
              <a:t>16/04/2026</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2C4E4FA-6A82-4812-9AC2-86A516FCBB0F}" type="slidenum">
              <a:rPr lang="en-GB" smtClean="0"/>
              <a:t>‹#›</a:t>
            </a:fld>
            <a:endParaRPr lang="en-GB"/>
          </a:p>
        </p:txBody>
      </p:sp>
    </p:spTree>
    <p:extLst>
      <p:ext uri="{BB962C8B-B14F-4D97-AF65-F5344CB8AC3E}">
        <p14:creationId xmlns:p14="http://schemas.microsoft.com/office/powerpoint/2010/main" val="2328758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3.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hyperlink" Target="https://www.google.com/url?sa=i&amp;url=https://www.foodmanufacture.co.uk/Article/2015/07/31/Modern-Slavery-Act-what-it-means-for-food-firms&amp;psig=AOvVaw2X2bb2lIf_Y3y2yY092oNq&amp;ust=1596477977515000&amp;source=images&amp;cd=vfe&amp;ved=0CAIQjRxqFwoTCICDm4iO_eoCFQAAAAAdAAAAABAE" TargetMode="External"/><Relationship Id="rId5" Type="http://schemas.openxmlformats.org/officeDocument/2006/relationships/image" Target="../media/image12.jpeg"/><Relationship Id="rId4" Type="http://schemas.openxmlformats.org/officeDocument/2006/relationships/hyperlink" Target="https://www.google.com/url?sa=i&amp;url=https://www.fwi.co.uk/news/shocking-extent-of-modern-slavery-in-agriculture-revealed&amp;psig=AOvVaw03o3d2pJp2_UpTkGE98_ml&amp;ust=1596475499113000&amp;source=images&amp;cd=vfe&amp;ved=0CAIQjRxqFwoTCMizseqE_eoCFQAAAAAdAAAAABAE" TargetMode="Externa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61851" y="1759131"/>
            <a:ext cx="6792685" cy="2708365"/>
          </a:xfrm>
        </p:spPr>
        <p:txBody>
          <a:bodyPr>
            <a:normAutofit/>
          </a:bodyPr>
          <a:lstStyle/>
          <a:p>
            <a:r>
              <a:rPr lang="en-GB" sz="4800" b="1" dirty="0">
                <a:solidFill>
                  <a:schemeClr val="accent2">
                    <a:lumMod val="50000"/>
                  </a:schemeClr>
                </a:solidFill>
                <a:latin typeface="+mj-lt"/>
                <a:cs typeface="Arial" panose="020B0604020202020204" pitchFamily="34" charset="0"/>
              </a:rPr>
              <a:t>Slavery Exploitation Team </a:t>
            </a:r>
          </a:p>
        </p:txBody>
      </p:sp>
      <p:pic>
        <p:nvPicPr>
          <p:cNvPr id="6" name="Picture 5" descr="City Council Logo"/>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05445" y="3328981"/>
            <a:ext cx="2000250" cy="712488"/>
          </a:xfrm>
          <a:prstGeom prst="rect">
            <a:avLst/>
          </a:prstGeom>
          <a:noFill/>
        </p:spPr>
      </p:pic>
      <p:pic>
        <p:nvPicPr>
          <p:cNvPr id="1028" name="Picture 4" descr="Ashfield District Council">
            <a:extLst>
              <a:ext uri="{FF2B5EF4-FFF2-40B4-BE49-F238E27FC236}">
                <a16:creationId xmlns:a16="http://schemas.microsoft.com/office/drawing/2014/main" id="{EC1D28AD-B453-48DE-85DB-27BAA83C8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 y="5890468"/>
            <a:ext cx="1543050" cy="63810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wark and Sherwood District Council">
            <a:extLst>
              <a:ext uri="{FF2B5EF4-FFF2-40B4-BE49-F238E27FC236}">
                <a16:creationId xmlns:a16="http://schemas.microsoft.com/office/drawing/2014/main" id="{223DA357-D9C0-4803-85DF-A1717E07A4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1790" y="5819736"/>
            <a:ext cx="1619250" cy="6477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ssetlaw Home">
            <a:extLst>
              <a:ext uri="{FF2B5EF4-FFF2-40B4-BE49-F238E27FC236}">
                <a16:creationId xmlns:a16="http://schemas.microsoft.com/office/drawing/2014/main" id="{7257BDBA-3B8E-4146-AC6A-5F8D8545C0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05445" y="5819736"/>
            <a:ext cx="192405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ogo: Mansfield District Council">
            <a:extLst>
              <a:ext uri="{FF2B5EF4-FFF2-40B4-BE49-F238E27FC236}">
                <a16:creationId xmlns:a16="http://schemas.microsoft.com/office/drawing/2014/main" id="{1B1EFE8D-17EB-4E67-ADF0-B6914A546A1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009632" y="140027"/>
            <a:ext cx="2000250" cy="81798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Return to the Broxtowe Borough Council homepage">
            <a:extLst>
              <a:ext uri="{FF2B5EF4-FFF2-40B4-BE49-F238E27FC236}">
                <a16:creationId xmlns:a16="http://schemas.microsoft.com/office/drawing/2014/main" id="{95C16ED4-F86A-4B5F-BADB-E7096D3E47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5332" y="5918460"/>
            <a:ext cx="1657350" cy="74295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Return to the Rushcliffe homepage">
            <a:extLst>
              <a:ext uri="{FF2B5EF4-FFF2-40B4-BE49-F238E27FC236}">
                <a16:creationId xmlns:a16="http://schemas.microsoft.com/office/drawing/2014/main" id="{C13D8662-1698-446A-A9BD-2EF345CB0E7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220705" y="1441171"/>
            <a:ext cx="1441734" cy="1441734"/>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Logo for Gedling Borough Council in white text, with the Gedling crest next to the text">
            <a:extLst>
              <a:ext uri="{FF2B5EF4-FFF2-40B4-BE49-F238E27FC236}">
                <a16:creationId xmlns:a16="http://schemas.microsoft.com/office/drawing/2014/main" id="{8AE4AE4A-21F1-4ED6-A6A3-97E76B18AF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05445" y="4933621"/>
            <a:ext cx="2272255" cy="55291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Green text on a white background&#10;&#10;Description automatically generated">
            <a:extLst>
              <a:ext uri="{FF2B5EF4-FFF2-40B4-BE49-F238E27FC236}">
                <a16:creationId xmlns:a16="http://schemas.microsoft.com/office/drawing/2014/main" id="{A2673672-8861-4ADA-84DD-EF46EB707A9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58193" y="5858970"/>
            <a:ext cx="3162574" cy="701101"/>
          </a:xfrm>
          <a:prstGeom prst="rect">
            <a:avLst/>
          </a:prstGeom>
        </p:spPr>
      </p:pic>
    </p:spTree>
    <p:extLst>
      <p:ext uri="{BB962C8B-B14F-4D97-AF65-F5344CB8AC3E}">
        <p14:creationId xmlns:p14="http://schemas.microsoft.com/office/powerpoint/2010/main" val="2939128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normAutofit/>
          </a:bodyPr>
          <a:lstStyle/>
          <a:p>
            <a:r>
              <a:rPr lang="en-GB" b="1" dirty="0">
                <a:solidFill>
                  <a:schemeClr val="accent2">
                    <a:lumMod val="50000"/>
                  </a:schemeClr>
                </a:solidFill>
                <a:cs typeface="Arial" panose="020B0604020202020204" pitchFamily="34" charset="0"/>
              </a:rPr>
              <a:t>Introduction to the team and modern slavery</a:t>
            </a:r>
          </a:p>
        </p:txBody>
      </p:sp>
      <p:sp>
        <p:nvSpPr>
          <p:cNvPr id="3" name="Content Placeholder 2"/>
          <p:cNvSpPr>
            <a:spLocks noGrp="1"/>
          </p:cNvSpPr>
          <p:nvPr>
            <p:ph idx="1"/>
          </p:nvPr>
        </p:nvSpPr>
        <p:spPr>
          <a:xfrm>
            <a:off x="768869" y="1207110"/>
            <a:ext cx="10515600" cy="5079683"/>
          </a:xfrm>
        </p:spPr>
        <p:txBody>
          <a:bodyPr>
            <a:noAutofit/>
          </a:bodyPr>
          <a:lstStyle/>
          <a:p>
            <a:r>
              <a:rPr lang="en-GB" sz="2800" dirty="0">
                <a:latin typeface="+mj-lt"/>
                <a:cs typeface="Arial" panose="020B0604020202020204" pitchFamily="34" charset="0"/>
              </a:rPr>
              <a:t>Perceptions and reality of slavery</a:t>
            </a:r>
          </a:p>
          <a:p>
            <a:r>
              <a:rPr lang="en-GB" sz="2800" dirty="0">
                <a:latin typeface="+mj-lt"/>
                <a:cs typeface="Arial" panose="020B0604020202020204" pitchFamily="34" charset="0"/>
              </a:rPr>
              <a:t>Understanding the role of SERAC and the Slavery Exploitation Team</a:t>
            </a:r>
          </a:p>
          <a:p>
            <a:r>
              <a:rPr lang="en-GB" sz="2800" dirty="0">
                <a:latin typeface="+mj-lt"/>
                <a:cs typeface="Arial" panose="020B0604020202020204" pitchFamily="34" charset="0"/>
              </a:rPr>
              <a:t>Forms of exploitation and indicators</a:t>
            </a:r>
          </a:p>
          <a:p>
            <a:r>
              <a:rPr lang="en-GB" sz="2800" dirty="0">
                <a:latin typeface="+mj-lt"/>
                <a:cs typeface="Arial" panose="020B0604020202020204" pitchFamily="34" charset="0"/>
              </a:rPr>
              <a:t>Case typology and vulnerabilities</a:t>
            </a:r>
          </a:p>
          <a:p>
            <a:r>
              <a:rPr lang="en-GB" sz="2800" dirty="0">
                <a:latin typeface="+mj-lt"/>
                <a:cs typeface="Arial" panose="020B0604020202020204" pitchFamily="34" charset="0"/>
              </a:rPr>
              <a:t>How to refer and what we do with partners</a:t>
            </a:r>
          </a:p>
          <a:p>
            <a:r>
              <a:rPr lang="en-GB" sz="2800" dirty="0">
                <a:latin typeface="+mj-lt"/>
                <a:cs typeface="Arial" panose="020B0604020202020204" pitchFamily="34" charset="0"/>
              </a:rPr>
              <a:t>National Referral Mechanism</a:t>
            </a:r>
          </a:p>
          <a:p>
            <a:r>
              <a:rPr lang="en-GB" sz="2800" dirty="0">
                <a:latin typeface="+mj-lt"/>
                <a:cs typeface="Arial" panose="020B0604020202020204" pitchFamily="34" charset="0"/>
              </a:rPr>
              <a:t>Professional Curiosity</a:t>
            </a:r>
          </a:p>
          <a:p>
            <a:r>
              <a:rPr lang="en-GB" sz="2800" dirty="0">
                <a:latin typeface="+mj-lt"/>
                <a:cs typeface="Arial" panose="020B0604020202020204" pitchFamily="34" charset="0"/>
              </a:rPr>
              <a:t>Case studies and data on outcomes </a:t>
            </a:r>
          </a:p>
          <a:p>
            <a:pPr marL="0" indent="0">
              <a:buNone/>
            </a:pPr>
            <a:r>
              <a:rPr lang="en-GB" sz="2800" dirty="0">
                <a:latin typeface="Arial" panose="020B0604020202020204" pitchFamily="34" charset="0"/>
                <a:cs typeface="Arial" panose="020B0604020202020204" pitchFamily="34" charset="0"/>
              </a:rPr>
              <a:t>    </a:t>
            </a:r>
            <a:endParaRPr lang="en-GB" sz="2800" dirty="0"/>
          </a:p>
        </p:txBody>
      </p:sp>
    </p:spTree>
    <p:extLst>
      <p:ext uri="{BB962C8B-B14F-4D97-AF65-F5344CB8AC3E}">
        <p14:creationId xmlns:p14="http://schemas.microsoft.com/office/powerpoint/2010/main" val="258001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www.shropshirestar.com/resizer/0XLH8aIRkufjPl6er6VKjmGVqq0=/1000x0/filters:quality(100)/cloudfront-us-east-1.images.arcpublishing.com/shropshirestar.mna/C7HDWIFQNVFLFIU55ZZ3CF7HDY.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2795" y="676546"/>
            <a:ext cx="3485515" cy="2613660"/>
          </a:xfrm>
          <a:prstGeom prst="rect">
            <a:avLst/>
          </a:prstGeom>
          <a:noFill/>
          <a:ln>
            <a:noFill/>
          </a:ln>
        </p:spPr>
      </p:pic>
      <p:pic>
        <p:nvPicPr>
          <p:cNvPr id="3" name="Picture 2" descr="Inspectors carried out 51 factory visits - including 34 'spot-checks' - on textiles firms. Pictured: Factory workers at Faiza Fashion in Leicester when the city was put into lockdown again"/>
          <p:cNvPicPr/>
          <p:nvPr/>
        </p:nvPicPr>
        <p:blipFill>
          <a:blip r:embed="rId3">
            <a:extLst>
              <a:ext uri="{28A0092B-C50C-407E-A947-70E740481C1C}">
                <a14:useLocalDpi xmlns:a14="http://schemas.microsoft.com/office/drawing/2010/main" val="0"/>
              </a:ext>
            </a:extLst>
          </a:blip>
          <a:srcRect/>
          <a:stretch>
            <a:fillRect/>
          </a:stretch>
        </p:blipFill>
        <p:spPr bwMode="auto">
          <a:xfrm>
            <a:off x="931975" y="2314725"/>
            <a:ext cx="4184015" cy="3382645"/>
          </a:xfrm>
          <a:prstGeom prst="rect">
            <a:avLst/>
          </a:prstGeom>
          <a:noFill/>
          <a:ln>
            <a:noFill/>
          </a:ln>
        </p:spPr>
      </p:pic>
      <p:pic>
        <p:nvPicPr>
          <p:cNvPr id="4" name="Picture 3" descr="Shocking extent of modern slavery in agriculture revealed ...">
            <a:hlinkClick r:id="rId4" tgtFrame="&quot;_blank&quot;"/>
          </p:cNvPr>
          <p:cNvPicPr/>
          <p:nvPr/>
        </p:nvPicPr>
        <p:blipFill>
          <a:blip r:embed="rId5">
            <a:extLst>
              <a:ext uri="{28A0092B-C50C-407E-A947-70E740481C1C}">
                <a14:useLocalDpi xmlns:a14="http://schemas.microsoft.com/office/drawing/2010/main" val="0"/>
              </a:ext>
            </a:extLst>
          </a:blip>
          <a:srcRect/>
          <a:stretch>
            <a:fillRect/>
          </a:stretch>
        </p:blipFill>
        <p:spPr bwMode="auto">
          <a:xfrm>
            <a:off x="8149861" y="4284617"/>
            <a:ext cx="3676378" cy="2196782"/>
          </a:xfrm>
          <a:prstGeom prst="rect">
            <a:avLst/>
          </a:prstGeom>
          <a:noFill/>
          <a:ln>
            <a:noFill/>
          </a:ln>
        </p:spPr>
      </p:pic>
      <p:pic>
        <p:nvPicPr>
          <p:cNvPr id="5" name="Picture 4" descr="Modern Slavery Act: what it means for food firms">
            <a:hlinkClick r:id="rId6" tgtFrame="&quot;_blank&quo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78399" y="2485392"/>
            <a:ext cx="4494258" cy="2164805"/>
          </a:xfrm>
          <a:prstGeom prst="rect">
            <a:avLst/>
          </a:prstGeom>
          <a:noFill/>
          <a:ln>
            <a:noFill/>
          </a:ln>
        </p:spPr>
      </p:pic>
      <p:sp>
        <p:nvSpPr>
          <p:cNvPr id="6" name="TextBox 5"/>
          <p:cNvSpPr txBox="1"/>
          <p:nvPr/>
        </p:nvSpPr>
        <p:spPr>
          <a:xfrm>
            <a:off x="931975" y="435407"/>
            <a:ext cx="5334000" cy="1754326"/>
          </a:xfrm>
          <a:prstGeom prst="rect">
            <a:avLst/>
          </a:prstGeom>
          <a:noFill/>
        </p:spPr>
        <p:txBody>
          <a:bodyPr wrap="square" rtlCol="0">
            <a:spAutoFit/>
          </a:bodyPr>
          <a:lstStyle/>
          <a:p>
            <a:r>
              <a:rPr lang="en-GB" sz="3600" b="1" dirty="0">
                <a:solidFill>
                  <a:schemeClr val="accent2">
                    <a:lumMod val="50000"/>
                  </a:schemeClr>
                </a:solidFill>
                <a:latin typeface="+mj-lt"/>
                <a:cs typeface="Arial" panose="020B0604020202020204" pitchFamily="34" charset="0"/>
              </a:rPr>
              <a:t>Perceptions and Reality of Slavery and Exploitation</a:t>
            </a:r>
          </a:p>
        </p:txBody>
      </p:sp>
    </p:spTree>
    <p:extLst>
      <p:ext uri="{BB962C8B-B14F-4D97-AF65-F5344CB8AC3E}">
        <p14:creationId xmlns:p14="http://schemas.microsoft.com/office/powerpoint/2010/main" val="3113136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03E3-1037-483B-9997-9286BD9DAC35}"/>
              </a:ext>
            </a:extLst>
          </p:cNvPr>
          <p:cNvSpPr>
            <a:spLocks noGrp="1"/>
          </p:cNvSpPr>
          <p:nvPr>
            <p:ph type="title"/>
          </p:nvPr>
        </p:nvSpPr>
        <p:spPr>
          <a:xfrm>
            <a:off x="1286933" y="609600"/>
            <a:ext cx="10197494" cy="1099457"/>
          </a:xfrm>
        </p:spPr>
        <p:txBody>
          <a:bodyPr>
            <a:normAutofit/>
          </a:bodyPr>
          <a:lstStyle/>
          <a:p>
            <a:r>
              <a:rPr lang="en-GB" sz="4000" b="1" dirty="0">
                <a:solidFill>
                  <a:schemeClr val="accent2">
                    <a:lumMod val="50000"/>
                  </a:schemeClr>
                </a:solidFill>
                <a:cs typeface="Arial" panose="020B0604020202020204" pitchFamily="34" charset="0"/>
              </a:rPr>
              <a:t>How the Team Operates</a:t>
            </a:r>
          </a:p>
        </p:txBody>
      </p:sp>
      <p:graphicFrame>
        <p:nvGraphicFramePr>
          <p:cNvPr id="5" name="Content Placeholder 2">
            <a:extLst>
              <a:ext uri="{FF2B5EF4-FFF2-40B4-BE49-F238E27FC236}">
                <a16:creationId xmlns:a16="http://schemas.microsoft.com/office/drawing/2014/main" id="{52282CC0-0E5D-823B-4D04-15AA32574E91}"/>
              </a:ext>
            </a:extLst>
          </p:cNvPr>
          <p:cNvGraphicFramePr>
            <a:graphicFrameLocks noGrp="1"/>
          </p:cNvGraphicFramePr>
          <p:nvPr>
            <p:ph idx="1"/>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6986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0800000" flipH="1" flipV="1">
            <a:off x="738508" y="1176721"/>
            <a:ext cx="3114399" cy="184665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2400" b="1" dirty="0">
                <a:solidFill>
                  <a:schemeClr val="accent1">
                    <a:lumMod val="75000"/>
                  </a:schemeClr>
                </a:solidFill>
                <a:latin typeface="+mj-lt"/>
                <a:ea typeface="Montserrat"/>
                <a:cs typeface="Arial" panose="020B0604020202020204" pitchFamily="34" charset="0"/>
                <a:sym typeface="Montserrat"/>
              </a:rPr>
              <a:t>Where/form:</a:t>
            </a:r>
          </a:p>
          <a:p>
            <a:pPr marL="285750" indent="-285750">
              <a:buFont typeface="Arial" panose="020B0604020202020204" pitchFamily="34" charset="0"/>
              <a:buChar char="•"/>
            </a:pPr>
            <a:r>
              <a:rPr lang="en-GB" dirty="0">
                <a:solidFill>
                  <a:srgbClr val="222222"/>
                </a:solidFill>
                <a:latin typeface="+mj-lt"/>
                <a:cs typeface="Arial" panose="020B0604020202020204" pitchFamily="34" charset="0"/>
              </a:rPr>
              <a:t>Sex Work  </a:t>
            </a:r>
          </a:p>
          <a:p>
            <a:pPr marL="285750" indent="-285750" fontAlgn="base">
              <a:buFont typeface="Arial" panose="020B0604020202020204" pitchFamily="34" charset="0"/>
              <a:buChar char="•"/>
            </a:pPr>
            <a:r>
              <a:rPr lang="en-GB" dirty="0">
                <a:solidFill>
                  <a:srgbClr val="222222"/>
                </a:solidFill>
                <a:latin typeface="+mj-lt"/>
                <a:cs typeface="Arial" panose="020B0604020202020204" pitchFamily="34" charset="0"/>
              </a:rPr>
              <a:t>Escort Work </a:t>
            </a:r>
          </a:p>
          <a:p>
            <a:pPr marL="285750" indent="-285750" fontAlgn="base">
              <a:buFont typeface="Arial" panose="020B0604020202020204" pitchFamily="34" charset="0"/>
              <a:buChar char="•"/>
            </a:pPr>
            <a:r>
              <a:rPr lang="en-GB" dirty="0">
                <a:solidFill>
                  <a:srgbClr val="222222"/>
                </a:solidFill>
                <a:latin typeface="+mj-lt"/>
                <a:cs typeface="Arial" panose="020B0604020202020204" pitchFamily="34" charset="0"/>
              </a:rPr>
              <a:t>Pornography</a:t>
            </a:r>
          </a:p>
          <a:p>
            <a:pPr marL="285750" indent="-285750" fontAlgn="base">
              <a:buFont typeface="Arial" panose="020B0604020202020204" pitchFamily="34" charset="0"/>
              <a:buChar char="•"/>
            </a:pPr>
            <a:r>
              <a:rPr lang="en-GB" dirty="0">
                <a:solidFill>
                  <a:srgbClr val="222222"/>
                </a:solidFill>
                <a:latin typeface="+mj-lt"/>
                <a:cs typeface="Arial" panose="020B0604020202020204" pitchFamily="34" charset="0"/>
              </a:rPr>
              <a:t>Massage parlours</a:t>
            </a:r>
          </a:p>
          <a:p>
            <a:pPr marL="285750" indent="-285750" fontAlgn="base">
              <a:buFont typeface="Arial" panose="020B0604020202020204" pitchFamily="34" charset="0"/>
              <a:buChar char="•"/>
            </a:pPr>
            <a:r>
              <a:rPr lang="en-GB" dirty="0">
                <a:solidFill>
                  <a:srgbClr val="222222"/>
                </a:solidFill>
                <a:latin typeface="+mj-lt"/>
                <a:cs typeface="Arial" panose="020B0604020202020204" pitchFamily="34" charset="0"/>
              </a:rPr>
              <a:t>In cuckooed properties  </a:t>
            </a:r>
          </a:p>
        </p:txBody>
      </p:sp>
      <p:sp>
        <p:nvSpPr>
          <p:cNvPr id="6" name="TextBox 5"/>
          <p:cNvSpPr txBox="1"/>
          <p:nvPr/>
        </p:nvSpPr>
        <p:spPr>
          <a:xfrm>
            <a:off x="4108585" y="1176722"/>
            <a:ext cx="7459019" cy="184665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spcBef>
                <a:spcPts val="1698"/>
              </a:spcBef>
            </a:pPr>
            <a:r>
              <a:rPr lang="en-GB" sz="2400" b="1" dirty="0">
                <a:solidFill>
                  <a:schemeClr val="accent1">
                    <a:lumMod val="75000"/>
                  </a:schemeClr>
                </a:solidFill>
                <a:latin typeface="+mj-lt"/>
                <a:ea typeface="Montserrat"/>
                <a:cs typeface="Arial" panose="020B0604020202020204" pitchFamily="34" charset="0"/>
                <a:sym typeface="Montserrat"/>
              </a:rPr>
              <a:t>Signs and Indicators:</a:t>
            </a:r>
            <a:endParaRPr lang="en-GB" sz="2400" dirty="0">
              <a:solidFill>
                <a:schemeClr val="accent1">
                  <a:lumMod val="75000"/>
                </a:schemeClr>
              </a:solidFill>
              <a:latin typeface="+mj-lt"/>
              <a:ea typeface="Montserrat"/>
              <a:cs typeface="Arial" panose="020B0604020202020204" pitchFamily="34" charset="0"/>
              <a:sym typeface="Montserrat"/>
            </a:endParaRPr>
          </a:p>
          <a:p>
            <a:pPr fontAlgn="base">
              <a:buFont typeface="Arial" panose="020B0604020202020204" pitchFamily="34" charset="0"/>
              <a:buChar char="•"/>
            </a:pPr>
            <a:r>
              <a:rPr lang="en-GB" dirty="0">
                <a:solidFill>
                  <a:srgbClr val="202020"/>
                </a:solidFill>
                <a:latin typeface="+mj-lt"/>
              </a:rPr>
              <a:t>The person may be 'branded' with a tattoo</a:t>
            </a:r>
          </a:p>
          <a:p>
            <a:pPr fontAlgn="base">
              <a:buFont typeface="Arial" panose="020B0604020202020204" pitchFamily="34" charset="0"/>
              <a:buChar char="•"/>
            </a:pPr>
            <a:r>
              <a:rPr lang="en-GB">
                <a:solidFill>
                  <a:srgbClr val="202020"/>
                </a:solidFill>
                <a:latin typeface="+mj-lt"/>
              </a:rPr>
              <a:t>Individuals </a:t>
            </a:r>
            <a:r>
              <a:rPr lang="en-GB" dirty="0">
                <a:solidFill>
                  <a:srgbClr val="202020"/>
                </a:solidFill>
                <a:latin typeface="+mj-lt"/>
              </a:rPr>
              <a:t>may show signs of physical abuse, including bruising, scarring and cigarette burns</a:t>
            </a:r>
          </a:p>
          <a:p>
            <a:pPr fontAlgn="base">
              <a:buFont typeface="Arial" panose="020B0604020202020204" pitchFamily="34" charset="0"/>
              <a:buChar char="•"/>
            </a:pPr>
            <a:r>
              <a:rPr lang="en-GB" dirty="0">
                <a:solidFill>
                  <a:srgbClr val="202020"/>
                </a:solidFill>
                <a:latin typeface="+mj-lt"/>
              </a:rPr>
              <a:t>The person may have a limited English vocabulary, restricted to sexualised words</a:t>
            </a:r>
          </a:p>
        </p:txBody>
      </p:sp>
      <p:sp>
        <p:nvSpPr>
          <p:cNvPr id="8" name="TextBox 7"/>
          <p:cNvSpPr txBox="1"/>
          <p:nvPr/>
        </p:nvSpPr>
        <p:spPr>
          <a:xfrm>
            <a:off x="738507" y="432656"/>
            <a:ext cx="5155475" cy="523220"/>
          </a:xfrm>
          <a:prstGeom prst="rect">
            <a:avLst/>
          </a:prstGeom>
          <a:noFill/>
        </p:spPr>
        <p:txBody>
          <a:bodyPr wrap="square" rtlCol="0">
            <a:spAutoFit/>
          </a:bodyPr>
          <a:lstStyle/>
          <a:p>
            <a:r>
              <a:rPr lang="en-GB" sz="2800" b="1" dirty="0">
                <a:solidFill>
                  <a:schemeClr val="accent2">
                    <a:lumMod val="50000"/>
                  </a:schemeClr>
                </a:solidFill>
                <a:latin typeface="+mj-lt"/>
                <a:cs typeface="Arial" panose="020B0604020202020204" pitchFamily="34" charset="0"/>
              </a:rPr>
              <a:t>Sexual / Labour Exploitation</a:t>
            </a:r>
          </a:p>
        </p:txBody>
      </p:sp>
      <p:sp>
        <p:nvSpPr>
          <p:cNvPr id="2" name="TextBox 1">
            <a:extLst>
              <a:ext uri="{FF2B5EF4-FFF2-40B4-BE49-F238E27FC236}">
                <a16:creationId xmlns:a16="http://schemas.microsoft.com/office/drawing/2014/main" id="{B6A08DB8-E7F7-409E-BA1C-C5ED6E9005D9}"/>
              </a:ext>
            </a:extLst>
          </p:cNvPr>
          <p:cNvSpPr txBox="1"/>
          <p:nvPr/>
        </p:nvSpPr>
        <p:spPr>
          <a:xfrm>
            <a:off x="738507" y="4799311"/>
            <a:ext cx="8464989"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GB" dirty="0"/>
              <a:t>Scared/ intimidated </a:t>
            </a:r>
          </a:p>
          <a:p>
            <a:pPr marL="285750" indent="-285750">
              <a:buFont typeface="Arial" panose="020B0604020202020204" pitchFamily="34" charset="0"/>
              <a:buChar char="•"/>
            </a:pPr>
            <a:r>
              <a:rPr lang="en-GB" dirty="0"/>
              <a:t>May be transported to and from ‘work’ locations </a:t>
            </a:r>
          </a:p>
          <a:p>
            <a:pPr marL="285750" indent="-285750">
              <a:buFont typeface="Arial" panose="020B0604020202020204" pitchFamily="34" charset="0"/>
              <a:buChar char="•"/>
            </a:pPr>
            <a:r>
              <a:rPr lang="en-GB" dirty="0"/>
              <a:t>Victims may be closely guarded </a:t>
            </a:r>
          </a:p>
          <a:p>
            <a:pPr marL="285750" indent="-285750">
              <a:buFont typeface="Arial" panose="020B0604020202020204" pitchFamily="34" charset="0"/>
              <a:buChar char="•"/>
            </a:pPr>
            <a:r>
              <a:rPr lang="en-GB" dirty="0"/>
              <a:t>May have restricted or no access to earnings</a:t>
            </a:r>
          </a:p>
          <a:p>
            <a:pPr marL="285750" indent="-285750">
              <a:buFont typeface="Arial" panose="020B0604020202020204" pitchFamily="34" charset="0"/>
              <a:buChar char="•"/>
            </a:pPr>
            <a:r>
              <a:rPr lang="en-GB" dirty="0">
                <a:solidFill>
                  <a:srgbClr val="202020"/>
                </a:solidFill>
                <a:latin typeface="+mj-lt"/>
              </a:rPr>
              <a:t>The person may sleep in the premise in which they work or be provided with accommodation by the exploiter which is likely substandard and overcrowded</a:t>
            </a:r>
          </a:p>
        </p:txBody>
      </p:sp>
      <p:sp>
        <p:nvSpPr>
          <p:cNvPr id="9" name="TextBox 8">
            <a:extLst>
              <a:ext uri="{FF2B5EF4-FFF2-40B4-BE49-F238E27FC236}">
                <a16:creationId xmlns:a16="http://schemas.microsoft.com/office/drawing/2014/main" id="{B54E24D9-F51A-423E-953B-724E348EBDD3}"/>
              </a:ext>
            </a:extLst>
          </p:cNvPr>
          <p:cNvSpPr txBox="1"/>
          <p:nvPr/>
        </p:nvSpPr>
        <p:spPr>
          <a:xfrm>
            <a:off x="738507" y="3126516"/>
            <a:ext cx="3114400"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400" b="1" dirty="0">
                <a:solidFill>
                  <a:schemeClr val="accent1">
                    <a:lumMod val="75000"/>
                  </a:schemeClr>
                </a:solidFill>
                <a:latin typeface="+mj-lt"/>
                <a:ea typeface="Montserrat"/>
                <a:cs typeface="Arial" panose="020B0604020202020204" pitchFamily="34" charset="0"/>
                <a:sym typeface="Montserrat"/>
              </a:rPr>
              <a:t>Where:</a:t>
            </a:r>
          </a:p>
          <a:p>
            <a:pPr marL="285750" indent="-285750">
              <a:buFont typeface="Arial" panose="020B0604020202020204" pitchFamily="34" charset="0"/>
              <a:buChar char="•"/>
            </a:pPr>
            <a:r>
              <a:rPr lang="en-GB" dirty="0">
                <a:solidFill>
                  <a:srgbClr val="222222"/>
                </a:solidFill>
                <a:latin typeface="+mj-lt"/>
                <a:ea typeface="Montserrat"/>
                <a:cs typeface="Arial" panose="020B0604020202020204" pitchFamily="34" charset="0"/>
                <a:sym typeface="Montserrat"/>
              </a:rPr>
              <a:t>Restaurants/Takeaways </a:t>
            </a:r>
            <a:endParaRPr lang="en-GB" sz="2800" dirty="0">
              <a:solidFill>
                <a:schemeClr val="lt1"/>
              </a:solidFill>
              <a:latin typeface="+mj-lt"/>
              <a:ea typeface="Montserrat"/>
              <a:cs typeface="Arial" panose="020B0604020202020204" pitchFamily="34" charset="0"/>
              <a:sym typeface="Montserrat"/>
            </a:endParaRPr>
          </a:p>
          <a:p>
            <a:pPr marL="329455" indent="-285750">
              <a:buClr>
                <a:srgbClr val="222222"/>
              </a:buClr>
              <a:buSzPts val="2465"/>
              <a:buFont typeface="Arial" panose="020B0604020202020204" pitchFamily="34" charset="0"/>
              <a:buChar char="•"/>
            </a:pPr>
            <a:r>
              <a:rPr lang="en-GB" dirty="0">
                <a:solidFill>
                  <a:srgbClr val="222222"/>
                </a:solidFill>
                <a:latin typeface="+mj-lt"/>
                <a:ea typeface="Montserrat"/>
                <a:cs typeface="Arial" panose="020B0604020202020204" pitchFamily="34" charset="0"/>
                <a:sym typeface="Montserrat"/>
              </a:rPr>
              <a:t>Car Washes</a:t>
            </a:r>
            <a:endParaRPr lang="en-GB" sz="2800" dirty="0">
              <a:solidFill>
                <a:schemeClr val="lt1"/>
              </a:solidFill>
              <a:latin typeface="+mj-lt"/>
              <a:ea typeface="Montserrat"/>
              <a:cs typeface="Arial" panose="020B0604020202020204" pitchFamily="34" charset="0"/>
              <a:sym typeface="Montserrat"/>
            </a:endParaRPr>
          </a:p>
          <a:p>
            <a:pPr marL="329455" indent="-285750">
              <a:buClr>
                <a:srgbClr val="222222"/>
              </a:buClr>
              <a:buSzPts val="2465"/>
              <a:buFont typeface="Arial" panose="020B0604020202020204" pitchFamily="34" charset="0"/>
              <a:buChar char="•"/>
            </a:pPr>
            <a:r>
              <a:rPr lang="en-GB" dirty="0">
                <a:solidFill>
                  <a:srgbClr val="222222"/>
                </a:solidFill>
                <a:latin typeface="+mj-lt"/>
                <a:ea typeface="Montserrat"/>
                <a:cs typeface="Arial" panose="020B0604020202020204" pitchFamily="34" charset="0"/>
                <a:sym typeface="Montserrat"/>
              </a:rPr>
              <a:t>Agriculture </a:t>
            </a:r>
            <a:endParaRPr lang="en-GB" sz="2800" dirty="0">
              <a:solidFill>
                <a:schemeClr val="lt1"/>
              </a:solidFill>
              <a:latin typeface="+mj-lt"/>
              <a:ea typeface="Montserrat"/>
              <a:cs typeface="Arial" panose="020B0604020202020204" pitchFamily="34" charset="0"/>
              <a:sym typeface="Montserrat"/>
            </a:endParaRPr>
          </a:p>
          <a:p>
            <a:pPr marL="329455" indent="-285750">
              <a:buClr>
                <a:srgbClr val="222222"/>
              </a:buClr>
              <a:buSzPts val="2465"/>
              <a:buFont typeface="Arial" panose="020B0604020202020204" pitchFamily="34" charset="0"/>
              <a:buChar char="•"/>
            </a:pPr>
            <a:r>
              <a:rPr lang="en-GB" dirty="0">
                <a:solidFill>
                  <a:srgbClr val="222222"/>
                </a:solidFill>
                <a:latin typeface="+mj-lt"/>
                <a:ea typeface="Montserrat"/>
                <a:cs typeface="Arial" panose="020B0604020202020204" pitchFamily="34" charset="0"/>
                <a:sym typeface="Montserrat"/>
              </a:rPr>
              <a:t>Nail Bars</a:t>
            </a:r>
            <a:endParaRPr lang="en-GB" sz="2800" dirty="0">
              <a:solidFill>
                <a:schemeClr val="lt1"/>
              </a:solidFill>
              <a:latin typeface="+mj-lt"/>
              <a:ea typeface="Montserrat"/>
              <a:cs typeface="Arial" panose="020B0604020202020204" pitchFamily="34" charset="0"/>
              <a:sym typeface="Montserrat"/>
            </a:endParaRPr>
          </a:p>
        </p:txBody>
      </p:sp>
      <p:sp>
        <p:nvSpPr>
          <p:cNvPr id="7" name="TextBox 6">
            <a:extLst>
              <a:ext uri="{FF2B5EF4-FFF2-40B4-BE49-F238E27FC236}">
                <a16:creationId xmlns:a16="http://schemas.microsoft.com/office/drawing/2014/main" id="{45F7F6E3-8D23-4D75-9E80-FF570573DF6B}"/>
              </a:ext>
            </a:extLst>
          </p:cNvPr>
          <p:cNvSpPr txBox="1"/>
          <p:nvPr/>
        </p:nvSpPr>
        <p:spPr>
          <a:xfrm>
            <a:off x="4098834" y="3126516"/>
            <a:ext cx="7468770" cy="15696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29455" indent="-285750">
              <a:buClr>
                <a:srgbClr val="202020"/>
              </a:buClr>
              <a:buSzPts val="2465"/>
              <a:buFont typeface="Arial" panose="020B0604020202020204" pitchFamily="34" charset="0"/>
              <a:buChar char="•"/>
            </a:pPr>
            <a:r>
              <a:rPr lang="en-GB" sz="2400" b="1" dirty="0">
                <a:solidFill>
                  <a:schemeClr val="accent1">
                    <a:lumMod val="75000"/>
                  </a:schemeClr>
                </a:solidFill>
                <a:latin typeface="+mj-lt"/>
                <a:ea typeface="Montserrat"/>
                <a:cs typeface="Arial" panose="020B0604020202020204" pitchFamily="34" charset="0"/>
                <a:sym typeface="Montserrat"/>
              </a:rPr>
              <a:t>Signs and Indicators:</a:t>
            </a:r>
            <a:endParaRPr lang="en-GB" sz="2400" dirty="0">
              <a:solidFill>
                <a:srgbClr val="202020"/>
              </a:solidFill>
              <a:latin typeface="+mj-lt"/>
              <a:ea typeface="Montserrat"/>
              <a:cs typeface="Arial" panose="020B0604020202020204" pitchFamily="34" charset="0"/>
              <a:sym typeface="Montserrat"/>
            </a:endParaRPr>
          </a:p>
          <a:p>
            <a:pPr marL="329455" indent="-285750">
              <a:buClr>
                <a:srgbClr val="202020"/>
              </a:buClr>
              <a:buSzPts val="2465"/>
              <a:buFont typeface="Arial" panose="020B0604020202020204" pitchFamily="34" charset="0"/>
              <a:buChar char="•"/>
            </a:pPr>
            <a:r>
              <a:rPr lang="en-GB" dirty="0">
                <a:solidFill>
                  <a:srgbClr val="202020"/>
                </a:solidFill>
                <a:latin typeface="+mj-lt"/>
                <a:ea typeface="Montserrat"/>
                <a:cs typeface="Arial" panose="020B0604020202020204" pitchFamily="34" charset="0"/>
                <a:sym typeface="Montserrat"/>
              </a:rPr>
              <a:t>An individual may lack freedom of movement </a:t>
            </a:r>
          </a:p>
          <a:p>
            <a:pPr marL="329455" indent="-285750">
              <a:buClr>
                <a:srgbClr val="202020"/>
              </a:buClr>
              <a:buSzPts val="2465"/>
              <a:buFont typeface="Arial" panose="020B0604020202020204" pitchFamily="34" charset="0"/>
              <a:buChar char="•"/>
            </a:pPr>
            <a:r>
              <a:rPr lang="en-GB" dirty="0">
                <a:solidFill>
                  <a:srgbClr val="202020"/>
                </a:solidFill>
                <a:latin typeface="+mj-lt"/>
                <a:ea typeface="Montserrat"/>
                <a:cs typeface="Arial" panose="020B0604020202020204" pitchFamily="34" charset="0"/>
                <a:sym typeface="Montserrat"/>
              </a:rPr>
              <a:t>Lack of protective equipment/suitable clothing to suit the job role </a:t>
            </a:r>
          </a:p>
          <a:p>
            <a:pPr marL="329455" indent="-285750">
              <a:buClr>
                <a:srgbClr val="202020"/>
              </a:buClr>
              <a:buSzPts val="2465"/>
              <a:buFont typeface="Arial" panose="020B0604020202020204" pitchFamily="34" charset="0"/>
              <a:buChar char="•"/>
            </a:pPr>
            <a:r>
              <a:rPr lang="en-GB" dirty="0">
                <a:solidFill>
                  <a:srgbClr val="202020"/>
                </a:solidFill>
                <a:latin typeface="+mj-lt"/>
                <a:ea typeface="Montserrat"/>
                <a:cs typeface="Arial" panose="020B0604020202020204" pitchFamily="34" charset="0"/>
                <a:sym typeface="Montserrat"/>
              </a:rPr>
              <a:t>Lack of contract/paid below National Minimum wage/ forced to work long hours</a:t>
            </a:r>
          </a:p>
        </p:txBody>
      </p:sp>
    </p:spTree>
    <p:extLst>
      <p:ext uri="{BB962C8B-B14F-4D97-AF65-F5344CB8AC3E}">
        <p14:creationId xmlns:p14="http://schemas.microsoft.com/office/powerpoint/2010/main" val="361371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627653"/>
          </a:xfrm>
        </p:spPr>
        <p:txBody>
          <a:bodyPr>
            <a:noAutofit/>
          </a:bodyPr>
          <a:lstStyle/>
          <a:p>
            <a:r>
              <a:rPr lang="en-US" b="1" dirty="0">
                <a:solidFill>
                  <a:schemeClr val="accent2">
                    <a:lumMod val="50000"/>
                  </a:schemeClr>
                </a:solidFill>
                <a:ea typeface="Montserrat"/>
                <a:cs typeface="Arial" panose="020B0604020202020204" pitchFamily="34" charset="0"/>
                <a:sym typeface="Montserrat"/>
              </a:rPr>
              <a:t>Criminal Exploitation </a:t>
            </a:r>
            <a:endParaRPr lang="en-GB" b="1" dirty="0">
              <a:solidFill>
                <a:schemeClr val="accent2">
                  <a:lumMod val="50000"/>
                </a:schemeClr>
              </a:solidFill>
              <a:cs typeface="Arial" panose="020B0604020202020204" pitchFamily="34" charset="0"/>
            </a:endParaRPr>
          </a:p>
        </p:txBody>
      </p:sp>
      <p:sp>
        <p:nvSpPr>
          <p:cNvPr id="3" name="Content Placeholder 2"/>
          <p:cNvSpPr>
            <a:spLocks noGrp="1"/>
          </p:cNvSpPr>
          <p:nvPr>
            <p:ph idx="1"/>
          </p:nvPr>
        </p:nvSpPr>
        <p:spPr>
          <a:xfrm>
            <a:off x="452846" y="1145883"/>
            <a:ext cx="10900954" cy="5312228"/>
          </a:xfrm>
        </p:spPr>
        <p:txBody>
          <a:bodyPr>
            <a:normAutofit fontScale="70000" lnSpcReduction="20000"/>
          </a:bodyPr>
          <a:lstStyle/>
          <a:p>
            <a:pPr marL="0" indent="0">
              <a:buNone/>
            </a:pPr>
            <a:r>
              <a:rPr lang="en-GB" sz="3800" b="1" dirty="0">
                <a:solidFill>
                  <a:schemeClr val="accent1">
                    <a:lumMod val="75000"/>
                  </a:schemeClr>
                </a:solidFill>
                <a:latin typeface="+mj-lt"/>
                <a:ea typeface="Montserrat"/>
                <a:cs typeface="Arial" panose="020B0604020202020204" pitchFamily="34" charset="0"/>
                <a:sym typeface="Montserrat"/>
              </a:rPr>
              <a:t>Signs and Indicators:</a:t>
            </a:r>
          </a:p>
          <a:p>
            <a:pPr marL="0" indent="0">
              <a:buNone/>
            </a:pPr>
            <a:endParaRPr lang="en-GB" sz="2400" dirty="0">
              <a:solidFill>
                <a:srgbClr val="202020"/>
              </a:solidFill>
              <a:latin typeface="+mj-lt"/>
              <a:ea typeface="Montserrat"/>
              <a:cs typeface="Arial" panose="020B0604020202020204" pitchFamily="34" charset="0"/>
              <a:sym typeface="Montserrat"/>
            </a:endParaRPr>
          </a:p>
          <a:p>
            <a:pPr fontAlgn="base"/>
            <a:r>
              <a:rPr lang="en-GB" sz="2900" dirty="0">
                <a:solidFill>
                  <a:srgbClr val="202020"/>
                </a:solidFill>
                <a:latin typeface="+mj-lt"/>
                <a:cs typeface="Arial" panose="020B0604020202020204" pitchFamily="34" charset="0"/>
              </a:rPr>
              <a:t>Not benefitting or profiting from the crime they have been made to commit</a:t>
            </a:r>
          </a:p>
          <a:p>
            <a:pPr fontAlgn="base"/>
            <a:r>
              <a:rPr lang="en-GB" sz="2900" b="1" dirty="0">
                <a:solidFill>
                  <a:srgbClr val="202020"/>
                </a:solidFill>
                <a:latin typeface="+mj-lt"/>
                <a:cs typeface="Arial" panose="020B0604020202020204" pitchFamily="34" charset="0"/>
              </a:rPr>
              <a:t>Forced Begging</a:t>
            </a:r>
            <a:r>
              <a:rPr lang="en-GB" sz="2900" dirty="0">
                <a:solidFill>
                  <a:srgbClr val="202020"/>
                </a:solidFill>
                <a:latin typeface="+mj-lt"/>
                <a:cs typeface="Arial" panose="020B0604020202020204" pitchFamily="34" charset="0"/>
              </a:rPr>
              <a:t> - Groups of adults and children can be moved to different locations daily to do this. They may show signs of abuse e.g. bruises and cuts. Begging may also occur on public transport by a group. </a:t>
            </a:r>
            <a:endParaRPr lang="en-GB" sz="2900" b="1" dirty="0">
              <a:solidFill>
                <a:srgbClr val="202020"/>
              </a:solidFill>
              <a:latin typeface="+mj-lt"/>
              <a:cs typeface="Arial" panose="020B0604020202020204" pitchFamily="34" charset="0"/>
            </a:endParaRPr>
          </a:p>
          <a:p>
            <a:pPr fontAlgn="base"/>
            <a:r>
              <a:rPr lang="en-GB" sz="2900" b="1" dirty="0">
                <a:solidFill>
                  <a:srgbClr val="202020"/>
                </a:solidFill>
                <a:latin typeface="+mj-lt"/>
                <a:cs typeface="Arial" panose="020B0604020202020204" pitchFamily="34" charset="0"/>
              </a:rPr>
              <a:t>Cannabis cultivation</a:t>
            </a:r>
            <a:r>
              <a:rPr lang="en-GB" sz="2900" dirty="0">
                <a:solidFill>
                  <a:srgbClr val="202020"/>
                </a:solidFill>
                <a:latin typeface="+mj-lt"/>
                <a:cs typeface="Arial" panose="020B0604020202020204" pitchFamily="34" charset="0"/>
              </a:rPr>
              <a:t> -  Usually freedom of movement restricted, may also be locked and kept in the room/location they are cultivating the cannabis</a:t>
            </a:r>
            <a:endParaRPr lang="en-GB" sz="2900" b="1" dirty="0">
              <a:solidFill>
                <a:srgbClr val="202020"/>
              </a:solidFill>
              <a:latin typeface="+mj-lt"/>
              <a:cs typeface="Arial" panose="020B0604020202020204" pitchFamily="34" charset="0"/>
            </a:endParaRPr>
          </a:p>
          <a:p>
            <a:pPr fontAlgn="base"/>
            <a:r>
              <a:rPr lang="en-GB" sz="2900" b="1" dirty="0">
                <a:solidFill>
                  <a:srgbClr val="202020"/>
                </a:solidFill>
                <a:latin typeface="+mj-lt"/>
                <a:cs typeface="Arial" panose="020B0604020202020204" pitchFamily="34" charset="0"/>
              </a:rPr>
              <a:t>Cuckooing </a:t>
            </a:r>
            <a:r>
              <a:rPr lang="en-GB" sz="2900" dirty="0">
                <a:solidFill>
                  <a:srgbClr val="202020"/>
                </a:solidFill>
                <a:latin typeface="+mj-lt"/>
                <a:cs typeface="Arial" panose="020B0604020202020204" pitchFamily="34" charset="0"/>
              </a:rPr>
              <a:t>- drug dealers use a vulnerable person's home to sell drugs. Survivors may experience force, manipulation and other means for this to be achieved</a:t>
            </a:r>
            <a:endParaRPr lang="en-GB" sz="2900" b="1" dirty="0">
              <a:solidFill>
                <a:srgbClr val="202020"/>
              </a:solidFill>
              <a:latin typeface="+mj-lt"/>
              <a:cs typeface="Arial" panose="020B0604020202020204" pitchFamily="34" charset="0"/>
            </a:endParaRPr>
          </a:p>
          <a:p>
            <a:pPr fontAlgn="base"/>
            <a:r>
              <a:rPr lang="en-GB" sz="2900" b="1" dirty="0">
                <a:solidFill>
                  <a:srgbClr val="202020"/>
                </a:solidFill>
                <a:latin typeface="+mj-lt"/>
                <a:cs typeface="Arial" panose="020B0604020202020204" pitchFamily="34" charset="0"/>
              </a:rPr>
              <a:t>County lines </a:t>
            </a:r>
            <a:r>
              <a:rPr lang="en-GB" sz="2900" dirty="0">
                <a:solidFill>
                  <a:srgbClr val="202020"/>
                </a:solidFill>
                <a:latin typeface="+mj-lt"/>
                <a:cs typeface="Arial" panose="020B0604020202020204" pitchFamily="34" charset="0"/>
              </a:rPr>
              <a:t>- Young people are exploited to transport and sell drugs across county borders - may go missing often or regularly do not attend school </a:t>
            </a:r>
            <a:endParaRPr lang="en-GB" sz="2900" b="1" dirty="0">
              <a:solidFill>
                <a:srgbClr val="202020"/>
              </a:solidFill>
              <a:latin typeface="+mj-lt"/>
              <a:cs typeface="Arial" panose="020B0604020202020204" pitchFamily="34" charset="0"/>
            </a:endParaRPr>
          </a:p>
          <a:p>
            <a:pPr fontAlgn="base">
              <a:spcBef>
                <a:spcPts val="606"/>
              </a:spcBef>
            </a:pPr>
            <a:r>
              <a:rPr lang="en-GB" sz="2900" b="1" dirty="0">
                <a:solidFill>
                  <a:srgbClr val="202020"/>
                </a:solidFill>
                <a:latin typeface="+mj-lt"/>
                <a:cs typeface="Arial" panose="020B0604020202020204" pitchFamily="34" charset="0"/>
              </a:rPr>
              <a:t>Benefit fraud</a:t>
            </a:r>
            <a:r>
              <a:rPr lang="en-GB" sz="2900" dirty="0">
                <a:solidFill>
                  <a:srgbClr val="202020"/>
                </a:solidFill>
                <a:latin typeface="+mj-lt"/>
                <a:cs typeface="Arial" panose="020B0604020202020204" pitchFamily="34" charset="0"/>
              </a:rPr>
              <a:t> - Victims are forced to claim benefits which are withheld from them and exploiters make profit. This may be identified through registering large numbers of adult and children at one address, there may be no clear evidence of the proof of relationship. </a:t>
            </a:r>
          </a:p>
          <a:p>
            <a:pPr fontAlgn="base">
              <a:spcBef>
                <a:spcPts val="606"/>
              </a:spcBef>
            </a:pPr>
            <a:endParaRPr lang="en-GB" sz="2900" b="1" dirty="0">
              <a:solidFill>
                <a:srgbClr val="202020"/>
              </a:solidFill>
              <a:latin typeface="+mj-lt"/>
              <a:cs typeface="Arial" panose="020B0604020202020204" pitchFamily="34" charset="0"/>
            </a:endParaRPr>
          </a:p>
          <a:p>
            <a:pPr marL="0" indent="0">
              <a:buNone/>
            </a:pPr>
            <a:r>
              <a:rPr lang="en-GB" sz="2400" b="1" i="1" dirty="0">
                <a:solidFill>
                  <a:srgbClr val="222222"/>
                </a:solidFill>
                <a:latin typeface="+mj-lt"/>
                <a:cs typeface="Arial" panose="020B0604020202020204" pitchFamily="34" charset="0"/>
              </a:rPr>
              <a:t>Forced criminality falls under the category of forced labour and therefore general indicators also apply</a:t>
            </a:r>
            <a:endParaRPr lang="en-GB" sz="2400" b="1" i="1" dirty="0">
              <a:latin typeface="+mj-lt"/>
              <a:cs typeface="Arial" panose="020B0604020202020204" pitchFamily="34" charset="0"/>
            </a:endParaRPr>
          </a:p>
          <a:p>
            <a:pPr marL="0" indent="0" fontAlgn="base">
              <a:buNone/>
            </a:pP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7762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627653"/>
          </a:xfrm>
        </p:spPr>
        <p:txBody>
          <a:bodyPr>
            <a:noAutofit/>
          </a:bodyPr>
          <a:lstStyle/>
          <a:p>
            <a:r>
              <a:rPr lang="en-GB" b="1" dirty="0">
                <a:solidFill>
                  <a:schemeClr val="accent1">
                    <a:lumMod val="50000"/>
                  </a:schemeClr>
                </a:solidFill>
                <a:cs typeface="Arial" panose="020B0604020202020204" pitchFamily="34" charset="0"/>
              </a:rPr>
              <a:t>General Indicators</a:t>
            </a:r>
          </a:p>
        </p:txBody>
      </p:sp>
      <p:sp>
        <p:nvSpPr>
          <p:cNvPr id="3" name="Content Placeholder 2"/>
          <p:cNvSpPr>
            <a:spLocks noGrp="1"/>
          </p:cNvSpPr>
          <p:nvPr>
            <p:ph idx="1"/>
          </p:nvPr>
        </p:nvSpPr>
        <p:spPr>
          <a:xfrm>
            <a:off x="838200" y="1062446"/>
            <a:ext cx="10515600" cy="5515907"/>
          </a:xfrm>
        </p:spPr>
        <p:txBody>
          <a:bodyPr>
            <a:normAutofit fontScale="85000" lnSpcReduction="20000"/>
          </a:bodyPr>
          <a:lstStyle/>
          <a:p>
            <a:r>
              <a:rPr lang="en-GB" sz="2400" dirty="0">
                <a:solidFill>
                  <a:srgbClr val="202020"/>
                </a:solidFill>
                <a:ea typeface="Montserrat"/>
                <a:cs typeface="Arial" panose="020B0604020202020204" pitchFamily="34" charset="0"/>
                <a:sym typeface="Montserrat"/>
              </a:rPr>
              <a:t>Signs of abuse - unkempt, anxious, withdrawn, agitated, have untreated injuries, memory loss. </a:t>
            </a:r>
          </a:p>
          <a:p>
            <a:r>
              <a:rPr lang="en-GB" sz="2400" dirty="0">
                <a:solidFill>
                  <a:srgbClr val="202020"/>
                </a:solidFill>
                <a:ea typeface="Montserrat"/>
                <a:cs typeface="Arial" panose="020B0604020202020204" pitchFamily="34" charset="0"/>
                <a:sym typeface="Montserrat"/>
              </a:rPr>
              <a:t>May appear to be controlled and not able to make their own choices. They may not be familiar with where they are. </a:t>
            </a:r>
          </a:p>
          <a:p>
            <a:r>
              <a:rPr lang="en-GB" sz="2400" dirty="0">
                <a:solidFill>
                  <a:srgbClr val="202020"/>
                </a:solidFill>
                <a:ea typeface="Montserrat"/>
                <a:cs typeface="Arial" panose="020B0604020202020204" pitchFamily="34" charset="0"/>
                <a:sym typeface="Montserrat"/>
              </a:rPr>
              <a:t>Found in overcrowded and unsanitary accommodation (may also be their place of work) </a:t>
            </a:r>
          </a:p>
          <a:p>
            <a:r>
              <a:rPr lang="en-GB" sz="2400" dirty="0">
                <a:solidFill>
                  <a:srgbClr val="202020"/>
                </a:solidFill>
                <a:ea typeface="Montserrat"/>
                <a:cs typeface="Arial" panose="020B0604020202020204" pitchFamily="34" charset="0"/>
                <a:sym typeface="Montserrat"/>
              </a:rPr>
              <a:t>No ID documents  </a:t>
            </a:r>
          </a:p>
          <a:p>
            <a:r>
              <a:rPr lang="en-GB" sz="2400" dirty="0">
                <a:solidFill>
                  <a:srgbClr val="202020"/>
                </a:solidFill>
                <a:ea typeface="Montserrat"/>
                <a:cs typeface="Arial" panose="020B0604020202020204" pitchFamily="34" charset="0"/>
                <a:sym typeface="Montserrat"/>
              </a:rPr>
              <a:t>Possess very few personal items and lack basic necessities like good quality clothing, including clothing suitable for work</a:t>
            </a:r>
          </a:p>
          <a:p>
            <a:r>
              <a:rPr lang="en-GB" sz="2400" dirty="0">
                <a:solidFill>
                  <a:srgbClr val="202020"/>
                </a:solidFill>
                <a:ea typeface="Montserrat"/>
                <a:cs typeface="Arial" panose="020B0604020202020204" pitchFamily="34" charset="0"/>
                <a:sym typeface="Montserrat"/>
              </a:rPr>
              <a:t>Not have freedom of movement</a:t>
            </a:r>
          </a:p>
          <a:p>
            <a:r>
              <a:rPr lang="en-GB" sz="2400" dirty="0">
                <a:solidFill>
                  <a:srgbClr val="202020"/>
                </a:solidFill>
                <a:ea typeface="Montserrat"/>
                <a:cs typeface="Arial" panose="020B0604020202020204" pitchFamily="34" charset="0"/>
                <a:sym typeface="Montserrat"/>
              </a:rPr>
              <a:t>Be dropped off/collected for work on a regular basis either very early or late at night</a:t>
            </a:r>
          </a:p>
          <a:p>
            <a:r>
              <a:rPr lang="en-GB" sz="2400" dirty="0">
                <a:solidFill>
                  <a:srgbClr val="202020"/>
                </a:solidFill>
                <a:ea typeface="Montserrat"/>
                <a:cs typeface="Arial" panose="020B0604020202020204" pitchFamily="34" charset="0"/>
                <a:sym typeface="Montserrat"/>
              </a:rPr>
              <a:t>Fearful of authorities – lack of engagement/eye contact, giving differing versions of events</a:t>
            </a:r>
          </a:p>
          <a:p>
            <a:r>
              <a:rPr lang="en-GB" sz="2400" dirty="0">
                <a:solidFill>
                  <a:srgbClr val="202020"/>
                </a:solidFill>
                <a:ea typeface="Montserrat"/>
                <a:cs typeface="Arial" panose="020B0604020202020204" pitchFamily="34" charset="0"/>
                <a:sym typeface="Montserrat"/>
              </a:rPr>
              <a:t>Fearful and concerned for family/loved ones</a:t>
            </a:r>
          </a:p>
          <a:p>
            <a:endParaRPr lang="en-GB" sz="2400" dirty="0">
              <a:solidFill>
                <a:srgbClr val="202020"/>
              </a:solidFill>
              <a:ea typeface="Montserrat"/>
              <a:cs typeface="Arial" panose="020B0604020202020204" pitchFamily="34" charset="0"/>
              <a:sym typeface="Montserrat"/>
            </a:endParaRPr>
          </a:p>
          <a:p>
            <a:pPr marL="0" indent="0" algn="ctr">
              <a:buNone/>
            </a:pPr>
            <a:r>
              <a:rPr lang="en-GB" sz="2400" i="1" dirty="0">
                <a:solidFill>
                  <a:srgbClr val="202020"/>
                </a:solidFill>
                <a:ea typeface="Montserrat"/>
                <a:cs typeface="Arial" panose="020B0604020202020204" pitchFamily="34" charset="0"/>
                <a:sym typeface="Montserrat"/>
              </a:rPr>
              <a:t>Most types of exploitation discussed can happen anywhere to anyone</a:t>
            </a:r>
            <a:endParaRPr lang="en-GB" sz="2000" i="1" dirty="0">
              <a:ea typeface="Montserrat"/>
              <a:cs typeface="Arial" panose="020B0604020202020204" pitchFamily="34" charset="0"/>
              <a:sym typeface="Montserrat"/>
            </a:endParaRPr>
          </a:p>
          <a:p>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176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EC1306D9-80E3-415A-9F0C-4E38F3FEFCB9}"/>
              </a:ext>
            </a:extLst>
          </p:cNvPr>
          <p:cNvGraphicFramePr>
            <a:graphicFrameLocks noGrp="1"/>
          </p:cNvGraphicFramePr>
          <p:nvPr>
            <p:ph idx="1"/>
          </p:nvPr>
        </p:nvGraphicFramePr>
        <p:xfrm>
          <a:off x="677863" y="2160588"/>
          <a:ext cx="8596312" cy="38814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EC1306D9-80E3-415A-9F0C-4E38F3FEFCB9}"/>
              </a:ext>
            </a:extLst>
          </p:cNvPr>
          <p:cNvGraphicFramePr/>
          <p:nvPr/>
        </p:nvGraphicFramePr>
        <p:xfrm>
          <a:off x="1409700" y="1620202"/>
          <a:ext cx="8713355" cy="477982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E40194E0-5702-8084-D526-43FA5A2B5600}"/>
              </a:ext>
            </a:extLst>
          </p:cNvPr>
          <p:cNvGraphicFramePr>
            <a:graphicFrameLocks/>
          </p:cNvGraphicFramePr>
          <p:nvPr>
            <p:extLst>
              <p:ext uri="{D42A27DB-BD31-4B8C-83A1-F6EECF244321}">
                <p14:modId xmlns:p14="http://schemas.microsoft.com/office/powerpoint/2010/main" val="634571436"/>
              </p:ext>
            </p:extLst>
          </p:nvPr>
        </p:nvGraphicFramePr>
        <p:xfrm>
          <a:off x="1095375" y="1305353"/>
          <a:ext cx="8178800" cy="4736672"/>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AF8DA0B1-08E2-A98C-1EC8-66EBEDF00FDA}"/>
              </a:ext>
            </a:extLst>
          </p:cNvPr>
          <p:cNvSpPr txBox="1"/>
          <p:nvPr/>
        </p:nvSpPr>
        <p:spPr>
          <a:xfrm>
            <a:off x="1409700" y="659022"/>
            <a:ext cx="6101080" cy="646331"/>
          </a:xfrm>
          <a:prstGeom prst="rect">
            <a:avLst/>
          </a:prstGeom>
          <a:noFill/>
        </p:spPr>
        <p:txBody>
          <a:bodyPr wrap="square">
            <a:spAutoFit/>
          </a:bodyPr>
          <a:lstStyle/>
          <a:p>
            <a:r>
              <a:rPr lang="en-GB" sz="3600" b="1" dirty="0">
                <a:solidFill>
                  <a:schemeClr val="accent1">
                    <a:lumMod val="50000"/>
                  </a:schemeClr>
                </a:solidFill>
                <a:cs typeface="Arial" panose="020B0604020202020204" pitchFamily="34" charset="0"/>
              </a:rPr>
              <a:t>Types of Exploitation 2025 </a:t>
            </a:r>
          </a:p>
        </p:txBody>
      </p:sp>
      <p:sp>
        <p:nvSpPr>
          <p:cNvPr id="5" name="TextBox 4">
            <a:extLst>
              <a:ext uri="{FF2B5EF4-FFF2-40B4-BE49-F238E27FC236}">
                <a16:creationId xmlns:a16="http://schemas.microsoft.com/office/drawing/2014/main" id="{7DD11E83-EC4B-4CFD-EB8B-05EA5BDDA462}"/>
              </a:ext>
            </a:extLst>
          </p:cNvPr>
          <p:cNvSpPr txBox="1"/>
          <p:nvPr/>
        </p:nvSpPr>
        <p:spPr>
          <a:xfrm>
            <a:off x="1925479" y="5985535"/>
            <a:ext cx="6101080" cy="702821"/>
          </a:xfrm>
          <a:prstGeom prst="rect">
            <a:avLst/>
          </a:prstGeom>
          <a:noFill/>
        </p:spPr>
        <p:txBody>
          <a:bodyPr wrap="square">
            <a:spAutoFit/>
          </a:bodyPr>
          <a:lstStyle/>
          <a:p>
            <a:pPr algn="just">
              <a:lnSpc>
                <a:spcPct val="115000"/>
              </a:lnSpc>
              <a:spcAft>
                <a:spcPts val="800"/>
              </a:spcAft>
              <a:buNone/>
            </a:pPr>
            <a:r>
              <a:rPr lang="en-GB" sz="1800" i="1" kern="0" dirty="0">
                <a:effectLst/>
                <a:ea typeface="Aptos" panose="020B0004020202020204" pitchFamily="34" charset="0"/>
                <a:cs typeface="Arial" panose="020B0604020202020204" pitchFamily="34" charset="0"/>
              </a:rPr>
              <a:t>Please note that</a:t>
            </a:r>
            <a:r>
              <a:rPr lang="en-GB" i="1" kern="0" dirty="0">
                <a:ea typeface="Aptos" panose="020B0004020202020204" pitchFamily="34" charset="0"/>
                <a:cs typeface="Arial" panose="020B0604020202020204" pitchFamily="34" charset="0"/>
              </a:rPr>
              <a:t> some cases can have more than one type </a:t>
            </a:r>
            <a:r>
              <a:rPr lang="en-GB" i="1" kern="0">
                <a:ea typeface="Aptos" panose="020B0004020202020204" pitchFamily="34" charset="0"/>
                <a:cs typeface="Arial" panose="020B0604020202020204" pitchFamily="34" charset="0"/>
              </a:rPr>
              <a:t>of exploitation</a:t>
            </a:r>
            <a:endParaRPr lang="en-GB" sz="16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03651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627653"/>
          </a:xfrm>
        </p:spPr>
        <p:txBody>
          <a:bodyPr>
            <a:noAutofit/>
          </a:bodyPr>
          <a:lstStyle/>
          <a:p>
            <a:r>
              <a:rPr lang="en-GB" sz="4000" b="1" dirty="0">
                <a:solidFill>
                  <a:schemeClr val="accent2">
                    <a:lumMod val="50000"/>
                  </a:schemeClr>
                </a:solidFill>
                <a:cs typeface="Arial" panose="020B0604020202020204" pitchFamily="34" charset="0"/>
              </a:rPr>
              <a:t>SERAC</a:t>
            </a:r>
          </a:p>
        </p:txBody>
      </p:sp>
      <p:sp>
        <p:nvSpPr>
          <p:cNvPr id="3" name="Content Placeholder 2"/>
          <p:cNvSpPr>
            <a:spLocks noGrp="1"/>
          </p:cNvSpPr>
          <p:nvPr>
            <p:ph idx="1"/>
          </p:nvPr>
        </p:nvSpPr>
        <p:spPr>
          <a:xfrm>
            <a:off x="838200" y="1257754"/>
            <a:ext cx="10515600" cy="5114517"/>
          </a:xfrm>
        </p:spPr>
        <p:txBody>
          <a:bodyPr>
            <a:normAutofit/>
          </a:bodyPr>
          <a:lstStyle/>
          <a:p>
            <a:r>
              <a:rPr lang="en-GB" sz="2400" dirty="0">
                <a:latin typeface="+mj-lt"/>
                <a:cs typeface="Arial" panose="020B0604020202020204" pitchFamily="34" charset="0"/>
              </a:rPr>
              <a:t>Regular representation from key agencies</a:t>
            </a:r>
          </a:p>
          <a:p>
            <a:r>
              <a:rPr lang="en-GB" sz="2400" dirty="0">
                <a:latin typeface="+mj-lt"/>
                <a:cs typeface="Arial" panose="020B0604020202020204" pitchFamily="34" charset="0"/>
              </a:rPr>
              <a:t>Ad hoc case specific representation</a:t>
            </a:r>
          </a:p>
          <a:p>
            <a:r>
              <a:rPr lang="en-GB" sz="2400" dirty="0">
                <a:latin typeface="+mj-lt"/>
                <a:cs typeface="Arial" panose="020B0604020202020204" pitchFamily="34" charset="0"/>
              </a:rPr>
              <a:t>Overview of concerns from referrer or caseworker</a:t>
            </a:r>
          </a:p>
          <a:p>
            <a:r>
              <a:rPr lang="en-GB" sz="2400" dirty="0">
                <a:latin typeface="+mj-lt"/>
                <a:cs typeface="Arial" panose="020B0604020202020204" pitchFamily="34" charset="0"/>
              </a:rPr>
              <a:t>Additional information from partner agencies</a:t>
            </a:r>
          </a:p>
          <a:p>
            <a:r>
              <a:rPr lang="en-GB" sz="2400" dirty="0">
                <a:latin typeface="+mj-lt"/>
                <a:cs typeface="Arial" panose="020B0604020202020204" pitchFamily="34" charset="0"/>
              </a:rPr>
              <a:t>Broader discussion around options, interventions, risk reduction,         long term goals </a:t>
            </a:r>
          </a:p>
          <a:p>
            <a:r>
              <a:rPr lang="en-GB" sz="2400" dirty="0">
                <a:latin typeface="+mj-lt"/>
                <a:cs typeface="Arial" panose="020B0604020202020204" pitchFamily="34" charset="0"/>
              </a:rPr>
              <a:t>Action planning</a:t>
            </a:r>
          </a:p>
          <a:p>
            <a:r>
              <a:rPr lang="en-GB" sz="2400" dirty="0">
                <a:latin typeface="+mj-lt"/>
                <a:cs typeface="Arial" panose="020B0604020202020204" pitchFamily="34" charset="0"/>
              </a:rPr>
              <a:t>Follow up</a:t>
            </a:r>
          </a:p>
          <a:p>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271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03E3-1037-483B-9997-9286BD9DAC35}"/>
              </a:ext>
            </a:extLst>
          </p:cNvPr>
          <p:cNvSpPr>
            <a:spLocks noGrp="1"/>
          </p:cNvSpPr>
          <p:nvPr>
            <p:ph type="title"/>
          </p:nvPr>
        </p:nvSpPr>
        <p:spPr>
          <a:xfrm>
            <a:off x="677334" y="609600"/>
            <a:ext cx="8596668" cy="970625"/>
          </a:xfrm>
        </p:spPr>
        <p:txBody>
          <a:bodyPr>
            <a:normAutofit/>
          </a:bodyPr>
          <a:lstStyle/>
          <a:p>
            <a:r>
              <a:rPr lang="en-GB" sz="4000" b="1" dirty="0">
                <a:solidFill>
                  <a:schemeClr val="accent2">
                    <a:lumMod val="50000"/>
                  </a:schemeClr>
                </a:solidFill>
                <a:cs typeface="Arial" panose="020B0604020202020204" pitchFamily="34" charset="0"/>
              </a:rPr>
              <a:t>Risk Management</a:t>
            </a:r>
          </a:p>
        </p:txBody>
      </p:sp>
      <p:graphicFrame>
        <p:nvGraphicFramePr>
          <p:cNvPr id="5" name="Content Placeholder 2">
            <a:extLst>
              <a:ext uri="{FF2B5EF4-FFF2-40B4-BE49-F238E27FC236}">
                <a16:creationId xmlns:a16="http://schemas.microsoft.com/office/drawing/2014/main" id="{52282CC0-0E5D-823B-4D04-15AA32574E91}"/>
              </a:ext>
            </a:extLst>
          </p:cNvPr>
          <p:cNvGraphicFramePr>
            <a:graphicFrameLocks noGrp="1"/>
          </p:cNvGraphicFramePr>
          <p:nvPr>
            <p:ph idx="1"/>
          </p:nvPr>
        </p:nvGraphicFramePr>
        <p:xfrm>
          <a:off x="677862" y="1580226"/>
          <a:ext cx="10037485" cy="446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135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4738"/>
          </a:xfrm>
        </p:spPr>
        <p:txBody>
          <a:bodyPr>
            <a:normAutofit/>
          </a:bodyPr>
          <a:lstStyle/>
          <a:p>
            <a:r>
              <a:rPr lang="en-GB" sz="4000" b="1" dirty="0">
                <a:solidFill>
                  <a:schemeClr val="accent2">
                    <a:lumMod val="50000"/>
                  </a:schemeClr>
                </a:solidFill>
                <a:latin typeface="+mn-lt"/>
                <a:cs typeface="Arial" panose="020B0604020202020204" pitchFamily="34" charset="0"/>
              </a:rPr>
              <a:t>Outcomes</a:t>
            </a:r>
          </a:p>
        </p:txBody>
      </p:sp>
      <p:sp>
        <p:nvSpPr>
          <p:cNvPr id="3" name="Content Placeholder 2"/>
          <p:cNvSpPr>
            <a:spLocks noGrp="1"/>
          </p:cNvSpPr>
          <p:nvPr>
            <p:ph idx="1"/>
          </p:nvPr>
        </p:nvSpPr>
        <p:spPr>
          <a:xfrm>
            <a:off x="838200" y="1297577"/>
            <a:ext cx="10515600" cy="5184186"/>
          </a:xfrm>
        </p:spPr>
        <p:txBody>
          <a:bodyPr>
            <a:normAutofit lnSpcReduction="10000"/>
          </a:bodyPr>
          <a:lstStyle/>
          <a:p>
            <a:r>
              <a:rPr lang="en-GB" sz="2400" dirty="0">
                <a:latin typeface="+mj-lt"/>
                <a:cs typeface="Arial" panose="020B0604020202020204" pitchFamily="34" charset="0"/>
              </a:rPr>
              <a:t>Supporting police investigations</a:t>
            </a:r>
          </a:p>
          <a:p>
            <a:r>
              <a:rPr lang="en-GB" sz="2400" dirty="0">
                <a:latin typeface="+mj-lt"/>
                <a:cs typeface="Arial" panose="020B0604020202020204" pitchFamily="34" charset="0"/>
              </a:rPr>
              <a:t>Feed into National Referral Mechanism referrals</a:t>
            </a:r>
          </a:p>
          <a:p>
            <a:r>
              <a:rPr lang="en-GB" sz="2400" dirty="0">
                <a:latin typeface="+mj-lt"/>
                <a:cs typeface="Arial" panose="020B0604020202020204" pitchFamily="34" charset="0"/>
              </a:rPr>
              <a:t>Appropriate accommodation sourced</a:t>
            </a:r>
          </a:p>
          <a:p>
            <a:r>
              <a:rPr lang="en-GB" sz="2400" dirty="0">
                <a:latin typeface="+mj-lt"/>
                <a:cs typeface="Arial" panose="020B0604020202020204" pitchFamily="34" charset="0"/>
              </a:rPr>
              <a:t>Safety planning – POI, safe and well checks, lock changes, emergency accommodation, flags on systems</a:t>
            </a:r>
          </a:p>
          <a:p>
            <a:r>
              <a:rPr lang="en-GB" sz="2400" dirty="0">
                <a:latin typeface="+mj-lt"/>
                <a:cs typeface="Arial" panose="020B0604020202020204" pitchFamily="34" charset="0"/>
              </a:rPr>
              <a:t>Capacity assessments</a:t>
            </a:r>
          </a:p>
          <a:p>
            <a:r>
              <a:rPr lang="en-GB" sz="2400" dirty="0">
                <a:latin typeface="+mj-lt"/>
                <a:cs typeface="Arial" panose="020B0604020202020204" pitchFamily="34" charset="0"/>
              </a:rPr>
              <a:t>Safeguarding/other agency referrals</a:t>
            </a:r>
          </a:p>
          <a:p>
            <a:r>
              <a:rPr lang="en-GB" sz="2400" dirty="0">
                <a:latin typeface="+mj-lt"/>
                <a:cs typeface="Arial" panose="020B0604020202020204" pitchFamily="34" charset="0"/>
              </a:rPr>
              <a:t>Identification and referral into most appropriate advocate</a:t>
            </a:r>
          </a:p>
          <a:p>
            <a:r>
              <a:rPr lang="en-GB" sz="2400" dirty="0">
                <a:latin typeface="+mj-lt"/>
                <a:cs typeface="Arial" panose="020B0604020202020204" pitchFamily="34" charset="0"/>
              </a:rPr>
              <a:t>Support to return to home country (when desired)</a:t>
            </a:r>
          </a:p>
          <a:p>
            <a:r>
              <a:rPr lang="en-GB" sz="2400" dirty="0">
                <a:latin typeface="+mj-lt"/>
                <a:cs typeface="Arial" panose="020B0604020202020204" pitchFamily="34" charset="0"/>
              </a:rPr>
              <a:t>Continuation of monitoring – CPOs, NPT , POW, housing managers</a:t>
            </a:r>
          </a:p>
          <a:p>
            <a:r>
              <a:rPr lang="en-GB" sz="2400" dirty="0">
                <a:latin typeface="+mj-lt"/>
                <a:cs typeface="Arial" panose="020B0604020202020204" pitchFamily="34" charset="0"/>
              </a:rPr>
              <a:t>Civil actions – prohibition orders, injunctions</a:t>
            </a:r>
          </a:p>
          <a:p>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994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FCC6C8-2D9D-44FB-A9A3-CB468D80763C}"/>
              </a:ext>
            </a:extLst>
          </p:cNvPr>
          <p:cNvSpPr txBox="1"/>
          <p:nvPr/>
        </p:nvSpPr>
        <p:spPr>
          <a:xfrm>
            <a:off x="1409700" y="442050"/>
            <a:ext cx="5736824" cy="707886"/>
          </a:xfrm>
          <a:prstGeom prst="rect">
            <a:avLst/>
          </a:prstGeom>
          <a:noFill/>
        </p:spPr>
        <p:txBody>
          <a:bodyPr wrap="square" rtlCol="0">
            <a:spAutoFit/>
          </a:bodyPr>
          <a:lstStyle/>
          <a:p>
            <a:r>
              <a:rPr lang="en-GB" sz="4000" b="1" dirty="0">
                <a:solidFill>
                  <a:schemeClr val="accent1">
                    <a:lumMod val="50000"/>
                  </a:schemeClr>
                </a:solidFill>
                <a:cs typeface="Arial" panose="020B0604020202020204" pitchFamily="34" charset="0"/>
              </a:rPr>
              <a:t>Vulnerabilities 2025</a:t>
            </a:r>
            <a:endParaRPr lang="en-GB" sz="2000" dirty="0">
              <a:solidFill>
                <a:schemeClr val="accent1">
                  <a:lumMod val="50000"/>
                </a:schemeClr>
              </a:solidFill>
            </a:endParaRPr>
          </a:p>
        </p:txBody>
      </p:sp>
      <p:graphicFrame>
        <p:nvGraphicFramePr>
          <p:cNvPr id="7" name="Content Placeholder 6">
            <a:extLst>
              <a:ext uri="{FF2B5EF4-FFF2-40B4-BE49-F238E27FC236}">
                <a16:creationId xmlns:a16="http://schemas.microsoft.com/office/drawing/2014/main" id="{5E20D42C-F256-4091-8897-75CE456782CD}"/>
              </a:ext>
            </a:extLst>
          </p:cNvPr>
          <p:cNvGraphicFramePr>
            <a:graphicFrameLocks noGrp="1"/>
          </p:cNvGraphicFramePr>
          <p:nvPr>
            <p:ph idx="1"/>
            <p:extLst>
              <p:ext uri="{D42A27DB-BD31-4B8C-83A1-F6EECF244321}">
                <p14:modId xmlns:p14="http://schemas.microsoft.com/office/powerpoint/2010/main" val="2137599118"/>
              </p:ext>
            </p:extLst>
          </p:nvPr>
        </p:nvGraphicFramePr>
        <p:xfrm>
          <a:off x="618978" y="1259840"/>
          <a:ext cx="9277497" cy="438912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71A7CC3A-8729-4A4F-8F1E-A795BB451725}"/>
              </a:ext>
            </a:extLst>
          </p:cNvPr>
          <p:cNvSpPr>
            <a:spLocks noChangeArrowheads="1"/>
          </p:cNvSpPr>
          <p:nvPr/>
        </p:nvSpPr>
        <p:spPr bwMode="auto">
          <a:xfrm>
            <a:off x="2047875" y="57991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Chart 2">
            <a:extLst>
              <a:ext uri="{FF2B5EF4-FFF2-40B4-BE49-F238E27FC236}">
                <a16:creationId xmlns:a16="http://schemas.microsoft.com/office/drawing/2014/main" id="{CF99FBF5-D7D6-5958-5F50-880151973DA2}"/>
              </a:ext>
            </a:extLst>
          </p:cNvPr>
          <p:cNvGraphicFramePr>
            <a:graphicFrameLocks/>
          </p:cNvGraphicFramePr>
          <p:nvPr>
            <p:extLst>
              <p:ext uri="{D42A27DB-BD31-4B8C-83A1-F6EECF244321}">
                <p14:modId xmlns:p14="http://schemas.microsoft.com/office/powerpoint/2010/main" val="3588021953"/>
              </p:ext>
            </p:extLst>
          </p:nvPr>
        </p:nvGraphicFramePr>
        <p:xfrm>
          <a:off x="934720" y="1306126"/>
          <a:ext cx="8018780" cy="466398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1CA42CEB-0E0B-2D37-F0D3-CC96D8BFA471}"/>
              </a:ext>
            </a:extLst>
          </p:cNvPr>
          <p:cNvSpPr txBox="1"/>
          <p:nvPr/>
        </p:nvSpPr>
        <p:spPr>
          <a:xfrm>
            <a:off x="3388360" y="6141084"/>
            <a:ext cx="7122160" cy="702821"/>
          </a:xfrm>
          <a:prstGeom prst="rect">
            <a:avLst/>
          </a:prstGeom>
          <a:noFill/>
        </p:spPr>
        <p:txBody>
          <a:bodyPr wrap="square">
            <a:spAutoFit/>
          </a:bodyPr>
          <a:lstStyle/>
          <a:p>
            <a:pPr algn="just">
              <a:lnSpc>
                <a:spcPct val="115000"/>
              </a:lnSpc>
              <a:spcAft>
                <a:spcPts val="800"/>
              </a:spcAft>
              <a:buNone/>
            </a:pPr>
            <a:r>
              <a:rPr lang="en-GB" sz="1800" i="1" kern="0" dirty="0">
                <a:effectLst/>
                <a:ea typeface="Aptos" panose="020B0004020202020204" pitchFamily="34" charset="0"/>
                <a:cs typeface="Arial" panose="020B0604020202020204" pitchFamily="34" charset="0"/>
              </a:rPr>
              <a:t>Please note that most cases have more than one identified vulnerability.</a:t>
            </a:r>
            <a:endParaRPr lang="en-GB" sz="1600" kern="100" dirty="0">
              <a:effectLst/>
              <a:ea typeface="Aptos" panose="020B0004020202020204" pitchFamily="34"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id="{CF99FBF5-D7D6-5958-5F50-880151973DA2}"/>
              </a:ext>
            </a:extLst>
          </p:cNvPr>
          <p:cNvGraphicFramePr>
            <a:graphicFrameLocks/>
          </p:cNvGraphicFramePr>
          <p:nvPr>
            <p:extLst>
              <p:ext uri="{D42A27DB-BD31-4B8C-83A1-F6EECF244321}">
                <p14:modId xmlns:p14="http://schemas.microsoft.com/office/powerpoint/2010/main" val="2420848545"/>
              </p:ext>
            </p:extLst>
          </p:nvPr>
        </p:nvGraphicFramePr>
        <p:xfrm>
          <a:off x="1534160" y="1751965"/>
          <a:ext cx="7388860" cy="426443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5861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06977" y="316128"/>
          <a:ext cx="3611154" cy="1036320"/>
        </p:xfrm>
        <a:graphic>
          <a:graphicData uri="http://schemas.openxmlformats.org/drawingml/2006/table">
            <a:tbl>
              <a:tblPr firstRow="1" bandRow="1">
                <a:tableStyleId>{5C22544A-7EE6-4342-B048-85BDC9FD1C3A}</a:tableStyleId>
              </a:tblPr>
              <a:tblGrid>
                <a:gridCol w="3611154">
                  <a:extLst>
                    <a:ext uri="{9D8B030D-6E8A-4147-A177-3AD203B41FA5}">
                      <a16:colId xmlns:a16="http://schemas.microsoft.com/office/drawing/2014/main" val="3314965543"/>
                    </a:ext>
                  </a:extLst>
                </a:gridCol>
              </a:tblGrid>
              <a:tr h="291500">
                <a:tc>
                  <a:txBody>
                    <a:bodyPr/>
                    <a:lstStyle/>
                    <a:p>
                      <a:r>
                        <a:rPr lang="en-GB" sz="1400" dirty="0"/>
                        <a:t>Issue</a:t>
                      </a:r>
                    </a:p>
                  </a:txBody>
                  <a:tcPr/>
                </a:tc>
                <a:extLst>
                  <a:ext uri="{0D108BD9-81ED-4DB2-BD59-A6C34878D82A}">
                    <a16:rowId xmlns:a16="http://schemas.microsoft.com/office/drawing/2014/main" val="2339062788"/>
                  </a:ext>
                </a:extLst>
              </a:tr>
              <a:tr h="6476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Parties,</a:t>
                      </a:r>
                      <a:r>
                        <a:rPr lang="en-GB" sz="1400" baseline="0" dirty="0"/>
                        <a:t> excessive visitors, drug use/dealing, sex working</a:t>
                      </a:r>
                      <a:endParaRPr lang="en-GB" sz="1400" dirty="0"/>
                    </a:p>
                    <a:p>
                      <a:endParaRPr lang="en-GB" sz="1400" dirty="0"/>
                    </a:p>
                  </a:txBody>
                  <a:tcPr>
                    <a:solidFill>
                      <a:schemeClr val="accent1">
                        <a:lumMod val="20000"/>
                        <a:lumOff val="80000"/>
                      </a:schemeClr>
                    </a:solidFill>
                  </a:tcPr>
                </a:tc>
                <a:extLst>
                  <a:ext uri="{0D108BD9-81ED-4DB2-BD59-A6C34878D82A}">
                    <a16:rowId xmlns:a16="http://schemas.microsoft.com/office/drawing/2014/main" val="3765153902"/>
                  </a:ext>
                </a:extLst>
              </a:tr>
            </a:tbl>
          </a:graphicData>
        </a:graphic>
      </p:graphicFrame>
      <p:graphicFrame>
        <p:nvGraphicFramePr>
          <p:cNvPr id="3" name="Table 2"/>
          <p:cNvGraphicFramePr>
            <a:graphicFrameLocks noGrp="1"/>
          </p:cNvGraphicFramePr>
          <p:nvPr/>
        </p:nvGraphicFramePr>
        <p:xfrm>
          <a:off x="4156166" y="300936"/>
          <a:ext cx="3611154" cy="1019593"/>
        </p:xfrm>
        <a:graphic>
          <a:graphicData uri="http://schemas.openxmlformats.org/drawingml/2006/table">
            <a:tbl>
              <a:tblPr firstRow="1" bandRow="1">
                <a:tableStyleId>{5C22544A-7EE6-4342-B048-85BDC9FD1C3A}</a:tableStyleId>
              </a:tblPr>
              <a:tblGrid>
                <a:gridCol w="3611154">
                  <a:extLst>
                    <a:ext uri="{9D8B030D-6E8A-4147-A177-3AD203B41FA5}">
                      <a16:colId xmlns:a16="http://schemas.microsoft.com/office/drawing/2014/main" val="199230943"/>
                    </a:ext>
                  </a:extLst>
                </a:gridCol>
              </a:tblGrid>
              <a:tr h="309410">
                <a:tc>
                  <a:txBody>
                    <a:bodyPr/>
                    <a:lstStyle/>
                    <a:p>
                      <a:r>
                        <a:rPr lang="en-GB" sz="1400" dirty="0"/>
                        <a:t>Perception</a:t>
                      </a:r>
                    </a:p>
                  </a:txBody>
                  <a:tcPr/>
                </a:tc>
                <a:extLst>
                  <a:ext uri="{0D108BD9-81ED-4DB2-BD59-A6C34878D82A}">
                    <a16:rowId xmlns:a16="http://schemas.microsoft.com/office/drawing/2014/main" val="2245339295"/>
                  </a:ext>
                </a:extLst>
              </a:tr>
              <a:tr h="710183">
                <a:tc>
                  <a:txBody>
                    <a:bodyPr/>
                    <a:lstStyle/>
                    <a:p>
                      <a:r>
                        <a:rPr lang="en-GB" sz="1400" dirty="0">
                          <a:solidFill>
                            <a:schemeClr val="tx1"/>
                          </a:solidFill>
                        </a:rPr>
                        <a:t>High level ASB</a:t>
                      </a:r>
                    </a:p>
                  </a:txBody>
                  <a:tcPr>
                    <a:solidFill>
                      <a:schemeClr val="accent1">
                        <a:lumMod val="20000"/>
                        <a:lumOff val="80000"/>
                      </a:schemeClr>
                    </a:solidFill>
                  </a:tcPr>
                </a:tc>
                <a:extLst>
                  <a:ext uri="{0D108BD9-81ED-4DB2-BD59-A6C34878D82A}">
                    <a16:rowId xmlns:a16="http://schemas.microsoft.com/office/drawing/2014/main" val="4133868671"/>
                  </a:ext>
                </a:extLst>
              </a:tr>
            </a:tbl>
          </a:graphicData>
        </a:graphic>
      </p:graphicFrame>
      <p:graphicFrame>
        <p:nvGraphicFramePr>
          <p:cNvPr id="4" name="Table 3"/>
          <p:cNvGraphicFramePr>
            <a:graphicFrameLocks noGrp="1"/>
          </p:cNvGraphicFramePr>
          <p:nvPr/>
        </p:nvGraphicFramePr>
        <p:xfrm>
          <a:off x="8005355" y="316128"/>
          <a:ext cx="3611154" cy="1004401"/>
        </p:xfrm>
        <a:graphic>
          <a:graphicData uri="http://schemas.openxmlformats.org/drawingml/2006/table">
            <a:tbl>
              <a:tblPr firstRow="1" bandRow="1">
                <a:tableStyleId>{5C22544A-7EE6-4342-B048-85BDC9FD1C3A}</a:tableStyleId>
              </a:tblPr>
              <a:tblGrid>
                <a:gridCol w="3611154">
                  <a:extLst>
                    <a:ext uri="{9D8B030D-6E8A-4147-A177-3AD203B41FA5}">
                      <a16:colId xmlns:a16="http://schemas.microsoft.com/office/drawing/2014/main" val="391578369"/>
                    </a:ext>
                  </a:extLst>
                </a:gridCol>
              </a:tblGrid>
              <a:tr h="291500">
                <a:tc>
                  <a:txBody>
                    <a:bodyPr/>
                    <a:lstStyle/>
                    <a:p>
                      <a:r>
                        <a:rPr lang="en-GB" sz="1400" dirty="0"/>
                        <a:t>Reality</a:t>
                      </a:r>
                    </a:p>
                  </a:txBody>
                  <a:tcPr/>
                </a:tc>
                <a:extLst>
                  <a:ext uri="{0D108BD9-81ED-4DB2-BD59-A6C34878D82A}">
                    <a16:rowId xmlns:a16="http://schemas.microsoft.com/office/drawing/2014/main" val="317692227"/>
                  </a:ext>
                </a:extLst>
              </a:tr>
              <a:tr h="699601">
                <a:tc>
                  <a:txBody>
                    <a:bodyPr/>
                    <a:lstStyle/>
                    <a:p>
                      <a:r>
                        <a:rPr lang="en-GB" sz="1400" dirty="0"/>
                        <a:t>Cuckooing/County Lines</a:t>
                      </a:r>
                    </a:p>
                  </a:txBody>
                  <a:tcPr>
                    <a:solidFill>
                      <a:schemeClr val="accent1">
                        <a:lumMod val="20000"/>
                        <a:lumOff val="80000"/>
                      </a:schemeClr>
                    </a:solidFill>
                  </a:tcPr>
                </a:tc>
                <a:extLst>
                  <a:ext uri="{0D108BD9-81ED-4DB2-BD59-A6C34878D82A}">
                    <a16:rowId xmlns:a16="http://schemas.microsoft.com/office/drawing/2014/main" val="3820022821"/>
                  </a:ext>
                </a:extLst>
              </a:tr>
            </a:tbl>
          </a:graphicData>
        </a:graphic>
      </p:graphicFrame>
      <p:graphicFrame>
        <p:nvGraphicFramePr>
          <p:cNvPr id="5" name="Table 4"/>
          <p:cNvGraphicFramePr>
            <a:graphicFrameLocks noGrp="1"/>
          </p:cNvGraphicFramePr>
          <p:nvPr/>
        </p:nvGraphicFramePr>
        <p:xfrm>
          <a:off x="4156166" y="1393371"/>
          <a:ext cx="3611154" cy="518160"/>
        </p:xfrm>
        <a:graphic>
          <a:graphicData uri="http://schemas.openxmlformats.org/drawingml/2006/table">
            <a:tbl>
              <a:tblPr firstRow="1" bandRow="1">
                <a:tableStyleId>{5C22544A-7EE6-4342-B048-85BDC9FD1C3A}</a:tableStyleId>
              </a:tblPr>
              <a:tblGrid>
                <a:gridCol w="3611154">
                  <a:extLst>
                    <a:ext uri="{9D8B030D-6E8A-4147-A177-3AD203B41FA5}">
                      <a16:colId xmlns:a16="http://schemas.microsoft.com/office/drawing/2014/main" val="1385440737"/>
                    </a:ext>
                  </a:extLst>
                </a:gridCol>
              </a:tblGrid>
              <a:tr h="430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baseline="0" dirty="0">
                          <a:solidFill>
                            <a:schemeClr val="tx1"/>
                          </a:solidFill>
                        </a:rPr>
                        <a:t>Tenancy issues/breaches, lack of access</a:t>
                      </a:r>
                      <a:endParaRPr lang="en-GB" sz="1400" b="0" dirty="0">
                        <a:solidFill>
                          <a:schemeClr val="tx1"/>
                        </a:solidFill>
                      </a:endParaRPr>
                    </a:p>
                    <a:p>
                      <a:endParaRPr lang="en-GB" sz="1400" dirty="0"/>
                    </a:p>
                  </a:txBody>
                  <a:tcPr>
                    <a:solidFill>
                      <a:schemeClr val="accent1">
                        <a:lumMod val="20000"/>
                        <a:lumOff val="80000"/>
                      </a:schemeClr>
                    </a:solidFill>
                  </a:tcPr>
                </a:tc>
                <a:extLst>
                  <a:ext uri="{0D108BD9-81ED-4DB2-BD59-A6C34878D82A}">
                    <a16:rowId xmlns:a16="http://schemas.microsoft.com/office/drawing/2014/main" val="1233851806"/>
                  </a:ext>
                </a:extLst>
              </a:tr>
            </a:tbl>
          </a:graphicData>
        </a:graphic>
      </p:graphicFrame>
      <p:sp>
        <p:nvSpPr>
          <p:cNvPr id="8" name="TextBox 7"/>
          <p:cNvSpPr txBox="1"/>
          <p:nvPr/>
        </p:nvSpPr>
        <p:spPr>
          <a:xfrm>
            <a:off x="306977" y="1393371"/>
            <a:ext cx="3611154" cy="523220"/>
          </a:xfrm>
          <a:prstGeom prst="rect">
            <a:avLst/>
          </a:prstGeom>
          <a:solidFill>
            <a:schemeClr val="accent1">
              <a:lumMod val="20000"/>
              <a:lumOff val="80000"/>
            </a:schemeClr>
          </a:solidFill>
        </p:spPr>
        <p:txBody>
          <a:bodyPr wrap="square" rtlCol="0">
            <a:spAutoFit/>
          </a:bodyPr>
          <a:lstStyle/>
          <a:p>
            <a:r>
              <a:rPr lang="en-GB" sz="1400" dirty="0"/>
              <a:t>Unkempt property</a:t>
            </a:r>
          </a:p>
          <a:p>
            <a:r>
              <a:rPr lang="en-GB" sz="1400" dirty="0"/>
              <a:t> </a:t>
            </a:r>
          </a:p>
        </p:txBody>
      </p:sp>
      <p:sp>
        <p:nvSpPr>
          <p:cNvPr id="9" name="TextBox 8"/>
          <p:cNvSpPr txBox="1"/>
          <p:nvPr/>
        </p:nvSpPr>
        <p:spPr>
          <a:xfrm>
            <a:off x="4156166" y="1953595"/>
            <a:ext cx="3611154" cy="584775"/>
          </a:xfrm>
          <a:prstGeom prst="rect">
            <a:avLst/>
          </a:prstGeom>
          <a:solidFill>
            <a:schemeClr val="accent1">
              <a:lumMod val="20000"/>
              <a:lumOff val="80000"/>
            </a:schemeClr>
          </a:solidFill>
        </p:spPr>
        <p:txBody>
          <a:bodyPr wrap="square" rtlCol="0">
            <a:spAutoFit/>
          </a:bodyPr>
          <a:lstStyle/>
          <a:p>
            <a:r>
              <a:rPr lang="en-GB" sz="1400" dirty="0"/>
              <a:t>Non-engagement</a:t>
            </a:r>
          </a:p>
          <a:p>
            <a:r>
              <a:rPr lang="en-GB" dirty="0"/>
              <a:t> </a:t>
            </a:r>
          </a:p>
        </p:txBody>
      </p:sp>
      <p:sp>
        <p:nvSpPr>
          <p:cNvPr id="10" name="TextBox 9"/>
          <p:cNvSpPr txBox="1"/>
          <p:nvPr/>
        </p:nvSpPr>
        <p:spPr>
          <a:xfrm>
            <a:off x="306977" y="1984373"/>
            <a:ext cx="3611154" cy="523220"/>
          </a:xfrm>
          <a:prstGeom prst="rect">
            <a:avLst/>
          </a:prstGeom>
          <a:solidFill>
            <a:schemeClr val="accent1">
              <a:lumMod val="20000"/>
              <a:lumOff val="80000"/>
            </a:schemeClr>
          </a:solidFill>
        </p:spPr>
        <p:txBody>
          <a:bodyPr wrap="square" rtlCol="0">
            <a:spAutoFit/>
          </a:bodyPr>
          <a:lstStyle/>
          <a:p>
            <a:pPr lvl="0">
              <a:defRPr/>
            </a:pPr>
            <a:r>
              <a:rPr lang="en-GB" sz="1400" dirty="0"/>
              <a:t>Anger/aggression towards professionals</a:t>
            </a:r>
          </a:p>
          <a:p>
            <a:pPr lvl="0">
              <a:defRPr/>
            </a:pPr>
            <a:endParaRPr lang="en-GB" sz="1400" dirty="0"/>
          </a:p>
        </p:txBody>
      </p:sp>
      <p:sp>
        <p:nvSpPr>
          <p:cNvPr id="11" name="TextBox 10"/>
          <p:cNvSpPr txBox="1"/>
          <p:nvPr/>
        </p:nvSpPr>
        <p:spPr>
          <a:xfrm>
            <a:off x="306977" y="2569148"/>
            <a:ext cx="3611154" cy="738664"/>
          </a:xfrm>
          <a:prstGeom prst="rect">
            <a:avLst/>
          </a:prstGeom>
          <a:solidFill>
            <a:schemeClr val="accent1">
              <a:lumMod val="20000"/>
              <a:lumOff val="80000"/>
            </a:schemeClr>
          </a:solidFill>
        </p:spPr>
        <p:txBody>
          <a:bodyPr wrap="square" rtlCol="0">
            <a:spAutoFit/>
          </a:bodyPr>
          <a:lstStyle/>
          <a:p>
            <a:pPr lvl="0">
              <a:defRPr/>
            </a:pPr>
            <a:r>
              <a:rPr lang="en-GB" sz="1400" dirty="0"/>
              <a:t>Environmental issues, excess waste, overcrowding, numerous different people coming and going</a:t>
            </a:r>
          </a:p>
        </p:txBody>
      </p:sp>
      <p:sp>
        <p:nvSpPr>
          <p:cNvPr id="12" name="TextBox 11"/>
          <p:cNvSpPr txBox="1"/>
          <p:nvPr/>
        </p:nvSpPr>
        <p:spPr>
          <a:xfrm>
            <a:off x="306977" y="3369367"/>
            <a:ext cx="3611154" cy="523220"/>
          </a:xfrm>
          <a:prstGeom prst="rect">
            <a:avLst/>
          </a:prstGeom>
          <a:solidFill>
            <a:schemeClr val="accent1">
              <a:lumMod val="20000"/>
              <a:lumOff val="80000"/>
            </a:schemeClr>
          </a:solidFill>
        </p:spPr>
        <p:txBody>
          <a:bodyPr wrap="square" rtlCol="0">
            <a:spAutoFit/>
          </a:bodyPr>
          <a:lstStyle/>
          <a:p>
            <a:r>
              <a:rPr lang="en-GB" sz="1400" dirty="0"/>
              <a:t>Deterioration in personal care and demeanour</a:t>
            </a:r>
          </a:p>
          <a:p>
            <a:endParaRPr lang="en-GB" sz="1400" dirty="0"/>
          </a:p>
        </p:txBody>
      </p:sp>
      <p:sp>
        <p:nvSpPr>
          <p:cNvPr id="13" name="TextBox 12"/>
          <p:cNvSpPr txBox="1"/>
          <p:nvPr/>
        </p:nvSpPr>
        <p:spPr>
          <a:xfrm>
            <a:off x="4152427" y="2602579"/>
            <a:ext cx="3611154" cy="738664"/>
          </a:xfrm>
          <a:prstGeom prst="rect">
            <a:avLst/>
          </a:prstGeom>
          <a:solidFill>
            <a:schemeClr val="accent1">
              <a:lumMod val="20000"/>
              <a:lumOff val="80000"/>
            </a:schemeClr>
          </a:solidFill>
        </p:spPr>
        <p:txBody>
          <a:bodyPr wrap="square" rtlCol="0">
            <a:spAutoFit/>
          </a:bodyPr>
          <a:lstStyle/>
          <a:p>
            <a:r>
              <a:rPr lang="en-GB" sz="1400" dirty="0"/>
              <a:t>Irresponsible tenants, subletting</a:t>
            </a:r>
          </a:p>
          <a:p>
            <a:endParaRPr lang="en-GB" sz="1400" dirty="0"/>
          </a:p>
          <a:p>
            <a:endParaRPr lang="en-GB" sz="1400" dirty="0"/>
          </a:p>
        </p:txBody>
      </p:sp>
      <p:sp>
        <p:nvSpPr>
          <p:cNvPr id="14" name="TextBox 13"/>
          <p:cNvSpPr txBox="1"/>
          <p:nvPr/>
        </p:nvSpPr>
        <p:spPr>
          <a:xfrm>
            <a:off x="4152427" y="3369367"/>
            <a:ext cx="3611154" cy="523220"/>
          </a:xfrm>
          <a:prstGeom prst="rect">
            <a:avLst/>
          </a:prstGeom>
          <a:solidFill>
            <a:schemeClr val="accent1">
              <a:lumMod val="20000"/>
              <a:lumOff val="80000"/>
            </a:schemeClr>
          </a:solidFill>
        </p:spPr>
        <p:txBody>
          <a:bodyPr wrap="square" rtlCol="0">
            <a:spAutoFit/>
          </a:bodyPr>
          <a:lstStyle/>
          <a:p>
            <a:r>
              <a:rPr lang="en-GB" sz="1400" dirty="0"/>
              <a:t>Mental health, substance misuse, poor living standards</a:t>
            </a:r>
          </a:p>
        </p:txBody>
      </p:sp>
      <p:sp>
        <p:nvSpPr>
          <p:cNvPr id="15" name="TextBox 14"/>
          <p:cNvSpPr txBox="1"/>
          <p:nvPr/>
        </p:nvSpPr>
        <p:spPr>
          <a:xfrm>
            <a:off x="4156166" y="3965471"/>
            <a:ext cx="3611154" cy="523220"/>
          </a:xfrm>
          <a:prstGeom prst="rect">
            <a:avLst/>
          </a:prstGeom>
          <a:solidFill>
            <a:schemeClr val="accent1">
              <a:lumMod val="20000"/>
              <a:lumOff val="80000"/>
            </a:schemeClr>
          </a:solidFill>
        </p:spPr>
        <p:txBody>
          <a:bodyPr wrap="square" rtlCol="0">
            <a:spAutoFit/>
          </a:bodyPr>
          <a:lstStyle/>
          <a:p>
            <a:r>
              <a:rPr lang="en-GB" sz="1400" dirty="0"/>
              <a:t>Offending through choice</a:t>
            </a:r>
          </a:p>
          <a:p>
            <a:endParaRPr lang="en-GB" sz="1400" dirty="0"/>
          </a:p>
        </p:txBody>
      </p:sp>
      <p:sp>
        <p:nvSpPr>
          <p:cNvPr id="16" name="TextBox 15"/>
          <p:cNvSpPr txBox="1"/>
          <p:nvPr/>
        </p:nvSpPr>
        <p:spPr>
          <a:xfrm>
            <a:off x="306977" y="3939735"/>
            <a:ext cx="3611154" cy="523220"/>
          </a:xfrm>
          <a:prstGeom prst="rect">
            <a:avLst/>
          </a:prstGeom>
          <a:solidFill>
            <a:schemeClr val="accent1">
              <a:lumMod val="20000"/>
              <a:lumOff val="80000"/>
            </a:schemeClr>
          </a:solidFill>
        </p:spPr>
        <p:txBody>
          <a:bodyPr wrap="square" rtlCol="0">
            <a:spAutoFit/>
          </a:bodyPr>
          <a:lstStyle/>
          <a:p>
            <a:r>
              <a:rPr lang="en-GB" sz="1400" dirty="0"/>
              <a:t>Drug use, theft, anti-police, criminality</a:t>
            </a:r>
          </a:p>
          <a:p>
            <a:r>
              <a:rPr lang="en-GB" sz="1400" dirty="0"/>
              <a:t>Criminal history/convictions</a:t>
            </a:r>
          </a:p>
        </p:txBody>
      </p:sp>
      <p:sp>
        <p:nvSpPr>
          <p:cNvPr id="17" name="TextBox 16"/>
          <p:cNvSpPr txBox="1"/>
          <p:nvPr/>
        </p:nvSpPr>
        <p:spPr>
          <a:xfrm>
            <a:off x="306977" y="4533880"/>
            <a:ext cx="3611154" cy="523220"/>
          </a:xfrm>
          <a:prstGeom prst="rect">
            <a:avLst/>
          </a:prstGeom>
          <a:solidFill>
            <a:schemeClr val="accent1">
              <a:lumMod val="20000"/>
              <a:lumOff val="80000"/>
            </a:schemeClr>
          </a:solidFill>
        </p:spPr>
        <p:txBody>
          <a:bodyPr wrap="square" rtlCol="0">
            <a:spAutoFit/>
          </a:bodyPr>
          <a:lstStyle/>
          <a:p>
            <a:r>
              <a:rPr lang="en-GB" sz="1400" dirty="0"/>
              <a:t>Money issues, petty theft, begging</a:t>
            </a:r>
          </a:p>
          <a:p>
            <a:endParaRPr lang="en-GB" sz="1400" dirty="0"/>
          </a:p>
        </p:txBody>
      </p:sp>
      <p:sp>
        <p:nvSpPr>
          <p:cNvPr id="18" name="TextBox 17"/>
          <p:cNvSpPr txBox="1"/>
          <p:nvPr/>
        </p:nvSpPr>
        <p:spPr>
          <a:xfrm>
            <a:off x="306977" y="5128025"/>
            <a:ext cx="3611154" cy="523220"/>
          </a:xfrm>
          <a:prstGeom prst="rect">
            <a:avLst/>
          </a:prstGeom>
          <a:solidFill>
            <a:schemeClr val="accent1">
              <a:lumMod val="20000"/>
              <a:lumOff val="80000"/>
            </a:schemeClr>
          </a:solidFill>
        </p:spPr>
        <p:txBody>
          <a:bodyPr wrap="square" rtlCol="0">
            <a:spAutoFit/>
          </a:bodyPr>
          <a:lstStyle/>
          <a:p>
            <a:r>
              <a:rPr lang="en-GB" sz="1400" dirty="0"/>
              <a:t>Not answering calls and letters or attending appointments</a:t>
            </a:r>
          </a:p>
        </p:txBody>
      </p:sp>
      <p:sp>
        <p:nvSpPr>
          <p:cNvPr id="19" name="TextBox 18"/>
          <p:cNvSpPr txBox="1"/>
          <p:nvPr/>
        </p:nvSpPr>
        <p:spPr>
          <a:xfrm>
            <a:off x="306977" y="5712425"/>
            <a:ext cx="3611154" cy="523220"/>
          </a:xfrm>
          <a:prstGeom prst="rect">
            <a:avLst/>
          </a:prstGeom>
          <a:solidFill>
            <a:schemeClr val="accent1">
              <a:lumMod val="20000"/>
              <a:lumOff val="80000"/>
            </a:schemeClr>
          </a:solidFill>
        </p:spPr>
        <p:txBody>
          <a:bodyPr wrap="square" rtlCol="0">
            <a:spAutoFit/>
          </a:bodyPr>
          <a:lstStyle/>
          <a:p>
            <a:r>
              <a:rPr lang="en-GB" sz="1400" dirty="0"/>
              <a:t>Substance misuse</a:t>
            </a:r>
          </a:p>
          <a:p>
            <a:endParaRPr lang="en-GB" sz="1400" dirty="0"/>
          </a:p>
        </p:txBody>
      </p:sp>
      <p:sp>
        <p:nvSpPr>
          <p:cNvPr id="20" name="TextBox 19"/>
          <p:cNvSpPr txBox="1"/>
          <p:nvPr/>
        </p:nvSpPr>
        <p:spPr>
          <a:xfrm>
            <a:off x="306977" y="6296825"/>
            <a:ext cx="3611154" cy="307777"/>
          </a:xfrm>
          <a:prstGeom prst="rect">
            <a:avLst/>
          </a:prstGeom>
          <a:solidFill>
            <a:schemeClr val="accent1">
              <a:lumMod val="20000"/>
              <a:lumOff val="80000"/>
            </a:schemeClr>
          </a:solidFill>
        </p:spPr>
        <p:txBody>
          <a:bodyPr wrap="square" rtlCol="0">
            <a:spAutoFit/>
          </a:bodyPr>
          <a:lstStyle/>
          <a:p>
            <a:r>
              <a:rPr lang="en-GB" sz="1400" dirty="0"/>
              <a:t>Sex working</a:t>
            </a:r>
          </a:p>
        </p:txBody>
      </p:sp>
      <p:sp>
        <p:nvSpPr>
          <p:cNvPr id="21" name="Rectangle 20"/>
          <p:cNvSpPr/>
          <p:nvPr/>
        </p:nvSpPr>
        <p:spPr>
          <a:xfrm>
            <a:off x="4152427" y="4533504"/>
            <a:ext cx="3614893" cy="523220"/>
          </a:xfrm>
          <a:prstGeom prst="rect">
            <a:avLst/>
          </a:prstGeom>
          <a:solidFill>
            <a:schemeClr val="accent1">
              <a:lumMod val="20000"/>
              <a:lumOff val="80000"/>
            </a:schemeClr>
          </a:solidFill>
        </p:spPr>
        <p:txBody>
          <a:bodyPr wrap="square">
            <a:spAutoFit/>
          </a:bodyPr>
          <a:lstStyle/>
          <a:p>
            <a:r>
              <a:rPr lang="en-GB" sz="1400" dirty="0"/>
              <a:t>Not prioritising spending/poor money management</a:t>
            </a:r>
          </a:p>
        </p:txBody>
      </p:sp>
      <p:sp>
        <p:nvSpPr>
          <p:cNvPr id="22" name="Rectangle 21"/>
          <p:cNvSpPr/>
          <p:nvPr/>
        </p:nvSpPr>
        <p:spPr>
          <a:xfrm>
            <a:off x="4152428" y="5128025"/>
            <a:ext cx="3614892" cy="523220"/>
          </a:xfrm>
          <a:prstGeom prst="rect">
            <a:avLst/>
          </a:prstGeom>
          <a:solidFill>
            <a:schemeClr val="accent1">
              <a:lumMod val="20000"/>
              <a:lumOff val="80000"/>
            </a:schemeClr>
          </a:solidFill>
        </p:spPr>
        <p:txBody>
          <a:bodyPr wrap="square">
            <a:spAutoFit/>
          </a:bodyPr>
          <a:lstStyle/>
          <a:p>
            <a:r>
              <a:rPr lang="en-GB" sz="1400" dirty="0"/>
              <a:t>Non-engagement</a:t>
            </a:r>
          </a:p>
          <a:p>
            <a:endParaRPr lang="en-GB" sz="1400" dirty="0"/>
          </a:p>
        </p:txBody>
      </p:sp>
      <p:sp>
        <p:nvSpPr>
          <p:cNvPr id="23" name="Rectangle 22"/>
          <p:cNvSpPr/>
          <p:nvPr/>
        </p:nvSpPr>
        <p:spPr>
          <a:xfrm>
            <a:off x="4152425" y="6296825"/>
            <a:ext cx="3611155" cy="307777"/>
          </a:xfrm>
          <a:prstGeom prst="rect">
            <a:avLst/>
          </a:prstGeom>
          <a:solidFill>
            <a:schemeClr val="accent1">
              <a:lumMod val="20000"/>
              <a:lumOff val="80000"/>
            </a:schemeClr>
          </a:solidFill>
        </p:spPr>
        <p:txBody>
          <a:bodyPr wrap="square">
            <a:spAutoFit/>
          </a:bodyPr>
          <a:lstStyle/>
          <a:p>
            <a:r>
              <a:rPr lang="en-GB" sz="1400" dirty="0"/>
              <a:t>Lifestyle choice</a:t>
            </a:r>
          </a:p>
        </p:txBody>
      </p:sp>
      <p:sp>
        <p:nvSpPr>
          <p:cNvPr id="24" name="Rectangle 23"/>
          <p:cNvSpPr/>
          <p:nvPr/>
        </p:nvSpPr>
        <p:spPr>
          <a:xfrm>
            <a:off x="4152427" y="5722546"/>
            <a:ext cx="3611154" cy="523220"/>
          </a:xfrm>
          <a:prstGeom prst="rect">
            <a:avLst/>
          </a:prstGeom>
          <a:solidFill>
            <a:schemeClr val="accent1">
              <a:lumMod val="20000"/>
              <a:lumOff val="80000"/>
            </a:schemeClr>
          </a:solidFill>
        </p:spPr>
        <p:txBody>
          <a:bodyPr wrap="square">
            <a:spAutoFit/>
          </a:bodyPr>
          <a:lstStyle/>
          <a:p>
            <a:r>
              <a:rPr lang="en-GB" sz="1400" dirty="0"/>
              <a:t>Lifestyle choice</a:t>
            </a:r>
          </a:p>
          <a:p>
            <a:endParaRPr lang="en-GB" sz="1400" dirty="0"/>
          </a:p>
        </p:txBody>
      </p:sp>
      <p:sp>
        <p:nvSpPr>
          <p:cNvPr id="25" name="Rectangle 24"/>
          <p:cNvSpPr/>
          <p:nvPr/>
        </p:nvSpPr>
        <p:spPr>
          <a:xfrm>
            <a:off x="8005355" y="1365358"/>
            <a:ext cx="3611154" cy="523220"/>
          </a:xfrm>
          <a:prstGeom prst="rect">
            <a:avLst/>
          </a:prstGeom>
          <a:solidFill>
            <a:schemeClr val="accent1">
              <a:lumMod val="20000"/>
              <a:lumOff val="80000"/>
            </a:schemeClr>
          </a:solidFill>
        </p:spPr>
        <p:txBody>
          <a:bodyPr wrap="square">
            <a:spAutoFit/>
          </a:bodyPr>
          <a:lstStyle/>
          <a:p>
            <a:pPr lvl="0">
              <a:defRPr/>
            </a:pPr>
            <a:r>
              <a:rPr lang="en-GB" sz="1400" dirty="0"/>
              <a:t>Vulnerable tenant lost control of property</a:t>
            </a:r>
          </a:p>
          <a:p>
            <a:pPr lvl="0">
              <a:defRPr/>
            </a:pPr>
            <a:endParaRPr lang="en-GB" sz="1400" dirty="0"/>
          </a:p>
        </p:txBody>
      </p:sp>
      <p:sp>
        <p:nvSpPr>
          <p:cNvPr id="26" name="Rectangle 25"/>
          <p:cNvSpPr/>
          <p:nvPr/>
        </p:nvSpPr>
        <p:spPr>
          <a:xfrm>
            <a:off x="8005355" y="1953595"/>
            <a:ext cx="3611154" cy="523220"/>
          </a:xfrm>
          <a:prstGeom prst="rect">
            <a:avLst/>
          </a:prstGeom>
          <a:solidFill>
            <a:schemeClr val="accent1">
              <a:lumMod val="20000"/>
              <a:lumOff val="80000"/>
            </a:schemeClr>
          </a:solidFill>
        </p:spPr>
        <p:txBody>
          <a:bodyPr wrap="square">
            <a:spAutoFit/>
          </a:bodyPr>
          <a:lstStyle/>
          <a:p>
            <a:r>
              <a:rPr lang="en-GB" sz="1400" dirty="0"/>
              <a:t>Fear of authorities. Under duress to get rid of them</a:t>
            </a:r>
          </a:p>
        </p:txBody>
      </p:sp>
      <p:sp>
        <p:nvSpPr>
          <p:cNvPr id="27" name="Rectangle 26"/>
          <p:cNvSpPr/>
          <p:nvPr/>
        </p:nvSpPr>
        <p:spPr>
          <a:xfrm>
            <a:off x="7997877" y="2554553"/>
            <a:ext cx="3618632" cy="738664"/>
          </a:xfrm>
          <a:prstGeom prst="rect">
            <a:avLst/>
          </a:prstGeom>
          <a:solidFill>
            <a:schemeClr val="accent1">
              <a:lumMod val="20000"/>
              <a:lumOff val="80000"/>
            </a:schemeClr>
          </a:solidFill>
        </p:spPr>
        <p:txBody>
          <a:bodyPr wrap="square">
            <a:spAutoFit/>
          </a:bodyPr>
          <a:lstStyle/>
          <a:p>
            <a:r>
              <a:rPr lang="en-GB" sz="1400" dirty="0"/>
              <a:t>Human trafficking halfway house/slave labour/hot bedding </a:t>
            </a:r>
          </a:p>
          <a:p>
            <a:endParaRPr lang="en-GB" sz="1400" dirty="0"/>
          </a:p>
        </p:txBody>
      </p:sp>
      <p:sp>
        <p:nvSpPr>
          <p:cNvPr id="28" name="Rectangle 27"/>
          <p:cNvSpPr/>
          <p:nvPr/>
        </p:nvSpPr>
        <p:spPr>
          <a:xfrm>
            <a:off x="7997877" y="3369367"/>
            <a:ext cx="3618632" cy="523220"/>
          </a:xfrm>
          <a:prstGeom prst="rect">
            <a:avLst/>
          </a:prstGeom>
          <a:solidFill>
            <a:schemeClr val="accent1">
              <a:lumMod val="20000"/>
              <a:lumOff val="80000"/>
            </a:schemeClr>
          </a:solidFill>
        </p:spPr>
        <p:txBody>
          <a:bodyPr wrap="square">
            <a:spAutoFit/>
          </a:bodyPr>
          <a:lstStyle/>
          <a:p>
            <a:r>
              <a:rPr lang="en-GB" sz="1400" dirty="0"/>
              <a:t>Lack of access to appropriate facilities, food, social interaction</a:t>
            </a:r>
          </a:p>
        </p:txBody>
      </p:sp>
      <p:sp>
        <p:nvSpPr>
          <p:cNvPr id="29" name="Rectangle 28"/>
          <p:cNvSpPr/>
          <p:nvPr/>
        </p:nvSpPr>
        <p:spPr>
          <a:xfrm>
            <a:off x="7997877" y="3979938"/>
            <a:ext cx="3618632" cy="523220"/>
          </a:xfrm>
          <a:prstGeom prst="rect">
            <a:avLst/>
          </a:prstGeom>
          <a:solidFill>
            <a:schemeClr val="accent1">
              <a:lumMod val="20000"/>
              <a:lumOff val="80000"/>
            </a:schemeClr>
          </a:solidFill>
        </p:spPr>
        <p:txBody>
          <a:bodyPr wrap="square">
            <a:spAutoFit/>
          </a:bodyPr>
          <a:lstStyle/>
          <a:p>
            <a:r>
              <a:rPr lang="en-GB" sz="1400" dirty="0"/>
              <a:t>Criminally exploited – under duress</a:t>
            </a:r>
          </a:p>
          <a:p>
            <a:r>
              <a:rPr lang="en-GB" sz="1400" dirty="0"/>
              <a:t>Cuckooing</a:t>
            </a:r>
          </a:p>
        </p:txBody>
      </p:sp>
      <p:sp>
        <p:nvSpPr>
          <p:cNvPr id="30" name="Rectangle 29"/>
          <p:cNvSpPr/>
          <p:nvPr/>
        </p:nvSpPr>
        <p:spPr>
          <a:xfrm>
            <a:off x="7997878" y="4570136"/>
            <a:ext cx="3618632" cy="523220"/>
          </a:xfrm>
          <a:prstGeom prst="rect">
            <a:avLst/>
          </a:prstGeom>
          <a:solidFill>
            <a:schemeClr val="accent1">
              <a:lumMod val="20000"/>
              <a:lumOff val="80000"/>
            </a:schemeClr>
          </a:solidFill>
        </p:spPr>
        <p:txBody>
          <a:bodyPr wrap="square">
            <a:spAutoFit/>
          </a:bodyPr>
          <a:lstStyle/>
          <a:p>
            <a:r>
              <a:rPr lang="en-GB" sz="1400" dirty="0"/>
              <a:t>Financial exploitation</a:t>
            </a:r>
          </a:p>
          <a:p>
            <a:endParaRPr lang="en-GB" sz="1400" dirty="0"/>
          </a:p>
        </p:txBody>
      </p:sp>
      <p:sp>
        <p:nvSpPr>
          <p:cNvPr id="31" name="Rectangle 30"/>
          <p:cNvSpPr/>
          <p:nvPr/>
        </p:nvSpPr>
        <p:spPr>
          <a:xfrm>
            <a:off x="7997875" y="5145921"/>
            <a:ext cx="3618632" cy="523220"/>
          </a:xfrm>
          <a:prstGeom prst="rect">
            <a:avLst/>
          </a:prstGeom>
          <a:solidFill>
            <a:schemeClr val="accent1">
              <a:lumMod val="20000"/>
              <a:lumOff val="80000"/>
            </a:schemeClr>
          </a:solidFill>
        </p:spPr>
        <p:txBody>
          <a:bodyPr wrap="square">
            <a:spAutoFit/>
          </a:bodyPr>
          <a:lstStyle/>
          <a:p>
            <a:r>
              <a:rPr lang="en-GB" sz="1400" dirty="0"/>
              <a:t>Restricted liberties – phone taken, under threat, cannot leave property/situation</a:t>
            </a:r>
          </a:p>
        </p:txBody>
      </p:sp>
      <p:sp>
        <p:nvSpPr>
          <p:cNvPr id="32" name="Rectangle 31"/>
          <p:cNvSpPr/>
          <p:nvPr/>
        </p:nvSpPr>
        <p:spPr>
          <a:xfrm>
            <a:off x="7997874" y="5722546"/>
            <a:ext cx="3618633" cy="523220"/>
          </a:xfrm>
          <a:prstGeom prst="rect">
            <a:avLst/>
          </a:prstGeom>
          <a:solidFill>
            <a:schemeClr val="accent1">
              <a:lumMod val="20000"/>
              <a:lumOff val="80000"/>
            </a:schemeClr>
          </a:solidFill>
        </p:spPr>
        <p:txBody>
          <a:bodyPr wrap="square">
            <a:spAutoFit/>
          </a:bodyPr>
          <a:lstStyle/>
          <a:p>
            <a:pPr lvl="0">
              <a:defRPr/>
            </a:pPr>
            <a:r>
              <a:rPr lang="en-GB" sz="1400" dirty="0"/>
              <a:t>Self medicating trauma or fed substances to be controlled</a:t>
            </a:r>
          </a:p>
        </p:txBody>
      </p:sp>
      <p:sp>
        <p:nvSpPr>
          <p:cNvPr id="33" name="Rectangle 32"/>
          <p:cNvSpPr/>
          <p:nvPr/>
        </p:nvSpPr>
        <p:spPr>
          <a:xfrm>
            <a:off x="7997874" y="6311904"/>
            <a:ext cx="3618633" cy="307777"/>
          </a:xfrm>
          <a:prstGeom prst="rect">
            <a:avLst/>
          </a:prstGeom>
          <a:solidFill>
            <a:schemeClr val="accent1">
              <a:lumMod val="20000"/>
              <a:lumOff val="80000"/>
            </a:schemeClr>
          </a:solidFill>
        </p:spPr>
        <p:txBody>
          <a:bodyPr wrap="square">
            <a:spAutoFit/>
          </a:bodyPr>
          <a:lstStyle/>
          <a:p>
            <a:pPr lvl="0">
              <a:defRPr/>
            </a:pPr>
            <a:r>
              <a:rPr lang="en-GB" sz="1400" dirty="0"/>
              <a:t>Sexual exploitation/trafficking</a:t>
            </a:r>
          </a:p>
        </p:txBody>
      </p:sp>
    </p:spTree>
    <p:extLst>
      <p:ext uri="{BB962C8B-B14F-4D97-AF65-F5344CB8AC3E}">
        <p14:creationId xmlns:p14="http://schemas.microsoft.com/office/powerpoint/2010/main" val="489146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2903" y="928569"/>
            <a:ext cx="3172651" cy="2066143"/>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6000"/>
              </a:lnSpc>
              <a:spcAft>
                <a:spcPts val="0"/>
              </a:spcAft>
            </a:pPr>
            <a:r>
              <a:rPr lang="en-GB" b="1" dirty="0">
                <a:solidFill>
                  <a:schemeClr val="accent1">
                    <a:lumMod val="75000"/>
                  </a:schemeClr>
                </a:solidFill>
                <a:effectLst/>
                <a:ea typeface="Calibri" panose="020F0502020204030204" pitchFamily="34" charset="0"/>
                <a:cs typeface="Arial" panose="020B0604020202020204" pitchFamily="34" charset="0"/>
              </a:rPr>
              <a:t>Obvious linked agencies:</a:t>
            </a:r>
          </a:p>
          <a:p>
            <a:pPr marL="285750" indent="-285750">
              <a:lnSpc>
                <a:spcPct val="106000"/>
              </a:lnSpc>
              <a:spcAft>
                <a:spcPts val="0"/>
              </a:spcAft>
              <a:buFont typeface="Arial" panose="020B0604020202020204" pitchFamily="34" charset="0"/>
              <a:buChar char="•"/>
            </a:pPr>
            <a:r>
              <a:rPr lang="en-GB" dirty="0">
                <a:effectLst/>
                <a:ea typeface="Calibri" panose="020F0502020204030204" pitchFamily="34" charset="0"/>
                <a:cs typeface="Arial" panose="020B0604020202020204" pitchFamily="34" charset="0"/>
              </a:rPr>
              <a:t>Police</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MARAC</a:t>
            </a:r>
          </a:p>
          <a:p>
            <a:pPr marL="285750" indent="-285750">
              <a:lnSpc>
                <a:spcPct val="106000"/>
              </a:lnSpc>
              <a:spcAft>
                <a:spcPts val="0"/>
              </a:spcAft>
              <a:buFont typeface="Arial" panose="020B0604020202020204" pitchFamily="34" charset="0"/>
              <a:buChar char="•"/>
            </a:pPr>
            <a:r>
              <a:rPr lang="en-GB" dirty="0" err="1">
                <a:ea typeface="Calibri" panose="020F0502020204030204" pitchFamily="34" charset="0"/>
                <a:cs typeface="Arial" panose="020B0604020202020204" pitchFamily="34" charset="0"/>
              </a:rPr>
              <a:t>Gangmaster</a:t>
            </a:r>
            <a:r>
              <a:rPr lang="en-GB" dirty="0">
                <a:ea typeface="Calibri" panose="020F0502020204030204" pitchFamily="34" charset="0"/>
                <a:cs typeface="Arial" panose="020B0604020202020204" pitchFamily="34" charset="0"/>
              </a:rPr>
              <a:t> Labour Abuse Authority</a:t>
            </a:r>
          </a:p>
          <a:p>
            <a:pPr marL="285750" indent="-285750">
              <a:lnSpc>
                <a:spcPct val="106000"/>
              </a:lnSpc>
              <a:spcAft>
                <a:spcPts val="0"/>
              </a:spcAft>
              <a:buFont typeface="Arial" panose="020B0604020202020204" pitchFamily="34" charset="0"/>
              <a:buChar char="•"/>
            </a:pPr>
            <a:r>
              <a:rPr lang="en-GB" dirty="0" err="1">
                <a:ea typeface="Calibri" panose="020F0502020204030204" pitchFamily="34" charset="0"/>
                <a:cs typeface="Arial" panose="020B0604020202020204" pitchFamily="34" charset="0"/>
              </a:rPr>
              <a:t>Notts</a:t>
            </a:r>
            <a:r>
              <a:rPr lang="en-GB" dirty="0">
                <a:ea typeface="Calibri" panose="020F0502020204030204" pitchFamily="34" charset="0"/>
                <a:cs typeface="Arial" panose="020B0604020202020204" pitchFamily="34" charset="0"/>
              </a:rPr>
              <a:t> Fire and Rescue</a:t>
            </a:r>
          </a:p>
          <a:p>
            <a:pPr marL="342900" indent="-342900">
              <a:lnSpc>
                <a:spcPct val="106000"/>
              </a:lnSpc>
              <a:spcAft>
                <a:spcPts val="0"/>
              </a:spcAft>
              <a:buFontTx/>
              <a:buChar char="-"/>
            </a:pPr>
            <a:endParaRPr lang="en-GB" sz="1400" dirty="0">
              <a:latin typeface="Arial" panose="020B0604020202020204" pitchFamily="34" charset="0"/>
              <a:ea typeface="Calibri" panose="020F0502020204030204" pitchFamily="34" charset="0"/>
              <a:cs typeface="Arial" panose="020B0604020202020204" pitchFamily="34" charset="0"/>
            </a:endParaRPr>
          </a:p>
        </p:txBody>
      </p:sp>
      <p:sp>
        <p:nvSpPr>
          <p:cNvPr id="3" name="TextBox 2"/>
          <p:cNvSpPr txBox="1"/>
          <p:nvPr/>
        </p:nvSpPr>
        <p:spPr>
          <a:xfrm rot="10800000" flipH="1" flipV="1">
            <a:off x="6410941" y="167618"/>
            <a:ext cx="3204105" cy="41197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b="1" dirty="0">
                <a:solidFill>
                  <a:schemeClr val="accent1">
                    <a:lumMod val="75000"/>
                  </a:schemeClr>
                </a:solidFill>
                <a:cs typeface="Arial" panose="020B0604020202020204" pitchFamily="34" charset="0"/>
              </a:rPr>
              <a:t>Local Authority:</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Neighbourhood safety officers</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ASB team</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Environmental Health</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CP Intel</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Licencing</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Trading standard</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Adult Safeguarding/MASH</a:t>
            </a:r>
          </a:p>
          <a:p>
            <a:pPr marL="285750" indent="-285750">
              <a:lnSpc>
                <a:spcPct val="106000"/>
              </a:lnSpc>
              <a:spcAft>
                <a:spcPts val="0"/>
              </a:spcAft>
              <a:buFont typeface="Arial" panose="020B0604020202020204" pitchFamily="34" charset="0"/>
              <a:buChar char="•"/>
            </a:pPr>
            <a:r>
              <a:rPr lang="en-GB" dirty="0">
                <a:ea typeface="Calibri" panose="020F0502020204030204" pitchFamily="34" charset="0"/>
                <a:cs typeface="Arial" panose="020B0604020202020204" pitchFamily="34" charset="0"/>
              </a:rPr>
              <a:t>Safer Housing</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Complex Persons/Vulnerable person Panel</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Leaving Care</a:t>
            </a:r>
          </a:p>
        </p:txBody>
      </p:sp>
      <p:sp>
        <p:nvSpPr>
          <p:cNvPr id="4" name="TextBox 3"/>
          <p:cNvSpPr txBox="1"/>
          <p:nvPr/>
        </p:nvSpPr>
        <p:spPr>
          <a:xfrm>
            <a:off x="473171" y="3042989"/>
            <a:ext cx="2972113" cy="2585323"/>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b="1" dirty="0">
                <a:solidFill>
                  <a:schemeClr val="accent1">
                    <a:lumMod val="75000"/>
                  </a:schemeClr>
                </a:solidFill>
                <a:cs typeface="Arial" panose="020B0604020202020204" pitchFamily="34" charset="0"/>
              </a:rPr>
              <a:t>Non Government Organisations:</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POW (prostitute outreach workers)</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Jericho road</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Salvation Army</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Food Banks</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Women's aid/JUNO</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Equation</a:t>
            </a:r>
          </a:p>
        </p:txBody>
      </p:sp>
      <p:sp>
        <p:nvSpPr>
          <p:cNvPr id="6" name="TextBox 5"/>
          <p:cNvSpPr txBox="1"/>
          <p:nvPr/>
        </p:nvSpPr>
        <p:spPr>
          <a:xfrm>
            <a:off x="3785458" y="730844"/>
            <a:ext cx="2481943" cy="34163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b="1" dirty="0">
                <a:solidFill>
                  <a:schemeClr val="accent1">
                    <a:lumMod val="75000"/>
                  </a:schemeClr>
                </a:solidFill>
                <a:cs typeface="Arial" panose="020B0604020202020204" pitchFamily="34" charset="0"/>
              </a:rPr>
              <a:t>Housing Providers:</a:t>
            </a:r>
          </a:p>
          <a:p>
            <a:pPr marL="285750" indent="-285750">
              <a:buFont typeface="Arial" panose="020B0604020202020204" pitchFamily="34" charset="0"/>
              <a:buChar char="•"/>
            </a:pPr>
            <a:r>
              <a:rPr lang="en-GB" dirty="0">
                <a:cs typeface="Arial" panose="020B0604020202020204" pitchFamily="34" charset="0"/>
              </a:rPr>
              <a:t>Local Authority housing</a:t>
            </a:r>
          </a:p>
          <a:p>
            <a:pPr marL="285750" indent="-285750">
              <a:buFont typeface="Arial" panose="020B0604020202020204" pitchFamily="34" charset="0"/>
              <a:buChar char="•"/>
            </a:pPr>
            <a:r>
              <a:rPr lang="en-GB" dirty="0">
                <a:cs typeface="Arial" panose="020B0604020202020204" pitchFamily="34" charset="0"/>
              </a:rPr>
              <a:t>Metropolitan</a:t>
            </a:r>
          </a:p>
          <a:p>
            <a:pPr marL="285750" indent="-285750">
              <a:buFont typeface="Arial" panose="020B0604020202020204" pitchFamily="34" charset="0"/>
              <a:buChar char="•"/>
            </a:pPr>
            <a:r>
              <a:rPr lang="en-GB" dirty="0">
                <a:cs typeface="Arial" panose="020B0604020202020204" pitchFamily="34" charset="0"/>
              </a:rPr>
              <a:t>NACRO</a:t>
            </a:r>
          </a:p>
          <a:p>
            <a:pPr marL="285750" indent="-285750">
              <a:buFont typeface="Arial" panose="020B0604020202020204" pitchFamily="34" charset="0"/>
              <a:buChar char="•"/>
            </a:pPr>
            <a:r>
              <a:rPr lang="en-GB" dirty="0">
                <a:cs typeface="Arial" panose="020B0604020202020204" pitchFamily="34" charset="0"/>
              </a:rPr>
              <a:t>Places for People</a:t>
            </a:r>
          </a:p>
          <a:p>
            <a:pPr marL="285750" indent="-285750">
              <a:buFont typeface="Arial" panose="020B0604020202020204" pitchFamily="34" charset="0"/>
              <a:buChar char="•"/>
            </a:pPr>
            <a:r>
              <a:rPr lang="en-GB" dirty="0">
                <a:cs typeface="Arial" panose="020B0604020202020204" pitchFamily="34" charset="0"/>
              </a:rPr>
              <a:t>Nottingham Community Housing Association</a:t>
            </a:r>
          </a:p>
          <a:p>
            <a:pPr marL="285750" indent="-285750">
              <a:buFont typeface="Arial" panose="020B0604020202020204" pitchFamily="34" charset="0"/>
              <a:buChar char="•"/>
            </a:pPr>
            <a:r>
              <a:rPr lang="en-GB" dirty="0">
                <a:cs typeface="Arial" panose="020B0604020202020204" pitchFamily="34" charset="0"/>
              </a:rPr>
              <a:t>PA Housing</a:t>
            </a:r>
          </a:p>
          <a:p>
            <a:pPr marL="285750" indent="-285750">
              <a:buFont typeface="Arial" panose="020B0604020202020204" pitchFamily="34" charset="0"/>
              <a:buChar char="•"/>
            </a:pPr>
            <a:r>
              <a:rPr lang="en-GB" dirty="0">
                <a:cs typeface="Arial" panose="020B0604020202020204" pitchFamily="34" charset="0"/>
              </a:rPr>
              <a:t>Housing 35+</a:t>
            </a:r>
          </a:p>
          <a:p>
            <a:pPr marL="285750" indent="-285750">
              <a:buFont typeface="Arial" panose="020B0604020202020204" pitchFamily="34" charset="0"/>
              <a:buChar char="•"/>
            </a:pPr>
            <a:r>
              <a:rPr lang="en-GB" dirty="0">
                <a:cs typeface="Arial" panose="020B0604020202020204" pitchFamily="34" charset="0"/>
              </a:rPr>
              <a:t>YMCA</a:t>
            </a:r>
          </a:p>
        </p:txBody>
      </p:sp>
      <p:sp>
        <p:nvSpPr>
          <p:cNvPr id="7" name="TextBox 6"/>
          <p:cNvSpPr txBox="1"/>
          <p:nvPr/>
        </p:nvSpPr>
        <p:spPr>
          <a:xfrm>
            <a:off x="3545554" y="4418996"/>
            <a:ext cx="3744685" cy="2031325"/>
          </a:xfrm>
          <a:prstGeom prst="rect">
            <a:avLst/>
          </a:prstGeom>
          <a:ln w="19050"/>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b="1" dirty="0">
                <a:solidFill>
                  <a:schemeClr val="accent1">
                    <a:lumMod val="75000"/>
                  </a:schemeClr>
                </a:solidFill>
                <a:cs typeface="Arial" panose="020B0604020202020204" pitchFamily="34" charset="0"/>
              </a:rPr>
              <a:t>Health:</a:t>
            </a:r>
            <a:endParaRPr lang="en-GB" dirty="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NHS Trust hospitals</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Community Forensics Teams</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Mental Health services </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Community nursing teams</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GPs</a:t>
            </a:r>
          </a:p>
          <a:p>
            <a:pPr marL="285750" indent="-285750">
              <a:buFont typeface="Arial" panose="020B0604020202020204" pitchFamily="34" charset="0"/>
              <a:buChar char="•"/>
            </a:pPr>
            <a:r>
              <a:rPr lang="en-GB" dirty="0">
                <a:ea typeface="Calibri" panose="020F0502020204030204" pitchFamily="34" charset="0"/>
                <a:cs typeface="Arial" panose="020B0604020202020204" pitchFamily="34" charset="0"/>
              </a:rPr>
              <a:t>Substances support services</a:t>
            </a:r>
          </a:p>
        </p:txBody>
      </p:sp>
      <p:sp>
        <p:nvSpPr>
          <p:cNvPr id="8" name="TextBox 7"/>
          <p:cNvSpPr txBox="1"/>
          <p:nvPr/>
        </p:nvSpPr>
        <p:spPr>
          <a:xfrm>
            <a:off x="168870" y="175981"/>
            <a:ext cx="5155475" cy="646331"/>
          </a:xfrm>
          <a:prstGeom prst="rect">
            <a:avLst/>
          </a:prstGeom>
          <a:noFill/>
        </p:spPr>
        <p:txBody>
          <a:bodyPr wrap="square" rtlCol="0">
            <a:spAutoFit/>
          </a:bodyPr>
          <a:lstStyle/>
          <a:p>
            <a:r>
              <a:rPr lang="en-GB" sz="3600" b="1" dirty="0">
                <a:solidFill>
                  <a:schemeClr val="accent1">
                    <a:lumMod val="50000"/>
                  </a:schemeClr>
                </a:solidFill>
                <a:cs typeface="Arial" panose="020B0604020202020204" pitchFamily="34" charset="0"/>
              </a:rPr>
              <a:t>Referral Sources</a:t>
            </a:r>
          </a:p>
        </p:txBody>
      </p:sp>
      <p:sp>
        <p:nvSpPr>
          <p:cNvPr id="9" name="TextBox 8">
            <a:extLst>
              <a:ext uri="{FF2B5EF4-FFF2-40B4-BE49-F238E27FC236}">
                <a16:creationId xmlns:a16="http://schemas.microsoft.com/office/drawing/2014/main" id="{493475FA-9D05-0D53-4253-C2D897F4ABDD}"/>
              </a:ext>
            </a:extLst>
          </p:cNvPr>
          <p:cNvSpPr txBox="1"/>
          <p:nvPr/>
        </p:nvSpPr>
        <p:spPr>
          <a:xfrm>
            <a:off x="462219" y="5811521"/>
            <a:ext cx="2564295" cy="646331"/>
          </a:xfrm>
          <a:prstGeom prst="rect">
            <a:avLst/>
          </a:prstGeom>
          <a:noFill/>
        </p:spPr>
        <p:txBody>
          <a:bodyPr wrap="square" rtlCol="0">
            <a:spAutoFit/>
          </a:bodyPr>
          <a:lstStyle/>
          <a:p>
            <a:r>
              <a:rPr lang="en-GB" i="1" u="sng" dirty="0"/>
              <a:t>This is not an exhausted list  </a:t>
            </a:r>
          </a:p>
        </p:txBody>
      </p:sp>
      <p:sp>
        <p:nvSpPr>
          <p:cNvPr id="10" name="TextBox 9">
            <a:extLst>
              <a:ext uri="{FF2B5EF4-FFF2-40B4-BE49-F238E27FC236}">
                <a16:creationId xmlns:a16="http://schemas.microsoft.com/office/drawing/2014/main" id="{28E08829-1D75-9FCB-D484-CCA54AA0C0F8}"/>
              </a:ext>
            </a:extLst>
          </p:cNvPr>
          <p:cNvSpPr txBox="1"/>
          <p:nvPr/>
        </p:nvSpPr>
        <p:spPr>
          <a:xfrm>
            <a:off x="7524519" y="4557495"/>
            <a:ext cx="2186011" cy="1754326"/>
          </a:xfrm>
          <a:prstGeom prst="rect">
            <a:avLst/>
          </a:prstGeom>
          <a:ln w="19050"/>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dirty="0">
                <a:solidFill>
                  <a:schemeClr val="accent1">
                    <a:lumMod val="75000"/>
                  </a:schemeClr>
                </a:solidFill>
              </a:rPr>
              <a:t>Other</a:t>
            </a:r>
          </a:p>
          <a:p>
            <a:pPr marL="285750" indent="-285750">
              <a:buFont typeface="Arial" panose="020B0604020202020204" pitchFamily="34" charset="0"/>
              <a:buChar char="•"/>
            </a:pPr>
            <a:r>
              <a:rPr lang="en-GB" dirty="0"/>
              <a:t>Department of Work and Pensions (DWP)</a:t>
            </a:r>
          </a:p>
          <a:p>
            <a:pPr marL="285750" indent="-285750">
              <a:buFont typeface="Arial" panose="020B0604020202020204" pitchFamily="34" charset="0"/>
              <a:buChar char="•"/>
            </a:pPr>
            <a:r>
              <a:rPr lang="en-GB" dirty="0"/>
              <a:t>Framework</a:t>
            </a:r>
          </a:p>
          <a:p>
            <a:pPr marL="285750" indent="-285750">
              <a:buFont typeface="Arial" panose="020B0604020202020204" pitchFamily="34" charset="0"/>
              <a:buChar char="•"/>
            </a:pPr>
            <a:r>
              <a:rPr lang="en-GB" dirty="0"/>
              <a:t>Probation</a:t>
            </a:r>
          </a:p>
        </p:txBody>
      </p:sp>
    </p:spTree>
    <p:extLst>
      <p:ext uri="{BB962C8B-B14F-4D97-AF65-F5344CB8AC3E}">
        <p14:creationId xmlns:p14="http://schemas.microsoft.com/office/powerpoint/2010/main" val="316181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627653"/>
          </a:xfrm>
        </p:spPr>
        <p:txBody>
          <a:bodyPr>
            <a:noAutofit/>
          </a:bodyPr>
          <a:lstStyle/>
          <a:p>
            <a:r>
              <a:rPr lang="en-GB" b="1" dirty="0">
                <a:solidFill>
                  <a:schemeClr val="accent1">
                    <a:lumMod val="50000"/>
                  </a:schemeClr>
                </a:solidFill>
                <a:latin typeface="+mn-lt"/>
                <a:cs typeface="Arial" panose="020B0604020202020204" pitchFamily="34" charset="0"/>
              </a:rPr>
              <a:t>Consent</a:t>
            </a:r>
          </a:p>
        </p:txBody>
      </p:sp>
      <p:sp>
        <p:nvSpPr>
          <p:cNvPr id="3" name="Content Placeholder 2"/>
          <p:cNvSpPr>
            <a:spLocks noGrp="1"/>
          </p:cNvSpPr>
          <p:nvPr>
            <p:ph idx="1"/>
          </p:nvPr>
        </p:nvSpPr>
        <p:spPr>
          <a:xfrm>
            <a:off x="838200" y="1062446"/>
            <a:ext cx="8758561" cy="5507030"/>
          </a:xfrm>
        </p:spPr>
        <p:txBody>
          <a:bodyPr>
            <a:normAutofit lnSpcReduction="10000"/>
          </a:bodyPr>
          <a:lstStyle/>
          <a:p>
            <a:pPr marL="0" indent="0">
              <a:lnSpc>
                <a:spcPct val="107000"/>
              </a:lnSpc>
              <a:spcAft>
                <a:spcPts val="800"/>
              </a:spcAft>
              <a:buNone/>
            </a:pPr>
            <a:r>
              <a:rPr lang="en-GB" sz="1800" dirty="0">
                <a:effectLst/>
                <a:ea typeface="Calibri" panose="020F0502020204030204" pitchFamily="34" charset="0"/>
                <a:cs typeface="Arial" panose="020B0604020202020204" pitchFamily="34" charset="0"/>
              </a:rPr>
              <a:t>Consent is not required for referrals to the SET or SERAC. If someone is currently being exploited of held in slavery, there are likely to be elements of coercion and control. Should consent be sought to refer, the potential victim may disclose this to their exploiter, placing them at risk of harm or trafficking.</a:t>
            </a:r>
          </a:p>
          <a:p>
            <a:pPr marL="0" indent="0">
              <a:lnSpc>
                <a:spcPct val="107000"/>
              </a:lnSpc>
              <a:spcAft>
                <a:spcPts val="800"/>
              </a:spcAft>
              <a:buNone/>
            </a:pPr>
            <a:r>
              <a:rPr lang="en-GB" sz="1800" dirty="0">
                <a:effectLst/>
                <a:ea typeface="Calibri" panose="020F0502020204030204" pitchFamily="34" charset="0"/>
                <a:cs typeface="Arial" panose="020B0604020202020204" pitchFamily="34" charset="0"/>
              </a:rPr>
              <a:t>The legal basis under which such information can be shared for the purposes of safeguarding is covered mainly through:</a:t>
            </a:r>
          </a:p>
          <a:p>
            <a:pPr lvl="0">
              <a:buFont typeface="Wingdings" panose="05000000000000000000" pitchFamily="2" charset="2"/>
              <a:buChar char="Ø"/>
            </a:pPr>
            <a:r>
              <a:rPr lang="en-GB" sz="1800" dirty="0">
                <a:effectLst/>
                <a:ea typeface="Calibri" panose="020F0502020204030204" pitchFamily="34" charset="0"/>
                <a:cs typeface="Arial" panose="020B0604020202020204" pitchFamily="34" charset="0"/>
              </a:rPr>
              <a:t>Prevention and detection of crime </a:t>
            </a:r>
            <a:r>
              <a:rPr lang="en-GB" sz="1800" i="1" dirty="0">
                <a:effectLst/>
                <a:ea typeface="Calibri" panose="020F0502020204030204" pitchFamily="34" charset="0"/>
                <a:cs typeface="Arial" panose="020B0604020202020204" pitchFamily="34" charset="0"/>
              </a:rPr>
              <a:t>(s.115 Crime and Disorder Act 1998)</a:t>
            </a:r>
          </a:p>
          <a:p>
            <a:pPr lvl="0">
              <a:buFont typeface="Wingdings" panose="05000000000000000000" pitchFamily="2" charset="2"/>
              <a:buChar char="Ø"/>
            </a:pPr>
            <a:r>
              <a:rPr lang="en-GB" sz="1800" dirty="0">
                <a:effectLst/>
                <a:ea typeface="Calibri" panose="020F0502020204030204" pitchFamily="34" charset="0"/>
                <a:cs typeface="Arial" panose="020B0604020202020204" pitchFamily="34" charset="0"/>
              </a:rPr>
              <a:t>To protect victim or others from serious harm or matter of life or death</a:t>
            </a:r>
            <a:r>
              <a:rPr lang="en-GB" sz="1800" cap="all" dirty="0">
                <a:effectLst/>
                <a:ea typeface="Calibri" panose="020F0502020204030204" pitchFamily="34" charset="0"/>
                <a:cs typeface="Arial" panose="020B0604020202020204" pitchFamily="34" charset="0"/>
              </a:rPr>
              <a:t> </a:t>
            </a:r>
            <a:r>
              <a:rPr lang="en-GB" sz="1800" i="1" cap="all" dirty="0">
                <a:effectLst/>
                <a:ea typeface="Calibri" panose="020F0502020204030204" pitchFamily="34" charset="0"/>
                <a:cs typeface="Arial" panose="020B0604020202020204" pitchFamily="34" charset="0"/>
              </a:rPr>
              <a:t>(</a:t>
            </a:r>
            <a:r>
              <a:rPr lang="en-GB" sz="1800" i="1" dirty="0">
                <a:effectLst/>
                <a:ea typeface="Calibri" panose="020F0502020204030204" pitchFamily="34" charset="0"/>
                <a:cs typeface="Arial" panose="020B0604020202020204" pitchFamily="34" charset="0"/>
              </a:rPr>
              <a:t>GDPR art.6 &amp; 9</a:t>
            </a:r>
            <a:r>
              <a:rPr lang="en-GB" sz="1800" i="1" cap="all" dirty="0">
                <a:effectLst/>
                <a:ea typeface="Calibri" panose="020F0502020204030204" pitchFamily="34" charset="0"/>
                <a:cs typeface="Arial" panose="020B0604020202020204" pitchFamily="34" charset="0"/>
              </a:rPr>
              <a:t>)  </a:t>
            </a:r>
            <a:endParaRPr lang="en-GB" sz="1800" i="1" dirty="0">
              <a:effectLst/>
              <a:ea typeface="Calibri" panose="020F0502020204030204" pitchFamily="34" charset="0"/>
              <a:cs typeface="Arial" panose="020B0604020202020204" pitchFamily="34" charset="0"/>
            </a:endParaRPr>
          </a:p>
          <a:p>
            <a:pPr lvl="0">
              <a:buFont typeface="Wingdings" panose="05000000000000000000" pitchFamily="2" charset="2"/>
              <a:buChar char="Ø"/>
            </a:pPr>
            <a:r>
              <a:rPr lang="en-GB" sz="1800" dirty="0">
                <a:effectLst/>
                <a:ea typeface="Calibri" panose="020F0502020204030204" pitchFamily="34" charset="0"/>
                <a:cs typeface="Arial" panose="020B0604020202020204" pitchFamily="34" charset="0"/>
              </a:rPr>
              <a:t>For a public task </a:t>
            </a:r>
            <a:r>
              <a:rPr lang="en-GB" sz="1800" i="1" dirty="0">
                <a:effectLst/>
                <a:ea typeface="Calibri" panose="020F0502020204030204" pitchFamily="34" charset="0"/>
                <a:cs typeface="Arial" panose="020B0604020202020204" pitchFamily="34" charset="0"/>
              </a:rPr>
              <a:t>(vital interests - usually bringing perpetrators to justice)</a:t>
            </a:r>
          </a:p>
          <a:p>
            <a:pPr lvl="0">
              <a:buFont typeface="Wingdings" panose="05000000000000000000" pitchFamily="2" charset="2"/>
              <a:buChar char="Ø"/>
            </a:pPr>
            <a:r>
              <a:rPr lang="en-GB" sz="1800" dirty="0">
                <a:effectLst/>
                <a:ea typeface="Calibri" panose="020F0502020204030204" pitchFamily="34" charset="0"/>
                <a:cs typeface="Arial" panose="020B0604020202020204" pitchFamily="34" charset="0"/>
              </a:rPr>
              <a:t>Right to be free from torture or inhuman or degrading treatment </a:t>
            </a:r>
            <a:r>
              <a:rPr lang="en-GB" sz="1800" i="1" dirty="0">
                <a:effectLst/>
                <a:ea typeface="Calibri" panose="020F0502020204030204" pitchFamily="34" charset="0"/>
                <a:cs typeface="Arial" panose="020B0604020202020204" pitchFamily="34" charset="0"/>
              </a:rPr>
              <a:t>(Human Rights Act, Articles 2 &amp; 3)</a:t>
            </a:r>
          </a:p>
          <a:p>
            <a:pPr lvl="0">
              <a:buFont typeface="Wingdings" panose="05000000000000000000" pitchFamily="2" charset="2"/>
              <a:buChar char="Ø"/>
            </a:pPr>
            <a:r>
              <a:rPr lang="en-GB" sz="1800" dirty="0">
                <a:effectLst/>
                <a:ea typeface="Calibri" panose="020F0502020204030204" pitchFamily="34" charset="0"/>
                <a:cs typeface="Arial" panose="020B0604020202020204" pitchFamily="34" charset="0"/>
              </a:rPr>
              <a:t>Prevention of Abuse and Neglect </a:t>
            </a:r>
            <a:r>
              <a:rPr lang="en-GB" sz="1800" i="1" dirty="0">
                <a:effectLst/>
                <a:ea typeface="Calibri" panose="020F0502020204030204" pitchFamily="34" charset="0"/>
                <a:cs typeface="Arial" panose="020B0604020202020204" pitchFamily="34" charset="0"/>
              </a:rPr>
              <a:t>(The Care Act 2014)</a:t>
            </a:r>
          </a:p>
          <a:p>
            <a:pPr marL="0" indent="0">
              <a:lnSpc>
                <a:spcPct val="107000"/>
              </a:lnSpc>
              <a:spcAft>
                <a:spcPts val="800"/>
              </a:spcAft>
              <a:buNone/>
            </a:pPr>
            <a:r>
              <a:rPr lang="en-GB" sz="1800" dirty="0">
                <a:effectLst/>
                <a:ea typeface="Calibri" panose="020F0502020204030204" pitchFamily="34" charset="0"/>
                <a:cs typeface="Arial" panose="020B0604020202020204" pitchFamily="34" charset="0"/>
              </a:rPr>
              <a:t>There may be other legal basis on specifics of individual cases (FGM, forced marriage, child protection etc). </a:t>
            </a:r>
          </a:p>
          <a:p>
            <a:pPr marL="0" indent="0">
              <a:buNone/>
            </a:pPr>
            <a:endParaRPr lang="en-GB" sz="2400" dirty="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7632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575F5-5FDB-498D-ABC7-2E12BD3F279C}"/>
              </a:ext>
            </a:extLst>
          </p:cNvPr>
          <p:cNvSpPr>
            <a:spLocks noGrp="1"/>
          </p:cNvSpPr>
          <p:nvPr>
            <p:ph idx="1"/>
          </p:nvPr>
        </p:nvSpPr>
        <p:spPr>
          <a:xfrm>
            <a:off x="7489918" y="580690"/>
            <a:ext cx="4272864" cy="2523656"/>
          </a:xfrm>
        </p:spPr>
        <p:txBody>
          <a:bodyPr anchor="t">
            <a:normAutofit/>
          </a:bodyPr>
          <a:lstStyle/>
          <a:p>
            <a:pPr marL="0" indent="0">
              <a:buNone/>
            </a:pPr>
            <a:r>
              <a:rPr lang="en-GB" dirty="0">
                <a:solidFill>
                  <a:schemeClr val="tx1"/>
                </a:solidFill>
                <a:cs typeface="Arial" panose="020B0604020202020204" pitchFamily="34" charset="0"/>
              </a:rPr>
              <a:t>Only </a:t>
            </a:r>
            <a:r>
              <a:rPr lang="en-GB" sz="1800" dirty="0">
                <a:solidFill>
                  <a:schemeClr val="tx1"/>
                </a:solidFill>
                <a:cs typeface="Arial" panose="020B0604020202020204" pitchFamily="34" charset="0"/>
              </a:rPr>
              <a:t>First Responders’ can refer into the NRM. In Nottinghamshire local First Responders include: Police, Local Authorities, Gangmasters and Labour Abuse Authority, Salvation Army, Migrant Help, Barnardo’s, National Society for the Prevention of Cruelty to Children (NSPCC).</a:t>
            </a:r>
          </a:p>
          <a:p>
            <a:pPr marL="0" indent="0">
              <a:buNone/>
            </a:pPr>
            <a:endParaRPr lang="en-GB" dirty="0">
              <a:solidFill>
                <a:srgbClr val="FFFFFF"/>
              </a:solidFill>
            </a:endParaRPr>
          </a:p>
        </p:txBody>
      </p:sp>
      <p:sp>
        <p:nvSpPr>
          <p:cNvPr id="20" name="Title 1">
            <a:extLst>
              <a:ext uri="{FF2B5EF4-FFF2-40B4-BE49-F238E27FC236}">
                <a16:creationId xmlns:a16="http://schemas.microsoft.com/office/drawing/2014/main" id="{B70E5FE3-3A65-4B6A-8C83-ED1360602BCB}"/>
              </a:ext>
            </a:extLst>
          </p:cNvPr>
          <p:cNvSpPr txBox="1">
            <a:spLocks/>
          </p:cNvSpPr>
          <p:nvPr/>
        </p:nvSpPr>
        <p:spPr>
          <a:xfrm>
            <a:off x="587871" y="188376"/>
            <a:ext cx="7375399" cy="1044315"/>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3200" b="1" dirty="0">
                <a:solidFill>
                  <a:schemeClr val="accent2">
                    <a:lumMod val="50000"/>
                  </a:schemeClr>
                </a:solidFill>
                <a:cs typeface="Arial" panose="020B0604020202020204" pitchFamily="34" charset="0"/>
              </a:rPr>
              <a:t>The National Referral Mechanism</a:t>
            </a:r>
          </a:p>
          <a:p>
            <a:r>
              <a:rPr lang="en-GB" sz="3200" b="1" dirty="0">
                <a:solidFill>
                  <a:schemeClr val="accent2">
                    <a:lumMod val="50000"/>
                  </a:schemeClr>
                </a:solidFill>
                <a:cs typeface="Arial" panose="020B0604020202020204" pitchFamily="34" charset="0"/>
              </a:rPr>
              <a:t> (NRM)</a:t>
            </a:r>
          </a:p>
        </p:txBody>
      </p:sp>
      <p:sp>
        <p:nvSpPr>
          <p:cNvPr id="24" name="Content Placeholder 2">
            <a:extLst>
              <a:ext uri="{FF2B5EF4-FFF2-40B4-BE49-F238E27FC236}">
                <a16:creationId xmlns:a16="http://schemas.microsoft.com/office/drawing/2014/main" id="{46CB61BD-53D8-40EA-9678-197B1FAA0308}"/>
              </a:ext>
            </a:extLst>
          </p:cNvPr>
          <p:cNvSpPr txBox="1">
            <a:spLocks/>
          </p:cNvSpPr>
          <p:nvPr/>
        </p:nvSpPr>
        <p:spPr>
          <a:xfrm>
            <a:off x="7113115" y="3604185"/>
            <a:ext cx="4715936" cy="2219566"/>
          </a:xfrm>
          <a:prstGeom prst="rect">
            <a:avLst/>
          </a:prstGeom>
        </p:spPr>
        <p:txBody>
          <a:bodyPr vert="horz" lIns="91440" tIns="45720" rIns="91440" bIns="45720" rtlCol="0" anchor="t">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2800" i="1" dirty="0">
                <a:solidFill>
                  <a:schemeClr val="tx1"/>
                </a:solidFill>
                <a:latin typeface="+mj-lt"/>
                <a:cs typeface="Arial" panose="020B0604020202020204" pitchFamily="34" charset="0"/>
              </a:rPr>
              <a:t>If you suspect Modern Slavery, trafficking or exploitation always contact the Police, Social Care (if health and care needs are established) and refer to the Slavery Exploitation Team.</a:t>
            </a:r>
          </a:p>
        </p:txBody>
      </p:sp>
      <p:sp>
        <p:nvSpPr>
          <p:cNvPr id="26" name="Content Placeholder 2">
            <a:extLst>
              <a:ext uri="{FF2B5EF4-FFF2-40B4-BE49-F238E27FC236}">
                <a16:creationId xmlns:a16="http://schemas.microsoft.com/office/drawing/2014/main" id="{5D59126E-970D-44A7-B65E-4A3B76989EA3}"/>
              </a:ext>
            </a:extLst>
          </p:cNvPr>
          <p:cNvSpPr txBox="1">
            <a:spLocks/>
          </p:cNvSpPr>
          <p:nvPr/>
        </p:nvSpPr>
        <p:spPr>
          <a:xfrm>
            <a:off x="316106" y="1232691"/>
            <a:ext cx="6643985" cy="447341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dirty="0">
                <a:cs typeface="Arial" panose="020B0604020202020204" pitchFamily="34" charset="0"/>
              </a:rPr>
              <a:t>The NRM is a framework for identifying and referring potential victims of modern slavery and ensuring they receive the appropriate support. It offers:</a:t>
            </a:r>
            <a:endParaRPr lang="en-GB" sz="2800" dirty="0">
              <a:latin typeface="+mj-lt"/>
              <a:cs typeface="Arial" panose="020B0604020202020204" pitchFamily="34" charset="0"/>
            </a:endParaRPr>
          </a:p>
          <a:p>
            <a:r>
              <a:rPr lang="en-US" dirty="0">
                <a:solidFill>
                  <a:srgbClr val="000A12"/>
                </a:solidFill>
                <a:ea typeface="Malgun Gothic Semilight" panose="020B0502040204020203" pitchFamily="34" charset="-128"/>
                <a:cs typeface="Arial" panose="020B0604020202020204" pitchFamily="34" charset="0"/>
              </a:rPr>
              <a:t>Safe accommodation (where needed)</a:t>
            </a:r>
          </a:p>
          <a:p>
            <a:r>
              <a:rPr lang="en-US" dirty="0">
                <a:solidFill>
                  <a:srgbClr val="000A12"/>
                </a:solidFill>
                <a:ea typeface="Malgun Gothic Semilight" panose="020B0502040204020203" pitchFamily="34" charset="-128"/>
                <a:cs typeface="Arial" panose="020B0604020202020204" pitchFamily="34" charset="0"/>
              </a:rPr>
              <a:t>Practical help and advice</a:t>
            </a:r>
          </a:p>
          <a:p>
            <a:r>
              <a:rPr lang="en-US" dirty="0">
                <a:solidFill>
                  <a:srgbClr val="000A12"/>
                </a:solidFill>
                <a:ea typeface="Malgun Gothic Semilight" panose="020B0502040204020203" pitchFamily="34" charset="-128"/>
                <a:cs typeface="Arial" panose="020B0604020202020204" pitchFamily="34" charset="0"/>
              </a:rPr>
              <a:t>Interpretation and translation services</a:t>
            </a:r>
          </a:p>
          <a:p>
            <a:r>
              <a:rPr lang="en-US" dirty="0">
                <a:solidFill>
                  <a:srgbClr val="000A12"/>
                </a:solidFill>
                <a:ea typeface="Malgun Gothic Semilight" panose="020B0502040204020203" pitchFamily="34" charset="-128"/>
                <a:cs typeface="Arial" panose="020B0604020202020204" pitchFamily="34" charset="0"/>
              </a:rPr>
              <a:t>Financial support</a:t>
            </a:r>
          </a:p>
          <a:p>
            <a:r>
              <a:rPr lang="en-US" dirty="0">
                <a:solidFill>
                  <a:srgbClr val="000A12"/>
                </a:solidFill>
                <a:ea typeface="Malgun Gothic Semilight" panose="020B0502040204020203" pitchFamily="34" charset="-128"/>
                <a:cs typeface="Arial" panose="020B0604020202020204" pitchFamily="34" charset="0"/>
              </a:rPr>
              <a:t>Healthcare to meet physical, emotional and mental health needs</a:t>
            </a:r>
          </a:p>
          <a:p>
            <a:r>
              <a:rPr lang="en-US" dirty="0">
                <a:solidFill>
                  <a:srgbClr val="000A12"/>
                </a:solidFill>
                <a:ea typeface="Malgun Gothic Semilight" panose="020B0502040204020203" pitchFamily="34" charset="-128"/>
                <a:cs typeface="Arial" panose="020B0604020202020204" pitchFamily="34" charset="0"/>
              </a:rPr>
              <a:t>Specialist legal advice</a:t>
            </a:r>
          </a:p>
          <a:p>
            <a:r>
              <a:rPr lang="en-US" dirty="0">
                <a:solidFill>
                  <a:srgbClr val="000A12"/>
                </a:solidFill>
                <a:ea typeface="Malgun Gothic Semilight" panose="020B0502040204020203" pitchFamily="34" charset="-128"/>
                <a:cs typeface="Arial" panose="020B0604020202020204" pitchFamily="34" charset="0"/>
              </a:rPr>
              <a:t>Education for school-aged dependent children</a:t>
            </a:r>
          </a:p>
          <a:p>
            <a:r>
              <a:rPr lang="en-US" dirty="0">
                <a:solidFill>
                  <a:srgbClr val="000A12"/>
                </a:solidFill>
                <a:ea typeface="Malgun Gothic Semilight" panose="020B0502040204020203" pitchFamily="34" charset="-128"/>
                <a:cs typeface="Arial" panose="020B0604020202020204" pitchFamily="34" charset="0"/>
              </a:rPr>
              <a:t>Transport to important appointments</a:t>
            </a:r>
          </a:p>
          <a:p>
            <a:r>
              <a:rPr lang="en-US" dirty="0">
                <a:solidFill>
                  <a:srgbClr val="000A12"/>
                </a:solidFill>
                <a:ea typeface="Malgun Gothic Semilight" panose="020B0502040204020203" pitchFamily="34" charset="-128"/>
                <a:cs typeface="Arial" panose="020B0604020202020204" pitchFamily="34" charset="0"/>
              </a:rPr>
              <a:t>Future-planning support</a:t>
            </a:r>
          </a:p>
          <a:p>
            <a:endParaRPr lang="en-GB" dirty="0">
              <a:latin typeface="+mj-lt"/>
              <a:cs typeface="Arial" panose="020B0604020202020204" pitchFamily="34" charset="0"/>
            </a:endParaRPr>
          </a:p>
          <a:p>
            <a:pPr marL="0" indent="0">
              <a:buFont typeface="Wingdings 3" charset="2"/>
              <a:buNone/>
            </a:pPr>
            <a:r>
              <a:rPr lang="en-GB" sz="2800" dirty="0">
                <a:latin typeface="Arial" panose="020B0604020202020204" pitchFamily="34" charset="0"/>
                <a:cs typeface="Arial" panose="020B0604020202020204" pitchFamily="34" charset="0"/>
              </a:rPr>
              <a:t>    </a:t>
            </a:r>
            <a:endParaRPr lang="en-GB" sz="2800" dirty="0"/>
          </a:p>
        </p:txBody>
      </p:sp>
    </p:spTree>
    <p:extLst>
      <p:ext uri="{BB962C8B-B14F-4D97-AF65-F5344CB8AC3E}">
        <p14:creationId xmlns:p14="http://schemas.microsoft.com/office/powerpoint/2010/main" val="2447638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23109"/>
          </a:xfrm>
        </p:spPr>
        <p:txBody>
          <a:bodyPr>
            <a:normAutofit/>
          </a:bodyPr>
          <a:lstStyle/>
          <a:p>
            <a:r>
              <a:rPr lang="en-GB" sz="4000" b="1" dirty="0">
                <a:solidFill>
                  <a:schemeClr val="accent2">
                    <a:lumMod val="50000"/>
                  </a:schemeClr>
                </a:solidFill>
                <a:cs typeface="Arial" panose="020B0604020202020204" pitchFamily="34" charset="0"/>
              </a:rPr>
              <a:t>Remember</a:t>
            </a:r>
          </a:p>
        </p:txBody>
      </p:sp>
      <p:sp>
        <p:nvSpPr>
          <p:cNvPr id="3" name="Content Placeholder 2"/>
          <p:cNvSpPr>
            <a:spLocks noGrp="1"/>
          </p:cNvSpPr>
          <p:nvPr>
            <p:ph idx="1"/>
          </p:nvPr>
        </p:nvSpPr>
        <p:spPr>
          <a:xfrm>
            <a:off x="677334" y="1532709"/>
            <a:ext cx="8596668" cy="4508653"/>
          </a:xfrm>
        </p:spPr>
        <p:txBody>
          <a:bodyPr/>
          <a:lstStyle/>
          <a:p>
            <a:r>
              <a:rPr lang="en-GB" sz="2400" dirty="0">
                <a:latin typeface="+mj-lt"/>
                <a:cs typeface="Arial" panose="020B0604020202020204" pitchFamily="34" charset="0"/>
              </a:rPr>
              <a:t>Follow your instincts</a:t>
            </a:r>
          </a:p>
          <a:p>
            <a:r>
              <a:rPr lang="en-GB" sz="2400" dirty="0">
                <a:latin typeface="+mj-lt"/>
                <a:cs typeface="Arial" panose="020B0604020202020204" pitchFamily="34" charset="0"/>
              </a:rPr>
              <a:t>Your actions matter</a:t>
            </a:r>
          </a:p>
          <a:p>
            <a:r>
              <a:rPr lang="en-GB" sz="2400" dirty="0">
                <a:latin typeface="+mj-lt"/>
                <a:cs typeface="Arial" panose="020B0604020202020204" pitchFamily="34" charset="0"/>
              </a:rPr>
              <a:t>Professional curiosity saves lives</a:t>
            </a:r>
          </a:p>
          <a:p>
            <a:r>
              <a:rPr lang="en-GB" sz="2400" dirty="0">
                <a:latin typeface="+mj-lt"/>
                <a:cs typeface="Arial" panose="020B0604020202020204" pitchFamily="34" charset="0"/>
              </a:rPr>
              <a:t>Make safeguarding personal – put the person at the centre of what you do</a:t>
            </a:r>
          </a:p>
          <a:p>
            <a:r>
              <a:rPr lang="en-GB" sz="2400" dirty="0">
                <a:latin typeface="+mj-lt"/>
                <a:cs typeface="Arial" panose="020B0604020202020204" pitchFamily="34" charset="0"/>
              </a:rPr>
              <a:t>Time is always precious</a:t>
            </a:r>
          </a:p>
          <a:p>
            <a:r>
              <a:rPr lang="en-GB" sz="2400" dirty="0">
                <a:latin typeface="+mj-lt"/>
                <a:cs typeface="Arial" panose="020B0604020202020204" pitchFamily="34" charset="0"/>
              </a:rPr>
              <a:t>You are accountable as a professional</a:t>
            </a:r>
          </a:p>
          <a:p>
            <a:r>
              <a:rPr lang="en-GB" sz="2400" dirty="0">
                <a:latin typeface="+mj-lt"/>
                <a:cs typeface="Arial" panose="020B0604020202020204" pitchFamily="34" charset="0"/>
              </a:rPr>
              <a:t>You have to live with the consequences of your decisions</a:t>
            </a:r>
          </a:p>
          <a:p>
            <a:endParaRPr lang="en-GB" dirty="0"/>
          </a:p>
        </p:txBody>
      </p:sp>
    </p:spTree>
    <p:extLst>
      <p:ext uri="{BB962C8B-B14F-4D97-AF65-F5344CB8AC3E}">
        <p14:creationId xmlns:p14="http://schemas.microsoft.com/office/powerpoint/2010/main" val="3782860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1200" y="1793632"/>
            <a:ext cx="7162800" cy="2669577"/>
          </a:xfrm>
          <a:prstGeom prst="rect">
            <a:avLst/>
          </a:prstGeom>
        </p:spPr>
        <p:txBody>
          <a:bodyPr wrap="square">
            <a:spAutoFit/>
          </a:bodyPr>
          <a:lstStyle/>
          <a:p>
            <a:pPr>
              <a:lnSpc>
                <a:spcPct val="106000"/>
              </a:lnSpc>
              <a:spcAft>
                <a:spcPts val="0"/>
              </a:spcAft>
            </a:pPr>
            <a:r>
              <a:rPr lang="en-GB" sz="3600" b="1" dirty="0">
                <a:solidFill>
                  <a:schemeClr val="accent1">
                    <a:lumMod val="50000"/>
                  </a:schemeClr>
                </a:solidFill>
                <a:latin typeface="+mj-lt"/>
                <a:ea typeface="Calibri" panose="020F0502020204030204" pitchFamily="34" charset="0"/>
                <a:cs typeface="Times New Roman" panose="02020603050405020304" pitchFamily="18" charset="0"/>
              </a:rPr>
              <a:t>Contact Details</a:t>
            </a:r>
            <a:endParaRPr lang="en-GB" sz="3600" dirty="0">
              <a:solidFill>
                <a:schemeClr val="accent1">
                  <a:lumMod val="50000"/>
                </a:schemeClr>
              </a:solidFill>
              <a:effectLst/>
              <a:latin typeface="+mj-lt"/>
              <a:ea typeface="Calibri" panose="020F0502020204030204" pitchFamily="34" charset="0"/>
              <a:cs typeface="Times New Roman" panose="02020603050405020304" pitchFamily="18" charset="0"/>
            </a:endParaRPr>
          </a:p>
          <a:p>
            <a:pPr>
              <a:lnSpc>
                <a:spcPct val="106000"/>
              </a:lnSpc>
              <a:spcAft>
                <a:spcPts val="0"/>
              </a:spcAft>
            </a:pPr>
            <a:r>
              <a:rPr lang="en-GB" sz="3600" b="1" dirty="0">
                <a:latin typeface="+mj-lt"/>
                <a:ea typeface="Calibri" panose="020F0502020204030204" pitchFamily="34" charset="0"/>
                <a:cs typeface="Times New Roman" panose="02020603050405020304" pitchFamily="18" charset="0"/>
              </a:rPr>
              <a:t> </a:t>
            </a:r>
            <a:endParaRPr lang="en-GB" sz="3600" dirty="0">
              <a:effectLst/>
              <a:latin typeface="+mj-lt"/>
              <a:ea typeface="Calibri" panose="020F0502020204030204" pitchFamily="34" charset="0"/>
              <a:cs typeface="Times New Roman" panose="02020603050405020304" pitchFamily="18" charset="0"/>
            </a:endParaRPr>
          </a:p>
          <a:p>
            <a:pPr>
              <a:lnSpc>
                <a:spcPct val="106000"/>
              </a:lnSpc>
              <a:spcAft>
                <a:spcPts val="0"/>
              </a:spcAft>
            </a:pPr>
            <a:r>
              <a:rPr lang="en-GB" sz="3600" dirty="0">
                <a:latin typeface="+mj-lt"/>
                <a:ea typeface="Calibri" panose="020F0502020204030204" pitchFamily="34" charset="0"/>
                <a:cs typeface="Times New Roman" panose="02020603050405020304" pitchFamily="18" charset="0"/>
              </a:rPr>
              <a:t>MSVP@nottinghamcity.gov.uk</a:t>
            </a:r>
            <a:endParaRPr lang="en-GB" sz="3600" dirty="0">
              <a:effectLst/>
              <a:latin typeface="+mj-lt"/>
              <a:ea typeface="Calibri" panose="020F0502020204030204" pitchFamily="34" charset="0"/>
              <a:cs typeface="Times New Roman" panose="02020603050405020304" pitchFamily="18" charset="0"/>
            </a:endParaRPr>
          </a:p>
          <a:p>
            <a:pPr>
              <a:lnSpc>
                <a:spcPct val="106000"/>
              </a:lnSpc>
              <a:spcAft>
                <a:spcPts val="0"/>
              </a:spcAft>
            </a:pPr>
            <a:r>
              <a:rPr lang="en-GB" sz="3200" dirty="0">
                <a:latin typeface="Arial" panose="020B0604020202020204" pitchFamily="34" charset="0"/>
                <a:ea typeface="Calibri" panose="020F0502020204030204" pitchFamily="34" charset="0"/>
                <a:cs typeface="Times New Roman" panose="02020603050405020304" pitchFamily="18" charset="0"/>
              </a:rPr>
              <a:t> </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0"/>
              </a:spcAft>
            </a:pPr>
            <a:r>
              <a:rPr lang="en-GB" dirty="0">
                <a:latin typeface="Arial" panose="020B0604020202020204" pitchFamily="34" charset="0"/>
                <a:ea typeface="Calibri" panose="020F0502020204030204" pitchFamily="34" charset="0"/>
                <a:cs typeface="Times New Roman" panose="02020603050405020304" pitchFamily="18" charset="0"/>
              </a:rPr>
              <a:t> </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813511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10470</TotalTime>
  <Words>1479</Words>
  <Application>Microsoft Office PowerPoint</Application>
  <PresentationFormat>Widescreen</PresentationFormat>
  <Paragraphs>220</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Malgun Gothic Semilight</vt:lpstr>
      <vt:lpstr>Aptos</vt:lpstr>
      <vt:lpstr>Arial</vt:lpstr>
      <vt:lpstr>Calibri</vt:lpstr>
      <vt:lpstr>Montserrat</vt:lpstr>
      <vt:lpstr>Trebuchet MS</vt:lpstr>
      <vt:lpstr>Wingdings</vt:lpstr>
      <vt:lpstr>Wingdings 3</vt:lpstr>
      <vt:lpstr>Facet</vt:lpstr>
      <vt:lpstr>PowerPoint Presentation</vt:lpstr>
      <vt:lpstr>Introduction to the team and modern slavery</vt:lpstr>
      <vt:lpstr>PowerPoint Presentation</vt:lpstr>
      <vt:lpstr>How the Team Operates</vt:lpstr>
      <vt:lpstr>PowerPoint Presentation</vt:lpstr>
      <vt:lpstr>Criminal Exploitation </vt:lpstr>
      <vt:lpstr>General Indicators</vt:lpstr>
      <vt:lpstr>PowerPoint Presentation</vt:lpstr>
      <vt:lpstr>SERAC</vt:lpstr>
      <vt:lpstr>Risk Management</vt:lpstr>
      <vt:lpstr>Outcomes</vt:lpstr>
      <vt:lpstr>PowerPoint Presentation</vt:lpstr>
      <vt:lpstr>PowerPoint Presentation</vt:lpstr>
      <vt:lpstr>PowerPoint Presentation</vt:lpstr>
      <vt:lpstr>Consent</vt:lpstr>
      <vt:lpstr>PowerPoint Presentation</vt:lpstr>
      <vt:lpstr>Remember</vt:lpstr>
      <vt:lpstr>PowerPoint Presentation</vt:lpstr>
    </vt:vector>
  </TitlesOfParts>
  <Company>Nottingham City Council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Authority</dc:title>
  <dc:creator>Jane Paling</dc:creator>
  <cp:lastModifiedBy>Betty Rolph-Bryceland</cp:lastModifiedBy>
  <cp:revision>197</cp:revision>
  <cp:lastPrinted>2019-11-26T13:45:56Z</cp:lastPrinted>
  <dcterms:created xsi:type="dcterms:W3CDTF">2018-10-12T11:53:22Z</dcterms:created>
  <dcterms:modified xsi:type="dcterms:W3CDTF">2026-04-16T11:55:47Z</dcterms:modified>
</cp:coreProperties>
</file>