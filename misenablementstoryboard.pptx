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61" r:id="rId7"/>
    <p:sldId id="260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B961F0-245D-4A87-84E3-7B61C19A8487}" v="755" dt="2025-05-30T11:31:27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A402AB-482E-4A3B-AD0F-4D3ED503E73D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969A6F-3307-4785-AED5-6CBD84D27C95}">
      <dgm:prSet/>
      <dgm:spPr/>
      <dgm:t>
        <a:bodyPr/>
        <a:lstStyle/>
        <a:p>
          <a:r>
            <a:rPr lang="en-US"/>
            <a:t>Raise</a:t>
          </a:r>
        </a:p>
      </dgm:t>
    </dgm:pt>
    <dgm:pt modelId="{C4D31EFA-BFEA-4B57-99C3-1862B642C597}" type="parTrans" cxnId="{4D67FF36-32E8-4281-93AE-4813CBC00F6C}">
      <dgm:prSet/>
      <dgm:spPr/>
      <dgm:t>
        <a:bodyPr/>
        <a:lstStyle/>
        <a:p>
          <a:endParaRPr lang="en-US"/>
        </a:p>
      </dgm:t>
    </dgm:pt>
    <dgm:pt modelId="{4A4EB86C-C1FA-45C0-9BB4-39ADB5ABB187}" type="sibTrans" cxnId="{4D67FF36-32E8-4281-93AE-4813CBC00F6C}">
      <dgm:prSet/>
      <dgm:spPr/>
      <dgm:t>
        <a:bodyPr/>
        <a:lstStyle/>
        <a:p>
          <a:endParaRPr lang="en-US"/>
        </a:p>
      </dgm:t>
    </dgm:pt>
    <dgm:pt modelId="{5DD7CF86-7595-4212-BAA6-BB076A985464}">
      <dgm:prSet/>
      <dgm:spPr/>
      <dgm:t>
        <a:bodyPr/>
        <a:lstStyle/>
        <a:p>
          <a:r>
            <a:rPr lang="en-US" dirty="0"/>
            <a:t>Raise awareness of the power of enablement across the department and encourage operational teams to consider enablement at the earliest opportunity</a:t>
          </a:r>
        </a:p>
      </dgm:t>
    </dgm:pt>
    <dgm:pt modelId="{ED9D80EC-E1F3-469D-913F-934879D71957}" type="parTrans" cxnId="{F72C00B6-8E7B-4AE7-99CC-CC1E9D5B5FD3}">
      <dgm:prSet/>
      <dgm:spPr/>
      <dgm:t>
        <a:bodyPr/>
        <a:lstStyle/>
        <a:p>
          <a:endParaRPr lang="en-US"/>
        </a:p>
      </dgm:t>
    </dgm:pt>
    <dgm:pt modelId="{4B4BAA0B-641F-45C2-9735-3161842D56F1}" type="sibTrans" cxnId="{F72C00B6-8E7B-4AE7-99CC-CC1E9D5B5FD3}">
      <dgm:prSet/>
      <dgm:spPr/>
      <dgm:t>
        <a:bodyPr/>
        <a:lstStyle/>
        <a:p>
          <a:endParaRPr lang="en-US"/>
        </a:p>
      </dgm:t>
    </dgm:pt>
    <dgm:pt modelId="{AA154D18-5D24-4807-96E2-9A52EC48C48C}">
      <dgm:prSet/>
      <dgm:spPr/>
      <dgm:t>
        <a:bodyPr/>
        <a:lstStyle/>
        <a:p>
          <a:r>
            <a:rPr lang="en-US"/>
            <a:t>Grow</a:t>
          </a:r>
        </a:p>
      </dgm:t>
    </dgm:pt>
    <dgm:pt modelId="{43B032A5-B5A2-4DBE-8628-D46E05B08036}" type="parTrans" cxnId="{7530246B-CD1F-48F4-858C-8097AAD71DA6}">
      <dgm:prSet/>
      <dgm:spPr/>
      <dgm:t>
        <a:bodyPr/>
        <a:lstStyle/>
        <a:p>
          <a:endParaRPr lang="en-US"/>
        </a:p>
      </dgm:t>
    </dgm:pt>
    <dgm:pt modelId="{80A8A252-9561-4085-B093-3335E6F63BD0}" type="sibTrans" cxnId="{7530246B-CD1F-48F4-858C-8097AAD71DA6}">
      <dgm:prSet/>
      <dgm:spPr/>
      <dgm:t>
        <a:bodyPr/>
        <a:lstStyle/>
        <a:p>
          <a:endParaRPr lang="en-US"/>
        </a:p>
      </dgm:t>
    </dgm:pt>
    <dgm:pt modelId="{841DABCA-EC5D-4A41-8784-769BD8461814}">
      <dgm:prSet/>
      <dgm:spPr/>
      <dgm:t>
        <a:bodyPr/>
        <a:lstStyle/>
        <a:p>
          <a:r>
            <a:rPr lang="en-US" dirty="0"/>
            <a:t>Build on our existing strengths &amp; achievements with creative solutions including knowledge of readily available technology such as Alexa, robot hoovers and other accessible digital solutions</a:t>
          </a:r>
        </a:p>
      </dgm:t>
    </dgm:pt>
    <dgm:pt modelId="{4C166200-836D-431B-9921-D8D81FC3E478}" type="parTrans" cxnId="{17784EF6-F130-4F54-BC19-CA5679BD17E3}">
      <dgm:prSet/>
      <dgm:spPr/>
      <dgm:t>
        <a:bodyPr/>
        <a:lstStyle/>
        <a:p>
          <a:endParaRPr lang="en-US"/>
        </a:p>
      </dgm:t>
    </dgm:pt>
    <dgm:pt modelId="{8CC2580C-B34F-4881-A76B-A9ABA147A3E3}" type="sibTrans" cxnId="{17784EF6-F130-4F54-BC19-CA5679BD17E3}">
      <dgm:prSet/>
      <dgm:spPr/>
      <dgm:t>
        <a:bodyPr/>
        <a:lstStyle/>
        <a:p>
          <a:endParaRPr lang="en-US"/>
        </a:p>
      </dgm:t>
    </dgm:pt>
    <dgm:pt modelId="{DF2539BF-ECFD-4D19-B1FD-3CF34687BFAA}">
      <dgm:prSet/>
      <dgm:spPr/>
      <dgm:t>
        <a:bodyPr/>
        <a:lstStyle/>
        <a:p>
          <a:r>
            <a:rPr lang="en-US"/>
            <a:t>Increase</a:t>
          </a:r>
        </a:p>
      </dgm:t>
    </dgm:pt>
    <dgm:pt modelId="{8A837632-AB5D-411B-B33E-981766561B1C}" type="parTrans" cxnId="{E0FB9EBF-D031-4C1D-8657-DC743584C30C}">
      <dgm:prSet/>
      <dgm:spPr/>
      <dgm:t>
        <a:bodyPr/>
        <a:lstStyle/>
        <a:p>
          <a:endParaRPr lang="en-US"/>
        </a:p>
      </dgm:t>
    </dgm:pt>
    <dgm:pt modelId="{64599115-86B0-441E-9E4D-BA1999BC6E7A}" type="sibTrans" cxnId="{E0FB9EBF-D031-4C1D-8657-DC743584C30C}">
      <dgm:prSet/>
      <dgm:spPr/>
      <dgm:t>
        <a:bodyPr/>
        <a:lstStyle/>
        <a:p>
          <a:endParaRPr lang="en-US"/>
        </a:p>
      </dgm:t>
    </dgm:pt>
    <dgm:pt modelId="{EAC0FD1F-6323-4049-BE17-7408355A8E8B}">
      <dgm:prSet/>
      <dgm:spPr/>
      <dgm:t>
        <a:bodyPr/>
        <a:lstStyle/>
        <a:p>
          <a:r>
            <a:rPr lang="en-US" dirty="0"/>
            <a:t>Increase our use of the Padlet and wider communications to share good news stories and showcase our creative outcomes for people. Seek feedback from peoples experience of the service.</a:t>
          </a:r>
        </a:p>
      </dgm:t>
    </dgm:pt>
    <dgm:pt modelId="{148C1EAF-0AA7-4DB6-B930-EE4C6E42453A}" type="parTrans" cxnId="{D40AA37D-AD82-4D68-B055-FDFD1C84D979}">
      <dgm:prSet/>
      <dgm:spPr/>
      <dgm:t>
        <a:bodyPr/>
        <a:lstStyle/>
        <a:p>
          <a:endParaRPr lang="en-US"/>
        </a:p>
      </dgm:t>
    </dgm:pt>
    <dgm:pt modelId="{A96C2FCB-F03D-40BF-B2C1-5D314AE9F0AF}" type="sibTrans" cxnId="{D40AA37D-AD82-4D68-B055-FDFD1C84D979}">
      <dgm:prSet/>
      <dgm:spPr/>
      <dgm:t>
        <a:bodyPr/>
        <a:lstStyle/>
        <a:p>
          <a:endParaRPr lang="en-US"/>
        </a:p>
      </dgm:t>
    </dgm:pt>
    <dgm:pt modelId="{A01708DB-ED56-4430-9554-31E387CF1C23}">
      <dgm:prSet/>
      <dgm:spPr/>
      <dgm:t>
        <a:bodyPr/>
        <a:lstStyle/>
        <a:p>
          <a:r>
            <a:rPr lang="en-US"/>
            <a:t>Refine</a:t>
          </a:r>
        </a:p>
      </dgm:t>
    </dgm:pt>
    <dgm:pt modelId="{8FC60D31-C6AB-4A12-86E7-DF8B02F961FB}" type="parTrans" cxnId="{70BF811F-2CAC-4045-B052-5C7D64B8B947}">
      <dgm:prSet/>
      <dgm:spPr/>
      <dgm:t>
        <a:bodyPr/>
        <a:lstStyle/>
        <a:p>
          <a:endParaRPr lang="en-US"/>
        </a:p>
      </dgm:t>
    </dgm:pt>
    <dgm:pt modelId="{F925D756-A076-4FA2-9BE6-2FA6E49A8293}" type="sibTrans" cxnId="{70BF811F-2CAC-4045-B052-5C7D64B8B947}">
      <dgm:prSet/>
      <dgm:spPr/>
      <dgm:t>
        <a:bodyPr/>
        <a:lstStyle/>
        <a:p>
          <a:endParaRPr lang="en-US"/>
        </a:p>
      </dgm:t>
    </dgm:pt>
    <dgm:pt modelId="{E7868E07-C51B-4A0D-AA09-49BAB1B633C2}">
      <dgm:prSet/>
      <dgm:spPr/>
      <dgm:t>
        <a:bodyPr/>
        <a:lstStyle/>
        <a:p>
          <a:r>
            <a:rPr lang="en-US" dirty="0"/>
            <a:t>Further refine and streamline our capacity to ensure as many people as possible have access to timely enablement. </a:t>
          </a:r>
        </a:p>
      </dgm:t>
    </dgm:pt>
    <dgm:pt modelId="{5AE2B0E2-26E1-4F79-93BA-85951023FC8E}" type="parTrans" cxnId="{635B835D-C4CD-4D04-A910-563BDDB7B222}">
      <dgm:prSet/>
      <dgm:spPr/>
      <dgm:t>
        <a:bodyPr/>
        <a:lstStyle/>
        <a:p>
          <a:endParaRPr lang="en-US"/>
        </a:p>
      </dgm:t>
    </dgm:pt>
    <dgm:pt modelId="{33791832-2F0A-40FA-AE77-3A2E0FACB885}" type="sibTrans" cxnId="{635B835D-C4CD-4D04-A910-563BDDB7B222}">
      <dgm:prSet/>
      <dgm:spPr/>
      <dgm:t>
        <a:bodyPr/>
        <a:lstStyle/>
        <a:p>
          <a:endParaRPr lang="en-US"/>
        </a:p>
      </dgm:t>
    </dgm:pt>
    <dgm:pt modelId="{4F01DAC7-B8C5-4ABA-B6FD-C9E155B604E5}" type="pres">
      <dgm:prSet presAssocID="{46A402AB-482E-4A3B-AD0F-4D3ED503E73D}" presName="Name0" presStyleCnt="0">
        <dgm:presLayoutVars>
          <dgm:dir/>
          <dgm:animLvl val="lvl"/>
          <dgm:resizeHandles val="exact"/>
        </dgm:presLayoutVars>
      </dgm:prSet>
      <dgm:spPr/>
    </dgm:pt>
    <dgm:pt modelId="{8F070CA3-2DAA-46F0-9F9B-C79C44B50711}" type="pres">
      <dgm:prSet presAssocID="{B4969A6F-3307-4785-AED5-6CBD84D27C95}" presName="linNode" presStyleCnt="0"/>
      <dgm:spPr/>
    </dgm:pt>
    <dgm:pt modelId="{506A2EF7-7642-4655-96EE-69C7DA606B97}" type="pres">
      <dgm:prSet presAssocID="{B4969A6F-3307-4785-AED5-6CBD84D27C95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0F7DC5CA-8AF6-4293-9039-C6C8DBEA7F23}" type="pres">
      <dgm:prSet presAssocID="{B4969A6F-3307-4785-AED5-6CBD84D27C95}" presName="descendantText" presStyleLbl="alignNode1" presStyleIdx="0" presStyleCnt="4">
        <dgm:presLayoutVars>
          <dgm:bulletEnabled/>
        </dgm:presLayoutVars>
      </dgm:prSet>
      <dgm:spPr/>
    </dgm:pt>
    <dgm:pt modelId="{EEDBF191-9528-4360-AE17-514BE87548F0}" type="pres">
      <dgm:prSet presAssocID="{4A4EB86C-C1FA-45C0-9BB4-39ADB5ABB187}" presName="sp" presStyleCnt="0"/>
      <dgm:spPr/>
    </dgm:pt>
    <dgm:pt modelId="{2C154B95-1DD0-40B4-B13E-713D32200777}" type="pres">
      <dgm:prSet presAssocID="{AA154D18-5D24-4807-96E2-9A52EC48C48C}" presName="linNode" presStyleCnt="0"/>
      <dgm:spPr/>
    </dgm:pt>
    <dgm:pt modelId="{034748C9-AFC1-4AFA-8C68-1C0E08D72D0C}" type="pres">
      <dgm:prSet presAssocID="{AA154D18-5D24-4807-96E2-9A52EC48C48C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F02944BF-C00B-4E02-B509-16776C838DF3}" type="pres">
      <dgm:prSet presAssocID="{AA154D18-5D24-4807-96E2-9A52EC48C48C}" presName="descendantText" presStyleLbl="alignNode1" presStyleIdx="1" presStyleCnt="4">
        <dgm:presLayoutVars>
          <dgm:bulletEnabled/>
        </dgm:presLayoutVars>
      </dgm:prSet>
      <dgm:spPr/>
    </dgm:pt>
    <dgm:pt modelId="{A1826A18-8728-426A-BFA4-887D21F76786}" type="pres">
      <dgm:prSet presAssocID="{80A8A252-9561-4085-B093-3335E6F63BD0}" presName="sp" presStyleCnt="0"/>
      <dgm:spPr/>
    </dgm:pt>
    <dgm:pt modelId="{F451C521-0E50-4AEB-B15B-DBBAD39021B5}" type="pres">
      <dgm:prSet presAssocID="{DF2539BF-ECFD-4D19-B1FD-3CF34687BFAA}" presName="linNode" presStyleCnt="0"/>
      <dgm:spPr/>
    </dgm:pt>
    <dgm:pt modelId="{89CB2E48-EA5F-4182-941A-E5FD75DF9125}" type="pres">
      <dgm:prSet presAssocID="{DF2539BF-ECFD-4D19-B1FD-3CF34687BFAA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4E464B8E-005B-4DA7-995D-04B1827538FE}" type="pres">
      <dgm:prSet presAssocID="{DF2539BF-ECFD-4D19-B1FD-3CF34687BFAA}" presName="descendantText" presStyleLbl="alignNode1" presStyleIdx="2" presStyleCnt="4">
        <dgm:presLayoutVars>
          <dgm:bulletEnabled/>
        </dgm:presLayoutVars>
      </dgm:prSet>
      <dgm:spPr/>
    </dgm:pt>
    <dgm:pt modelId="{9E22F202-99E0-423E-BAD5-2C13302F73AB}" type="pres">
      <dgm:prSet presAssocID="{64599115-86B0-441E-9E4D-BA1999BC6E7A}" presName="sp" presStyleCnt="0"/>
      <dgm:spPr/>
    </dgm:pt>
    <dgm:pt modelId="{351C6445-D57D-4D09-8407-2650ED17A50E}" type="pres">
      <dgm:prSet presAssocID="{A01708DB-ED56-4430-9554-31E387CF1C23}" presName="linNode" presStyleCnt="0"/>
      <dgm:spPr/>
    </dgm:pt>
    <dgm:pt modelId="{73DEF9B5-7B5A-46D3-8B04-F7D5118FCA91}" type="pres">
      <dgm:prSet presAssocID="{A01708DB-ED56-4430-9554-31E387CF1C23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A1844ACF-8A99-4FBE-84D0-52B10C9EF874}" type="pres">
      <dgm:prSet presAssocID="{A01708DB-ED56-4430-9554-31E387CF1C23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5DA11E14-5CBC-4705-9857-56776125B2BA}" type="presOf" srcId="{A01708DB-ED56-4430-9554-31E387CF1C23}" destId="{73DEF9B5-7B5A-46D3-8B04-F7D5118FCA91}" srcOrd="0" destOrd="0" presId="urn:microsoft.com/office/officeart/2016/7/layout/VerticalHollowActionList"/>
    <dgm:cxn modelId="{C4E57519-72C8-4836-8312-70C286716D4D}" type="presOf" srcId="{841DABCA-EC5D-4A41-8784-769BD8461814}" destId="{F02944BF-C00B-4E02-B509-16776C838DF3}" srcOrd="0" destOrd="0" presId="urn:microsoft.com/office/officeart/2016/7/layout/VerticalHollowActionList"/>
    <dgm:cxn modelId="{70BF811F-2CAC-4045-B052-5C7D64B8B947}" srcId="{46A402AB-482E-4A3B-AD0F-4D3ED503E73D}" destId="{A01708DB-ED56-4430-9554-31E387CF1C23}" srcOrd="3" destOrd="0" parTransId="{8FC60D31-C6AB-4A12-86E7-DF8B02F961FB}" sibTransId="{F925D756-A076-4FA2-9BE6-2FA6E49A8293}"/>
    <dgm:cxn modelId="{B727DD21-7B1F-48A0-9A4E-EF0922972CE8}" type="presOf" srcId="{B4969A6F-3307-4785-AED5-6CBD84D27C95}" destId="{506A2EF7-7642-4655-96EE-69C7DA606B97}" srcOrd="0" destOrd="0" presId="urn:microsoft.com/office/officeart/2016/7/layout/VerticalHollowActionList"/>
    <dgm:cxn modelId="{D1649F2D-8649-4A66-80EC-6DF3E9E7E1EC}" type="presOf" srcId="{5DD7CF86-7595-4212-BAA6-BB076A985464}" destId="{0F7DC5CA-8AF6-4293-9039-C6C8DBEA7F23}" srcOrd="0" destOrd="0" presId="urn:microsoft.com/office/officeart/2016/7/layout/VerticalHollowActionList"/>
    <dgm:cxn modelId="{4D67FF36-32E8-4281-93AE-4813CBC00F6C}" srcId="{46A402AB-482E-4A3B-AD0F-4D3ED503E73D}" destId="{B4969A6F-3307-4785-AED5-6CBD84D27C95}" srcOrd="0" destOrd="0" parTransId="{C4D31EFA-BFEA-4B57-99C3-1862B642C597}" sibTransId="{4A4EB86C-C1FA-45C0-9BB4-39ADB5ABB187}"/>
    <dgm:cxn modelId="{635B835D-C4CD-4D04-A910-563BDDB7B222}" srcId="{A01708DB-ED56-4430-9554-31E387CF1C23}" destId="{E7868E07-C51B-4A0D-AA09-49BAB1B633C2}" srcOrd="0" destOrd="0" parTransId="{5AE2B0E2-26E1-4F79-93BA-85951023FC8E}" sibTransId="{33791832-2F0A-40FA-AE77-3A2E0FACB885}"/>
    <dgm:cxn modelId="{7530246B-CD1F-48F4-858C-8097AAD71DA6}" srcId="{46A402AB-482E-4A3B-AD0F-4D3ED503E73D}" destId="{AA154D18-5D24-4807-96E2-9A52EC48C48C}" srcOrd="1" destOrd="0" parTransId="{43B032A5-B5A2-4DBE-8628-D46E05B08036}" sibTransId="{80A8A252-9561-4085-B093-3335E6F63BD0}"/>
    <dgm:cxn modelId="{01C74F77-777C-4D46-998A-E73E34EEBF06}" type="presOf" srcId="{DF2539BF-ECFD-4D19-B1FD-3CF34687BFAA}" destId="{89CB2E48-EA5F-4182-941A-E5FD75DF9125}" srcOrd="0" destOrd="0" presId="urn:microsoft.com/office/officeart/2016/7/layout/VerticalHollowActionList"/>
    <dgm:cxn modelId="{D40AA37D-AD82-4D68-B055-FDFD1C84D979}" srcId="{DF2539BF-ECFD-4D19-B1FD-3CF34687BFAA}" destId="{EAC0FD1F-6323-4049-BE17-7408355A8E8B}" srcOrd="0" destOrd="0" parTransId="{148C1EAF-0AA7-4DB6-B930-EE4C6E42453A}" sibTransId="{A96C2FCB-F03D-40BF-B2C1-5D314AE9F0AF}"/>
    <dgm:cxn modelId="{F72C00B6-8E7B-4AE7-99CC-CC1E9D5B5FD3}" srcId="{B4969A6F-3307-4785-AED5-6CBD84D27C95}" destId="{5DD7CF86-7595-4212-BAA6-BB076A985464}" srcOrd="0" destOrd="0" parTransId="{ED9D80EC-E1F3-469D-913F-934879D71957}" sibTransId="{4B4BAA0B-641F-45C2-9735-3161842D56F1}"/>
    <dgm:cxn modelId="{04C19CBD-A722-490E-8945-B81291924AF7}" type="presOf" srcId="{E7868E07-C51B-4A0D-AA09-49BAB1B633C2}" destId="{A1844ACF-8A99-4FBE-84D0-52B10C9EF874}" srcOrd="0" destOrd="0" presId="urn:microsoft.com/office/officeart/2016/7/layout/VerticalHollowActionList"/>
    <dgm:cxn modelId="{E0FB9EBF-D031-4C1D-8657-DC743584C30C}" srcId="{46A402AB-482E-4A3B-AD0F-4D3ED503E73D}" destId="{DF2539BF-ECFD-4D19-B1FD-3CF34687BFAA}" srcOrd="2" destOrd="0" parTransId="{8A837632-AB5D-411B-B33E-981766561B1C}" sibTransId="{64599115-86B0-441E-9E4D-BA1999BC6E7A}"/>
    <dgm:cxn modelId="{1D9CFAC1-E12C-4AEE-816C-8AC523F6A19E}" type="presOf" srcId="{AA154D18-5D24-4807-96E2-9A52EC48C48C}" destId="{034748C9-AFC1-4AFA-8C68-1C0E08D72D0C}" srcOrd="0" destOrd="0" presId="urn:microsoft.com/office/officeart/2016/7/layout/VerticalHollowActionList"/>
    <dgm:cxn modelId="{AA0CDFD7-D47B-4464-BF40-935205C7D065}" type="presOf" srcId="{EAC0FD1F-6323-4049-BE17-7408355A8E8B}" destId="{4E464B8E-005B-4DA7-995D-04B1827538FE}" srcOrd="0" destOrd="0" presId="urn:microsoft.com/office/officeart/2016/7/layout/VerticalHollowActionList"/>
    <dgm:cxn modelId="{8953D9E1-4CF4-439F-9687-C8222BFB97C9}" type="presOf" srcId="{46A402AB-482E-4A3B-AD0F-4D3ED503E73D}" destId="{4F01DAC7-B8C5-4ABA-B6FD-C9E155B604E5}" srcOrd="0" destOrd="0" presId="urn:microsoft.com/office/officeart/2016/7/layout/VerticalHollowActionList"/>
    <dgm:cxn modelId="{17784EF6-F130-4F54-BC19-CA5679BD17E3}" srcId="{AA154D18-5D24-4807-96E2-9A52EC48C48C}" destId="{841DABCA-EC5D-4A41-8784-769BD8461814}" srcOrd="0" destOrd="0" parTransId="{4C166200-836D-431B-9921-D8D81FC3E478}" sibTransId="{8CC2580C-B34F-4881-A76B-A9ABA147A3E3}"/>
    <dgm:cxn modelId="{49A4B991-9195-47D4-AB18-49C781E8C169}" type="presParOf" srcId="{4F01DAC7-B8C5-4ABA-B6FD-C9E155B604E5}" destId="{8F070CA3-2DAA-46F0-9F9B-C79C44B50711}" srcOrd="0" destOrd="0" presId="urn:microsoft.com/office/officeart/2016/7/layout/VerticalHollowActionList"/>
    <dgm:cxn modelId="{1F144ADF-2D00-4BB9-9EDB-F294FC75223E}" type="presParOf" srcId="{8F070CA3-2DAA-46F0-9F9B-C79C44B50711}" destId="{506A2EF7-7642-4655-96EE-69C7DA606B97}" srcOrd="0" destOrd="0" presId="urn:microsoft.com/office/officeart/2016/7/layout/VerticalHollowActionList"/>
    <dgm:cxn modelId="{3A0A3BF6-5183-4FA1-AC46-9FDF8E8A0234}" type="presParOf" srcId="{8F070CA3-2DAA-46F0-9F9B-C79C44B50711}" destId="{0F7DC5CA-8AF6-4293-9039-C6C8DBEA7F23}" srcOrd="1" destOrd="0" presId="urn:microsoft.com/office/officeart/2016/7/layout/VerticalHollowActionList"/>
    <dgm:cxn modelId="{0D8C6AC5-2AEA-44D5-B834-C9130EF9F7F1}" type="presParOf" srcId="{4F01DAC7-B8C5-4ABA-B6FD-C9E155B604E5}" destId="{EEDBF191-9528-4360-AE17-514BE87548F0}" srcOrd="1" destOrd="0" presId="urn:microsoft.com/office/officeart/2016/7/layout/VerticalHollowActionList"/>
    <dgm:cxn modelId="{7D166CEA-0D97-4878-8782-A190E92F883A}" type="presParOf" srcId="{4F01DAC7-B8C5-4ABA-B6FD-C9E155B604E5}" destId="{2C154B95-1DD0-40B4-B13E-713D32200777}" srcOrd="2" destOrd="0" presId="urn:microsoft.com/office/officeart/2016/7/layout/VerticalHollowActionList"/>
    <dgm:cxn modelId="{7F8CEDB3-7A67-4DE2-A498-31C9F7F447E8}" type="presParOf" srcId="{2C154B95-1DD0-40B4-B13E-713D32200777}" destId="{034748C9-AFC1-4AFA-8C68-1C0E08D72D0C}" srcOrd="0" destOrd="0" presId="urn:microsoft.com/office/officeart/2016/7/layout/VerticalHollowActionList"/>
    <dgm:cxn modelId="{CE615149-F4AB-4DBB-93D5-70A251C5C35C}" type="presParOf" srcId="{2C154B95-1DD0-40B4-B13E-713D32200777}" destId="{F02944BF-C00B-4E02-B509-16776C838DF3}" srcOrd="1" destOrd="0" presId="urn:microsoft.com/office/officeart/2016/7/layout/VerticalHollowActionList"/>
    <dgm:cxn modelId="{3260E272-91E0-4991-AEBE-4188777E49EA}" type="presParOf" srcId="{4F01DAC7-B8C5-4ABA-B6FD-C9E155B604E5}" destId="{A1826A18-8728-426A-BFA4-887D21F76786}" srcOrd="3" destOrd="0" presId="urn:microsoft.com/office/officeart/2016/7/layout/VerticalHollowActionList"/>
    <dgm:cxn modelId="{65A18373-9746-4903-A608-D729F771162F}" type="presParOf" srcId="{4F01DAC7-B8C5-4ABA-B6FD-C9E155B604E5}" destId="{F451C521-0E50-4AEB-B15B-DBBAD39021B5}" srcOrd="4" destOrd="0" presId="urn:microsoft.com/office/officeart/2016/7/layout/VerticalHollowActionList"/>
    <dgm:cxn modelId="{D4773FC0-9B57-46CB-8F02-061C4C382A7D}" type="presParOf" srcId="{F451C521-0E50-4AEB-B15B-DBBAD39021B5}" destId="{89CB2E48-EA5F-4182-941A-E5FD75DF9125}" srcOrd="0" destOrd="0" presId="urn:microsoft.com/office/officeart/2016/7/layout/VerticalHollowActionList"/>
    <dgm:cxn modelId="{CDED0CE4-D1CB-44F0-A7D2-1303BE6524D7}" type="presParOf" srcId="{F451C521-0E50-4AEB-B15B-DBBAD39021B5}" destId="{4E464B8E-005B-4DA7-995D-04B1827538FE}" srcOrd="1" destOrd="0" presId="urn:microsoft.com/office/officeart/2016/7/layout/VerticalHollowActionList"/>
    <dgm:cxn modelId="{03442D98-E9E0-4D20-979A-925C2AA887E4}" type="presParOf" srcId="{4F01DAC7-B8C5-4ABA-B6FD-C9E155B604E5}" destId="{9E22F202-99E0-423E-BAD5-2C13302F73AB}" srcOrd="5" destOrd="0" presId="urn:microsoft.com/office/officeart/2016/7/layout/VerticalHollowActionList"/>
    <dgm:cxn modelId="{7B3E8A93-54BC-4FBE-8498-1290D5DC5D85}" type="presParOf" srcId="{4F01DAC7-B8C5-4ABA-B6FD-C9E155B604E5}" destId="{351C6445-D57D-4D09-8407-2650ED17A50E}" srcOrd="6" destOrd="0" presId="urn:microsoft.com/office/officeart/2016/7/layout/VerticalHollowActionList"/>
    <dgm:cxn modelId="{C054D0B5-29EA-42B4-807B-9824E535AEC5}" type="presParOf" srcId="{351C6445-D57D-4D09-8407-2650ED17A50E}" destId="{73DEF9B5-7B5A-46D3-8B04-F7D5118FCA91}" srcOrd="0" destOrd="0" presId="urn:microsoft.com/office/officeart/2016/7/layout/VerticalHollowActionList"/>
    <dgm:cxn modelId="{ED47DADE-DC01-453E-B7E3-AB0C719EDC5C}" type="presParOf" srcId="{351C6445-D57D-4D09-8407-2650ED17A50E}" destId="{A1844ACF-8A99-4FBE-84D0-52B10C9EF874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E19B58-C82F-4AD2-834E-CF6F97AA594D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E0E9A03-94A2-44BB-98FA-0909C6830B48}">
      <dgm:prSet/>
      <dgm:spPr/>
      <dgm:t>
        <a:bodyPr/>
        <a:lstStyle/>
        <a:p>
          <a:r>
            <a:rPr lang="en-US" dirty="0"/>
            <a:t>Starting the year in April 2024 with 319, we have worked hard as a service to reduce the number of people waiting to 250 by the end of March 2025</a:t>
          </a:r>
          <a:r>
            <a:rPr lang="en-US"/>
            <a:t>, which is an </a:t>
          </a:r>
          <a:r>
            <a:rPr lang="en-US" dirty="0"/>
            <a:t>overall reduction of nearly 22% with most people now being seen within 28 days. </a:t>
          </a:r>
        </a:p>
      </dgm:t>
    </dgm:pt>
    <dgm:pt modelId="{C8434BAA-C0D2-4938-A356-E327ED09D84F}" type="parTrans" cxnId="{1A8DE184-B957-4903-9DF7-3BE5CB5D27E8}">
      <dgm:prSet/>
      <dgm:spPr/>
      <dgm:t>
        <a:bodyPr/>
        <a:lstStyle/>
        <a:p>
          <a:endParaRPr lang="en-US"/>
        </a:p>
      </dgm:t>
    </dgm:pt>
    <dgm:pt modelId="{F57605AB-3312-4010-8C9F-E2F0947676C2}" type="sibTrans" cxnId="{1A8DE184-B957-4903-9DF7-3BE5CB5D27E8}">
      <dgm:prSet/>
      <dgm:spPr/>
      <dgm:t>
        <a:bodyPr/>
        <a:lstStyle/>
        <a:p>
          <a:endParaRPr lang="en-US"/>
        </a:p>
      </dgm:t>
    </dgm:pt>
    <dgm:pt modelId="{C75B8813-023D-4700-BCFE-98240846686A}">
      <dgm:prSet/>
      <dgm:spPr/>
      <dgm:t>
        <a:bodyPr/>
        <a:lstStyle/>
        <a:p>
          <a:r>
            <a:rPr lang="en-US" dirty="0"/>
            <a:t>During 2024/25, 5,217 people were supported  by MIS Enablement and by listening and understanding what was important to them 5,008 (96%) of those people did not require any further social care intervention.</a:t>
          </a:r>
        </a:p>
      </dgm:t>
    </dgm:pt>
    <dgm:pt modelId="{1567B292-68F1-4A9B-9206-10469D1D318D}" type="parTrans" cxnId="{D3E641D0-4CC4-4477-B002-44F46AE4E8E7}">
      <dgm:prSet/>
      <dgm:spPr/>
      <dgm:t>
        <a:bodyPr/>
        <a:lstStyle/>
        <a:p>
          <a:endParaRPr lang="en-US"/>
        </a:p>
      </dgm:t>
    </dgm:pt>
    <dgm:pt modelId="{035DE005-D6BF-46DB-BD5B-9BE9AA8951ED}" type="sibTrans" cxnId="{D3E641D0-4CC4-4477-B002-44F46AE4E8E7}">
      <dgm:prSet/>
      <dgm:spPr/>
      <dgm:t>
        <a:bodyPr/>
        <a:lstStyle/>
        <a:p>
          <a:endParaRPr lang="en-US"/>
        </a:p>
      </dgm:t>
    </dgm:pt>
    <dgm:pt modelId="{C410C9E1-B1EA-4F1C-B93D-DF6C13B9F0B3}">
      <dgm:prSet/>
      <dgm:spPr/>
      <dgm:t>
        <a:bodyPr/>
        <a:lstStyle/>
        <a:p>
          <a:r>
            <a:rPr lang="en-US" dirty="0"/>
            <a:t>During 2024/25, 795 programs of PIW enablement were completed. Out of those, 666 either fully or partially achieved their goals (83.7%)</a:t>
          </a:r>
        </a:p>
      </dgm:t>
    </dgm:pt>
    <dgm:pt modelId="{FACC6363-8E32-4527-818A-BB2430E600AC}" type="parTrans" cxnId="{24A011DD-9C78-4D70-A277-46F0F9658875}">
      <dgm:prSet/>
      <dgm:spPr/>
      <dgm:t>
        <a:bodyPr/>
        <a:lstStyle/>
        <a:p>
          <a:endParaRPr lang="en-US"/>
        </a:p>
      </dgm:t>
    </dgm:pt>
    <dgm:pt modelId="{7F85A62D-A521-480A-BAD7-097650739CF2}" type="sibTrans" cxnId="{24A011DD-9C78-4D70-A277-46F0F9658875}">
      <dgm:prSet/>
      <dgm:spPr/>
      <dgm:t>
        <a:bodyPr/>
        <a:lstStyle/>
        <a:p>
          <a:endParaRPr lang="en-US"/>
        </a:p>
      </dgm:t>
    </dgm:pt>
    <dgm:pt modelId="{5B7EDCDF-A2A2-4195-AF4B-8B6F2D1C3140}" type="pres">
      <dgm:prSet presAssocID="{C8E19B58-C82F-4AD2-834E-CF6F97AA594D}" presName="Name0" presStyleCnt="0">
        <dgm:presLayoutVars>
          <dgm:dir/>
          <dgm:resizeHandles val="exact"/>
        </dgm:presLayoutVars>
      </dgm:prSet>
      <dgm:spPr/>
    </dgm:pt>
    <dgm:pt modelId="{CDC670A6-FF6D-4A93-BFCB-8457000934C3}" type="pres">
      <dgm:prSet presAssocID="{FE0E9A03-94A2-44BB-98FA-0909C6830B48}" presName="node" presStyleLbl="node1" presStyleIdx="0" presStyleCnt="3" custScaleY="121011">
        <dgm:presLayoutVars>
          <dgm:bulletEnabled val="1"/>
        </dgm:presLayoutVars>
      </dgm:prSet>
      <dgm:spPr/>
    </dgm:pt>
    <dgm:pt modelId="{17CC20ED-2F25-4A48-82E4-0B3D5326C6C1}" type="pres">
      <dgm:prSet presAssocID="{F57605AB-3312-4010-8C9F-E2F0947676C2}" presName="sibTrans" presStyleLbl="sibTrans1D1" presStyleIdx="0" presStyleCnt="2"/>
      <dgm:spPr/>
    </dgm:pt>
    <dgm:pt modelId="{42831D64-54A1-46A4-A7BA-B3DC0682B6A0}" type="pres">
      <dgm:prSet presAssocID="{F57605AB-3312-4010-8C9F-E2F0947676C2}" presName="connectorText" presStyleLbl="sibTrans1D1" presStyleIdx="0" presStyleCnt="2"/>
      <dgm:spPr/>
    </dgm:pt>
    <dgm:pt modelId="{8D14EEDA-88BF-406F-9ABE-8AD4E84E5952}" type="pres">
      <dgm:prSet presAssocID="{C75B8813-023D-4700-BCFE-98240846686A}" presName="node" presStyleLbl="node1" presStyleIdx="1" presStyleCnt="3" custScaleY="121011">
        <dgm:presLayoutVars>
          <dgm:bulletEnabled val="1"/>
        </dgm:presLayoutVars>
      </dgm:prSet>
      <dgm:spPr/>
    </dgm:pt>
    <dgm:pt modelId="{D4A1BAA8-486F-4296-B6A8-6B5D108F6BD5}" type="pres">
      <dgm:prSet presAssocID="{035DE005-D6BF-46DB-BD5B-9BE9AA8951ED}" presName="sibTrans" presStyleLbl="sibTrans1D1" presStyleIdx="1" presStyleCnt="2"/>
      <dgm:spPr/>
    </dgm:pt>
    <dgm:pt modelId="{9E3A6612-DBAB-4F72-92DA-395D6ABBBA04}" type="pres">
      <dgm:prSet presAssocID="{035DE005-D6BF-46DB-BD5B-9BE9AA8951ED}" presName="connectorText" presStyleLbl="sibTrans1D1" presStyleIdx="1" presStyleCnt="2"/>
      <dgm:spPr/>
    </dgm:pt>
    <dgm:pt modelId="{B9DF3405-A506-44AD-8A5C-71D4DAF99BD4}" type="pres">
      <dgm:prSet presAssocID="{C410C9E1-B1EA-4F1C-B93D-DF6C13B9F0B3}" presName="node" presStyleLbl="node1" presStyleIdx="2" presStyleCnt="3" custScaleY="119727">
        <dgm:presLayoutVars>
          <dgm:bulletEnabled val="1"/>
        </dgm:presLayoutVars>
      </dgm:prSet>
      <dgm:spPr/>
    </dgm:pt>
  </dgm:ptLst>
  <dgm:cxnLst>
    <dgm:cxn modelId="{1283A62A-7C8D-47C6-B838-8ACC6FCD3BB9}" type="presOf" srcId="{F57605AB-3312-4010-8C9F-E2F0947676C2}" destId="{42831D64-54A1-46A4-A7BA-B3DC0682B6A0}" srcOrd="1" destOrd="0" presId="urn:microsoft.com/office/officeart/2016/7/layout/RepeatingBendingProcessNew"/>
    <dgm:cxn modelId="{169A2139-98D7-4419-A270-E8641955062D}" type="presOf" srcId="{FE0E9A03-94A2-44BB-98FA-0909C6830B48}" destId="{CDC670A6-FF6D-4A93-BFCB-8457000934C3}" srcOrd="0" destOrd="0" presId="urn:microsoft.com/office/officeart/2016/7/layout/RepeatingBendingProcessNew"/>
    <dgm:cxn modelId="{00ABE35C-F2DE-4530-BA83-99C0D25C0677}" type="presOf" srcId="{C410C9E1-B1EA-4F1C-B93D-DF6C13B9F0B3}" destId="{B9DF3405-A506-44AD-8A5C-71D4DAF99BD4}" srcOrd="0" destOrd="0" presId="urn:microsoft.com/office/officeart/2016/7/layout/RepeatingBendingProcessNew"/>
    <dgm:cxn modelId="{A5E2F266-177F-4169-A4A6-EBC598724F1A}" type="presOf" srcId="{C8E19B58-C82F-4AD2-834E-CF6F97AA594D}" destId="{5B7EDCDF-A2A2-4195-AF4B-8B6F2D1C3140}" srcOrd="0" destOrd="0" presId="urn:microsoft.com/office/officeart/2016/7/layout/RepeatingBendingProcessNew"/>
    <dgm:cxn modelId="{3A153955-2A3E-4873-BE0E-A56CAC451A85}" type="presOf" srcId="{035DE005-D6BF-46DB-BD5B-9BE9AA8951ED}" destId="{9E3A6612-DBAB-4F72-92DA-395D6ABBBA04}" srcOrd="1" destOrd="0" presId="urn:microsoft.com/office/officeart/2016/7/layout/RepeatingBendingProcessNew"/>
    <dgm:cxn modelId="{1A8DE184-B957-4903-9DF7-3BE5CB5D27E8}" srcId="{C8E19B58-C82F-4AD2-834E-CF6F97AA594D}" destId="{FE0E9A03-94A2-44BB-98FA-0909C6830B48}" srcOrd="0" destOrd="0" parTransId="{C8434BAA-C0D2-4938-A356-E327ED09D84F}" sibTransId="{F57605AB-3312-4010-8C9F-E2F0947676C2}"/>
    <dgm:cxn modelId="{0A9CAE9F-9B45-4B31-AA2B-3C68656EB6F0}" type="presOf" srcId="{035DE005-D6BF-46DB-BD5B-9BE9AA8951ED}" destId="{D4A1BAA8-486F-4296-B6A8-6B5D108F6BD5}" srcOrd="0" destOrd="0" presId="urn:microsoft.com/office/officeart/2016/7/layout/RepeatingBendingProcessNew"/>
    <dgm:cxn modelId="{D3E641D0-4CC4-4477-B002-44F46AE4E8E7}" srcId="{C8E19B58-C82F-4AD2-834E-CF6F97AA594D}" destId="{C75B8813-023D-4700-BCFE-98240846686A}" srcOrd="1" destOrd="0" parTransId="{1567B292-68F1-4A9B-9206-10469D1D318D}" sibTransId="{035DE005-D6BF-46DB-BD5B-9BE9AA8951ED}"/>
    <dgm:cxn modelId="{69CA76DC-A8F6-4860-81A2-4EC721CC7324}" type="presOf" srcId="{F57605AB-3312-4010-8C9F-E2F0947676C2}" destId="{17CC20ED-2F25-4A48-82E4-0B3D5326C6C1}" srcOrd="0" destOrd="0" presId="urn:microsoft.com/office/officeart/2016/7/layout/RepeatingBendingProcessNew"/>
    <dgm:cxn modelId="{24A011DD-9C78-4D70-A277-46F0F9658875}" srcId="{C8E19B58-C82F-4AD2-834E-CF6F97AA594D}" destId="{C410C9E1-B1EA-4F1C-B93D-DF6C13B9F0B3}" srcOrd="2" destOrd="0" parTransId="{FACC6363-8E32-4527-818A-BB2430E600AC}" sibTransId="{7F85A62D-A521-480A-BAD7-097650739CF2}"/>
    <dgm:cxn modelId="{AC1BD1F4-777B-44FB-8F6F-C386E4454999}" type="presOf" srcId="{C75B8813-023D-4700-BCFE-98240846686A}" destId="{8D14EEDA-88BF-406F-9ABE-8AD4E84E5952}" srcOrd="0" destOrd="0" presId="urn:microsoft.com/office/officeart/2016/7/layout/RepeatingBendingProcessNew"/>
    <dgm:cxn modelId="{87A25D97-624D-4659-87F2-2CA6EE916743}" type="presParOf" srcId="{5B7EDCDF-A2A2-4195-AF4B-8B6F2D1C3140}" destId="{CDC670A6-FF6D-4A93-BFCB-8457000934C3}" srcOrd="0" destOrd="0" presId="urn:microsoft.com/office/officeart/2016/7/layout/RepeatingBendingProcessNew"/>
    <dgm:cxn modelId="{277F5F22-CBD8-4C2C-9AD7-74A445D6A71D}" type="presParOf" srcId="{5B7EDCDF-A2A2-4195-AF4B-8B6F2D1C3140}" destId="{17CC20ED-2F25-4A48-82E4-0B3D5326C6C1}" srcOrd="1" destOrd="0" presId="urn:microsoft.com/office/officeart/2016/7/layout/RepeatingBendingProcessNew"/>
    <dgm:cxn modelId="{A56EDB58-99F0-4D77-A8D7-661108AB1089}" type="presParOf" srcId="{17CC20ED-2F25-4A48-82E4-0B3D5326C6C1}" destId="{42831D64-54A1-46A4-A7BA-B3DC0682B6A0}" srcOrd="0" destOrd="0" presId="urn:microsoft.com/office/officeart/2016/7/layout/RepeatingBendingProcessNew"/>
    <dgm:cxn modelId="{F7E9876D-DBD7-49B5-9C6F-77CE1E4BE4EF}" type="presParOf" srcId="{5B7EDCDF-A2A2-4195-AF4B-8B6F2D1C3140}" destId="{8D14EEDA-88BF-406F-9ABE-8AD4E84E5952}" srcOrd="2" destOrd="0" presId="urn:microsoft.com/office/officeart/2016/7/layout/RepeatingBendingProcessNew"/>
    <dgm:cxn modelId="{70EA4E70-F552-4FC0-A585-55CCCD91941F}" type="presParOf" srcId="{5B7EDCDF-A2A2-4195-AF4B-8B6F2D1C3140}" destId="{D4A1BAA8-486F-4296-B6A8-6B5D108F6BD5}" srcOrd="3" destOrd="0" presId="urn:microsoft.com/office/officeart/2016/7/layout/RepeatingBendingProcessNew"/>
    <dgm:cxn modelId="{FFC88E8B-F3B2-4EFD-A907-5C027F977DB4}" type="presParOf" srcId="{D4A1BAA8-486F-4296-B6A8-6B5D108F6BD5}" destId="{9E3A6612-DBAB-4F72-92DA-395D6ABBBA04}" srcOrd="0" destOrd="0" presId="urn:microsoft.com/office/officeart/2016/7/layout/RepeatingBendingProcessNew"/>
    <dgm:cxn modelId="{B6F74614-229D-4724-9A89-50D595FF4011}" type="presParOf" srcId="{5B7EDCDF-A2A2-4195-AF4B-8B6F2D1C3140}" destId="{B9DF3405-A506-44AD-8A5C-71D4DAF99BD4}" srcOrd="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9F114B-2846-4A80-A5CE-39911074E04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13274B-4EF2-4155-BF96-E47D351381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build on our success, explore more far reaching &amp; innovative solutions, always think outside the box</a:t>
          </a:r>
        </a:p>
      </dgm:t>
    </dgm:pt>
    <dgm:pt modelId="{609265B7-FAF7-41F3-A222-4037D8BE1AA8}" type="parTrans" cxnId="{F24DC480-60E2-4935-8349-8F86057C3A86}">
      <dgm:prSet/>
      <dgm:spPr/>
      <dgm:t>
        <a:bodyPr/>
        <a:lstStyle/>
        <a:p>
          <a:endParaRPr lang="en-US"/>
        </a:p>
      </dgm:t>
    </dgm:pt>
    <dgm:pt modelId="{64041C5D-CEF1-421E-A8BA-8AE7EA83E97F}" type="sibTrans" cxnId="{F24DC480-60E2-4935-8349-8F86057C3A86}">
      <dgm:prSet/>
      <dgm:spPr/>
      <dgm:t>
        <a:bodyPr/>
        <a:lstStyle/>
        <a:p>
          <a:endParaRPr lang="en-US"/>
        </a:p>
      </dgm:t>
    </dgm:pt>
    <dgm:pt modelId="{CD386288-EEB3-4394-A481-A807A3BDF3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develop our workforce, utilising huddles, collaborate and coproduce, develop champions, career opportunities, apprenticeships (OT and SW), secondments and shadowing. </a:t>
          </a:r>
        </a:p>
      </dgm:t>
    </dgm:pt>
    <dgm:pt modelId="{AE6FDA4B-451A-484B-86B0-1D99C5190C41}" type="parTrans" cxnId="{984848A2-B73D-4FBD-85A6-41D443C6B5F7}">
      <dgm:prSet/>
      <dgm:spPr/>
      <dgm:t>
        <a:bodyPr/>
        <a:lstStyle/>
        <a:p>
          <a:endParaRPr lang="en-US"/>
        </a:p>
      </dgm:t>
    </dgm:pt>
    <dgm:pt modelId="{8D54AB9D-F59F-45C8-AF9C-A24617AF84BB}" type="sibTrans" cxnId="{984848A2-B73D-4FBD-85A6-41D443C6B5F7}">
      <dgm:prSet/>
      <dgm:spPr/>
      <dgm:t>
        <a:bodyPr/>
        <a:lstStyle/>
        <a:p>
          <a:endParaRPr lang="en-US"/>
        </a:p>
      </dgm:t>
    </dgm:pt>
    <dgm:pt modelId="{0C378E79-29A1-4200-961B-74CD20F8959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To achieve consistency across the MIS enablement teams to ensure equity of offer. Understand any internal barriers to accessing enablement and highlight any missed opportunities identified.</a:t>
          </a:r>
          <a:endParaRPr lang="en-US" dirty="0"/>
        </a:p>
      </dgm:t>
    </dgm:pt>
    <dgm:pt modelId="{15DE309C-3BE6-4080-AF65-8A140BFC81F4}" type="parTrans" cxnId="{DEB92DC4-0797-4052-9DBD-8BB0ED71F70A}">
      <dgm:prSet/>
      <dgm:spPr/>
      <dgm:t>
        <a:bodyPr/>
        <a:lstStyle/>
        <a:p>
          <a:endParaRPr lang="en-US"/>
        </a:p>
      </dgm:t>
    </dgm:pt>
    <dgm:pt modelId="{791AA051-53FF-4F38-9269-7FB4F8D91F63}" type="sibTrans" cxnId="{DEB92DC4-0797-4052-9DBD-8BB0ED71F70A}">
      <dgm:prSet/>
      <dgm:spPr/>
      <dgm:t>
        <a:bodyPr/>
        <a:lstStyle/>
        <a:p>
          <a:endParaRPr lang="en-US"/>
        </a:p>
      </dgm:t>
    </dgm:pt>
    <dgm:pt modelId="{A263FE65-BAEC-4135-B79C-34D0EAFB4FD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Build on our existing knowledge &amp; skills and continue to achieve the best outcomes for the people that we work with</a:t>
          </a:r>
        </a:p>
        <a:p>
          <a:pPr>
            <a:lnSpc>
              <a:spcPct val="100000"/>
            </a:lnSpc>
          </a:pPr>
          <a:endParaRPr lang="en-US" dirty="0"/>
        </a:p>
      </dgm:t>
    </dgm:pt>
    <dgm:pt modelId="{E156F543-1F0E-4498-85BC-59AC9F632C20}" type="parTrans" cxnId="{09AE2239-6D75-427A-BE1E-BE74BB168549}">
      <dgm:prSet/>
      <dgm:spPr/>
      <dgm:t>
        <a:bodyPr/>
        <a:lstStyle/>
        <a:p>
          <a:endParaRPr lang="en-US"/>
        </a:p>
      </dgm:t>
    </dgm:pt>
    <dgm:pt modelId="{F468F0E3-999C-4E09-8D15-D57C51E9BDC9}" type="sibTrans" cxnId="{09AE2239-6D75-427A-BE1E-BE74BB168549}">
      <dgm:prSet/>
      <dgm:spPr/>
      <dgm:t>
        <a:bodyPr/>
        <a:lstStyle/>
        <a:p>
          <a:endParaRPr lang="en-US"/>
        </a:p>
      </dgm:t>
    </dgm:pt>
    <dgm:pt modelId="{6E1DE786-7FE1-46C4-87FE-6D1DD99706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Increase requests for promoting independence work (PIW) and ensure this is considered at the earliest opportunity, where it can have the most impact</a:t>
          </a:r>
        </a:p>
      </dgm:t>
    </dgm:pt>
    <dgm:pt modelId="{56843B55-4343-4553-A19D-264D6510FA9F}" type="sibTrans" cxnId="{D0BCAAFA-33FD-4D4E-886C-216D7EF55EC5}">
      <dgm:prSet/>
      <dgm:spPr/>
      <dgm:t>
        <a:bodyPr/>
        <a:lstStyle/>
        <a:p>
          <a:endParaRPr lang="en-US"/>
        </a:p>
      </dgm:t>
    </dgm:pt>
    <dgm:pt modelId="{857A4E94-791B-4D39-A814-061D163E07C6}" type="parTrans" cxnId="{D0BCAAFA-33FD-4D4E-886C-216D7EF55EC5}">
      <dgm:prSet/>
      <dgm:spPr/>
      <dgm:t>
        <a:bodyPr/>
        <a:lstStyle/>
        <a:p>
          <a:endParaRPr lang="en-US"/>
        </a:p>
      </dgm:t>
    </dgm:pt>
    <dgm:pt modelId="{A6BFCF85-04C3-4ED5-8884-4B5996C0254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Build better understanding of enablement (and reablement) across internal operational teams to ensure our offer is equitable to all who would benefit from it</a:t>
          </a:r>
          <a:endParaRPr lang="en-US" dirty="0"/>
        </a:p>
      </dgm:t>
    </dgm:pt>
    <dgm:pt modelId="{D64ECBAA-55F6-4421-9DBE-4C6655B51E01}" type="sibTrans" cxnId="{7A4809EE-7D1A-455E-A9C5-36ABB36B33C9}">
      <dgm:prSet/>
      <dgm:spPr/>
      <dgm:t>
        <a:bodyPr/>
        <a:lstStyle/>
        <a:p>
          <a:endParaRPr lang="en-US"/>
        </a:p>
      </dgm:t>
    </dgm:pt>
    <dgm:pt modelId="{84AC2D1C-6FF6-4A83-82AA-82DE9710F5DA}" type="parTrans" cxnId="{7A4809EE-7D1A-455E-A9C5-36ABB36B33C9}">
      <dgm:prSet/>
      <dgm:spPr/>
      <dgm:t>
        <a:bodyPr/>
        <a:lstStyle/>
        <a:p>
          <a:endParaRPr lang="en-US"/>
        </a:p>
      </dgm:t>
    </dgm:pt>
    <dgm:pt modelId="{C50F2FA5-A3C4-471A-AA70-9C43D25BBF08}" type="pres">
      <dgm:prSet presAssocID="{C39F114B-2846-4A80-A5CE-39911074E044}" presName="root" presStyleCnt="0">
        <dgm:presLayoutVars>
          <dgm:dir/>
          <dgm:resizeHandles val="exact"/>
        </dgm:presLayoutVars>
      </dgm:prSet>
      <dgm:spPr/>
    </dgm:pt>
    <dgm:pt modelId="{7BB1BF86-8FEE-4214-8920-34417F880193}" type="pres">
      <dgm:prSet presAssocID="{A6BFCF85-04C3-4ED5-8884-4B5996C0254E}" presName="compNode" presStyleCnt="0"/>
      <dgm:spPr/>
    </dgm:pt>
    <dgm:pt modelId="{28E7A767-5794-4070-892F-485568B0C844}" type="pres">
      <dgm:prSet presAssocID="{A6BFCF85-04C3-4ED5-8884-4B5996C0254E}" presName="bgRect" presStyleLbl="bgShp" presStyleIdx="0" presStyleCnt="6" custLinFactNeighborX="-38010" custLinFactNeighborY="-1265"/>
      <dgm:spPr/>
    </dgm:pt>
    <dgm:pt modelId="{225E750C-49AC-455E-A088-CCD838F5877B}" type="pres">
      <dgm:prSet presAssocID="{A6BFCF85-04C3-4ED5-8884-4B5996C0254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C96D9B55-F6F4-427E-B65B-F094972200EB}" type="pres">
      <dgm:prSet presAssocID="{A6BFCF85-04C3-4ED5-8884-4B5996C0254E}" presName="spaceRect" presStyleCnt="0"/>
      <dgm:spPr/>
    </dgm:pt>
    <dgm:pt modelId="{9CF05EE5-C82C-47D8-86D3-7A9F0CF3F568}" type="pres">
      <dgm:prSet presAssocID="{A6BFCF85-04C3-4ED5-8884-4B5996C0254E}" presName="parTx" presStyleLbl="revTx" presStyleIdx="0" presStyleCnt="6">
        <dgm:presLayoutVars>
          <dgm:chMax val="0"/>
          <dgm:chPref val="0"/>
        </dgm:presLayoutVars>
      </dgm:prSet>
      <dgm:spPr/>
    </dgm:pt>
    <dgm:pt modelId="{A2C0E4B1-4336-49DD-8C25-E15C7615D6EF}" type="pres">
      <dgm:prSet presAssocID="{D64ECBAA-55F6-4421-9DBE-4C6655B51E01}" presName="sibTrans" presStyleCnt="0"/>
      <dgm:spPr/>
    </dgm:pt>
    <dgm:pt modelId="{AC745F5B-3F95-473C-84DE-02D31E6D6F76}" type="pres">
      <dgm:prSet presAssocID="{6E1DE786-7FE1-46C4-87FE-6D1DD99706F6}" presName="compNode" presStyleCnt="0"/>
      <dgm:spPr/>
    </dgm:pt>
    <dgm:pt modelId="{B8EFE4B5-7E13-4BE8-A28C-075F7125DC0C}" type="pres">
      <dgm:prSet presAssocID="{6E1DE786-7FE1-46C4-87FE-6D1DD99706F6}" presName="bgRect" presStyleLbl="bgShp" presStyleIdx="1" presStyleCnt="6"/>
      <dgm:spPr/>
    </dgm:pt>
    <dgm:pt modelId="{A6907A25-AC7B-498A-A289-172FE88A59CD}" type="pres">
      <dgm:prSet presAssocID="{6E1DE786-7FE1-46C4-87FE-6D1DD99706F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9165F2A0-CBC6-4646-826B-A0F5B359A8AD}" type="pres">
      <dgm:prSet presAssocID="{6E1DE786-7FE1-46C4-87FE-6D1DD99706F6}" presName="spaceRect" presStyleCnt="0"/>
      <dgm:spPr/>
    </dgm:pt>
    <dgm:pt modelId="{59F6577D-CD1A-430F-9053-D070C497DBEE}" type="pres">
      <dgm:prSet presAssocID="{6E1DE786-7FE1-46C4-87FE-6D1DD99706F6}" presName="parTx" presStyleLbl="revTx" presStyleIdx="1" presStyleCnt="6">
        <dgm:presLayoutVars>
          <dgm:chMax val="0"/>
          <dgm:chPref val="0"/>
        </dgm:presLayoutVars>
      </dgm:prSet>
      <dgm:spPr/>
    </dgm:pt>
    <dgm:pt modelId="{E64308CB-E680-4B69-B1A1-5D03AD1C25B9}" type="pres">
      <dgm:prSet presAssocID="{56843B55-4343-4553-A19D-264D6510FA9F}" presName="sibTrans" presStyleCnt="0"/>
      <dgm:spPr/>
    </dgm:pt>
    <dgm:pt modelId="{5F5738BA-E0A3-43D9-907D-422A53D53BC8}" type="pres">
      <dgm:prSet presAssocID="{0E13274B-4EF2-4155-BF96-E47D35138102}" presName="compNode" presStyleCnt="0"/>
      <dgm:spPr/>
    </dgm:pt>
    <dgm:pt modelId="{FF90B4D7-D8C0-4348-98E1-B715458F8539}" type="pres">
      <dgm:prSet presAssocID="{0E13274B-4EF2-4155-BF96-E47D35138102}" presName="bgRect" presStyleLbl="bgShp" presStyleIdx="2" presStyleCnt="6"/>
      <dgm:spPr/>
    </dgm:pt>
    <dgm:pt modelId="{A5FFEB1F-9991-44C6-A7A8-D6BBEC913ADB}" type="pres">
      <dgm:prSet presAssocID="{0E13274B-4EF2-4155-BF96-E47D35138102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BBD09DEB-E899-4E52-98D3-0C49DA5E04DC}" type="pres">
      <dgm:prSet presAssocID="{0E13274B-4EF2-4155-BF96-E47D35138102}" presName="spaceRect" presStyleCnt="0"/>
      <dgm:spPr/>
    </dgm:pt>
    <dgm:pt modelId="{DB9B1E1C-9306-4539-AA36-2128D2D1432C}" type="pres">
      <dgm:prSet presAssocID="{0E13274B-4EF2-4155-BF96-E47D35138102}" presName="parTx" presStyleLbl="revTx" presStyleIdx="2" presStyleCnt="6">
        <dgm:presLayoutVars>
          <dgm:chMax val="0"/>
          <dgm:chPref val="0"/>
        </dgm:presLayoutVars>
      </dgm:prSet>
      <dgm:spPr/>
    </dgm:pt>
    <dgm:pt modelId="{E4759A49-B467-49CC-8EA9-F3098E901500}" type="pres">
      <dgm:prSet presAssocID="{64041C5D-CEF1-421E-A8BA-8AE7EA83E97F}" presName="sibTrans" presStyleCnt="0"/>
      <dgm:spPr/>
    </dgm:pt>
    <dgm:pt modelId="{9D87B6CA-819E-4458-8DF8-033A158CDC6D}" type="pres">
      <dgm:prSet presAssocID="{CD386288-EEB3-4394-A481-A807A3BDF3FF}" presName="compNode" presStyleCnt="0"/>
      <dgm:spPr/>
    </dgm:pt>
    <dgm:pt modelId="{CB43E1AB-7C2F-4491-9B7F-A4EF2B652591}" type="pres">
      <dgm:prSet presAssocID="{CD386288-EEB3-4394-A481-A807A3BDF3FF}" presName="bgRect" presStyleLbl="bgShp" presStyleIdx="3" presStyleCnt="6" custLinFactNeighborX="-7882" custLinFactNeighborY="-1489"/>
      <dgm:spPr/>
    </dgm:pt>
    <dgm:pt modelId="{B62B7567-D05C-46F3-BCA0-5C4FDE22DBB6}" type="pres">
      <dgm:prSet presAssocID="{CD386288-EEB3-4394-A481-A807A3BDF3F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92748EE0-8344-4C84-8532-6C7C1CA6037E}" type="pres">
      <dgm:prSet presAssocID="{CD386288-EEB3-4394-A481-A807A3BDF3FF}" presName="spaceRect" presStyleCnt="0"/>
      <dgm:spPr/>
    </dgm:pt>
    <dgm:pt modelId="{021EB72A-8C70-4C72-BB01-9347A8599146}" type="pres">
      <dgm:prSet presAssocID="{CD386288-EEB3-4394-A481-A807A3BDF3FF}" presName="parTx" presStyleLbl="revTx" presStyleIdx="3" presStyleCnt="6">
        <dgm:presLayoutVars>
          <dgm:chMax val="0"/>
          <dgm:chPref val="0"/>
        </dgm:presLayoutVars>
      </dgm:prSet>
      <dgm:spPr/>
    </dgm:pt>
    <dgm:pt modelId="{2F60C57C-07B1-41BE-A619-B9C0D9600823}" type="pres">
      <dgm:prSet presAssocID="{8D54AB9D-F59F-45C8-AF9C-A24617AF84BB}" presName="sibTrans" presStyleCnt="0"/>
      <dgm:spPr/>
    </dgm:pt>
    <dgm:pt modelId="{0F0EEE1F-7EAC-4A89-822D-3AA8AA63FA3B}" type="pres">
      <dgm:prSet presAssocID="{0C378E79-29A1-4200-961B-74CD20F89592}" presName="compNode" presStyleCnt="0"/>
      <dgm:spPr/>
    </dgm:pt>
    <dgm:pt modelId="{474A0F21-A2E4-4444-8347-D6F0C800DC2B}" type="pres">
      <dgm:prSet presAssocID="{0C378E79-29A1-4200-961B-74CD20F89592}" presName="bgRect" presStyleLbl="bgShp" presStyleIdx="4" presStyleCnt="6"/>
      <dgm:spPr/>
    </dgm:pt>
    <dgm:pt modelId="{EE232155-2A82-40D6-A448-7568CE59FA15}" type="pres">
      <dgm:prSet presAssocID="{0C378E79-29A1-4200-961B-74CD20F8959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 outline"/>
        </a:ext>
      </dgm:extLst>
    </dgm:pt>
    <dgm:pt modelId="{094E3328-4468-491B-9FCB-8909FFEDAC08}" type="pres">
      <dgm:prSet presAssocID="{0C378E79-29A1-4200-961B-74CD20F89592}" presName="spaceRect" presStyleCnt="0"/>
      <dgm:spPr/>
    </dgm:pt>
    <dgm:pt modelId="{3838E745-4B50-446B-86A4-B1BD8AEE6D99}" type="pres">
      <dgm:prSet presAssocID="{0C378E79-29A1-4200-961B-74CD20F89592}" presName="parTx" presStyleLbl="revTx" presStyleIdx="4" presStyleCnt="6">
        <dgm:presLayoutVars>
          <dgm:chMax val="0"/>
          <dgm:chPref val="0"/>
        </dgm:presLayoutVars>
      </dgm:prSet>
      <dgm:spPr/>
    </dgm:pt>
    <dgm:pt modelId="{F1CCFDF2-0A07-4A05-9C34-9C561DD43DDD}" type="pres">
      <dgm:prSet presAssocID="{791AA051-53FF-4F38-9269-7FB4F8D91F63}" presName="sibTrans" presStyleCnt="0"/>
      <dgm:spPr/>
    </dgm:pt>
    <dgm:pt modelId="{AA9D040D-ABED-4FEE-BDF8-95DECAE3D6F8}" type="pres">
      <dgm:prSet presAssocID="{A263FE65-BAEC-4135-B79C-34D0EAFB4FDF}" presName="compNode" presStyleCnt="0"/>
      <dgm:spPr/>
    </dgm:pt>
    <dgm:pt modelId="{E04B3BC5-335C-400B-B8CA-3AACFB162E5B}" type="pres">
      <dgm:prSet presAssocID="{A263FE65-BAEC-4135-B79C-34D0EAFB4FDF}" presName="bgRect" presStyleLbl="bgShp" presStyleIdx="5" presStyleCnt="6"/>
      <dgm:spPr/>
    </dgm:pt>
    <dgm:pt modelId="{F4F4A5B5-97A7-4CB5-BBC9-9A7C03C671D7}" type="pres">
      <dgm:prSet presAssocID="{A263FE65-BAEC-4135-B79C-34D0EAFB4FD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C88AC829-D56E-406E-8ADB-E9D414F6137A}" type="pres">
      <dgm:prSet presAssocID="{A263FE65-BAEC-4135-B79C-34D0EAFB4FDF}" presName="spaceRect" presStyleCnt="0"/>
      <dgm:spPr/>
    </dgm:pt>
    <dgm:pt modelId="{88BC6BEB-D1FF-4A8C-94BC-06275F069635}" type="pres">
      <dgm:prSet presAssocID="{A263FE65-BAEC-4135-B79C-34D0EAFB4FD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4C0CD18-ED35-4E5D-9B07-DE4CBF22B0C2}" type="presOf" srcId="{A6BFCF85-04C3-4ED5-8884-4B5996C0254E}" destId="{9CF05EE5-C82C-47D8-86D3-7A9F0CF3F568}" srcOrd="0" destOrd="0" presId="urn:microsoft.com/office/officeart/2018/2/layout/IconVerticalSolidList"/>
    <dgm:cxn modelId="{F8978625-79C5-4A31-99F4-236C6EE55A59}" type="presOf" srcId="{6E1DE786-7FE1-46C4-87FE-6D1DD99706F6}" destId="{59F6577D-CD1A-430F-9053-D070C497DBEE}" srcOrd="0" destOrd="0" presId="urn:microsoft.com/office/officeart/2018/2/layout/IconVerticalSolidList"/>
    <dgm:cxn modelId="{69798A31-6173-471B-A123-5AEDE1AF5509}" type="presOf" srcId="{C39F114B-2846-4A80-A5CE-39911074E044}" destId="{C50F2FA5-A3C4-471A-AA70-9C43D25BBF08}" srcOrd="0" destOrd="0" presId="urn:microsoft.com/office/officeart/2018/2/layout/IconVerticalSolidList"/>
    <dgm:cxn modelId="{09AE2239-6D75-427A-BE1E-BE74BB168549}" srcId="{C39F114B-2846-4A80-A5CE-39911074E044}" destId="{A263FE65-BAEC-4135-B79C-34D0EAFB4FDF}" srcOrd="5" destOrd="0" parTransId="{E156F543-1F0E-4498-85BC-59AC9F632C20}" sibTransId="{F468F0E3-999C-4E09-8D15-D57C51E9BDC9}"/>
    <dgm:cxn modelId="{ECDD727C-AF2F-4214-9616-5890911D48AD}" type="presOf" srcId="{A263FE65-BAEC-4135-B79C-34D0EAFB4FDF}" destId="{88BC6BEB-D1FF-4A8C-94BC-06275F069635}" srcOrd="0" destOrd="0" presId="urn:microsoft.com/office/officeart/2018/2/layout/IconVerticalSolidList"/>
    <dgm:cxn modelId="{F24DC480-60E2-4935-8349-8F86057C3A86}" srcId="{C39F114B-2846-4A80-A5CE-39911074E044}" destId="{0E13274B-4EF2-4155-BF96-E47D35138102}" srcOrd="2" destOrd="0" parTransId="{609265B7-FAF7-41F3-A222-4037D8BE1AA8}" sibTransId="{64041C5D-CEF1-421E-A8BA-8AE7EA83E97F}"/>
    <dgm:cxn modelId="{CB7C2CA1-DE8A-4330-92BA-8C4FB5D29483}" type="presOf" srcId="{0E13274B-4EF2-4155-BF96-E47D35138102}" destId="{DB9B1E1C-9306-4539-AA36-2128D2D1432C}" srcOrd="0" destOrd="0" presId="urn:microsoft.com/office/officeart/2018/2/layout/IconVerticalSolidList"/>
    <dgm:cxn modelId="{984848A2-B73D-4FBD-85A6-41D443C6B5F7}" srcId="{C39F114B-2846-4A80-A5CE-39911074E044}" destId="{CD386288-EEB3-4394-A481-A807A3BDF3FF}" srcOrd="3" destOrd="0" parTransId="{AE6FDA4B-451A-484B-86B0-1D99C5190C41}" sibTransId="{8D54AB9D-F59F-45C8-AF9C-A24617AF84BB}"/>
    <dgm:cxn modelId="{DEB92DC4-0797-4052-9DBD-8BB0ED71F70A}" srcId="{C39F114B-2846-4A80-A5CE-39911074E044}" destId="{0C378E79-29A1-4200-961B-74CD20F89592}" srcOrd="4" destOrd="0" parTransId="{15DE309C-3BE6-4080-AF65-8A140BFC81F4}" sibTransId="{791AA051-53FF-4F38-9269-7FB4F8D91F63}"/>
    <dgm:cxn modelId="{9739E1ED-54F1-49DB-8467-4F2361EA7C43}" type="presOf" srcId="{0C378E79-29A1-4200-961B-74CD20F89592}" destId="{3838E745-4B50-446B-86A4-B1BD8AEE6D99}" srcOrd="0" destOrd="0" presId="urn:microsoft.com/office/officeart/2018/2/layout/IconVerticalSolidList"/>
    <dgm:cxn modelId="{7A4809EE-7D1A-455E-A9C5-36ABB36B33C9}" srcId="{C39F114B-2846-4A80-A5CE-39911074E044}" destId="{A6BFCF85-04C3-4ED5-8884-4B5996C0254E}" srcOrd="0" destOrd="0" parTransId="{84AC2D1C-6FF6-4A83-82AA-82DE9710F5DA}" sibTransId="{D64ECBAA-55F6-4421-9DBE-4C6655B51E01}"/>
    <dgm:cxn modelId="{A9ABC8F6-2AC7-455F-863E-E66EADECC25D}" type="presOf" srcId="{CD386288-EEB3-4394-A481-A807A3BDF3FF}" destId="{021EB72A-8C70-4C72-BB01-9347A8599146}" srcOrd="0" destOrd="0" presId="urn:microsoft.com/office/officeart/2018/2/layout/IconVerticalSolidList"/>
    <dgm:cxn modelId="{D0BCAAFA-33FD-4D4E-886C-216D7EF55EC5}" srcId="{C39F114B-2846-4A80-A5CE-39911074E044}" destId="{6E1DE786-7FE1-46C4-87FE-6D1DD99706F6}" srcOrd="1" destOrd="0" parTransId="{857A4E94-791B-4D39-A814-061D163E07C6}" sibTransId="{56843B55-4343-4553-A19D-264D6510FA9F}"/>
    <dgm:cxn modelId="{A74E1B25-A949-4B80-9F8D-CB86A0999759}" type="presParOf" srcId="{C50F2FA5-A3C4-471A-AA70-9C43D25BBF08}" destId="{7BB1BF86-8FEE-4214-8920-34417F880193}" srcOrd="0" destOrd="0" presId="urn:microsoft.com/office/officeart/2018/2/layout/IconVerticalSolidList"/>
    <dgm:cxn modelId="{81896DA9-794D-40EA-9D02-12989DBD10C0}" type="presParOf" srcId="{7BB1BF86-8FEE-4214-8920-34417F880193}" destId="{28E7A767-5794-4070-892F-485568B0C844}" srcOrd="0" destOrd="0" presId="urn:microsoft.com/office/officeart/2018/2/layout/IconVerticalSolidList"/>
    <dgm:cxn modelId="{FEC2511C-2DE0-47AB-94EA-F7C7B81130B1}" type="presParOf" srcId="{7BB1BF86-8FEE-4214-8920-34417F880193}" destId="{225E750C-49AC-455E-A088-CCD838F5877B}" srcOrd="1" destOrd="0" presId="urn:microsoft.com/office/officeart/2018/2/layout/IconVerticalSolidList"/>
    <dgm:cxn modelId="{B8E11FB1-AD77-491D-B897-F4F80D419265}" type="presParOf" srcId="{7BB1BF86-8FEE-4214-8920-34417F880193}" destId="{C96D9B55-F6F4-427E-B65B-F094972200EB}" srcOrd="2" destOrd="0" presId="urn:microsoft.com/office/officeart/2018/2/layout/IconVerticalSolidList"/>
    <dgm:cxn modelId="{84F307C2-DD14-4DAE-BB98-3CC57642EDF3}" type="presParOf" srcId="{7BB1BF86-8FEE-4214-8920-34417F880193}" destId="{9CF05EE5-C82C-47D8-86D3-7A9F0CF3F568}" srcOrd="3" destOrd="0" presId="urn:microsoft.com/office/officeart/2018/2/layout/IconVerticalSolidList"/>
    <dgm:cxn modelId="{89CD0448-05F8-4CA8-9535-99905D8FDECD}" type="presParOf" srcId="{C50F2FA5-A3C4-471A-AA70-9C43D25BBF08}" destId="{A2C0E4B1-4336-49DD-8C25-E15C7615D6EF}" srcOrd="1" destOrd="0" presId="urn:microsoft.com/office/officeart/2018/2/layout/IconVerticalSolidList"/>
    <dgm:cxn modelId="{6F5C4D40-C4FB-4AB8-B31C-47A03F9286E6}" type="presParOf" srcId="{C50F2FA5-A3C4-471A-AA70-9C43D25BBF08}" destId="{AC745F5B-3F95-473C-84DE-02D31E6D6F76}" srcOrd="2" destOrd="0" presId="urn:microsoft.com/office/officeart/2018/2/layout/IconVerticalSolidList"/>
    <dgm:cxn modelId="{C8C9405C-001F-4441-B4A5-466C36158352}" type="presParOf" srcId="{AC745F5B-3F95-473C-84DE-02D31E6D6F76}" destId="{B8EFE4B5-7E13-4BE8-A28C-075F7125DC0C}" srcOrd="0" destOrd="0" presId="urn:microsoft.com/office/officeart/2018/2/layout/IconVerticalSolidList"/>
    <dgm:cxn modelId="{7DB0DE4C-A7B4-4E3F-868B-79E16FA40109}" type="presParOf" srcId="{AC745F5B-3F95-473C-84DE-02D31E6D6F76}" destId="{A6907A25-AC7B-498A-A289-172FE88A59CD}" srcOrd="1" destOrd="0" presId="urn:microsoft.com/office/officeart/2018/2/layout/IconVerticalSolidList"/>
    <dgm:cxn modelId="{7A637C8E-6207-4894-9392-E0D23F6269DF}" type="presParOf" srcId="{AC745F5B-3F95-473C-84DE-02D31E6D6F76}" destId="{9165F2A0-CBC6-4646-826B-A0F5B359A8AD}" srcOrd="2" destOrd="0" presId="urn:microsoft.com/office/officeart/2018/2/layout/IconVerticalSolidList"/>
    <dgm:cxn modelId="{A255AB5A-6138-404B-9802-786E77A6A479}" type="presParOf" srcId="{AC745F5B-3F95-473C-84DE-02D31E6D6F76}" destId="{59F6577D-CD1A-430F-9053-D070C497DBEE}" srcOrd="3" destOrd="0" presId="urn:microsoft.com/office/officeart/2018/2/layout/IconVerticalSolidList"/>
    <dgm:cxn modelId="{B81FAA3B-8BED-4512-93B2-9FC9892538F0}" type="presParOf" srcId="{C50F2FA5-A3C4-471A-AA70-9C43D25BBF08}" destId="{E64308CB-E680-4B69-B1A1-5D03AD1C25B9}" srcOrd="3" destOrd="0" presId="urn:microsoft.com/office/officeart/2018/2/layout/IconVerticalSolidList"/>
    <dgm:cxn modelId="{54B64FBF-7B0D-40A1-BDD6-B583DE2D4B41}" type="presParOf" srcId="{C50F2FA5-A3C4-471A-AA70-9C43D25BBF08}" destId="{5F5738BA-E0A3-43D9-907D-422A53D53BC8}" srcOrd="4" destOrd="0" presId="urn:microsoft.com/office/officeart/2018/2/layout/IconVerticalSolidList"/>
    <dgm:cxn modelId="{2AB32B5B-A4B1-405E-90F2-E58F695DF0C3}" type="presParOf" srcId="{5F5738BA-E0A3-43D9-907D-422A53D53BC8}" destId="{FF90B4D7-D8C0-4348-98E1-B715458F8539}" srcOrd="0" destOrd="0" presId="urn:microsoft.com/office/officeart/2018/2/layout/IconVerticalSolidList"/>
    <dgm:cxn modelId="{BCFF9739-4546-4EA0-8731-713F9764AF0C}" type="presParOf" srcId="{5F5738BA-E0A3-43D9-907D-422A53D53BC8}" destId="{A5FFEB1F-9991-44C6-A7A8-D6BBEC913ADB}" srcOrd="1" destOrd="0" presId="urn:microsoft.com/office/officeart/2018/2/layout/IconVerticalSolidList"/>
    <dgm:cxn modelId="{C8CF4217-1391-41DD-A076-F04EA8E587D4}" type="presParOf" srcId="{5F5738BA-E0A3-43D9-907D-422A53D53BC8}" destId="{BBD09DEB-E899-4E52-98D3-0C49DA5E04DC}" srcOrd="2" destOrd="0" presId="urn:microsoft.com/office/officeart/2018/2/layout/IconVerticalSolidList"/>
    <dgm:cxn modelId="{0D2E53B1-C349-4205-BE32-F7FC98B038D4}" type="presParOf" srcId="{5F5738BA-E0A3-43D9-907D-422A53D53BC8}" destId="{DB9B1E1C-9306-4539-AA36-2128D2D1432C}" srcOrd="3" destOrd="0" presId="urn:microsoft.com/office/officeart/2018/2/layout/IconVerticalSolidList"/>
    <dgm:cxn modelId="{0A6A5490-F3EB-4BAF-8820-C471F1372542}" type="presParOf" srcId="{C50F2FA5-A3C4-471A-AA70-9C43D25BBF08}" destId="{E4759A49-B467-49CC-8EA9-F3098E901500}" srcOrd="5" destOrd="0" presId="urn:microsoft.com/office/officeart/2018/2/layout/IconVerticalSolidList"/>
    <dgm:cxn modelId="{503BA28C-7669-439C-8071-6096ABE50981}" type="presParOf" srcId="{C50F2FA5-A3C4-471A-AA70-9C43D25BBF08}" destId="{9D87B6CA-819E-4458-8DF8-033A158CDC6D}" srcOrd="6" destOrd="0" presId="urn:microsoft.com/office/officeart/2018/2/layout/IconVerticalSolidList"/>
    <dgm:cxn modelId="{111B2569-8D4B-4BBF-A1A7-67D8DBA778C1}" type="presParOf" srcId="{9D87B6CA-819E-4458-8DF8-033A158CDC6D}" destId="{CB43E1AB-7C2F-4491-9B7F-A4EF2B652591}" srcOrd="0" destOrd="0" presId="urn:microsoft.com/office/officeart/2018/2/layout/IconVerticalSolidList"/>
    <dgm:cxn modelId="{0A798EDE-EDF2-4726-914F-B4935821DF77}" type="presParOf" srcId="{9D87B6CA-819E-4458-8DF8-033A158CDC6D}" destId="{B62B7567-D05C-46F3-BCA0-5C4FDE22DBB6}" srcOrd="1" destOrd="0" presId="urn:microsoft.com/office/officeart/2018/2/layout/IconVerticalSolidList"/>
    <dgm:cxn modelId="{A099B520-63AC-4B65-A62F-8385CDE97F73}" type="presParOf" srcId="{9D87B6CA-819E-4458-8DF8-033A158CDC6D}" destId="{92748EE0-8344-4C84-8532-6C7C1CA6037E}" srcOrd="2" destOrd="0" presId="urn:microsoft.com/office/officeart/2018/2/layout/IconVerticalSolidList"/>
    <dgm:cxn modelId="{F9495292-75DD-4024-B912-50FCDEAB171C}" type="presParOf" srcId="{9D87B6CA-819E-4458-8DF8-033A158CDC6D}" destId="{021EB72A-8C70-4C72-BB01-9347A8599146}" srcOrd="3" destOrd="0" presId="urn:microsoft.com/office/officeart/2018/2/layout/IconVerticalSolidList"/>
    <dgm:cxn modelId="{A630D275-1E11-4694-95A2-EC794B78591D}" type="presParOf" srcId="{C50F2FA5-A3C4-471A-AA70-9C43D25BBF08}" destId="{2F60C57C-07B1-41BE-A619-B9C0D9600823}" srcOrd="7" destOrd="0" presId="urn:microsoft.com/office/officeart/2018/2/layout/IconVerticalSolidList"/>
    <dgm:cxn modelId="{60C0A8FA-24B4-4B8A-AB1A-105BA872F234}" type="presParOf" srcId="{C50F2FA5-A3C4-471A-AA70-9C43D25BBF08}" destId="{0F0EEE1F-7EAC-4A89-822D-3AA8AA63FA3B}" srcOrd="8" destOrd="0" presId="urn:microsoft.com/office/officeart/2018/2/layout/IconVerticalSolidList"/>
    <dgm:cxn modelId="{9AF87256-C21F-4A18-898E-E090153885BE}" type="presParOf" srcId="{0F0EEE1F-7EAC-4A89-822D-3AA8AA63FA3B}" destId="{474A0F21-A2E4-4444-8347-D6F0C800DC2B}" srcOrd="0" destOrd="0" presId="urn:microsoft.com/office/officeart/2018/2/layout/IconVerticalSolidList"/>
    <dgm:cxn modelId="{14CB9193-EC2B-4E30-8F05-5A16420DF9AF}" type="presParOf" srcId="{0F0EEE1F-7EAC-4A89-822D-3AA8AA63FA3B}" destId="{EE232155-2A82-40D6-A448-7568CE59FA15}" srcOrd="1" destOrd="0" presId="urn:microsoft.com/office/officeart/2018/2/layout/IconVerticalSolidList"/>
    <dgm:cxn modelId="{E39BB4CE-5510-4BFD-90F0-EAF27EB889F1}" type="presParOf" srcId="{0F0EEE1F-7EAC-4A89-822D-3AA8AA63FA3B}" destId="{094E3328-4468-491B-9FCB-8909FFEDAC08}" srcOrd="2" destOrd="0" presId="urn:microsoft.com/office/officeart/2018/2/layout/IconVerticalSolidList"/>
    <dgm:cxn modelId="{99A1AA94-08AE-4F22-AD89-3143F2137B5F}" type="presParOf" srcId="{0F0EEE1F-7EAC-4A89-822D-3AA8AA63FA3B}" destId="{3838E745-4B50-446B-86A4-B1BD8AEE6D99}" srcOrd="3" destOrd="0" presId="urn:microsoft.com/office/officeart/2018/2/layout/IconVerticalSolidList"/>
    <dgm:cxn modelId="{3D074D79-8950-4C56-9D28-D73605E21E6C}" type="presParOf" srcId="{C50F2FA5-A3C4-471A-AA70-9C43D25BBF08}" destId="{F1CCFDF2-0A07-4A05-9C34-9C561DD43DDD}" srcOrd="9" destOrd="0" presId="urn:microsoft.com/office/officeart/2018/2/layout/IconVerticalSolidList"/>
    <dgm:cxn modelId="{DC4C8447-48C2-458F-98E0-4A47EB5E8043}" type="presParOf" srcId="{C50F2FA5-A3C4-471A-AA70-9C43D25BBF08}" destId="{AA9D040D-ABED-4FEE-BDF8-95DECAE3D6F8}" srcOrd="10" destOrd="0" presId="urn:microsoft.com/office/officeart/2018/2/layout/IconVerticalSolidList"/>
    <dgm:cxn modelId="{0EC05AB4-8FF4-480B-8450-220D6AAEC4A4}" type="presParOf" srcId="{AA9D040D-ABED-4FEE-BDF8-95DECAE3D6F8}" destId="{E04B3BC5-335C-400B-B8CA-3AACFB162E5B}" srcOrd="0" destOrd="0" presId="urn:microsoft.com/office/officeart/2018/2/layout/IconVerticalSolidList"/>
    <dgm:cxn modelId="{A6E7073C-33CA-4D6E-AAF2-77DEAEAE49D9}" type="presParOf" srcId="{AA9D040D-ABED-4FEE-BDF8-95DECAE3D6F8}" destId="{F4F4A5B5-97A7-4CB5-BBC9-9A7C03C671D7}" srcOrd="1" destOrd="0" presId="urn:microsoft.com/office/officeart/2018/2/layout/IconVerticalSolidList"/>
    <dgm:cxn modelId="{D49E63D1-0A3B-45DB-A3F3-D6EF2BF656D3}" type="presParOf" srcId="{AA9D040D-ABED-4FEE-BDF8-95DECAE3D6F8}" destId="{C88AC829-D56E-406E-8ADB-E9D414F6137A}" srcOrd="2" destOrd="0" presId="urn:microsoft.com/office/officeart/2018/2/layout/IconVerticalSolidList"/>
    <dgm:cxn modelId="{4B696B0E-FA64-4750-A38D-81CB65E877DD}" type="presParOf" srcId="{AA9D040D-ABED-4FEE-BDF8-95DECAE3D6F8}" destId="{88BC6BEB-D1FF-4A8C-94BC-06275F06963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7DC5CA-8AF6-4293-9039-C6C8DBEA7F23}">
      <dsp:nvSpPr>
        <dsp:cNvPr id="0" name=""/>
        <dsp:cNvSpPr/>
      </dsp:nvSpPr>
      <dsp:spPr>
        <a:xfrm>
          <a:off x="2110740" y="2087"/>
          <a:ext cx="8442960" cy="10813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17" tIns="274669" rIns="163817" bIns="27466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Raise awareness of the power of enablement across the department and encourage operational teams to consider enablement at the earliest opportunity</a:t>
          </a:r>
        </a:p>
      </dsp:txBody>
      <dsp:txXfrm>
        <a:off x="2110740" y="2087"/>
        <a:ext cx="8442960" cy="1081373"/>
      </dsp:txXfrm>
    </dsp:sp>
    <dsp:sp modelId="{506A2EF7-7642-4655-96EE-69C7DA606B97}">
      <dsp:nvSpPr>
        <dsp:cNvPr id="0" name=""/>
        <dsp:cNvSpPr/>
      </dsp:nvSpPr>
      <dsp:spPr>
        <a:xfrm>
          <a:off x="0" y="2087"/>
          <a:ext cx="2110740" cy="10813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693" tIns="106816" rIns="111693" bIns="1068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Raise</a:t>
          </a:r>
        </a:p>
      </dsp:txBody>
      <dsp:txXfrm>
        <a:off x="0" y="2087"/>
        <a:ext cx="2110740" cy="1081373"/>
      </dsp:txXfrm>
    </dsp:sp>
    <dsp:sp modelId="{F02944BF-C00B-4E02-B509-16776C838DF3}">
      <dsp:nvSpPr>
        <dsp:cNvPr id="0" name=""/>
        <dsp:cNvSpPr/>
      </dsp:nvSpPr>
      <dsp:spPr>
        <a:xfrm>
          <a:off x="2110740" y="1148343"/>
          <a:ext cx="8442960" cy="10813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17" tIns="274669" rIns="163817" bIns="27466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Build on our existing strengths &amp; achievements with creative solutions including knowledge of readily available technology such as Alexa, robot hoovers and other accessible digital solutions</a:t>
          </a:r>
        </a:p>
      </dsp:txBody>
      <dsp:txXfrm>
        <a:off x="2110740" y="1148343"/>
        <a:ext cx="8442960" cy="1081373"/>
      </dsp:txXfrm>
    </dsp:sp>
    <dsp:sp modelId="{034748C9-AFC1-4AFA-8C68-1C0E08D72D0C}">
      <dsp:nvSpPr>
        <dsp:cNvPr id="0" name=""/>
        <dsp:cNvSpPr/>
      </dsp:nvSpPr>
      <dsp:spPr>
        <a:xfrm>
          <a:off x="0" y="1148343"/>
          <a:ext cx="2110740" cy="10813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693" tIns="106816" rIns="111693" bIns="1068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Grow</a:t>
          </a:r>
        </a:p>
      </dsp:txBody>
      <dsp:txXfrm>
        <a:off x="0" y="1148343"/>
        <a:ext cx="2110740" cy="1081373"/>
      </dsp:txXfrm>
    </dsp:sp>
    <dsp:sp modelId="{4E464B8E-005B-4DA7-995D-04B1827538FE}">
      <dsp:nvSpPr>
        <dsp:cNvPr id="0" name=""/>
        <dsp:cNvSpPr/>
      </dsp:nvSpPr>
      <dsp:spPr>
        <a:xfrm>
          <a:off x="2110740" y="2294598"/>
          <a:ext cx="8442960" cy="10813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17" tIns="274669" rIns="163817" bIns="27466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Increase our use of the Padlet and wider communications to share good news stories and showcase our creative outcomes for people. Seek feedback from peoples experience of the service.</a:t>
          </a:r>
        </a:p>
      </dsp:txBody>
      <dsp:txXfrm>
        <a:off x="2110740" y="2294598"/>
        <a:ext cx="8442960" cy="1081373"/>
      </dsp:txXfrm>
    </dsp:sp>
    <dsp:sp modelId="{89CB2E48-EA5F-4182-941A-E5FD75DF9125}">
      <dsp:nvSpPr>
        <dsp:cNvPr id="0" name=""/>
        <dsp:cNvSpPr/>
      </dsp:nvSpPr>
      <dsp:spPr>
        <a:xfrm>
          <a:off x="0" y="2294598"/>
          <a:ext cx="2110740" cy="10813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693" tIns="106816" rIns="111693" bIns="1068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Increase</a:t>
          </a:r>
        </a:p>
      </dsp:txBody>
      <dsp:txXfrm>
        <a:off x="0" y="2294598"/>
        <a:ext cx="2110740" cy="1081373"/>
      </dsp:txXfrm>
    </dsp:sp>
    <dsp:sp modelId="{A1844ACF-8A99-4FBE-84D0-52B10C9EF874}">
      <dsp:nvSpPr>
        <dsp:cNvPr id="0" name=""/>
        <dsp:cNvSpPr/>
      </dsp:nvSpPr>
      <dsp:spPr>
        <a:xfrm>
          <a:off x="2110740" y="3440854"/>
          <a:ext cx="8442960" cy="10813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17" tIns="274669" rIns="163817" bIns="274669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Further refine and streamline our capacity to ensure as many people as possible have access to timely enablement. </a:t>
          </a:r>
        </a:p>
      </dsp:txBody>
      <dsp:txXfrm>
        <a:off x="2110740" y="3440854"/>
        <a:ext cx="8442960" cy="1081373"/>
      </dsp:txXfrm>
    </dsp:sp>
    <dsp:sp modelId="{73DEF9B5-7B5A-46D3-8B04-F7D5118FCA91}">
      <dsp:nvSpPr>
        <dsp:cNvPr id="0" name=""/>
        <dsp:cNvSpPr/>
      </dsp:nvSpPr>
      <dsp:spPr>
        <a:xfrm>
          <a:off x="0" y="3440854"/>
          <a:ext cx="2110740" cy="108137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693" tIns="106816" rIns="111693" bIns="1068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Refine</a:t>
          </a:r>
        </a:p>
      </dsp:txBody>
      <dsp:txXfrm>
        <a:off x="0" y="3440854"/>
        <a:ext cx="2110740" cy="10813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CC20ED-2F25-4A48-82E4-0B3D5326C6C1}">
      <dsp:nvSpPr>
        <dsp:cNvPr id="0" name=""/>
        <dsp:cNvSpPr/>
      </dsp:nvSpPr>
      <dsp:spPr>
        <a:xfrm>
          <a:off x="3040792" y="246234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2504578"/>
        <a:ext cx="34897" cy="6979"/>
      </dsp:txXfrm>
    </dsp:sp>
    <dsp:sp modelId="{CDC670A6-FF6D-4A93-BFCB-8457000934C3}">
      <dsp:nvSpPr>
        <dsp:cNvPr id="0" name=""/>
        <dsp:cNvSpPr/>
      </dsp:nvSpPr>
      <dsp:spPr>
        <a:xfrm>
          <a:off x="8061" y="1406433"/>
          <a:ext cx="3034531" cy="220326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Starting the year in April 2024 with 319, we have worked hard as a service to reduce the number of people waiting to 250 by the end of March 2025</a:t>
          </a:r>
          <a:r>
            <a:rPr lang="en-US" sz="1400" kern="1200"/>
            <a:t>, which is an </a:t>
          </a:r>
          <a:r>
            <a:rPr lang="en-US" sz="1400" kern="1200" dirty="0"/>
            <a:t>overall reduction of nearly 22% with most people now being seen within 28 days. </a:t>
          </a:r>
        </a:p>
      </dsp:txBody>
      <dsp:txXfrm>
        <a:off x="8061" y="1406433"/>
        <a:ext cx="3034531" cy="2203269"/>
      </dsp:txXfrm>
    </dsp:sp>
    <dsp:sp modelId="{D4A1BAA8-486F-4296-B6A8-6B5D108F6BD5}">
      <dsp:nvSpPr>
        <dsp:cNvPr id="0" name=""/>
        <dsp:cNvSpPr/>
      </dsp:nvSpPr>
      <dsp:spPr>
        <a:xfrm>
          <a:off x="6773265" y="246234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2504578"/>
        <a:ext cx="34897" cy="6979"/>
      </dsp:txXfrm>
    </dsp:sp>
    <dsp:sp modelId="{8D14EEDA-88BF-406F-9ABE-8AD4E84E5952}">
      <dsp:nvSpPr>
        <dsp:cNvPr id="0" name=""/>
        <dsp:cNvSpPr/>
      </dsp:nvSpPr>
      <dsp:spPr>
        <a:xfrm>
          <a:off x="3740534" y="1406433"/>
          <a:ext cx="3034531" cy="220326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During 2024/25, 5,217 people were supported  by MIS Enablement and by listening and understanding what was important to them 5,008 (96%) of those people did not require any further social care intervention.</a:t>
          </a:r>
        </a:p>
      </dsp:txBody>
      <dsp:txXfrm>
        <a:off x="3740534" y="1406433"/>
        <a:ext cx="3034531" cy="2203269"/>
      </dsp:txXfrm>
    </dsp:sp>
    <dsp:sp modelId="{B9DF3405-A506-44AD-8A5C-71D4DAF99BD4}">
      <dsp:nvSpPr>
        <dsp:cNvPr id="0" name=""/>
        <dsp:cNvSpPr/>
      </dsp:nvSpPr>
      <dsp:spPr>
        <a:xfrm>
          <a:off x="7473007" y="1418122"/>
          <a:ext cx="3034531" cy="217989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During 2024/25, 795 programs of PIW enablement were completed. Out of those, 666 either fully or partially achieved their goals (83.7%)</a:t>
          </a:r>
        </a:p>
      </dsp:txBody>
      <dsp:txXfrm>
        <a:off x="7473007" y="1418122"/>
        <a:ext cx="3034531" cy="21798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7A767-5794-4070-892F-485568B0C844}">
      <dsp:nvSpPr>
        <dsp:cNvPr id="0" name=""/>
        <dsp:cNvSpPr/>
      </dsp:nvSpPr>
      <dsp:spPr>
        <a:xfrm>
          <a:off x="0" y="0"/>
          <a:ext cx="9833548" cy="6972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5E750C-49AC-455E-A088-CCD838F5877B}">
      <dsp:nvSpPr>
        <dsp:cNvPr id="0" name=""/>
        <dsp:cNvSpPr/>
      </dsp:nvSpPr>
      <dsp:spPr>
        <a:xfrm>
          <a:off x="210907" y="158509"/>
          <a:ext cx="383467" cy="3834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05EE5-C82C-47D8-86D3-7A9F0CF3F568}">
      <dsp:nvSpPr>
        <dsp:cNvPr id="0" name=""/>
        <dsp:cNvSpPr/>
      </dsp:nvSpPr>
      <dsp:spPr>
        <a:xfrm>
          <a:off x="805282" y="1636"/>
          <a:ext cx="9028265" cy="69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88" tIns="73788" rIns="73788" bIns="7378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Build better understanding of enablement (and reablement) across internal operational teams to ensure our offer is equitable to all who would benefit from it</a:t>
          </a:r>
          <a:endParaRPr lang="en-US" sz="1400" kern="1200" dirty="0"/>
        </a:p>
      </dsp:txBody>
      <dsp:txXfrm>
        <a:off x="805282" y="1636"/>
        <a:ext cx="9028265" cy="697214"/>
      </dsp:txXfrm>
    </dsp:sp>
    <dsp:sp modelId="{B8EFE4B5-7E13-4BE8-A28C-075F7125DC0C}">
      <dsp:nvSpPr>
        <dsp:cNvPr id="0" name=""/>
        <dsp:cNvSpPr/>
      </dsp:nvSpPr>
      <dsp:spPr>
        <a:xfrm>
          <a:off x="0" y="873153"/>
          <a:ext cx="9833548" cy="6972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907A25-AC7B-498A-A289-172FE88A59CD}">
      <dsp:nvSpPr>
        <dsp:cNvPr id="0" name=""/>
        <dsp:cNvSpPr/>
      </dsp:nvSpPr>
      <dsp:spPr>
        <a:xfrm>
          <a:off x="210907" y="1030027"/>
          <a:ext cx="383467" cy="3834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6577D-CD1A-430F-9053-D070C497DBEE}">
      <dsp:nvSpPr>
        <dsp:cNvPr id="0" name=""/>
        <dsp:cNvSpPr/>
      </dsp:nvSpPr>
      <dsp:spPr>
        <a:xfrm>
          <a:off x="805282" y="873153"/>
          <a:ext cx="9028265" cy="69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88" tIns="73788" rIns="73788" bIns="7378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Increase requests for promoting independence work (PIW) and ensure this is considered at the earliest opportunity, where it can have the most impact</a:t>
          </a:r>
        </a:p>
      </dsp:txBody>
      <dsp:txXfrm>
        <a:off x="805282" y="873153"/>
        <a:ext cx="9028265" cy="697214"/>
      </dsp:txXfrm>
    </dsp:sp>
    <dsp:sp modelId="{FF90B4D7-D8C0-4348-98E1-B715458F8539}">
      <dsp:nvSpPr>
        <dsp:cNvPr id="0" name=""/>
        <dsp:cNvSpPr/>
      </dsp:nvSpPr>
      <dsp:spPr>
        <a:xfrm>
          <a:off x="0" y="1744671"/>
          <a:ext cx="9833548" cy="6972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FFEB1F-9991-44C6-A7A8-D6BBEC913ADB}">
      <dsp:nvSpPr>
        <dsp:cNvPr id="0" name=""/>
        <dsp:cNvSpPr/>
      </dsp:nvSpPr>
      <dsp:spPr>
        <a:xfrm>
          <a:off x="210907" y="1901544"/>
          <a:ext cx="383467" cy="3834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B1E1C-9306-4539-AA36-2128D2D1432C}">
      <dsp:nvSpPr>
        <dsp:cNvPr id="0" name=""/>
        <dsp:cNvSpPr/>
      </dsp:nvSpPr>
      <dsp:spPr>
        <a:xfrm>
          <a:off x="805282" y="1744671"/>
          <a:ext cx="9028265" cy="69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88" tIns="73788" rIns="73788" bIns="7378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Continue to build on our success, explore more far reaching &amp; innovative solutions, always think outside the box</a:t>
          </a:r>
        </a:p>
      </dsp:txBody>
      <dsp:txXfrm>
        <a:off x="805282" y="1744671"/>
        <a:ext cx="9028265" cy="697214"/>
      </dsp:txXfrm>
    </dsp:sp>
    <dsp:sp modelId="{CB43E1AB-7C2F-4491-9B7F-A4EF2B652591}">
      <dsp:nvSpPr>
        <dsp:cNvPr id="0" name=""/>
        <dsp:cNvSpPr/>
      </dsp:nvSpPr>
      <dsp:spPr>
        <a:xfrm>
          <a:off x="0" y="2605807"/>
          <a:ext cx="9833548" cy="6972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2B7567-D05C-46F3-BCA0-5C4FDE22DBB6}">
      <dsp:nvSpPr>
        <dsp:cNvPr id="0" name=""/>
        <dsp:cNvSpPr/>
      </dsp:nvSpPr>
      <dsp:spPr>
        <a:xfrm>
          <a:off x="210907" y="2773062"/>
          <a:ext cx="383467" cy="3834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EB72A-8C70-4C72-BB01-9347A8599146}">
      <dsp:nvSpPr>
        <dsp:cNvPr id="0" name=""/>
        <dsp:cNvSpPr/>
      </dsp:nvSpPr>
      <dsp:spPr>
        <a:xfrm>
          <a:off x="805282" y="2616189"/>
          <a:ext cx="9028265" cy="69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88" tIns="73788" rIns="73788" bIns="7378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Continue to develop our workforce, utilising huddles, collaborate and coproduce, develop champions, career opportunities, apprenticeships (OT and SW), secondments and shadowing. </a:t>
          </a:r>
        </a:p>
      </dsp:txBody>
      <dsp:txXfrm>
        <a:off x="805282" y="2616189"/>
        <a:ext cx="9028265" cy="697214"/>
      </dsp:txXfrm>
    </dsp:sp>
    <dsp:sp modelId="{474A0F21-A2E4-4444-8347-D6F0C800DC2B}">
      <dsp:nvSpPr>
        <dsp:cNvPr id="0" name=""/>
        <dsp:cNvSpPr/>
      </dsp:nvSpPr>
      <dsp:spPr>
        <a:xfrm>
          <a:off x="0" y="3487706"/>
          <a:ext cx="9833548" cy="6972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232155-2A82-40D6-A448-7568CE59FA15}">
      <dsp:nvSpPr>
        <dsp:cNvPr id="0" name=""/>
        <dsp:cNvSpPr/>
      </dsp:nvSpPr>
      <dsp:spPr>
        <a:xfrm>
          <a:off x="210907" y="3644580"/>
          <a:ext cx="383467" cy="3834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8E745-4B50-446B-86A4-B1BD8AEE6D99}">
      <dsp:nvSpPr>
        <dsp:cNvPr id="0" name=""/>
        <dsp:cNvSpPr/>
      </dsp:nvSpPr>
      <dsp:spPr>
        <a:xfrm>
          <a:off x="805282" y="3487706"/>
          <a:ext cx="9028265" cy="69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88" tIns="73788" rIns="73788" bIns="7378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To achieve consistency across the MIS enablement teams to ensure equity of offer. Understand any internal barriers to accessing enablement and highlight any missed opportunities identified.</a:t>
          </a:r>
          <a:endParaRPr lang="en-US" sz="1400" kern="1200" dirty="0"/>
        </a:p>
      </dsp:txBody>
      <dsp:txXfrm>
        <a:off x="805282" y="3487706"/>
        <a:ext cx="9028265" cy="697214"/>
      </dsp:txXfrm>
    </dsp:sp>
    <dsp:sp modelId="{E04B3BC5-335C-400B-B8CA-3AACFB162E5B}">
      <dsp:nvSpPr>
        <dsp:cNvPr id="0" name=""/>
        <dsp:cNvSpPr/>
      </dsp:nvSpPr>
      <dsp:spPr>
        <a:xfrm>
          <a:off x="0" y="4359224"/>
          <a:ext cx="9833548" cy="6972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F4A5B5-97A7-4CB5-BBC9-9A7C03C671D7}">
      <dsp:nvSpPr>
        <dsp:cNvPr id="0" name=""/>
        <dsp:cNvSpPr/>
      </dsp:nvSpPr>
      <dsp:spPr>
        <a:xfrm>
          <a:off x="210907" y="4516097"/>
          <a:ext cx="383467" cy="38346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C6BEB-D1FF-4A8C-94BC-06275F069635}">
      <dsp:nvSpPr>
        <dsp:cNvPr id="0" name=""/>
        <dsp:cNvSpPr/>
      </dsp:nvSpPr>
      <dsp:spPr>
        <a:xfrm>
          <a:off x="805282" y="4359224"/>
          <a:ext cx="9028265" cy="69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788" tIns="73788" rIns="73788" bIns="7378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Build on our existing knowledge &amp; skills and continue to achieve the best outcomes for the people that we work with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805282" y="4359224"/>
        <a:ext cx="9028265" cy="6972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EB0F1D-3C79-4756-BC64-48AD69E0F193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944B6-5CFE-4D8C-BE53-F86667C7C6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314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944B6-5CFE-4D8C-BE53-F86667C7C6D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3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944B6-5CFE-4D8C-BE53-F86667C7C6D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534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944B6-5CFE-4D8C-BE53-F86667C7C6D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534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944B6-5CFE-4D8C-BE53-F86667C7C6D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294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6944B6-5CFE-4D8C-BE53-F86667C7C6DB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563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6944B6-5CFE-4D8C-BE53-F86667C7C6D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112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52F1-7F59-C7BF-FB60-5166046F3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0D9D6-3215-8746-EA2B-63D5DFCC4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23B39-EE65-92A4-313F-10828662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B5FE-85B5-4C3D-BA5E-E423DF1952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98EEE-9B9D-99DE-E525-C18C1F4AE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5932E-1AD6-3F93-BF1F-501577D9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4D1B-C8A1-4DEA-8B1A-743757093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53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9C87-9729-881D-3F18-5FBB8522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6730C-4617-F2E6-1450-0F2B3E833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CC2CA-0C35-2117-9CE5-A91A366C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B5FE-85B5-4C3D-BA5E-E423DF1952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329F-99AD-D938-7454-0DC221613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4BB2C-A815-B063-DE1A-50EDA909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4D1B-C8A1-4DEA-8B1A-743757093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2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F016-9768-5CFE-F191-824502282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8A9C4-1BE6-2468-0B0A-A6726E86A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6FF92-4456-B28C-9A50-5B4B7152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B5FE-85B5-4C3D-BA5E-E423DF1952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6B253-49B1-BFA5-7367-FFC793C1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73FB7-5237-89D4-6F3F-9C6155FA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4D1B-C8A1-4DEA-8B1A-743757093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35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6045-9427-6E75-9298-14E91850C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3433C-D08C-9C52-5C7E-F060C7809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4855A-B971-17F4-B2FC-33F7C919F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6A120-6497-3757-BAEE-5AAD4A5EE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B5FE-85B5-4C3D-BA5E-E423DF1952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CF368-7E4A-DDD2-1AB2-1036E88B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C0355-0033-2045-D671-576ED65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4D1B-C8A1-4DEA-8B1A-743757093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88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BE40-58DF-D2AE-9C8E-90A6E8A03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7E9C4-4B2A-64C0-3A78-68E3649D8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DF886-3D3D-515A-0473-E42F8D3F6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5820A-D1C2-B2D9-BC24-47A8A3B26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A94219-F9AC-C9E2-2933-ACB2C43B6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674027-F395-EA95-DE92-55D6DFBC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B5FE-85B5-4C3D-BA5E-E423DF1952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ED26C4-A416-E39E-75D6-EDC4FB55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DB681-0DBC-13C7-06DA-3779A1E7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4D1B-C8A1-4DEA-8B1A-743757093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03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D9063-33BD-992F-7FEF-586D2641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FC6C9E-DEAA-BBC5-8C84-B745A86A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B5FE-85B5-4C3D-BA5E-E423DF1952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6E40C-5508-5259-1D08-BD544A195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4848A4-A854-BDF0-FDC0-3DEE272F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4D1B-C8A1-4DEA-8B1A-743757093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885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70E2B-0415-2224-F761-F96DF0A70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B5FE-85B5-4C3D-BA5E-E423DF1952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77DF3-66F0-5250-E62F-CCC63340D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F274F-8454-CF1E-92AE-93F203CA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4D1B-C8A1-4DEA-8B1A-743757093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39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2E24-E76F-4DDF-E074-4D621B3F3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7492B-355F-46A4-2843-71EB5A08C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F7E25-AD37-DA2F-5B49-471A0E05E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FBCB0-064C-00C1-1AAA-8E4A6E9D9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B5FE-85B5-4C3D-BA5E-E423DF1952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35E06-7AFB-502F-E1B0-EFF00DD27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85811-C196-E3C4-3EE8-CA5B2B510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4D1B-C8A1-4DEA-8B1A-743757093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78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E5AD-C12A-6729-9D68-4A45C0B94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FA3722-A49E-B557-A9F8-02BDF51FA8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F2280-435A-BA80-8D43-7E4972C12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EFE942-B5B8-1231-5D2E-D6FB3E9C5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B5FE-85B5-4C3D-BA5E-E423DF1952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8DF79-E1BD-B83D-FA00-974E8833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320BF-C928-9B3E-65DA-F93E036AA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4D1B-C8A1-4DEA-8B1A-743757093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552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4182-AB57-AF7B-4E25-01DF7605D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B65192-5F20-4649-9E8F-84675E9B9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DF5C1-8DB5-B58C-3968-D36D089A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B5FE-85B5-4C3D-BA5E-E423DF1952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86C8-38F2-C9B0-D739-07225E38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920158-0FD3-652C-4D9A-2F9987B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4D1B-C8A1-4DEA-8B1A-743757093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043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9A2ACE-54B6-6146-27A9-84062DE88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D7EBE-4753-3B6C-4050-BF5864BE2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2DE5D-BC49-7F60-5528-F392C8FE8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B5FE-85B5-4C3D-BA5E-E423DF1952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36BA-9174-E8E3-C350-745CD57D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7C2E6-229C-0654-7503-679AA9BC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24D1B-C8A1-4DEA-8B1A-743757093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02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35EB3D-5F04-4AD3-6810-C921856F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95B5F-A411-962E-9C0E-4DC5BF3590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3169D-FFDC-5A2E-7EB2-B0A654D4F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CB5FE-85B5-4C3D-BA5E-E423DF1952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CDC9A-1F1C-FBF7-E939-E5A65AA4B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9ED77-8B09-D028-FB77-FED75C7EF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24D1B-C8A1-4DEA-8B1A-7437570932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06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38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43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E5AAAC5-7B70-4232-44BC-4E5CA59E85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403927"/>
            <a:ext cx="5760846" cy="2670792"/>
          </a:xfrm>
        </p:spPr>
        <p:txBody>
          <a:bodyPr>
            <a:normAutofit fontScale="90000"/>
          </a:bodyPr>
          <a:lstStyle/>
          <a:p>
            <a:br>
              <a:rPr lang="en-GB" b="1" dirty="0">
                <a:solidFill>
                  <a:schemeClr val="tx2"/>
                </a:solidFill>
              </a:rPr>
            </a:br>
            <a:r>
              <a:rPr lang="en-GB" b="1" dirty="0">
                <a:solidFill>
                  <a:schemeClr val="tx2"/>
                </a:solidFill>
              </a:rPr>
              <a:t>MIS Enablement</a:t>
            </a:r>
            <a:br>
              <a:rPr lang="en-GB" b="1" dirty="0">
                <a:solidFill>
                  <a:schemeClr val="tx2"/>
                </a:solidFill>
              </a:rPr>
            </a:br>
            <a:r>
              <a:rPr lang="en-GB" b="1" dirty="0">
                <a:solidFill>
                  <a:schemeClr val="tx2"/>
                </a:solidFill>
              </a:rPr>
              <a:t>Storyboard</a:t>
            </a:r>
            <a:br>
              <a:rPr lang="en-GB" sz="2700" b="1" dirty="0">
                <a:solidFill>
                  <a:schemeClr val="tx2"/>
                </a:solidFill>
              </a:rPr>
            </a:br>
            <a:endParaRPr lang="en-GB" sz="2700" b="1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50107-AAF3-9801-EEB0-297156832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Autofit/>
          </a:bodyPr>
          <a:lstStyle/>
          <a:p>
            <a:endParaRPr lang="en-GB" sz="4000" dirty="0">
              <a:solidFill>
                <a:schemeClr val="tx2"/>
              </a:solidFill>
            </a:endParaRPr>
          </a:p>
          <a:p>
            <a:endParaRPr lang="en-GB" sz="4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31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C886E7-F8B1-581D-32AF-EE84D5288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Our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5A678-C7AA-81D9-2924-E13ED3278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1337912"/>
            <a:ext cx="5221224" cy="5911974"/>
          </a:xfr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342900" lvl="0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Our practice is focused on a </a:t>
            </a: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strength-based approach.</a:t>
            </a:r>
            <a:endParaRPr lang="en-GB" sz="1800" kern="100" dirty="0">
              <a:effectLst/>
              <a:latin typeface="Aptos" panose="020F0502020204030204"/>
              <a:ea typeface="Aptos" panose="020F050202020403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Our service is available to adults of all ages, including those over 17.5 years.</a:t>
            </a:r>
            <a:endParaRPr lang="en-GB" sz="1800" kern="100" dirty="0">
              <a:effectLst/>
              <a:latin typeface="Aptos" panose="020F0502020204030204"/>
              <a:ea typeface="Aptos" panose="020F050202020403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Our offer is inclusive of everyone, with no restrictions based on medical conditions or disabilities. If we can assist, we will.</a:t>
            </a:r>
            <a:endParaRPr lang="en-GB" sz="1800" kern="100" dirty="0">
              <a:effectLst/>
              <a:latin typeface="Aptos" panose="020F0502020204030204"/>
              <a:ea typeface="Aptos" panose="020F050202020403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collaborate with individuals, families, and their communities.</a:t>
            </a:r>
            <a:endParaRPr lang="en-GB" sz="1800" kern="100" dirty="0">
              <a:effectLst/>
              <a:latin typeface="Aptos" panose="020F0502020204030204"/>
              <a:ea typeface="Aptos" panose="020F050202020403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Our focus is on improving skills, strengths and confidence with the aim of reducing, preventing, or delaying the need for care and support.</a:t>
            </a:r>
            <a:endParaRPr lang="en-GB" sz="1800" kern="100" dirty="0">
              <a:effectLst/>
              <a:latin typeface="Aptos" panose="020F0502020204030204"/>
              <a:ea typeface="Aptos" panose="020F050202020403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engage in strength-based discussions with people to identify opportunities for change or improvement in areas that matter to them.</a:t>
            </a:r>
            <a:endParaRPr lang="en-GB" sz="1800" kern="100" dirty="0">
              <a:effectLst/>
              <a:latin typeface="Aptos" panose="020F0502020204030204"/>
              <a:ea typeface="Aptos" panose="020F050202020403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Our multi-skilled workforce allows us to provide various outcomes from a single conversation, including occupational therapy advice, equipment provision, housing recommendations, adaptations, TEC and promoting independence work.</a:t>
            </a:r>
            <a:endParaRPr lang="en-GB" sz="1800" kern="100" dirty="0">
              <a:effectLst/>
              <a:latin typeface="Aptos" panose="020F0502020204030204"/>
              <a:ea typeface="Aptos" panose="020F050202020403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help people identify and access strengths and resources within local communities, facilitating meaningful connections for the people we work with.</a:t>
            </a:r>
            <a:endParaRPr lang="en-GB" sz="1800" kern="100" dirty="0">
              <a:effectLst/>
              <a:latin typeface="Aptos" panose="020F0502020204030204"/>
              <a:ea typeface="Aptos" panose="020F050202020403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6000"/>
              </a:lnSpc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employ creative thinking to ensure people achieve the most significant outcomes to improve their lives.</a:t>
            </a:r>
            <a:endParaRPr lang="en-GB" sz="1800" kern="100" dirty="0">
              <a:effectLst/>
              <a:latin typeface="Aptos" panose="020F0502020204030204"/>
              <a:ea typeface="Aptos" panose="020F0502020204030204"/>
              <a:cs typeface="Times New Roman" panose="02020603050405020304" pitchFamily="18" charset="0"/>
            </a:endParaRPr>
          </a:p>
          <a:p>
            <a:endParaRPr lang="en-GB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GB" sz="1400" b="1" dirty="0">
              <a:solidFill>
                <a:schemeClr val="tx2"/>
              </a:solidFill>
            </a:endParaRPr>
          </a:p>
          <a:p>
            <a:endParaRPr lang="en-GB" sz="1400" dirty="0">
              <a:solidFill>
                <a:schemeClr val="tx2"/>
              </a:solidFill>
            </a:endParaRPr>
          </a:p>
          <a:p>
            <a:pPr marL="0" indent="0">
              <a:spcBef>
                <a:spcPts val="500"/>
              </a:spcBef>
              <a:spcAft>
                <a:spcPts val="1000"/>
              </a:spcAft>
              <a:buNone/>
            </a:pPr>
            <a:endParaRPr lang="en-GB" sz="1400" dirty="0">
              <a:solidFill>
                <a:schemeClr val="tx2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98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C8945B-4D23-4D0E-1F6D-45EAE06E3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304800"/>
            <a:ext cx="9833548" cy="831779"/>
          </a:xfrm>
        </p:spPr>
        <p:txBody>
          <a:bodyPr anchor="b">
            <a:normAutofit/>
          </a:bodyPr>
          <a:lstStyle/>
          <a:p>
            <a:pPr algn="ctr"/>
            <a:r>
              <a:rPr lang="en-GB" sz="4300" b="1">
                <a:solidFill>
                  <a:schemeClr val="tx2"/>
                </a:solidFill>
              </a:rPr>
              <a:t>Our Plan </a:t>
            </a:r>
            <a:endParaRPr lang="en-GB" sz="4300" b="1" dirty="0">
              <a:solidFill>
                <a:schemeClr val="tx2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40581-BFC9-FBCB-9FB0-97F87166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023910"/>
            <a:ext cx="9833548" cy="42530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sz="1800" b="0" i="0">
              <a:solidFill>
                <a:schemeClr val="tx2"/>
              </a:solidFill>
              <a:effectLst/>
              <a:latin typeface="inherit"/>
            </a:endParaRPr>
          </a:p>
          <a:p>
            <a:endParaRPr lang="en-GB" sz="1800">
              <a:solidFill>
                <a:schemeClr val="tx2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7" cy="2175328"/>
            <a:chOff x="-305" y="-1"/>
            <a:chExt cx="3832880" cy="2876136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9" name="TextBox 4">
            <a:extLst>
              <a:ext uri="{FF2B5EF4-FFF2-40B4-BE49-F238E27FC236}">
                <a16:creationId xmlns:a16="http://schemas.microsoft.com/office/drawing/2014/main" id="{D8C4514C-DBB0-766B-874F-E4F8EE35B8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9530623"/>
              </p:ext>
            </p:extLst>
          </p:nvPr>
        </p:nvGraphicFramePr>
        <p:xfrm>
          <a:off x="810185" y="1389146"/>
          <a:ext cx="10553700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6964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49C2D43-1B61-8FA2-A64F-490724A16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GB" sz="3600" b="1">
                <a:solidFill>
                  <a:schemeClr val="tx2"/>
                </a:solidFill>
              </a:rPr>
              <a:t>Our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2841A-8437-D1F0-4872-6CACD07B4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news stories, quality assurance, feedback, and compliments.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Reduced commissioned services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Enablement over a lifetime, no limitation to future/new goals as confidence &amp; skills increase over time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Positive experiences for the people of Nottinghamshire, building community resilience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Reducing social isolation by connecting people with their communities &amp; local resources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Step towards the paid employment market for those who aspire to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Improving health &amp; wellbeing</a:t>
            </a:r>
          </a:p>
          <a:p>
            <a:endParaRPr lang="en-GB" sz="1500" dirty="0">
              <a:solidFill>
                <a:schemeClr val="tx2"/>
              </a:solidFill>
              <a:ea typeface="Calibri"/>
              <a:cs typeface="Calibri" panose="020F0502020204030204"/>
            </a:endParaRPr>
          </a:p>
          <a:p>
            <a:pPr marL="0" indent="0">
              <a:buNone/>
            </a:pPr>
            <a:endParaRPr lang="en-GB" sz="1500" dirty="0">
              <a:solidFill>
                <a:schemeClr val="tx2"/>
              </a:solidFill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0339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wo hands holding jigsaw pieces">
            <a:extLst>
              <a:ext uri="{FF2B5EF4-FFF2-40B4-BE49-F238E27FC236}">
                <a16:creationId xmlns:a16="http://schemas.microsoft.com/office/drawing/2014/main" id="{699A8A9F-4E9D-80AE-4110-10CAE8F47A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49" b="1763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9C2D43-1B61-8FA2-A64F-490724A16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</p:spPr>
        <p:txBody>
          <a:bodyPr>
            <a:normAutofit/>
          </a:bodyPr>
          <a:lstStyle/>
          <a:p>
            <a:r>
              <a:rPr lang="en-GB" b="1" dirty="0"/>
              <a:t>Impact - Evidence</a:t>
            </a:r>
          </a:p>
        </p:txBody>
      </p:sp>
      <p:graphicFrame>
        <p:nvGraphicFramePr>
          <p:cNvPr id="60" name="Content Placeholder 2">
            <a:extLst>
              <a:ext uri="{FF2B5EF4-FFF2-40B4-BE49-F238E27FC236}">
                <a16:creationId xmlns:a16="http://schemas.microsoft.com/office/drawing/2014/main" id="{EFC3F300-3AD3-070E-979E-C23EEB7741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76294"/>
              </p:ext>
            </p:extLst>
          </p:nvPr>
        </p:nvGraphicFramePr>
        <p:xfrm>
          <a:off x="838200" y="1045030"/>
          <a:ext cx="10515600" cy="5016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3759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C2D43-1B61-8FA2-A64F-490724A16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603627"/>
            <a:ext cx="9833548" cy="658169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GB" sz="4800" b="1">
                <a:solidFill>
                  <a:schemeClr val="tx2"/>
                </a:solidFill>
              </a:rPr>
              <a:t>Our Future</a:t>
            </a:r>
            <a:endParaRPr lang="en-GB" sz="4800" b="1" dirty="0">
              <a:solidFill>
                <a:schemeClr val="tx2"/>
              </a:solidFill>
            </a:endParaRPr>
          </a:p>
        </p:txBody>
      </p:sp>
      <p:grpSp>
        <p:nvGrpSpPr>
          <p:cNvPr id="96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3" cy="2510866"/>
            <a:chOff x="-305" y="-1"/>
            <a:chExt cx="3832880" cy="2876136"/>
          </a:xfrm>
        </p:grpSpPr>
        <p:sp>
          <p:nvSpPr>
            <p:cNvPr id="97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01" name="Content Placeholder 2">
            <a:extLst>
              <a:ext uri="{FF2B5EF4-FFF2-40B4-BE49-F238E27FC236}">
                <a16:creationId xmlns:a16="http://schemas.microsoft.com/office/drawing/2014/main" id="{379134CF-3144-DF29-2E44-EBBD0BF8CA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8884932"/>
              </p:ext>
            </p:extLst>
          </p:nvPr>
        </p:nvGraphicFramePr>
        <p:xfrm>
          <a:off x="1179226" y="1196298"/>
          <a:ext cx="9833548" cy="5058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2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03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8881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012BF13AF2E74EBB8C602D258661BA" ma:contentTypeVersion="18" ma:contentTypeDescription="Create a new document." ma:contentTypeScope="" ma:versionID="0ac58305caeb6b504df60b138c3d0abb">
  <xsd:schema xmlns:xsd="http://www.w3.org/2001/XMLSchema" xmlns:xs="http://www.w3.org/2001/XMLSchema" xmlns:p="http://schemas.microsoft.com/office/2006/metadata/properties" xmlns:ns3="4652d981-a4df-4001-9557-765fee767975" xmlns:ns4="b25eefaf-b5df-42d0-8335-d69155481d01" targetNamespace="http://schemas.microsoft.com/office/2006/metadata/properties" ma:root="true" ma:fieldsID="e618e3809a677d7bf6e40327ce5999fa" ns3:_="" ns4:_="">
    <xsd:import namespace="4652d981-a4df-4001-9557-765fee767975"/>
    <xsd:import namespace="b25eefaf-b5df-42d0-8335-d69155481d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52d981-a4df-4001-9557-765fee7679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eefaf-b5df-42d0-8335-d69155481d0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52d981-a4df-4001-9557-765fee76797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3CD67D-EB06-431F-A1C6-32951475B4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52d981-a4df-4001-9557-765fee767975"/>
    <ds:schemaRef ds:uri="b25eefaf-b5df-42d0-8335-d69155481d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ECC091-7E1D-46DC-98F4-AC6CCA575630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b25eefaf-b5df-42d0-8335-d69155481d01"/>
    <ds:schemaRef ds:uri="http://schemas.microsoft.com/office/infopath/2007/PartnerControls"/>
    <ds:schemaRef ds:uri="4652d981-a4df-4001-9557-765fee767975"/>
    <ds:schemaRef ds:uri="http://purl.org/dc/elements/1.1/"/>
    <ds:schemaRef ds:uri="http://purl.org/dc/terms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6075EA5-0367-4317-A252-01382BF2439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fd7c08e-9c24-436d-a6ad-a8ecb8394d49}" enabled="1" method="Standard" siteId="{6e5a37bb-a961-4e4f-baae-2798a2245f3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1188</TotalTime>
  <Words>642</Words>
  <Application>Microsoft Office PowerPoint</Application>
  <PresentationFormat>Widescreen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inherit</vt:lpstr>
      <vt:lpstr>Symbol</vt:lpstr>
      <vt:lpstr>Office Theme</vt:lpstr>
      <vt:lpstr> MIS Enablement Storyboard </vt:lpstr>
      <vt:lpstr>Our Approach</vt:lpstr>
      <vt:lpstr>Our Plan </vt:lpstr>
      <vt:lpstr>Our Impact</vt:lpstr>
      <vt:lpstr>Impact - Evidence</vt:lpstr>
      <vt:lpstr>Our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Reablement</dc:title>
  <dc:creator>Emma Housego2</dc:creator>
  <cp:lastModifiedBy>David Rew</cp:lastModifiedBy>
  <cp:revision>22</cp:revision>
  <dcterms:created xsi:type="dcterms:W3CDTF">2023-09-07T12:42:43Z</dcterms:created>
  <dcterms:modified xsi:type="dcterms:W3CDTF">2025-11-20T22:36:58Z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0x0101007A012BF13AF2E74EBB8C602D258661BA</vt:lpwstr>
  </property>
</Properties>
</file>